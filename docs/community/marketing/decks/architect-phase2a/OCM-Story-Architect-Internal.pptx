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Lst>
  <p:sldSz cx="18288000" cy="10287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question, not the noun. Internal architects in the first 60 seconds are silently asking: 'what's a release, as one signed unit?' Stating that question on the slide instead of pitching OCM gives both groups in the room the same starting point — the briefed half recognises the question they've been working on; the un-briefed half gets handed the frame they'll need anyway.</a:t>
            </a:r>
          </a:p>
          <a:p>
            <a:r>
              <a:t>The subtitle trails the three concrete content beats this hour delivers: the model (descriptor, component identity, composition — slides 2-8), the mechanic (signature, transport, deploy, day-2 ops — slides 9-12), and the honest edges (what's still sharp — slide 14). That's the deck. Don't promise more.</a:t>
            </a:r>
          </a:p>
          <a:p>
            <a:r>
              <a:t>Specifically don't promise 'the SAP stack' or 'where it fits in your pipeline.' OCM + ODG + OCP exist; an OCM-based SAP delivery stack does not yet. Saying it would land as overclaim. Slide 13 names two SAP-shaped adoption paths; slide 15 names the teams running OCM. That's the honest scope.</a:t>
            </a:r>
          </a:p>
          <a:p>
            <a:r>
              <a:t>One sentence to land: 'For the next 30 minutes we're walking the model behind one signed unit — what it is, how it travels, and what's still sharp.' Then slide 2.</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the existing toolbox does not compose. Three artifact types, three identity shapes:</a:t>
            </a:r>
          </a:p>
          <a:p>
            <a:r>
              <a:t>• OCI image - digest pins the bytes. Nothing pins the release the image belongs to.</a:t>
            </a:r>
          </a:p>
          <a:p>
            <a:r>
              <a:t>• Helm chart - version pins the chart. Nothing pins it to the image, config, and SBOM it ships with.</a:t>
            </a:r>
          </a:p>
          <a:p>
            <a:r>
              <a:t>• SBOM - referrer attaches to one digest. No referrer spans the whole release.</a:t>
            </a:r>
          </a:p>
          <a:p>
            <a:r>
              <a:t>Calibration for COSIGN (which can update the digest after explicit `cosign copy`): keep signing each piece. What is missing is a name for the release as one unit, signable, verifiable in a sovereign zone with no callback.</a:t>
            </a:r>
          </a:p>
          <a:p>
            <a:r>
              <a:t>Diagnosis: identity is bound to location.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conceptual fulcrum. Let it breathe. OCM separates three things the existing tools fuse:</a:t>
            </a:r>
          </a:p>
          <a:p>
            <a:r>
              <a:t>• Component identity - DNS-style name plus SemVer. Globally unique, location-agnostic. No registry in the name.</a:t>
            </a:r>
          </a:p>
          <a:p>
            <a:r>
              <a:t>• Digest - SHA-256 over each resource. Computed at pack time. This is what we sign.</a:t>
            </a:r>
          </a:p>
          <a:p>
            <a:r>
              <a:t>• Access - type plus fetch fields (`OCIImage/v1`, `Helm/v1`, `LocalBlob/v1`). Where the bytes currently live.</a:t>
            </a:r>
          </a:p>
          <a:p>
            <a:r>
              <a:t>Promote EU -&gt; US -&gt; air-gapped CTF and DEV -&gt; STAGING -&gt; PROD : identity stays, digest stays, only access is rewritten. Signature still verifies - anywhere.</a:t>
            </a:r>
          </a:p>
          <a:p>
            <a:r>
              <a:t>Move the artifact. The digest stays. Only the access changes. That is the whole trick.</a:t>
            </a:r>
          </a:p>
          <a:p>
            <a:r>
              <a:t>Q&amp;A backup on 'globally unique': inherits from DNS-prefix naming - same model as Go import paths. We don't run a registry that arbitrates conflicts; uniqueness is delegated to DNS. Two parties claiming `acme.org/helloworld` is prevented the same way two parties claiming `acme.org` is prevented.</a:t>
            </a:r>
          </a:p>
          <a:p>
            <a:r>
              <a:t>Q&amp;A backup on squatting: trust is per-component - the verifier knows what trust anchor to apply to the descriptor in front of it. A regulated environment relies on (a) controlling which registry the controllers are configured to pull from, and (b) per-component verifier config. Per-name-prefix trust-anchor binding is not in the spec or the controllers today.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OCM does NOT replace OCI, Helm, cosign, sigstore, your SBOM tooling. It WRAPS them — adds one envelope signature over the whole release.</a:t>
            </a:r>
          </a:p>
          <a:p>
            <a:r>
              <a:t>• Any format - any artifact you produce becomes a resource. OCI, Helm, configs, SBOMs, npm, maven, binaries.</a:t>
            </a:r>
          </a:p>
          <a:p>
            <a:r>
              <a:t>• Any location - identity is location-independent; the same component travels across registries unchanged.</a:t>
            </a:r>
          </a:p>
          <a:p>
            <a:r>
              <a:t>• One signature - covers every digest in the component. The whole release is one signed unit.</a:t>
            </a:r>
          </a:p>
          <a:p>
            <a:r>
              <a:t>Q&amp;A backup on SAP-stack equivalents (the question this room actually asks): RBSC ships products; OCM describes the product so RBSC can ship it consistently. Hyperspace builds artifacts; OCM is the metadata wrapper added on top — the existing Piper steps stay. Open Delivery Gear (formerly OCM Gear) handles compliance automation on top of OCM components. None of these are replaced. OCM is the shared primitive they all align on.</a:t>
            </a:r>
          </a:p>
          <a:p>
            <a:r>
              <a:t>Q&amp;A backup on SBOMs (still relevant): SBOMs go INTO the component as resources. OCM does not generate SBOMs — it carries them, signs them as part of the release, and lets compliance tools query 'every SBOM in every shipped product' via the OCM coordinate system.</a:t>
            </a:r>
          </a:p>
          <a:p>
            <a:r>
              <a:t>A component is the unit you sign, transport, and deploy. Hold the noun.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YAML the audience sees. Walk it like you would for a colleague - eighteen lines, hand-written.</a:t>
            </a:r>
          </a:p>
          <a:p>
            <a:r>
              <a:t>• `components` - list, usually one. Name is DNS-style; version is SemVer.</a:t>
            </a:r>
          </a:p>
          <a:p>
            <a:r>
              <a:t>• `provider` - metadata, required.</a:t>
            </a:r>
          </a:p>
          <a:p>
            <a:r>
              <a:t>• `resources` - every artifact in the release. Two ways in:</a:t>
            </a:r>
          </a:p>
          <a:p>
            <a:r>
              <a:t>  ▪ `input:` - by value. Constructor reads the file at pack time, embeds the bytes. Travels in the archive.</a:t>
            </a:r>
          </a:p>
          <a:p>
            <a:r>
              <a:t>  ▪ `access:` - by reference. Records a pointer (e.g. `ghcr.io/.../podinfo:6.9.1`), resolves digest now, copies bytes later.</a:t>
            </a:r>
          </a:p>
          <a:p>
            <a:r>
              <a:t>Local files and configs tend to be input; big images tend to be access. Mix freely.</a:t>
            </a:r>
          </a:p>
          <a:p>
            <a:r>
              <a:t>CLI if asked: `ocm add cv` against this file, default output a CTF archive.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Clarify first: this is generated by `ocm add cv`. You do not hand-edit it. This is what travels.</a:t>
            </a:r>
          </a:p>
          <a:p>
            <a:r>
              <a:t>We show one resource - the image - to keep focus on the mechanism. Real components carry many resources and may reference other components; the '...' line stands in for that.</a:t>
            </a:r>
          </a:p>
          <a:p>
            <a:r>
              <a:t>• `access` - `OCIImage/v1` with the imageReference pinned to a digest. Kills the repoint-the-tag attack class. Excluded from the canonical form on purpose - transport rewrites it.</a:t>
            </a:r>
          </a:p>
          <a:p>
            <a:r>
              <a:t>• `digest` - SHA-256 over the resource bytes. Computed at pack time. Input to the descriptor hash.</a:t>
            </a:r>
          </a:p>
          <a:p>
            <a:r>
              <a:t>• `signatures:` - list. Each entry signs ONE hash: the SHA-256 of the canonicalized descriptor. That single hash covers every resource digest. Multiple signatures allowed - dual-sign RSA + Sigstore, verifiers pick.</a:t>
            </a:r>
          </a:p>
          <a:p>
            <a:r>
              <a:t>Three things to land. Signed: the descriptor hash - so one signature covers every artifact in the component. Not signed: the access fields - so transport can rewrite them freely. The signature still verifies, anywhere.</a:t>
            </a:r>
          </a:p>
          <a:p>
            <a:r>
              <a:t>Sign the descriptor hash, not the access. Seven words; whole transport story.</a:t>
            </a:r>
          </a:p>
          <a:p>
            <a:r>
              <a:t>Q&amp;A backup on the trust model (one per scheme, all configurable): RSA-PSS uses bare public-key pinning - operator pins the public key. Sigstore uses OIDC issuer + Fulcio short-lived cert + Rekor transparency log - operator pins the issuer. GPG uses an OpenPGP keyring - operator pins the key fingerprint. Algorithm is configurable per signature; the signed object is the canonicalized descriptor regardless of algorithm.</a:t>
            </a:r>
          </a:p>
          <a:p>
            <a:r>
              <a:t>Q&amp;A backup on composition: the signature transitively pins `componentReferences` (introduced on slide 8). The product signature covers every reference's descriptor digest - so re-signing or re-publishing a referenced component breaks the product signature. Verifier policy is per-component: a referenced component is verified against its own trust anchor at deploy time; the product is verified against the product's anchor.</a:t>
            </a:r>
          </a:p>
          <a:p>
            <a:r>
              <a:t>Q&amp;A backup on canonicalization: the canonical form of the descriptor is spec'd at `ocm-spec/04-extensions/01-artifact-types/`. Signatures are over canonical bytes - so JSON/YAML field ordering and whitespace can't break verification.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from noun to verb. On slides 5 and 6 you saw the static artifact - what you write and what travels. Now four moves on that artifact.</a:t>
            </a:r>
          </a:p>
          <a:p>
            <a:r>
              <a:t>We've covered the first half of two of them already: the constructor (slide 5) is the input to Pack; the descriptor (slide 6) is the output of Pack, the target of Sign, and the unit of Transport.</a:t>
            </a:r>
          </a:p>
          <a:p>
            <a:r>
              <a:t>Name the primitive: the signed descriptor is itself an OCI artifact - media type `application/vnd.ocm.software.component-descriptor.v2`. Lives in your registry next to the images. No new infrastructure.</a:t>
            </a:r>
          </a:p>
          <a:p>
            <a:r>
              <a:t>Four moves, same flow, every component:</a:t>
            </a:r>
          </a:p>
          <a:p>
            <a:r>
              <a:t>• Pack - bundle once, name once.</a:t>
            </a:r>
          </a:p>
          <a:p>
            <a:r>
              <a:t>• Sign - one signature covers every digest.</a:t>
            </a:r>
          </a:p>
          <a:p>
            <a:r>
              <a:t>• Transport - registry ↔ registry ↔ tarball. Signature survives every hop.</a:t>
            </a:r>
          </a:p>
          <a:p>
            <a:r>
              <a:t>• Deploy - controller verifies, resolves digests, applies. No callback upstream.</a:t>
            </a:r>
          </a:p>
          <a:p>
            <a:r>
              <a:t>These are lifecycle moves, not CLI verbs. The CLI you'll type is `ocm add cv`, `ocm sign cv`, `ocm transfer cv`, then `kubectl apply` against the Deployer CR. Same four moves, slightly different names. Sovereign cloud, air-gap, customer cluster. Next four slides are the mechanics.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Composition is the architectural fact that makes day-2 work.</a:t>
            </a:r>
          </a:p>
          <a:p>
            <a:r>
              <a:t>• Service components carry resources - images, charts, configs, SBOMs. Walk the LEFT box: `acme.org/sovereign/notes` and `acme.org/sovereign/postgres`, each with image + chart + `...` (real components carry more - configs, SBOMs - the `...` stands for that).</a:t>
            </a:r>
          </a:p>
          <a:p>
            <a:r>
              <a:t>• A product component composes services via `componentReferences:` - name + version, no resources of its own. Walk the RIGHT box: `acme.org/sovereign/product` references both notes and postgres by name and version. Nothing else.</a:t>
            </a:r>
          </a:p>
          <a:p>
            <a:r>
              <a:t>• Each service is independently versioned, signed, transferable. The product is a small descriptor that points at them.</a:t>
            </a:r>
          </a:p>
          <a:p>
            <a:r>
              <a:t>Real releases are not one big component - they are one product component referencing several services. This is the shape day-2 (slide 12) operates on.</a:t>
            </a:r>
          </a:p>
          <a:p>
            <a:r>
              <a:t>Q&amp;A backup on transitive trust: `componentReferences` are pinned by the digest of the referenced component's descriptor. The product signature covers each reference's digest - re-signing a referenced component breaks the product signature. At deploy time the verifier checks each component against its own trust anchor: notes against the notes team's anchor, postgres against the postgres team's anchor, product against the product team's anchor. Without an explicit per-component policy, the controller applies whatever trust anchor was configured on the Component CR for that name.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signed object - the canonical descriptor digest - in all three. How you prove the key is what varies. All three schemes are stable in the CLI on the v1alpha1 API surface today:</a:t>
            </a:r>
          </a:p>
          <a:p>
            <a:r>
              <a:t>• RSA / RSASSA-PSS - bare public-key pinning. The key you already rotate. No PKI required. Trust model: key pinning.</a:t>
            </a:r>
          </a:p>
          <a:p>
            <a:r>
              <a:t>• OpenPGP - OpenPGP key material; trust model is the same as RSA Plain (key pinning), just with a different key format. Fits orgs already running web-of-trust keyrings. (Slide header says 'OpenPGP' - GPG is one implementation; Sequoia and RNP produce compatible signatures.)</a:t>
            </a:r>
          </a:p>
          <a:p>
            <a:r>
              <a:t>• Sigstore - keyless via OIDC + Rekor transparency log; trust anchor is your OIDC issuer. Fits CI workloads and any signer that can present an OIDC identity.</a:t>
            </a:r>
          </a:p>
          <a:p>
            <a:r>
              <a:t>Three things to land. Same signed object - the canonical descriptor digest. Verifiers can require multiple in parallel (RSA from release team + Sigstore from CI). Pick what your org already runs.</a:t>
            </a:r>
          </a:p>
          <a:p>
            <a:r>
              <a:t>Q&amp;A backup on verifier policy on the Kubernetes Component CR: the Component CR has an optional `verify:` field - a list of {signature-name, public-key} pairs. Verification is opt-in: with NO `verify:` entries the controller resolves and pulls but does not check signatures. With `verify:` entries the controller looks for signatures with those names in the descriptor and verifies them against the provided keys. There is no scheme-pinning on the CR; the scheme is derived from each signature's algorithm field in the descriptor itself.</a:t>
            </a:r>
          </a:p>
          <a:p>
            <a:r>
              <a:t>Honest scope note (the question a security architect actually asks): the v1alpha1 Kubernetes controller TODAY implements RSA (RSASSA-PSS, RSASSA-PKCS1V15) only. OpenPGP and Sigstore verification work in the CLI - the three columns on this slide are the CLI surface. The controller will reject a non-RSA signature with an 'unsupported signature algorithm' error rather than fall through silently, so the safety property holds, but the practical answer for an audience running the controllers in production today is: RSA on the CR, CLI for the broader scheme set, OpenPGP and Sigstore controller support on the roadmap.</a:t>
            </a:r>
          </a:p>
          <a:p>
            <a:r>
              <a:t>Q&amp;A backup on global enforcement: there is no admission webhook shipping with the OCM controllers. Verification policy lives on each Component CR. Production installs that want global enforcement bring their own admission policy - Kyverno, Gatekeeper, or a custom webhook against the Component resource.</a:t>
            </a:r>
          </a:p>
          <a:p>
            <a:r>
              <a:t>Q&amp;A backup on PEM / cert chains: A fourth option exists - RSA with X.509 certificate chain, PEM encoding. Still experimental: the CLI prints `experimental` warnings on every sign and verify. Watch the docs; we'll promote it when the encoding stabilizes.</a:t>
            </a:r>
          </a:p>
          <a:p>
            <a:r>
              <a:t>CLI: `ocm sign cv ./archive//github.com/acme/widget:v1.4.2 --signature acme-release-key --private-key ./release-key.pem`. Idempotent.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mechanic, three patterns - covers every delivery topology you will see.</a:t>
            </a:r>
          </a:p>
          <a:p>
            <a:r>
              <a:t>• Registry -&gt; Registry - promotion across dev/staging/prod, or cross-cloud GHCR -&gt; ECR. Same digests, every access rewritten.</a:t>
            </a:r>
          </a:p>
          <a:p>
            <a:r>
              <a:t>• Registry -&gt; CTF - Common Transport Format. A local archive of blobs + index. Hand-carry across the boundary.</a:t>
            </a:r>
          </a:p>
          <a:p>
            <a:r>
              <a:t>• CTF -&gt; Registry - the air-gap import. Archive arrives, `ocm transfer` uploads, access rewrites to local registry, signature verifies locally. No traffic to source.</a:t>
            </a:r>
          </a:p>
          <a:p>
            <a:r>
              <a:t>Same command in all three: `ocm transfer cv &lt;src&gt; &lt;dst&gt;`. Access changes; digests do not. Signature covers digests, so it survives every hop. Verification is purely local at the destination - that is the air-gap property.</a:t>
            </a:r>
          </a:p>
          <a:p>
            <a:r>
              <a:t>Q&amp;A backup on the air-gap default footgun: default `ocm transfer` copies only the component descriptor - the access fields still point back at the source registry. For air-gap (CTF -&gt; Registry) you MUST pass `--copy-resources` so the bytes travel with the descriptor. Slide 14 names this as one of the three honest edges. Worth catching in a CI step the first time someone runs an air-gap export.</a:t>
            </a:r>
          </a:p>
          <a:p>
            <a:r>
              <a:t>Q&amp;A backup on Sigstore air-gap specifically: Sigstore verification at the destination is offline IF the trusted-root file (Fulcio CA + Rekor public key for the configured issuer) has been distributed into the destination once, out of band. After that, `ocm verify cv` runs without contacting Rekor or Fulcio. RSA and OpenPGP need only their pinned public keys - no trusted-root file.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CRs, one chain. The controllers verify and apply the component.</a:t>
            </a:r>
          </a:p>
          <a:p>
            <a:r>
              <a:t>• Repository - names where component versions live. OCI registry, mounted CTF, S3, local FS.</a:t>
            </a:r>
          </a:p>
          <a:p>
            <a:r>
              <a:t>• Component - names a specific component version. Pulls the descriptor and verifies its signature against the trust anchor configured on the Component CR. Verification is OPT-IN: without a `verify:` entry referencing a key/secret, the controller resolves and pulls but does not check signatures. Production installs should require verification via admission policy.</a:t>
            </a:r>
          </a:p>
          <a:p>
            <a:r>
              <a:t>• Resource - picks one artifact from the verified component, by digest: Helm chart, OCI image, raw manifest, blob.</a:t>
            </a:r>
          </a:p>
          <a:p>
            <a:r>
              <a:t>• Deployer - applies the resource to the cluster. Resolves image refs and other deploy-time pointers from the verified component descriptor at apply time - that is where localization happens in v2.</a:t>
            </a:r>
          </a:p>
          <a:p>
            <a:r>
              <a:t>Foreshadow the dependency now so slide 14 doesn't feel retroactive: the four-card chain on its own deploys raw Kubernetes manifests. For the Helm-deploy reference flow, the chain feeds a `ResourceGraphDefinition` that kro reconciles, with Flux (or Argo CD) applying the resulting `HelmRelease`. The OCM controllers DON'T ship kro, Flux, or Argo CD - bring your own. Slide 14 names this as one of the three honest edges.</a:t>
            </a:r>
          </a:p>
          <a:p>
            <a:r>
              <a:t>Q&amp;A backup on Argo CD: tabs for Argo CD are landing in the website how-tos before the deck ships. Until then, the documented Helm-deploy path is kro + Flux; the Argo CD path is symmetrical.</a:t>
            </a:r>
          </a:p>
          <a:p>
            <a:r>
              <a:t>Q&amp;A backup on the controller-shaped `ocm transfer`: yes, there's a `Replication` CR for in-cluster repo-to-repo mirroring. Appendix slide 16 covers 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Composition was just defined on slide 8. This slide does ONE job: the day-2 mechanic.</a:t>
            </a:r>
          </a:p>
          <a:p>
            <a:r>
              <a:t>The product is `acme.org/sovereign/product`. Day 1 references notes 1.0.0 and postgres 1.0.0, each with its descriptor digest pinned. The notes team ships a patch (1.0.0 -&gt; 1.1.0). The platform team raises the product to 1.1.0 and updates the notes reference (its version AND its digest, because the new notes descriptor hashes differently). Postgres stays - same version, same digest.</a:t>
            </a:r>
          </a:p>
          <a:p>
            <a:r>
              <a:t>Commit. The controller pulls the new product descriptor, verifies the signature, resolves the new digests, applies. Notes rolls forward; postgres is untouched.</a:t>
            </a:r>
          </a:p>
          <a:p>
            <a:r>
              <a:t>Differentiator framing for security architects: OCM is a release-level envelope. `helm upgrade` upgrades one chart; cosign signs one image. The OCM signature covers the whole release as one unit - every digest in every resource of every referenced component is pinned by the one parent signature. Drift would mean breaking that signature.</a:t>
            </a:r>
          </a:p>
          <a:p>
            <a:r>
              <a:t>Q&amp;A backup on forged descriptors: nothing OCM-specific stops a malicious operator from committing a forged descriptor with bumped versions, an attacker's image references, and a re-signed signature using a stolen key. Same threat model as any signed-release system: rotate keys, dual-sign, audit. What OCM gives you is one signature to audit instead of N.</a:t>
            </a:r>
          </a:p>
          <a:p>
            <a:r>
              <a:t>Bump the product. The references follow. The cluster cannot drift without breaking the envelope.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SAP-shaped paths. The external deck offers 'CLI laptop / Helm controllers' for an audience evaluating OCM from zero. This room is not at zero.</a:t>
            </a:r>
          </a:p>
          <a:p>
            <a:r>
              <a:t>PACK &amp; SHIP: OCM CLI v2 produces component descriptors. RBSC integration with the v2 CLI is live — the existing OCM RBSC plugin works against v2. The 30-minute laptop hands-on is the first half of this card; the production shape is wiring it into the team's release pipeline.</a:t>
            </a:r>
          </a:p>
          <a:p>
            <a:r>
              <a:t>DEPLOY &amp; OPERATE: Open Delivery Gear runs the compliance automation engine on the OCM coordinate system. Open Control Plane (the open-source successor to Managed Control Plane / MCP) is the declarative deployment runtime — the long-term replacement for Landscaper.</a:t>
            </a:r>
          </a:p>
          <a:p>
            <a:r>
              <a:t>Q&amp;A backup on Landscaper sunset (Sovereign Cloud audience will ask): Landscaper deploys type-A services (IAS, Audit Log) today in Sovereign Cloud. The migration to Open Control Plane is planned for end-of-year / early next year. OCM components are the SAME on both sides of the migration — only the runtime changes. That is the whole point of the model.</a:t>
            </a:r>
          </a:p>
          <a:p>
            <a:r>
              <a:t>Q&amp;A backup on Hyperspace Piper step (someone will ask if it's not on the slide): Hyperspace integration exists today on OCM v1. The v2 migration is on the 2026 roadmap, not started yet. Internally, Hyperspace already uses OCM for SBOM aggregation. This is why it's on the adopter-proof slide but not as an adoption path — the path is still being built.</a:t>
            </a:r>
          </a:p>
          <a:p>
            <a:r>
              <a:t>Q&amp;A backup on the renames: OCM Gear → Open Delivery Gear (ODG), now inside the OCM GitHub org. Managed Control Plane → Open Control Plane, also open source. We hardened the naming when we hardened the projects.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slide that earns trust. Deliver straight; do not soften.</a:t>
            </a:r>
          </a:p>
          <a:p>
            <a:r>
              <a:t>• Transfer defaults - copies only the descriptor. For air-gap, pass --copy-resources so the bytes travel too. Worth catching in a CI step the first time someone runs an air-gap export.</a:t>
            </a:r>
          </a:p>
          <a:p>
            <a:r>
              <a:t>• Controllers v1alpha1 - CRD shapes for Repository/Component/Resource/Deployer are stabilising but still v1alpha1. Pin to specific release tags in your platform installs.</a:t>
            </a:r>
          </a:p>
          <a:p>
            <a:r>
              <a:t>• Helm-deploy adds kro + Flux or Argo CD - the OCM controllers don't ship them. Bring your existing GitOps engine. Nuance for Q&amp;A: kro is required for ALL documented deploy paths (it reconciles the ResourceGraphDefinition the Deployer feeds it), not only Helm-deploy. The GitOps engine - Flux today, Argo CD path landing in the docs before this deck ships - is the Helm-deploy-specific add. Three installs total for Helm-deploy.</a:t>
            </a:r>
          </a:p>
          <a:p>
            <a:r>
              <a:t>Honest now beats apologetic later. If any edge is a deal-breaker, tell us early.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Adopter proof, two columns. The exec-internal deck splits this across two slides; we combine into one for the architect-track audience.</a:t>
            </a:r>
          </a:p>
          <a:p>
            <a:r>
              <a:t>LEFT — four SAP-internal projects that are also open source: Gardener (managed Kubernetes), Kyma (cloud-native runtime), Open Control Plane (control-plane framework, open-source successor to MCP / Managed Control Plane), Konfidence (reproducible delivery). Gardener and Konfidence are recognised by their wordmark logos; Kyma and OpenControlPlane carry a name label below the icon. All aligned with the NeoNephos Foundation.</a:t>
            </a:r>
          </a:p>
          <a:p>
            <a:r>
              <a:t>RIGHT — five SAP-internal teams running on OCM: Hyperspace, RBSC, CSI, Steampunk, Sovereign Services &amp; Delivery. These are SAP-only; no public logos.</a:t>
            </a:r>
          </a:p>
          <a:p>
            <a:r>
              <a:t>Hyperspace caveat (audience WILL ask): Hyperspace integration today runs on OCM v1. The v2 migration is on the 2026 roadmap. Internally, Hyperspace ALREADY uses OCM for SBOM aggregation — that is in production. The Piper-step v2 integration is the in-flight piece.</a:t>
            </a:r>
          </a:p>
          <a:p>
            <a:r>
              <a:t>Sovereign Services &amp; Delivery operates SAP products in sovereign markets — the Sovereign Cloud delivery use case is the cleanest current OCM end-to-end story (pack, sign, ship via Landscaper today, will move to Open Control Plane).</a:t>
            </a:r>
          </a:p>
          <a:p>
            <a:r>
              <a:t>Q&amp;A backup on conspicuous absences: ACD, Hana Cloud / SGSC traceability — these were in the 2024 plan but have not made the same progress. We don't claim them as adopters; we claim them as 'considering / in conversation.' Better to under-claim than over-claim.</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Pilot. Standardize. Steward. Three verbs, three concrete next-quarter actions for an architect in this room.</a:t>
            </a:r>
          </a:p>
          <a:p>
            <a:r>
              <a:t>PILOT: Pack one product as an OCM component, in your team, this quarter. Not a laptop demo — a real product, in your existing pipeline. RBSC is the cleanest first wire-up if you ship via RBSC today.</a:t>
            </a:r>
          </a:p>
          <a:p>
            <a:r>
              <a:t>STANDARDIZE: Make OCM the default for component delivery IN YOUR LoB. This is the key reframe: we are NOT mandating OCM via SLC-29 or via a top-down product standard. The 2024 plan named that path; the 2026 strategy is different. We invest in the CLI quality so that OCM becomes the standard because it's the best tool for the job — bottom-up. The Elton Mathias support from Product Standards Lifecycle is still on the table for future inclusion, but it's not the lever we're pulling first.</a:t>
            </a:r>
          </a:p>
          <a:p>
            <a:r>
              <a:t>STEWARD: Bring your LoB into the OCM steering conversation. Slack #sap-tech-ocm. We meet every two weeks; cross-LoB design decisions land there. If your LoB has a stake in component-delivery architecture, you should be in the room.</a:t>
            </a:r>
          </a:p>
          <a:p>
            <a:r>
              <a:t>Final stop-sentence rhythm: 'One primitive. Your stack. Your call.' Then pause. Don't trail into the appendix.</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only. Pull on demand if the audience stalls on a term. Don't narrate.</a:t>
            </a:r>
          </a:p>
          <a:p>
            <a:r>
              <a:t>Scope discipline: every entry on this slide also appears in the slide text of an earlier slide. If someone asks about a term that's NOT on this glossary (ODG, OCP, SBOD, NIS2, CRA, DORA, SLC-29, SPDX, SWID, SecNumCloud, TG, …), it lives in the speaker notes — answer from there.</a:t>
            </a:r>
          </a:p>
          <a:p>
            <a:r>
              <a:t>Spot-checks worth knowing: OCM = Open Component Model (the spec). RBSC = Release-Based Shipment Channel. CSI = Common Service Infrastructure. SS&amp;D = Sovereign Services &amp; Delivery. NeoNephos = the foundation, hosted under Linux Foundation Europe.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p="http://schemas.openxmlformats.org/presentationml/2006/main" xmlns:r="http://schemas.openxmlformats.org/officeDocument/2006/relationships" type="title" preserve="1" userDrawn="1">
  <p:cSld name="Hero">
    <p:bg>
      <p:bgPr>
        <a:solidFill>
          <a:srgbClr val="0A1530"/>
        </a:solidFill>
        <a:effectLst/>
      </p:bgPr>
    </p:bg>
    <p:spTree>
      <p:nvGrpSpPr>
        <p:cNvPr id="1" name=""/>
        <p:cNvGrpSpPr/>
        <p:nvPr/>
      </p:nvGrpSpPr>
      <p:grpSpPr>
        <a:xfrm>
          <a:off x="0" y="0"/>
          <a:ext cx="0" cy="0"/>
          <a:chOff x="0" y="0"/>
          <a:chExt cx="0" cy="0"/>
        </a:xfrm>
      </p:grpSpPr>
      <p:sp>
        <p:nvSpPr>
          <p:cNvPr id="10" name="Hero Title Line 1"/>
          <p:cNvSpPr>
            <a:spLocks noGrp="1"/>
          </p:cNvSpPr>
          <p:nvPr>
            <p:ph type="title" idx="1"/>
          </p:nvPr>
        </p:nvSpPr>
        <p:spPr>
          <a:xfrm>
            <a:off x="914400" y="1714500"/>
            <a:ext cx="17373600" cy="1524000"/>
          </a:xfrm>
          <a:prstGeom prst="rect">
            <a:avLst/>
          </a:prstGeom>
        </p:spPr>
        <p:txBody>
          <a:bodyPr wrap="square" rtlCol="0" anchor="t" lIns="0" tIns="0" rIns="0" bIns="0">
            <a:noAutofit/>
          </a:bodyPr>
          <a:lstStyle>
            <a:lvl1pPr marL="0" indent="0" algn="l">
              <a:buNone/>
              <a:defRPr sz="11500" b="1">
                <a:solidFill>
                  <a:srgbClr val="FFFFFF"/>
                </a:solidFill>
                <a:latin typeface="Aptos Display"/>
              </a:defRPr>
            </a:lvl1pPr>
          </a:lstStyle>
          <a:p>
            <a:r>
              <a:rPr lang="en-US"/>
              <a:t>Secure Delivery for</a:t>
            </a:r>
            <a:endParaRPr lang="en-US"/>
          </a:p>
        </p:txBody>
      </p:sp>
      <p:sp>
        <p:nvSpPr>
          <p:cNvPr id="11" name="Hero Title Line 2"/>
          <p:cNvSpPr>
            <a:spLocks noGrp="1"/>
          </p:cNvSpPr>
          <p:nvPr>
            <p:ph type="body" idx="2"/>
          </p:nvPr>
        </p:nvSpPr>
        <p:spPr>
          <a:xfrm>
            <a:off x="914400" y="3286125"/>
            <a:ext cx="17373600" cy="1524000"/>
          </a:xfrm>
          <a:prstGeom prst="rect">
            <a:avLst/>
          </a:prstGeom>
        </p:spPr>
        <p:txBody>
          <a:bodyPr wrap="square" rtlCol="0" anchor="t" lIns="0" tIns="0" rIns="0" bIns="0">
            <a:noAutofit/>
          </a:bodyPr>
          <a:lstStyle>
            <a:lvl1pPr marL="0" indent="0" algn="l">
              <a:buNone/>
              <a:defRPr sz="11500" b="1">
                <a:solidFill>
                  <a:srgbClr val="5CD6FF"/>
                </a:solidFill>
                <a:latin typeface="Aptos Display"/>
              </a:defRPr>
            </a:lvl1pPr>
          </a:lstStyle>
          <a:p>
            <a:r>
              <a:rPr lang="en-US"/>
              <a:t>Sovereign Clouds</a:t>
            </a:r>
            <a:endParaRPr lang="en-US"/>
          </a:p>
        </p:txBody>
      </p:sp>
      <p:sp>
        <p:nvSpPr>
          <p:cNvPr id="12" name="Hero Subtitle"/>
          <p:cNvSpPr>
            <a:spLocks noGrp="1"/>
          </p:cNvSpPr>
          <p:nvPr>
            <p:ph type="body" idx="3"/>
          </p:nvPr>
        </p:nvSpPr>
        <p:spPr>
          <a:xfrm>
            <a:off x="914400" y="5334000"/>
            <a:ext cx="16192500" cy="857250"/>
          </a:xfrm>
          <a:prstGeom prst="rect">
            <a:avLst/>
          </a:prstGeom>
        </p:spPr>
        <p:txBody>
          <a:bodyPr wrap="square" rtlCol="0" anchor="t" lIns="0" tIns="0" rIns="0" bIns="0">
            <a:noAutofit/>
          </a:bodyPr>
          <a:lstStyle>
            <a:lvl1pPr marL="0" indent="0" algn="l">
              <a:lnSpc>
                <a:spcPct val="114999"/>
              </a:lnSpc>
              <a:buNone/>
              <a:defRPr sz="3500">
                <a:solidFill>
                  <a:srgbClr val="5CD6FF"/>
                </a:solidFill>
                <a:latin typeface="Aptos"/>
              </a:defRPr>
            </a:lvl1pPr>
          </a:lstStyle>
          <a:p>
            <a:r>
              <a:rPr lang="en-US"/>
              <a:t>Subtitle — one sentence describing the deck.</a:t>
            </a:r>
            <a:endParaRPr lang="en-US"/>
          </a:p>
        </p:txBody>
      </p:sp>
      <p:sp>
        <p:nvSpPr>
          <p:cNvPr id="13" name="Hero Org Line"/>
          <p:cNvSpPr>
            <a:spLocks noGrp="1"/>
          </p:cNvSpPr>
          <p:nvPr>
            <p:ph type="body" idx="4"/>
          </p:nvPr>
        </p:nvSpPr>
        <p:spPr>
          <a:xfrm>
            <a:off x="914400" y="6572250"/>
            <a:ext cx="16192500" cy="571500"/>
          </a:xfrm>
          <a:prstGeom prst="rect">
            <a:avLst/>
          </a:prstGeom>
        </p:spPr>
        <p:txBody>
          <a:bodyPr wrap="square" rtlCol="0" anchor="t" lIns="0" tIns="0" rIns="0" bIns="0">
            <a:noAutofit/>
          </a:bodyPr>
          <a:lstStyle>
            <a:lvl1pPr marL="0" indent="0" algn="l">
              <a:buNone/>
              <a:defRPr sz="2800">
                <a:solidFill>
                  <a:srgbClr val="FFFFFF"/>
                </a:solidFill>
                <a:latin typeface="Aptos"/>
              </a:defRPr>
            </a:lvl1pPr>
          </a:lstStyle>
          <a:p>
            <a:r>
              <a:rPr lang="en-US"/>
              <a:t>Open Component Model — open source, NeoNephos Foundation.</a:t>
            </a:r>
            <a:endParaRPr lang="en-US"/>
          </a:p>
        </p:txBody>
      </p:sp>
    </p:spTree>
  </p:cSld>
  <p:clrMapOvr>
    <a:masterClrMapping/>
  </p:clrMapOvr>
</p:sldLayout>
</file>

<file path=ppt/slideLayouts/slideLayout2.xml><?xml version="1.0" encoding="utf-8"?>
<p:sldLayout xmlns:a="http://schemas.openxmlformats.org/drawingml/2006/main" xmlns:p="http://schemas.openxmlformats.org/presentationml/2006/main" xmlns:r="http://schemas.openxmlformats.org/officeDocument/2006/relationships" type="obj" preserve="1" userDrawn="1">
  <p:cSld name="CTA">
    <p:bg>
      <p:bgPr>
        <a:solidFill>
          <a:srgbClr val="0A1530"/>
        </a:solidFill>
        <a:effectLst/>
      </p:bgPr>
    </p:bg>
    <p:spTree>
      <p:nvGrpSpPr>
        <p:cNvPr id="1" name=""/>
        <p:cNvGrpSpPr/>
        <p:nvPr/>
      </p:nvGrpSpPr>
      <p:grpSpPr>
        <a:xfrm>
          <a:off x="0" y="0"/>
          <a:ext cx="0" cy="0"/>
          <a:chOff x="0" y="0"/>
          <a:chExt cx="0" cy="0"/>
        </a:xfrm>
      </p:grpSpPr>
      <p:sp>
        <p:nvSpPr>
          <p:cNvPr id="10" name="CTA Title"/>
          <p:cNvSpPr>
            <a:spLocks noGrp="1"/>
          </p:cNvSpPr>
          <p:nvPr>
            <p:ph type="title" idx="1"/>
          </p:nvPr>
        </p:nvSpPr>
        <p:spPr>
          <a:xfrm>
            <a:off x="914400" y="3048000"/>
            <a:ext cx="16192500" cy="952500"/>
          </a:xfrm>
          <a:prstGeom prst="rect">
            <a:avLst/>
          </a:prstGeom>
        </p:spPr>
        <p:txBody>
          <a:bodyPr wrap="square" rtlCol="0" anchor="t" lIns="0" tIns="0" rIns="0" bIns="0"/>
          <a:lstStyle>
            <a:lvl1pPr marL="0" indent="0" algn="l">
              <a:buNone/>
              <a:defRPr sz="6400" b="1">
                <a:solidFill>
                  <a:srgbClr val="FFFFFF"/>
                </a:solidFill>
                <a:latin typeface="Aptos Display"/>
              </a:defRPr>
            </a:lvl1pPr>
          </a:lstStyle>
          <a:p>
            <a:r>
              <a:rPr lang="en-US"/>
              <a:t>Call to action</a:t>
            </a:r>
            <a:endParaRPr lang="en-US"/>
          </a:p>
        </p:txBody>
      </p:sp>
      <p:sp>
        <p:nvSpPr>
          <p:cNvPr id="11" name="CTA Body"/>
          <p:cNvSpPr>
            <a:spLocks noGrp="1"/>
          </p:cNvSpPr>
          <p:nvPr>
            <p:ph type="body" idx="2"/>
          </p:nvPr>
        </p:nvSpPr>
        <p:spPr>
          <a:xfrm>
            <a:off x="914400" y="4381500"/>
            <a:ext cx="16192500" cy="3810000"/>
          </a:xfrm>
          <a:prstGeom prst="rect">
            <a:avLst/>
          </a:prstGeom>
        </p:spPr>
        <p:txBody>
          <a:bodyPr wrap="square" rtlCol="0" anchor="t" lIns="0" tIns="0" rIns="0" bIns="0"/>
          <a:lstStyle>
            <a:lvl1pPr marL="0" indent="0" algn="l">
              <a:buNone/>
              <a:defRPr sz="2500">
                <a:solidFill>
                  <a:srgbClr val="FFFFFF"/>
                </a:solidFill>
                <a:latin typeface="Aptos"/>
              </a:defRPr>
            </a:lvl1pPr>
          </a:lstStyle>
          <a:p>
            <a:r>
              <a:rPr lang="en-US"/>
              <a:t>Three-line CTA bullets go here.</a:t>
            </a:r>
            <a:endParaRPr lang="en-US"/>
          </a:p>
        </p:txBody>
      </p:sp>
    </p:spTree>
  </p:cSld>
  <p:clrMapOvr>
    <a:masterClrMapping/>
  </p:clrMapOvr>
</p:sldLayout>
</file>

<file path=ppt/slideLayouts/slideLayout3.xml><?xml version="1.0" encoding="utf-8"?>
<p:sldLayout xmlns:a="http://schemas.openxmlformats.org/drawingml/2006/main" xmlns:p="http://schemas.openxmlformats.org/presentationml/2006/main" xmlns:r="http://schemas.openxmlformats.org/officeDocument/2006/relationships" type="obj" preserve="1" userDrawn="1">
  <p:cSld name="Content / 3-Column">
    <p:bg>
      <p:bgPr>
        <a:solidFill>
          <a:srgbClr val="FFFFFF"/>
        </a:solidFill>
        <a:effectLst/>
      </p:bgPr>
    </p:bg>
    <p:spTree>
      <p:nvGrpSpPr>
        <p:cNvPr id="1" name=""/>
        <p:cNvGrpSpPr/>
        <p:nvPr/>
      </p:nvGrpSpPr>
      <p:grpSpPr>
        <a:xfrm>
          <a:off x="0" y="0"/>
          <a:ext cx="0" cy="0"/>
          <a:chOff x="0" y="0"/>
          <a:chExt cx="0" cy="0"/>
        </a:xfrm>
      </p:grpSpPr>
      <p:sp>
        <p:nvSpPr>
          <p:cNvPr id="10" name="Eyebrow"/>
          <p:cNvSpPr>
            <a:spLocks noGrp="1"/>
          </p:cNvSpPr>
          <p:nvPr>
            <p:ph type="body" idx="1"/>
          </p:nvPr>
        </p:nvSpPr>
        <p:spPr>
          <a:xfrm>
            <a:off x="1143000" y="2428875"/>
            <a:ext cx="16002000" cy="457200"/>
          </a:xfrm>
          <a:prstGeom prst="rect">
            <a:avLst/>
          </a:prstGeom>
        </p:spPr>
        <p:txBody>
          <a:bodyPr wrap="square" rtlCol="0" anchor="t" lIns="0" tIns="0" rIns="0" bIns="0"/>
          <a:lstStyle>
            <a:lvl1pPr marL="0" indent="0" algn="l">
              <a:buNone/>
              <a:defRPr sz="3200" b="1" cap="all" spc="140">
                <a:solidFill>
                  <a:srgbClr val="0F6BFF"/>
                </a:solidFill>
                <a:latin typeface="Aptos"/>
              </a:defRPr>
            </a:lvl1pPr>
          </a:lstStyle>
          <a:p>
            <a:r>
              <a:rPr lang="en-US"/>
              <a:t>EYEBROW</a:t>
            </a:r>
            <a:endParaRPr lang="en-US"/>
          </a:p>
        </p:txBody>
      </p:sp>
      <p:sp>
        <p:nvSpPr>
          <p:cNvPr id="11" name="Title"/>
          <p:cNvSpPr>
            <a:spLocks noGrp="1"/>
          </p:cNvSpPr>
          <p:nvPr>
            <p:ph type="title" idx="2"/>
          </p:nvPr>
        </p:nvSpPr>
        <p:spPr>
          <a:xfrm>
            <a:off x="1143000" y="2933700"/>
            <a:ext cx="16002000" cy="1905000"/>
          </a:xfrm>
          <a:prstGeom prst="rect">
            <a:avLst/>
          </a:prstGeom>
        </p:spPr>
        <p:txBody>
          <a:bodyPr wrap="square" rtlCol="0" anchor="t" lIns="0" tIns="0" rIns="0" bIns="0"/>
          <a:lstStyle>
            <a:lvl1pPr marL="0" indent="0" algn="l">
              <a:lnSpc>
                <a:spcPct val="90000"/>
              </a:lnSpc>
              <a:buNone/>
              <a:defRPr sz="7400" b="1">
                <a:solidFill>
                  <a:srgbClr val="000000"/>
                </a:solidFill>
                <a:latin typeface="Aptos Display"/>
              </a:defRPr>
            </a:lvl1pPr>
          </a:lstStyle>
          <a:p>
            <a:r>
              <a:rPr lang="en-US"/>
              <a:t>Section title goes here.</a:t>
            </a:r>
            <a:endParaRPr lang="en-US"/>
          </a:p>
        </p:txBody>
      </p:sp>
      <p:sp>
        <p:nvSpPr>
          <p:cNvPr id="12" name="Col1 Rule"/>
          <p:cNvSpPr/>
          <p:nvPr/>
        </p:nvSpPr>
        <p:spPr>
          <a:xfrm>
            <a:off x="1143000" y="4953000"/>
            <a:ext cx="4972050" cy="38100"/>
          </a:xfrm>
          <a:prstGeom prst="rect">
            <a:avLst/>
          </a:prstGeom>
          <a:solidFill>
            <a:srgbClr val="0F6BFF"/>
          </a:solidFill>
          <a:ln>
            <a:noFill/>
          </a:ln>
        </p:spPr>
        <p:txBody>
          <a:bodyPr rtlCol="0" anchor="ctr"/>
          <a:lstStyle/>
          <a:p>
            <a:endParaRPr lang="en-US"/>
          </a:p>
        </p:txBody>
      </p:sp>
      <p:sp>
        <p:nvSpPr>
          <p:cNvPr id="13" name="Col1 Header"/>
          <p:cNvSpPr>
            <a:spLocks noGrp="1"/>
          </p:cNvSpPr>
          <p:nvPr>
            <p:ph type="body" idx="10"/>
          </p:nvPr>
        </p:nvSpPr>
        <p:spPr>
          <a:xfrm>
            <a:off x="1143000" y="5105400"/>
            <a:ext cx="4972050" cy="533400"/>
          </a:xfrm>
          <a:prstGeom prst="rect">
            <a:avLst/>
          </a:prstGeom>
        </p:spPr>
        <p:txBody>
          <a:bodyPr wrap="square" rtlCol="0" anchor="t" lIns="0" tIns="0" rIns="0" bIns="0">
            <a:noAutofit/>
          </a:bodyPr>
          <a:lstStyle>
            <a:lvl1pPr marL="0" indent="0" algn="l">
              <a:buNone/>
              <a:defRPr sz="2300" b="1" cap="all" spc="130">
                <a:solidFill>
                  <a:srgbClr val="0F6BFF"/>
                </a:solidFill>
                <a:latin typeface="Aptos"/>
              </a:defRPr>
            </a:lvl1pPr>
          </a:lstStyle>
          <a:p>
            <a:r>
              <a:rPr lang="en-US"/>
              <a:t>COLUMN 1 HEADER</a:t>
            </a:r>
            <a:endParaRPr lang="en-US"/>
          </a:p>
        </p:txBody>
      </p:sp>
      <p:sp>
        <p:nvSpPr>
          <p:cNvPr id="14" name="Col1 Body"/>
          <p:cNvSpPr>
            <a:spLocks noGrp="1"/>
          </p:cNvSpPr>
          <p:nvPr>
            <p:ph type="body" idx="11"/>
          </p:nvPr>
        </p:nvSpPr>
        <p:spPr>
          <a:xfrm>
            <a:off x="1143000" y="5753100"/>
            <a:ext cx="4972050" cy="4381500"/>
          </a:xfrm>
          <a:prstGeom prst="rect">
            <a:avLst/>
          </a:prstGeom>
        </p:spPr>
        <p:txBody>
          <a:bodyPr wrap="square" rtlCol="0" anchor="t" lIns="0" tIns="0" rIns="0" bIns="0"/>
          <a:lstStyle>
            <a:lvl1pPr marL="0" indent="0" algn="l">
              <a:buNone/>
              <a:defRPr sz="2500">
                <a:solidFill>
                  <a:srgbClr val="000000"/>
                </a:solidFill>
                <a:latin typeface="Aptos"/>
              </a:defRPr>
            </a:lvl1pPr>
          </a:lstStyle>
          <a:p>
            <a:r>
              <a:rPr lang="en-US"/>
              <a:t>Column 1 body. Replace with one or two short sentences.</a:t>
            </a:r>
            <a:endParaRPr lang="en-US"/>
          </a:p>
        </p:txBody>
      </p:sp>
      <p:sp>
        <p:nvSpPr>
          <p:cNvPr id="15" name="Col2 Rule"/>
          <p:cNvSpPr/>
          <p:nvPr/>
        </p:nvSpPr>
        <p:spPr>
          <a:xfrm>
            <a:off x="6648450" y="4953000"/>
            <a:ext cx="4972050" cy="38100"/>
          </a:xfrm>
          <a:prstGeom prst="rect">
            <a:avLst/>
          </a:prstGeom>
          <a:solidFill>
            <a:srgbClr val="0F6BFF"/>
          </a:solidFill>
          <a:ln>
            <a:noFill/>
          </a:ln>
        </p:spPr>
        <p:txBody>
          <a:bodyPr rtlCol="0" anchor="ctr"/>
          <a:lstStyle/>
          <a:p>
            <a:endParaRPr lang="en-US"/>
          </a:p>
        </p:txBody>
      </p:sp>
      <p:sp>
        <p:nvSpPr>
          <p:cNvPr id="16" name="Col2 Header"/>
          <p:cNvSpPr>
            <a:spLocks noGrp="1"/>
          </p:cNvSpPr>
          <p:nvPr>
            <p:ph type="body" idx="12"/>
          </p:nvPr>
        </p:nvSpPr>
        <p:spPr>
          <a:xfrm>
            <a:off x="6648450" y="5105400"/>
            <a:ext cx="4972050" cy="533400"/>
          </a:xfrm>
          <a:prstGeom prst="rect">
            <a:avLst/>
          </a:prstGeom>
        </p:spPr>
        <p:txBody>
          <a:bodyPr wrap="square" rtlCol="0" anchor="t" lIns="0" tIns="0" rIns="0" bIns="0">
            <a:noAutofit/>
          </a:bodyPr>
          <a:lstStyle>
            <a:lvl1pPr marL="0" indent="0" algn="l">
              <a:buNone/>
              <a:defRPr sz="2300" b="1" cap="all" spc="130">
                <a:solidFill>
                  <a:srgbClr val="0F6BFF"/>
                </a:solidFill>
                <a:latin typeface="Aptos"/>
              </a:defRPr>
            </a:lvl1pPr>
          </a:lstStyle>
          <a:p>
            <a:r>
              <a:rPr lang="en-US"/>
              <a:t>COLUMN 2 HEADER</a:t>
            </a:r>
            <a:endParaRPr lang="en-US"/>
          </a:p>
        </p:txBody>
      </p:sp>
      <p:sp>
        <p:nvSpPr>
          <p:cNvPr id="17" name="Col2 Body"/>
          <p:cNvSpPr>
            <a:spLocks noGrp="1"/>
          </p:cNvSpPr>
          <p:nvPr>
            <p:ph type="body" idx="13"/>
          </p:nvPr>
        </p:nvSpPr>
        <p:spPr>
          <a:xfrm>
            <a:off x="6648450" y="5753100"/>
            <a:ext cx="4972050" cy="4381500"/>
          </a:xfrm>
          <a:prstGeom prst="rect">
            <a:avLst/>
          </a:prstGeom>
        </p:spPr>
        <p:txBody>
          <a:bodyPr wrap="square" rtlCol="0" anchor="t" lIns="0" tIns="0" rIns="0" bIns="0"/>
          <a:lstStyle>
            <a:lvl1pPr marL="0" indent="0" algn="l">
              <a:buNone/>
              <a:defRPr sz="2500">
                <a:solidFill>
                  <a:srgbClr val="000000"/>
                </a:solidFill>
                <a:latin typeface="Aptos"/>
              </a:defRPr>
            </a:lvl1pPr>
          </a:lstStyle>
          <a:p>
            <a:r>
              <a:rPr lang="en-US"/>
              <a:t>Column 2 body. Replace with one or two short sentences.</a:t>
            </a:r>
            <a:endParaRPr lang="en-US"/>
          </a:p>
        </p:txBody>
      </p:sp>
      <p:sp>
        <p:nvSpPr>
          <p:cNvPr id="18" name="Col3 Rule"/>
          <p:cNvSpPr/>
          <p:nvPr/>
        </p:nvSpPr>
        <p:spPr>
          <a:xfrm>
            <a:off x="12153900" y="4953000"/>
            <a:ext cx="4972050" cy="38100"/>
          </a:xfrm>
          <a:prstGeom prst="rect">
            <a:avLst/>
          </a:prstGeom>
          <a:solidFill>
            <a:srgbClr val="0F6BFF"/>
          </a:solidFill>
          <a:ln>
            <a:noFill/>
          </a:ln>
        </p:spPr>
        <p:txBody>
          <a:bodyPr rtlCol="0" anchor="ctr"/>
          <a:lstStyle/>
          <a:p>
            <a:endParaRPr lang="en-US"/>
          </a:p>
        </p:txBody>
      </p:sp>
      <p:sp>
        <p:nvSpPr>
          <p:cNvPr id="19" name="Col3 Header"/>
          <p:cNvSpPr>
            <a:spLocks noGrp="1"/>
          </p:cNvSpPr>
          <p:nvPr>
            <p:ph type="body" idx="14"/>
          </p:nvPr>
        </p:nvSpPr>
        <p:spPr>
          <a:xfrm>
            <a:off x="12153900" y="5105400"/>
            <a:ext cx="4972050" cy="533400"/>
          </a:xfrm>
          <a:prstGeom prst="rect">
            <a:avLst/>
          </a:prstGeom>
        </p:spPr>
        <p:txBody>
          <a:bodyPr wrap="square" rtlCol="0" anchor="t" lIns="0" tIns="0" rIns="0" bIns="0">
            <a:noAutofit/>
          </a:bodyPr>
          <a:lstStyle>
            <a:lvl1pPr marL="0" indent="0" algn="l">
              <a:buNone/>
              <a:defRPr sz="2300" b="1" cap="all" spc="130">
                <a:solidFill>
                  <a:srgbClr val="0F6BFF"/>
                </a:solidFill>
                <a:latin typeface="Aptos"/>
              </a:defRPr>
            </a:lvl1pPr>
          </a:lstStyle>
          <a:p>
            <a:r>
              <a:rPr lang="en-US"/>
              <a:t>COLUMN 3 HEADER</a:t>
            </a:r>
            <a:endParaRPr lang="en-US"/>
          </a:p>
        </p:txBody>
      </p:sp>
      <p:sp>
        <p:nvSpPr>
          <p:cNvPr id="20" name="Col3 Body"/>
          <p:cNvSpPr>
            <a:spLocks noGrp="1"/>
          </p:cNvSpPr>
          <p:nvPr>
            <p:ph type="body" idx="15"/>
          </p:nvPr>
        </p:nvSpPr>
        <p:spPr>
          <a:xfrm>
            <a:off x="12153900" y="5753100"/>
            <a:ext cx="4972050" cy="4381500"/>
          </a:xfrm>
          <a:prstGeom prst="rect">
            <a:avLst/>
          </a:prstGeom>
        </p:spPr>
        <p:txBody>
          <a:bodyPr wrap="square" rtlCol="0" anchor="t" lIns="0" tIns="0" rIns="0" bIns="0"/>
          <a:lstStyle>
            <a:lvl1pPr marL="0" indent="0" algn="l">
              <a:buNone/>
              <a:defRPr sz="2500">
                <a:solidFill>
                  <a:srgbClr val="000000"/>
                </a:solidFill>
                <a:latin typeface="Aptos"/>
              </a:defRPr>
            </a:lvl1pPr>
          </a:lstStyle>
          <a:p>
            <a:r>
              <a:rPr lang="en-US"/>
              <a:t>Column 3 body. Replace with one or two short sentences.</a:t>
            </a:r>
            <a:endParaRPr lang="en-US"/>
          </a:p>
        </p:txBody>
      </p:sp>
      <p:sp>
        <p:nvSpPr>
          <p:cNvPr id="21" name="Footer"/>
          <p:cNvSpPr>
            <a:spLocks noGrp="1"/>
          </p:cNvSpPr>
          <p:nvPr/>
        </p:nvSpPr>
        <p:spPr>
          <a:xfrm>
            <a:off x="1143000" y="9982200"/>
            <a:ext cx="16002000" cy="228600"/>
          </a:xfrm>
          <a:prstGeom prst="rect">
            <a:avLst/>
          </a:prstGeom>
        </p:spPr>
        <p:txBody>
          <a:bodyPr wrap="square" rtlCol="0" anchor="t" lIns="0" tIns="0" rIns="0" bIns="0"/>
          <a:lstStyle>
            <a:lvl1pPr marL="0" indent="0" algn="l">
              <a:buNone/>
              <a:defRPr sz="1000" cap="all" spc="50">
                <a:solidFill>
                  <a:srgbClr val="6B7280"/>
                </a:solidFill>
                <a:latin typeface="Aptos"/>
              </a:defRPr>
            </a:lvl1pPr>
          </a:lstStyle>
          <a:p>
            <a:r>
              <a:rPr lang="en-US"/>
              <a:t>OPEN COMPONENT MODEL · OCM.SOFTWARE</a:t>
            </a:r>
            <a:endParaRPr lang="en-US"/>
          </a:p>
        </p:txBody>
      </p:sp>
    </p:spTree>
  </p:cSld>
  <p:clrMapOvr>
    <a:masterClrMapping/>
  </p:clrMapOvr>
</p:sldLayout>
</file>

<file path=ppt/slideLayouts/slideLayout4.xml><?xml version="1.0" encoding="utf-8"?>
<p:sldLayout xmlns:a="http://schemas.openxmlformats.org/drawingml/2006/main" xmlns:p="http://schemas.openxmlformats.org/presentationml/2006/main" xmlns:r="http://schemas.openxmlformats.org/officeDocument/2006/relationships" type="obj" preserve="1" userDrawn="1">
  <p:cSld name="Content / 3-Column Tall Title">
    <p:bg>
      <p:bgPr>
        <a:solidFill>
          <a:srgbClr val="FFFFFF"/>
        </a:solidFill>
        <a:effectLst/>
      </p:bgPr>
    </p:bg>
    <p:spTree>
      <p:nvGrpSpPr>
        <p:cNvPr id="1" name=""/>
        <p:cNvGrpSpPr/>
        <p:nvPr/>
      </p:nvGrpSpPr>
      <p:grpSpPr>
        <a:xfrm>
          <a:off x="0" y="0"/>
          <a:ext cx="0" cy="0"/>
          <a:chOff x="0" y="0"/>
          <a:chExt cx="0" cy="0"/>
        </a:xfrm>
      </p:grpSpPr>
      <p:sp>
        <p:nvSpPr>
          <p:cNvPr id="10" name="Eyebrow"/>
          <p:cNvSpPr>
            <a:spLocks noGrp="1"/>
          </p:cNvSpPr>
          <p:nvPr>
            <p:ph type="body" idx="1"/>
          </p:nvPr>
        </p:nvSpPr>
        <p:spPr>
          <a:xfrm>
            <a:off x="1143000" y="2428875"/>
            <a:ext cx="16002000" cy="457200"/>
          </a:xfrm>
          <a:prstGeom prst="rect">
            <a:avLst/>
          </a:prstGeom>
        </p:spPr>
        <p:txBody>
          <a:bodyPr wrap="square" rtlCol="0" anchor="t" lIns="0" tIns="0" rIns="0" bIns="0"/>
          <a:lstStyle>
            <a:lvl1pPr marL="0" indent="0" algn="l">
              <a:buNone/>
              <a:defRPr sz="3200" b="1" cap="all" spc="140">
                <a:solidFill>
                  <a:srgbClr val="0F6BFF"/>
                </a:solidFill>
                <a:latin typeface="Aptos"/>
              </a:defRPr>
            </a:lvl1pPr>
          </a:lstStyle>
          <a:p>
            <a:r>
              <a:rPr lang="en-US"/>
              <a:t>EYEBROW</a:t>
            </a:r>
            <a:endParaRPr lang="en-US"/>
          </a:p>
        </p:txBody>
      </p:sp>
      <p:sp>
        <p:nvSpPr>
          <p:cNvPr id="11" name="Title"/>
          <p:cNvSpPr>
            <a:spLocks noGrp="1"/>
          </p:cNvSpPr>
          <p:nvPr>
            <p:ph type="title" idx="2"/>
          </p:nvPr>
        </p:nvSpPr>
        <p:spPr>
          <a:xfrm>
            <a:off x="1143000" y="2933700"/>
            <a:ext cx="16002000" cy="2857500"/>
          </a:xfrm>
          <a:prstGeom prst="rect">
            <a:avLst/>
          </a:prstGeom>
        </p:spPr>
        <p:txBody>
          <a:bodyPr wrap="square" rtlCol="0" anchor="t" lIns="0" tIns="0" rIns="0" bIns="0"/>
          <a:lstStyle>
            <a:lvl1pPr marL="0" indent="0" algn="l">
              <a:lnSpc>
                <a:spcPct val="90000"/>
              </a:lnSpc>
              <a:buNone/>
              <a:defRPr sz="7400" b="1">
                <a:solidFill>
                  <a:srgbClr val="000000"/>
                </a:solidFill>
                <a:latin typeface="Aptos Display"/>
              </a:defRPr>
            </a:lvl1pPr>
          </a:lstStyle>
          <a:p>
            <a:r>
              <a:rPr lang="en-US"/>
              <a:t>Two-line section title goes here.</a:t>
            </a:r>
            <a:endParaRPr lang="en-US"/>
          </a:p>
        </p:txBody>
      </p:sp>
      <p:sp>
        <p:nvSpPr>
          <p:cNvPr id="12" name="Col1 Rule"/>
          <p:cNvSpPr/>
          <p:nvPr/>
        </p:nvSpPr>
        <p:spPr>
          <a:xfrm>
            <a:off x="1143000" y="5905500"/>
            <a:ext cx="4972050" cy="38100"/>
          </a:xfrm>
          <a:prstGeom prst="rect">
            <a:avLst/>
          </a:prstGeom>
          <a:solidFill>
            <a:srgbClr val="0F6BFF"/>
          </a:solidFill>
          <a:ln>
            <a:noFill/>
          </a:ln>
        </p:spPr>
        <p:txBody>
          <a:bodyPr rtlCol="0" anchor="ctr"/>
          <a:lstStyle/>
          <a:p>
            <a:endParaRPr lang="en-US"/>
          </a:p>
        </p:txBody>
      </p:sp>
      <p:sp>
        <p:nvSpPr>
          <p:cNvPr id="13" name="Col1 Header"/>
          <p:cNvSpPr>
            <a:spLocks noGrp="1"/>
          </p:cNvSpPr>
          <p:nvPr>
            <p:ph type="body" idx="10"/>
          </p:nvPr>
        </p:nvSpPr>
        <p:spPr>
          <a:xfrm>
            <a:off x="1143000" y="6057900"/>
            <a:ext cx="4972050" cy="533400"/>
          </a:xfrm>
          <a:prstGeom prst="rect">
            <a:avLst/>
          </a:prstGeom>
        </p:spPr>
        <p:txBody>
          <a:bodyPr wrap="square" rtlCol="0" anchor="t" lIns="0" tIns="0" rIns="0" bIns="0">
            <a:noAutofit/>
          </a:bodyPr>
          <a:lstStyle>
            <a:lvl1pPr marL="0" indent="0" algn="l">
              <a:buNone/>
              <a:defRPr sz="2300" b="1" cap="all" spc="130">
                <a:solidFill>
                  <a:srgbClr val="0F6BFF"/>
                </a:solidFill>
                <a:latin typeface="Aptos"/>
              </a:defRPr>
            </a:lvl1pPr>
          </a:lstStyle>
          <a:p>
            <a:r>
              <a:rPr lang="en-US"/>
              <a:t>COLUMN 1 HEADER</a:t>
            </a:r>
            <a:endParaRPr lang="en-US"/>
          </a:p>
        </p:txBody>
      </p:sp>
      <p:sp>
        <p:nvSpPr>
          <p:cNvPr id="14" name="Col1 Body"/>
          <p:cNvSpPr>
            <a:spLocks noGrp="1"/>
          </p:cNvSpPr>
          <p:nvPr>
            <p:ph type="body" idx="11"/>
          </p:nvPr>
        </p:nvSpPr>
        <p:spPr>
          <a:xfrm>
            <a:off x="1143000" y="6705600"/>
            <a:ext cx="4972050" cy="3619500"/>
          </a:xfrm>
          <a:prstGeom prst="rect">
            <a:avLst/>
          </a:prstGeom>
        </p:spPr>
        <p:txBody>
          <a:bodyPr wrap="square" rtlCol="0" anchor="t" lIns="0" tIns="0" rIns="0" bIns="0"/>
          <a:lstStyle>
            <a:lvl1pPr marL="0" indent="0" algn="l">
              <a:buNone/>
              <a:defRPr sz="2500">
                <a:solidFill>
                  <a:srgbClr val="000000"/>
                </a:solidFill>
                <a:latin typeface="Aptos"/>
              </a:defRPr>
            </a:lvl1pPr>
          </a:lstStyle>
          <a:p>
            <a:r>
              <a:rPr lang="en-US"/>
              <a:t>Column 1 body. Replace with one or two short sentences.</a:t>
            </a:r>
            <a:endParaRPr lang="en-US"/>
          </a:p>
        </p:txBody>
      </p:sp>
      <p:sp>
        <p:nvSpPr>
          <p:cNvPr id="15" name="Col2 Rule"/>
          <p:cNvSpPr/>
          <p:nvPr/>
        </p:nvSpPr>
        <p:spPr>
          <a:xfrm>
            <a:off x="6648450" y="5905500"/>
            <a:ext cx="4972050" cy="38100"/>
          </a:xfrm>
          <a:prstGeom prst="rect">
            <a:avLst/>
          </a:prstGeom>
          <a:solidFill>
            <a:srgbClr val="0F6BFF"/>
          </a:solidFill>
          <a:ln>
            <a:noFill/>
          </a:ln>
        </p:spPr>
        <p:txBody>
          <a:bodyPr rtlCol="0" anchor="ctr"/>
          <a:lstStyle/>
          <a:p>
            <a:endParaRPr lang="en-US"/>
          </a:p>
        </p:txBody>
      </p:sp>
      <p:sp>
        <p:nvSpPr>
          <p:cNvPr id="16" name="Col2 Header"/>
          <p:cNvSpPr>
            <a:spLocks noGrp="1"/>
          </p:cNvSpPr>
          <p:nvPr>
            <p:ph type="body" idx="12"/>
          </p:nvPr>
        </p:nvSpPr>
        <p:spPr>
          <a:xfrm>
            <a:off x="6648450" y="6057900"/>
            <a:ext cx="4972050" cy="533400"/>
          </a:xfrm>
          <a:prstGeom prst="rect">
            <a:avLst/>
          </a:prstGeom>
        </p:spPr>
        <p:txBody>
          <a:bodyPr wrap="square" rtlCol="0" anchor="t" lIns="0" tIns="0" rIns="0" bIns="0">
            <a:noAutofit/>
          </a:bodyPr>
          <a:lstStyle>
            <a:lvl1pPr marL="0" indent="0" algn="l">
              <a:buNone/>
              <a:defRPr sz="2300" b="1" cap="all" spc="130">
                <a:solidFill>
                  <a:srgbClr val="0F6BFF"/>
                </a:solidFill>
                <a:latin typeface="Aptos"/>
              </a:defRPr>
            </a:lvl1pPr>
          </a:lstStyle>
          <a:p>
            <a:r>
              <a:rPr lang="en-US"/>
              <a:t>COLUMN 2 HEADER</a:t>
            </a:r>
            <a:endParaRPr lang="en-US"/>
          </a:p>
        </p:txBody>
      </p:sp>
      <p:sp>
        <p:nvSpPr>
          <p:cNvPr id="17" name="Col2 Body"/>
          <p:cNvSpPr>
            <a:spLocks noGrp="1"/>
          </p:cNvSpPr>
          <p:nvPr>
            <p:ph type="body" idx="13"/>
          </p:nvPr>
        </p:nvSpPr>
        <p:spPr>
          <a:xfrm>
            <a:off x="6648450" y="6705600"/>
            <a:ext cx="4972050" cy="3619500"/>
          </a:xfrm>
          <a:prstGeom prst="rect">
            <a:avLst/>
          </a:prstGeom>
        </p:spPr>
        <p:txBody>
          <a:bodyPr wrap="square" rtlCol="0" anchor="t" lIns="0" tIns="0" rIns="0" bIns="0"/>
          <a:lstStyle>
            <a:lvl1pPr marL="0" indent="0" algn="l">
              <a:buNone/>
              <a:defRPr sz="2500">
                <a:solidFill>
                  <a:srgbClr val="000000"/>
                </a:solidFill>
                <a:latin typeface="Aptos"/>
              </a:defRPr>
            </a:lvl1pPr>
          </a:lstStyle>
          <a:p>
            <a:r>
              <a:rPr lang="en-US"/>
              <a:t>Column 2 body. Replace with one or two short sentences.</a:t>
            </a:r>
            <a:endParaRPr lang="en-US"/>
          </a:p>
        </p:txBody>
      </p:sp>
      <p:sp>
        <p:nvSpPr>
          <p:cNvPr id="18" name="Col3 Rule"/>
          <p:cNvSpPr/>
          <p:nvPr/>
        </p:nvSpPr>
        <p:spPr>
          <a:xfrm>
            <a:off x="12153900" y="5905500"/>
            <a:ext cx="4972050" cy="38100"/>
          </a:xfrm>
          <a:prstGeom prst="rect">
            <a:avLst/>
          </a:prstGeom>
          <a:solidFill>
            <a:srgbClr val="0F6BFF"/>
          </a:solidFill>
          <a:ln>
            <a:noFill/>
          </a:ln>
        </p:spPr>
        <p:txBody>
          <a:bodyPr rtlCol="0" anchor="ctr"/>
          <a:lstStyle/>
          <a:p>
            <a:endParaRPr lang="en-US"/>
          </a:p>
        </p:txBody>
      </p:sp>
      <p:sp>
        <p:nvSpPr>
          <p:cNvPr id="19" name="Col3 Header"/>
          <p:cNvSpPr>
            <a:spLocks noGrp="1"/>
          </p:cNvSpPr>
          <p:nvPr>
            <p:ph type="body" idx="14"/>
          </p:nvPr>
        </p:nvSpPr>
        <p:spPr>
          <a:xfrm>
            <a:off x="12153900" y="6057900"/>
            <a:ext cx="4972050" cy="533400"/>
          </a:xfrm>
          <a:prstGeom prst="rect">
            <a:avLst/>
          </a:prstGeom>
        </p:spPr>
        <p:txBody>
          <a:bodyPr wrap="square" rtlCol="0" anchor="t" lIns="0" tIns="0" rIns="0" bIns="0">
            <a:noAutofit/>
          </a:bodyPr>
          <a:lstStyle>
            <a:lvl1pPr marL="0" indent="0" algn="l">
              <a:buNone/>
              <a:defRPr sz="2300" b="1" cap="all" spc="130">
                <a:solidFill>
                  <a:srgbClr val="0F6BFF"/>
                </a:solidFill>
                <a:latin typeface="Aptos"/>
              </a:defRPr>
            </a:lvl1pPr>
          </a:lstStyle>
          <a:p>
            <a:r>
              <a:rPr lang="en-US"/>
              <a:t>COLUMN 3 HEADER</a:t>
            </a:r>
            <a:endParaRPr lang="en-US"/>
          </a:p>
        </p:txBody>
      </p:sp>
      <p:sp>
        <p:nvSpPr>
          <p:cNvPr id="20" name="Col3 Body"/>
          <p:cNvSpPr>
            <a:spLocks noGrp="1"/>
          </p:cNvSpPr>
          <p:nvPr>
            <p:ph type="body" idx="15"/>
          </p:nvPr>
        </p:nvSpPr>
        <p:spPr>
          <a:xfrm>
            <a:off x="12153900" y="6705600"/>
            <a:ext cx="4972050" cy="3619500"/>
          </a:xfrm>
          <a:prstGeom prst="rect">
            <a:avLst/>
          </a:prstGeom>
        </p:spPr>
        <p:txBody>
          <a:bodyPr wrap="square" rtlCol="0" anchor="t" lIns="0" tIns="0" rIns="0" bIns="0"/>
          <a:lstStyle>
            <a:lvl1pPr marL="0" indent="0" algn="l">
              <a:buNone/>
              <a:defRPr sz="2500">
                <a:solidFill>
                  <a:srgbClr val="000000"/>
                </a:solidFill>
                <a:latin typeface="Aptos"/>
              </a:defRPr>
            </a:lvl1pPr>
          </a:lstStyle>
          <a:p>
            <a:r>
              <a:rPr lang="en-US"/>
              <a:t>Column 3 body. Replace with one or two short sentences.</a:t>
            </a:r>
            <a:endParaRPr lang="en-US"/>
          </a:p>
        </p:txBody>
      </p:sp>
      <p:sp>
        <p:nvSpPr>
          <p:cNvPr id="21" name="Footer"/>
          <p:cNvSpPr>
            <a:spLocks noGrp="1"/>
          </p:cNvSpPr>
          <p:nvPr/>
        </p:nvSpPr>
        <p:spPr>
          <a:xfrm>
            <a:off x="1143000" y="9982200"/>
            <a:ext cx="16002000" cy="228600"/>
          </a:xfrm>
          <a:prstGeom prst="rect">
            <a:avLst/>
          </a:prstGeom>
        </p:spPr>
        <p:txBody>
          <a:bodyPr wrap="square" rtlCol="0" anchor="t" lIns="0" tIns="0" rIns="0" bIns="0"/>
          <a:lstStyle>
            <a:lvl1pPr marL="0" indent="0" algn="l">
              <a:buNone/>
              <a:defRPr sz="1000" cap="all" spc="50">
                <a:solidFill>
                  <a:srgbClr val="6B7280"/>
                </a:solidFill>
                <a:latin typeface="Aptos"/>
              </a:defRPr>
            </a:lvl1pPr>
          </a:lstStyle>
          <a:p>
            <a:r>
              <a:rPr lang="en-US"/>
              <a:t>OPEN COMPONENT MODEL · OCM.SOFTWARE</a:t>
            </a:r>
            <a:endParaRPr lang="en-US"/>
          </a:p>
        </p:txBody>
      </p:sp>
    </p:spTree>
  </p:cSld>
  <p:clrMapOvr>
    <a:masterClrMapping/>
  </p:clrMapOvr>
</p:sldLayout>
</file>

<file path=ppt/slideLayouts/slideLayout5.xml><?xml version="1.0" encoding="utf-8"?>
<p:sldLayout xmlns:a="http://schemas.openxmlformats.org/drawingml/2006/main" xmlns:p="http://schemas.openxmlformats.org/presentationml/2006/main" xmlns:r="http://schemas.openxmlformats.org/officeDocument/2006/relationships" type="obj" preserve="1" userDrawn="1">
  <p:cSld name="Content / Diagram">
    <p:bg>
      <p:bgPr>
        <a:solidFill>
          <a:srgbClr val="FFFFFF"/>
        </a:solidFill>
        <a:effectLst/>
      </p:bgPr>
    </p:bg>
    <p:spTree>
      <p:nvGrpSpPr>
        <p:cNvPr id="1" name=""/>
        <p:cNvGrpSpPr/>
        <p:nvPr/>
      </p:nvGrpSpPr>
      <p:grpSpPr>
        <a:xfrm>
          <a:off x="0" y="0"/>
          <a:ext cx="0" cy="0"/>
          <a:chOff x="0" y="0"/>
          <a:chExt cx="0" cy="0"/>
        </a:xfrm>
      </p:grpSpPr>
      <p:sp>
        <p:nvSpPr>
          <p:cNvPr id="10" name="Eyebrow"/>
          <p:cNvSpPr>
            <a:spLocks noGrp="1"/>
          </p:cNvSpPr>
          <p:nvPr>
            <p:ph type="body" idx="1"/>
          </p:nvPr>
        </p:nvSpPr>
        <p:spPr>
          <a:xfrm>
            <a:off x="1143000" y="714375"/>
            <a:ext cx="16002000" cy="457200"/>
          </a:xfrm>
          <a:prstGeom prst="rect">
            <a:avLst/>
          </a:prstGeom>
        </p:spPr>
        <p:txBody>
          <a:bodyPr wrap="square" rtlCol="0" anchor="t" lIns="0" tIns="0" rIns="0" bIns="0"/>
          <a:lstStyle>
            <a:lvl1pPr marL="0" indent="0" algn="l">
              <a:buNone/>
              <a:defRPr sz="3200" b="1" cap="all" spc="140">
                <a:solidFill>
                  <a:srgbClr val="0F6BFF"/>
                </a:solidFill>
                <a:latin typeface="Aptos"/>
              </a:defRPr>
            </a:lvl1pPr>
          </a:lstStyle>
          <a:p>
            <a:r>
              <a:rPr lang="en-US"/>
              <a:t>EYEBROW</a:t>
            </a:r>
            <a:endParaRPr lang="en-US"/>
          </a:p>
        </p:txBody>
      </p:sp>
      <p:sp>
        <p:nvSpPr>
          <p:cNvPr id="11" name="Title"/>
          <p:cNvSpPr>
            <a:spLocks noGrp="1"/>
          </p:cNvSpPr>
          <p:nvPr>
            <p:ph type="title" idx="2"/>
          </p:nvPr>
        </p:nvSpPr>
        <p:spPr>
          <a:xfrm>
            <a:off x="1143000" y="1219200"/>
            <a:ext cx="16002000" cy="762000"/>
          </a:xfrm>
          <a:prstGeom prst="rect">
            <a:avLst/>
          </a:prstGeom>
        </p:spPr>
        <p:txBody>
          <a:bodyPr wrap="square" rtlCol="0" anchor="t" lIns="0" tIns="0" rIns="0" bIns="0"/>
          <a:lstStyle>
            <a:lvl1pPr marL="0" indent="0" algn="l">
              <a:lnSpc>
                <a:spcPct val="90000"/>
              </a:lnSpc>
              <a:buNone/>
              <a:defRPr sz="7400" b="1">
                <a:solidFill>
                  <a:srgbClr val="000000"/>
                </a:solidFill>
                <a:latin typeface="Aptos Display"/>
              </a:defRPr>
            </a:lvl1pPr>
          </a:lstStyle>
          <a:p>
            <a:r>
              <a:rPr lang="en-US"/>
              <a:t>Section title goes here.</a:t>
            </a:r>
            <a:endParaRPr lang="en-US"/>
          </a:p>
        </p:txBody>
      </p:sp>
      <p:sp>
        <p:nvSpPr>
          <p:cNvPr id="12" name="Diagram"/>
          <p:cNvSpPr>
            <a:spLocks noGrp="1"/>
          </p:cNvSpPr>
          <p:nvPr>
            <p:ph type="pic" idx="10"/>
          </p:nvPr>
        </p:nvSpPr>
        <p:spPr>
          <a:xfrm>
            <a:off x="571500" y="2286000"/>
            <a:ext cx="17145000" cy="7429500"/>
          </a:xfrm>
          <a:prstGeom prst="rect">
            <a:avLst/>
          </a:prstGeom>
        </p:spPr>
        <p:txBody>
          <a:bodyPr rtlCol="0" anchor="ctr"/>
          <a:lstStyle/>
          <a:p>
            <a:endParaRPr lang="en-US"/>
          </a:p>
        </p:txBody>
      </p:sp>
      <p:sp>
        <p:nvSpPr>
          <p:cNvPr id="13" name="Footer"/>
          <p:cNvSpPr>
            <a:spLocks noGrp="1"/>
          </p:cNvSpPr>
          <p:nvPr/>
        </p:nvSpPr>
        <p:spPr>
          <a:xfrm>
            <a:off x="1143000" y="9982200"/>
            <a:ext cx="16002000" cy="228600"/>
          </a:xfrm>
          <a:prstGeom prst="rect">
            <a:avLst/>
          </a:prstGeom>
        </p:spPr>
        <p:txBody>
          <a:bodyPr wrap="square" rtlCol="0" anchor="t" lIns="0" tIns="0" rIns="0" bIns="0"/>
          <a:lstStyle>
            <a:lvl1pPr marL="0" indent="0" algn="l">
              <a:buNone/>
              <a:defRPr sz="1000" cap="all" spc="50">
                <a:solidFill>
                  <a:srgbClr val="6B7280"/>
                </a:solidFill>
                <a:latin typeface="Aptos"/>
              </a:defRPr>
            </a:lvl1pPr>
          </a:lstStyle>
          <a:p>
            <a:r>
              <a:rPr lang="en-US"/>
              <a:t>OPEN COMPONENT MODEL · OCM.SOFTWARE</a:t>
            </a:r>
            <a:endParaRPr lang="en-US"/>
          </a:p>
        </p:txBody>
      </p:sp>
    </p:spTree>
  </p:cSld>
  <p:clrMapOvr>
    <a:masterClrMapping/>
  </p:clrMapOvr>
</p:sldLayout>
</file>

<file path=ppt/slideLayouts/slideLayout6.xml><?xml version="1.0" encoding="utf-8"?>
<p:sldLayout xmlns:a="http://schemas.openxmlformats.org/drawingml/2006/main" xmlns:p="http://schemas.openxmlformats.org/presentationml/2006/main" xmlns:r="http://schemas.openxmlformats.org/officeDocument/2006/relationships" type="obj" preserve="1" userDrawn="1">
  <p:cSld name="Content / Diagram Compact">
    <p:bg>
      <p:bgPr>
        <a:solidFill>
          <a:srgbClr val="FFFFFF"/>
        </a:solidFill>
        <a:effectLst/>
      </p:bgPr>
    </p:bg>
    <p:spTree>
      <p:nvGrpSpPr>
        <p:cNvPr id="1" name=""/>
        <p:cNvGrpSpPr/>
        <p:nvPr/>
      </p:nvGrpSpPr>
      <p:grpSpPr>
        <a:xfrm>
          <a:off x="0" y="0"/>
          <a:ext cx="0" cy="0"/>
          <a:chOff x="0" y="0"/>
          <a:chExt cx="0" cy="0"/>
        </a:xfrm>
      </p:grpSpPr>
      <p:sp>
        <p:nvSpPr>
          <p:cNvPr id="10" name="Eyebrow"/>
          <p:cNvSpPr>
            <a:spLocks noGrp="1"/>
          </p:cNvSpPr>
          <p:nvPr>
            <p:ph type="body" idx="1"/>
          </p:nvPr>
        </p:nvSpPr>
        <p:spPr>
          <a:xfrm>
            <a:off x="1143000" y="762000"/>
            <a:ext cx="16002000" cy="381000"/>
          </a:xfrm>
          <a:prstGeom prst="rect">
            <a:avLst/>
          </a:prstGeom>
        </p:spPr>
        <p:txBody>
          <a:bodyPr wrap="square" rtlCol="0" anchor="t" lIns="0" tIns="0" rIns="0" bIns="0"/>
          <a:lstStyle>
            <a:lvl1pPr marL="0" indent="0" algn="l">
              <a:buNone/>
              <a:defRPr sz="2600" b="1" cap="all" spc="140">
                <a:solidFill>
                  <a:srgbClr val="0F6BFF"/>
                </a:solidFill>
                <a:latin typeface="Aptos"/>
              </a:defRPr>
            </a:lvl1pPr>
          </a:lstStyle>
          <a:p>
            <a:r>
              <a:rPr lang="en-US"/>
              <a:t>EYEBROW</a:t>
            </a:r>
            <a:endParaRPr lang="en-US"/>
          </a:p>
        </p:txBody>
      </p:sp>
      <p:sp>
        <p:nvSpPr>
          <p:cNvPr id="11" name="Title"/>
          <p:cNvSpPr>
            <a:spLocks noGrp="1"/>
          </p:cNvSpPr>
          <p:nvPr>
            <p:ph type="title" idx="2"/>
          </p:nvPr>
        </p:nvSpPr>
        <p:spPr>
          <a:xfrm>
            <a:off x="1143000" y="1238250"/>
            <a:ext cx="16002000" cy="952500"/>
          </a:xfrm>
          <a:prstGeom prst="rect">
            <a:avLst/>
          </a:prstGeom>
        </p:spPr>
        <p:txBody>
          <a:bodyPr wrap="square" rtlCol="0" anchor="t" lIns="0" tIns="0" rIns="0" bIns="0"/>
          <a:lstStyle>
            <a:lvl1pPr marL="0" indent="0" algn="l">
              <a:lnSpc>
                <a:spcPct val="90000"/>
              </a:lnSpc>
              <a:buNone/>
              <a:defRPr sz="5600" b="1">
                <a:solidFill>
                  <a:srgbClr val="000000"/>
                </a:solidFill>
                <a:latin typeface="Aptos Display"/>
              </a:defRPr>
            </a:lvl1pPr>
          </a:lstStyle>
          <a:p>
            <a:r>
              <a:rPr lang="en-US"/>
              <a:t>Section title goes here.</a:t>
            </a:r>
            <a:endParaRPr lang="en-US"/>
          </a:p>
        </p:txBody>
      </p:sp>
      <p:sp>
        <p:nvSpPr>
          <p:cNvPr id="12" name="Diagram"/>
          <p:cNvSpPr>
            <a:spLocks noGrp="1"/>
          </p:cNvSpPr>
          <p:nvPr>
            <p:ph type="pic" idx="10"/>
          </p:nvPr>
        </p:nvSpPr>
        <p:spPr>
          <a:xfrm>
            <a:off x="571500" y="2476500"/>
            <a:ext cx="17145000" cy="7239000"/>
          </a:xfrm>
          <a:prstGeom prst="rect">
            <a:avLst/>
          </a:prstGeom>
        </p:spPr>
        <p:txBody>
          <a:bodyPr rtlCol="0" anchor="ctr"/>
          <a:lstStyle/>
          <a:p>
            <a:endParaRPr lang="en-US"/>
          </a:p>
        </p:txBody>
      </p:sp>
      <p:sp>
        <p:nvSpPr>
          <p:cNvPr id="13" name="Footer"/>
          <p:cNvSpPr>
            <a:spLocks noGrp="1"/>
          </p:cNvSpPr>
          <p:nvPr/>
        </p:nvSpPr>
        <p:spPr>
          <a:xfrm>
            <a:off x="1143000" y="9982200"/>
            <a:ext cx="16002000" cy="228600"/>
          </a:xfrm>
          <a:prstGeom prst="rect">
            <a:avLst/>
          </a:prstGeom>
        </p:spPr>
        <p:txBody>
          <a:bodyPr wrap="square" rtlCol="0" anchor="t" lIns="0" tIns="0" rIns="0" bIns="0"/>
          <a:lstStyle>
            <a:lvl1pPr marL="0" indent="0" algn="l">
              <a:buNone/>
              <a:defRPr sz="1000" cap="all" spc="50">
                <a:solidFill>
                  <a:srgbClr val="6B7280"/>
                </a:solidFill>
                <a:latin typeface="Aptos"/>
              </a:defRPr>
            </a:lvl1pPr>
          </a:lstStyle>
          <a:p>
            <a:r>
              <a:rPr lang="en-US"/>
              <a:t>OPEN COMPONENT MODEL · OCM.SOFTWARE</a:t>
            </a:r>
            <a:endParaRPr lang="en-US"/>
          </a:p>
        </p:txBody>
      </p:sp>
    </p:spTree>
  </p:cSld>
  <p:clrMapOvr>
    <a:masterClrMapping/>
  </p:clrMapOvr>
</p:sldLayout>
</file>

<file path=ppt/slideLayouts/slideLayout7.xml><?xml version="1.0" encoding="utf-8"?>
<p:sldLayout xmlns:a="http://schemas.openxmlformats.org/drawingml/2006/main" xmlns:p="http://schemas.openxmlformats.org/presentationml/2006/main" xmlns:r="http://schemas.openxmlformats.org/officeDocument/2006/relationships" type="obj" preserve="1" userDrawn="1">
  <p:cSld name="Content / Tiles">
    <p:bg>
      <p:bgPr>
        <a:solidFill>
          <a:srgbClr val="FFFFFF"/>
        </a:solidFill>
        <a:effectLst/>
      </p:bgPr>
    </p:bg>
    <p:spTree>
      <p:nvGrpSpPr>
        <p:cNvPr id="1" name=""/>
        <p:cNvGrpSpPr/>
        <p:nvPr/>
      </p:nvGrpSpPr>
      <p:grpSpPr>
        <a:xfrm>
          <a:off x="0" y="0"/>
          <a:ext cx="0" cy="0"/>
          <a:chOff x="0" y="0"/>
          <a:chExt cx="0" cy="0"/>
        </a:xfrm>
      </p:grpSpPr>
      <p:sp>
        <p:nvSpPr>
          <p:cNvPr id="10" name="Eyebrow"/>
          <p:cNvSpPr>
            <a:spLocks noGrp="1"/>
          </p:cNvSpPr>
          <p:nvPr>
            <p:ph type="body" idx="1"/>
          </p:nvPr>
        </p:nvSpPr>
        <p:spPr>
          <a:xfrm>
            <a:off x="1143000" y="2428875"/>
            <a:ext cx="16002000" cy="457200"/>
          </a:xfrm>
          <a:prstGeom prst="rect">
            <a:avLst/>
          </a:prstGeom>
        </p:spPr>
        <p:txBody>
          <a:bodyPr wrap="square" rtlCol="0" anchor="t" lIns="0" tIns="0" rIns="0" bIns="0"/>
          <a:lstStyle>
            <a:lvl1pPr marL="0" indent="0" algn="l">
              <a:buNone/>
              <a:defRPr sz="3200" b="1" cap="all" spc="140">
                <a:solidFill>
                  <a:srgbClr val="0F6BFF"/>
                </a:solidFill>
                <a:latin typeface="Aptos"/>
              </a:defRPr>
            </a:lvl1pPr>
          </a:lstStyle>
          <a:p>
            <a:r>
              <a:rPr lang="en-US"/>
              <a:t>EYEBROW</a:t>
            </a:r>
            <a:endParaRPr lang="en-US"/>
          </a:p>
        </p:txBody>
      </p:sp>
      <p:sp>
        <p:nvSpPr>
          <p:cNvPr id="11" name="Title"/>
          <p:cNvSpPr>
            <a:spLocks noGrp="1"/>
          </p:cNvSpPr>
          <p:nvPr>
            <p:ph type="title" idx="2"/>
          </p:nvPr>
        </p:nvSpPr>
        <p:spPr>
          <a:xfrm>
            <a:off x="1143000" y="2933700"/>
            <a:ext cx="16002000" cy="1905000"/>
          </a:xfrm>
          <a:prstGeom prst="rect">
            <a:avLst/>
          </a:prstGeom>
        </p:spPr>
        <p:txBody>
          <a:bodyPr wrap="square" rtlCol="0" anchor="t" lIns="0" tIns="0" rIns="0" bIns="0"/>
          <a:lstStyle>
            <a:lvl1pPr marL="0" indent="0" algn="l">
              <a:lnSpc>
                <a:spcPct val="90000"/>
              </a:lnSpc>
              <a:buNone/>
              <a:defRPr sz="7400" b="1">
                <a:solidFill>
                  <a:srgbClr val="000000"/>
                </a:solidFill>
                <a:latin typeface="Aptos Display"/>
              </a:defRPr>
            </a:lvl1pPr>
          </a:lstStyle>
          <a:p>
            <a:r>
              <a:rPr lang="en-US"/>
              <a:t>Section title goes here.</a:t>
            </a:r>
            <a:endParaRPr lang="en-US"/>
          </a:p>
        </p:txBody>
      </p:sp>
      <p:sp>
        <p:nvSpPr>
          <p:cNvPr id="12" name="Tile1 Bg"/>
          <p:cNvSpPr/>
          <p:nvPr/>
        </p:nvSpPr>
        <p:spPr>
          <a:xfrm>
            <a:off x="1143000" y="4953000"/>
            <a:ext cx="5181600" cy="2190750"/>
          </a:xfrm>
          <a:prstGeom prst="rect">
            <a:avLst/>
          </a:prstGeom>
          <a:solidFill>
            <a:srgbClr val="F3F4F6"/>
          </a:solidFill>
          <a:ln>
            <a:noFill/>
          </a:ln>
        </p:spPr>
        <p:txBody>
          <a:bodyPr rtlCol="0" anchor="ctr"/>
          <a:lstStyle/>
          <a:p>
            <a:endParaRPr lang="en-US"/>
          </a:p>
        </p:txBody>
      </p:sp>
      <p:sp>
        <p:nvSpPr>
          <p:cNvPr id="13" name="Tile1 Rule"/>
          <p:cNvSpPr/>
          <p:nvPr/>
        </p:nvSpPr>
        <p:spPr>
          <a:xfrm>
            <a:off x="1143000" y="4953000"/>
            <a:ext cx="5181600" cy="28575"/>
          </a:xfrm>
          <a:prstGeom prst="rect">
            <a:avLst/>
          </a:prstGeom>
          <a:solidFill>
            <a:srgbClr val="0F6BFF"/>
          </a:solidFill>
          <a:ln>
            <a:noFill/>
          </a:ln>
        </p:spPr>
        <p:txBody>
          <a:bodyPr rtlCol="0" anchor="ctr"/>
          <a:lstStyle/>
          <a:p>
            <a:endParaRPr lang="en-US"/>
          </a:p>
        </p:txBody>
      </p:sp>
      <p:sp>
        <p:nvSpPr>
          <p:cNvPr id="14" name="Tile1 Label"/>
          <p:cNvSpPr>
            <a:spLocks noGrp="1"/>
          </p:cNvSpPr>
          <p:nvPr>
            <p:ph type="body" idx="20"/>
          </p:nvPr>
        </p:nvSpPr>
        <p:spPr>
          <a:xfrm>
            <a:off x="1981200" y="5181600"/>
            <a:ext cx="4114800" cy="457200"/>
          </a:xfrm>
          <a:prstGeom prst="rect">
            <a:avLst/>
          </a:prstGeom>
        </p:spPr>
        <p:txBody>
          <a:bodyPr wrap="square" rtlCol="0" anchor="ctr" lIns="0" tIns="0" rIns="0" bIns="0"/>
          <a:lstStyle>
            <a:lvl1pPr marL="0" indent="0" algn="l">
              <a:buNone/>
              <a:defRPr sz="2100" b="1">
                <a:solidFill>
                  <a:srgbClr val="0F6BFF"/>
                </a:solidFill>
                <a:latin typeface="Aptos"/>
              </a:defRPr>
            </a:lvl1pPr>
          </a:lstStyle>
          <a:p>
            <a:r>
              <a:rPr lang="en-US"/>
              <a:t>Tile 1 label</a:t>
            </a:r>
            <a:endParaRPr lang="en-US"/>
          </a:p>
        </p:txBody>
      </p:sp>
      <p:sp>
        <p:nvSpPr>
          <p:cNvPr id="15" name="Tile1 Body"/>
          <p:cNvSpPr>
            <a:spLocks noGrp="1"/>
          </p:cNvSpPr>
          <p:nvPr>
            <p:ph type="body" idx="21"/>
          </p:nvPr>
        </p:nvSpPr>
        <p:spPr>
          <a:xfrm>
            <a:off x="1371600" y="5867400"/>
            <a:ext cx="4724400" cy="1085850"/>
          </a:xfrm>
          <a:prstGeom prst="rect">
            <a:avLst/>
          </a:prstGeom>
        </p:spPr>
        <p:txBody>
          <a:bodyPr wrap="square" rtlCol="0" anchor="t" lIns="0" tIns="0" rIns="0" bIns="0"/>
          <a:lstStyle>
            <a:lvl1pPr marL="0" indent="0" algn="l">
              <a:buNone/>
              <a:defRPr sz="2100">
                <a:solidFill>
                  <a:srgbClr val="000000"/>
                </a:solidFill>
                <a:latin typeface="Aptos"/>
              </a:defRPr>
            </a:lvl1pPr>
          </a:lstStyle>
          <a:p>
            <a:r>
              <a:rPr lang="en-US"/>
              <a:t>One short sentence describing this tile.</a:t>
            </a:r>
            <a:endParaRPr lang="en-US"/>
          </a:p>
        </p:txBody>
      </p:sp>
      <p:sp>
        <p:nvSpPr>
          <p:cNvPr id="16" name="Tile2 Bg"/>
          <p:cNvSpPr/>
          <p:nvPr/>
        </p:nvSpPr>
        <p:spPr>
          <a:xfrm>
            <a:off x="6553200" y="4953000"/>
            <a:ext cx="5181600" cy="2190750"/>
          </a:xfrm>
          <a:prstGeom prst="rect">
            <a:avLst/>
          </a:prstGeom>
          <a:solidFill>
            <a:srgbClr val="F3F4F6"/>
          </a:solidFill>
          <a:ln>
            <a:noFill/>
          </a:ln>
        </p:spPr>
        <p:txBody>
          <a:bodyPr rtlCol="0" anchor="ctr"/>
          <a:lstStyle/>
          <a:p>
            <a:endParaRPr lang="en-US"/>
          </a:p>
        </p:txBody>
      </p:sp>
      <p:sp>
        <p:nvSpPr>
          <p:cNvPr id="17" name="Tile2 Rule"/>
          <p:cNvSpPr/>
          <p:nvPr/>
        </p:nvSpPr>
        <p:spPr>
          <a:xfrm>
            <a:off x="6553200" y="4953000"/>
            <a:ext cx="5181600" cy="28575"/>
          </a:xfrm>
          <a:prstGeom prst="rect">
            <a:avLst/>
          </a:prstGeom>
          <a:solidFill>
            <a:srgbClr val="0F6BFF"/>
          </a:solidFill>
          <a:ln>
            <a:noFill/>
          </a:ln>
        </p:spPr>
        <p:txBody>
          <a:bodyPr rtlCol="0" anchor="ctr"/>
          <a:lstStyle/>
          <a:p>
            <a:endParaRPr lang="en-US"/>
          </a:p>
        </p:txBody>
      </p:sp>
      <p:sp>
        <p:nvSpPr>
          <p:cNvPr id="18" name="Tile2 Label"/>
          <p:cNvSpPr>
            <a:spLocks noGrp="1"/>
          </p:cNvSpPr>
          <p:nvPr>
            <p:ph type="body" idx="22"/>
          </p:nvPr>
        </p:nvSpPr>
        <p:spPr>
          <a:xfrm>
            <a:off x="7391400" y="5181600"/>
            <a:ext cx="4114800" cy="457200"/>
          </a:xfrm>
          <a:prstGeom prst="rect">
            <a:avLst/>
          </a:prstGeom>
        </p:spPr>
        <p:txBody>
          <a:bodyPr wrap="square" rtlCol="0" anchor="ctr" lIns="0" tIns="0" rIns="0" bIns="0"/>
          <a:lstStyle>
            <a:lvl1pPr marL="0" indent="0" algn="l">
              <a:buNone/>
              <a:defRPr sz="2100" b="1">
                <a:solidFill>
                  <a:srgbClr val="0F6BFF"/>
                </a:solidFill>
                <a:latin typeface="Aptos"/>
              </a:defRPr>
            </a:lvl1pPr>
          </a:lstStyle>
          <a:p>
            <a:r>
              <a:rPr lang="en-US"/>
              <a:t>Tile 2 label</a:t>
            </a:r>
            <a:endParaRPr lang="en-US"/>
          </a:p>
        </p:txBody>
      </p:sp>
      <p:sp>
        <p:nvSpPr>
          <p:cNvPr id="19" name="Tile2 Body"/>
          <p:cNvSpPr>
            <a:spLocks noGrp="1"/>
          </p:cNvSpPr>
          <p:nvPr>
            <p:ph type="body" idx="23"/>
          </p:nvPr>
        </p:nvSpPr>
        <p:spPr>
          <a:xfrm>
            <a:off x="6781800" y="5867400"/>
            <a:ext cx="4724400" cy="1085850"/>
          </a:xfrm>
          <a:prstGeom prst="rect">
            <a:avLst/>
          </a:prstGeom>
        </p:spPr>
        <p:txBody>
          <a:bodyPr wrap="square" rtlCol="0" anchor="t" lIns="0" tIns="0" rIns="0" bIns="0"/>
          <a:lstStyle>
            <a:lvl1pPr marL="0" indent="0" algn="l">
              <a:buNone/>
              <a:defRPr sz="2100">
                <a:solidFill>
                  <a:srgbClr val="000000"/>
                </a:solidFill>
                <a:latin typeface="Aptos"/>
              </a:defRPr>
            </a:lvl1pPr>
          </a:lstStyle>
          <a:p>
            <a:r>
              <a:rPr lang="en-US"/>
              <a:t>One short sentence describing this tile.</a:t>
            </a:r>
            <a:endParaRPr lang="en-US"/>
          </a:p>
        </p:txBody>
      </p:sp>
      <p:sp>
        <p:nvSpPr>
          <p:cNvPr id="20" name="Tile3 Bg"/>
          <p:cNvSpPr/>
          <p:nvPr/>
        </p:nvSpPr>
        <p:spPr>
          <a:xfrm>
            <a:off x="11963400" y="4953000"/>
            <a:ext cx="5181600" cy="2190750"/>
          </a:xfrm>
          <a:prstGeom prst="rect">
            <a:avLst/>
          </a:prstGeom>
          <a:solidFill>
            <a:srgbClr val="F3F4F6"/>
          </a:solidFill>
          <a:ln>
            <a:noFill/>
          </a:ln>
        </p:spPr>
        <p:txBody>
          <a:bodyPr rtlCol="0" anchor="ctr"/>
          <a:lstStyle/>
          <a:p>
            <a:endParaRPr lang="en-US"/>
          </a:p>
        </p:txBody>
      </p:sp>
      <p:sp>
        <p:nvSpPr>
          <p:cNvPr id="21" name="Tile3 Rule"/>
          <p:cNvSpPr/>
          <p:nvPr/>
        </p:nvSpPr>
        <p:spPr>
          <a:xfrm>
            <a:off x="11963400" y="4953000"/>
            <a:ext cx="5181600" cy="28575"/>
          </a:xfrm>
          <a:prstGeom prst="rect">
            <a:avLst/>
          </a:prstGeom>
          <a:solidFill>
            <a:srgbClr val="0F6BFF"/>
          </a:solidFill>
          <a:ln>
            <a:noFill/>
          </a:ln>
        </p:spPr>
        <p:txBody>
          <a:bodyPr rtlCol="0" anchor="ctr"/>
          <a:lstStyle/>
          <a:p>
            <a:endParaRPr lang="en-US"/>
          </a:p>
        </p:txBody>
      </p:sp>
      <p:sp>
        <p:nvSpPr>
          <p:cNvPr id="22" name="Tile3 Label"/>
          <p:cNvSpPr>
            <a:spLocks noGrp="1"/>
          </p:cNvSpPr>
          <p:nvPr>
            <p:ph type="body" idx="24"/>
          </p:nvPr>
        </p:nvSpPr>
        <p:spPr>
          <a:xfrm>
            <a:off x="12801600" y="5181600"/>
            <a:ext cx="4114800" cy="457200"/>
          </a:xfrm>
          <a:prstGeom prst="rect">
            <a:avLst/>
          </a:prstGeom>
        </p:spPr>
        <p:txBody>
          <a:bodyPr wrap="square" rtlCol="0" anchor="ctr" lIns="0" tIns="0" rIns="0" bIns="0"/>
          <a:lstStyle>
            <a:lvl1pPr marL="0" indent="0" algn="l">
              <a:buNone/>
              <a:defRPr sz="2100" b="1">
                <a:solidFill>
                  <a:srgbClr val="0F6BFF"/>
                </a:solidFill>
                <a:latin typeface="Aptos"/>
              </a:defRPr>
            </a:lvl1pPr>
          </a:lstStyle>
          <a:p>
            <a:r>
              <a:rPr lang="en-US"/>
              <a:t>Tile 3 label</a:t>
            </a:r>
            <a:endParaRPr lang="en-US"/>
          </a:p>
        </p:txBody>
      </p:sp>
      <p:sp>
        <p:nvSpPr>
          <p:cNvPr id="23" name="Tile3 Body"/>
          <p:cNvSpPr>
            <a:spLocks noGrp="1"/>
          </p:cNvSpPr>
          <p:nvPr>
            <p:ph type="body" idx="25"/>
          </p:nvPr>
        </p:nvSpPr>
        <p:spPr>
          <a:xfrm>
            <a:off x="12192000" y="5867400"/>
            <a:ext cx="4724400" cy="1085850"/>
          </a:xfrm>
          <a:prstGeom prst="rect">
            <a:avLst/>
          </a:prstGeom>
        </p:spPr>
        <p:txBody>
          <a:bodyPr wrap="square" rtlCol="0" anchor="t" lIns="0" tIns="0" rIns="0" bIns="0"/>
          <a:lstStyle>
            <a:lvl1pPr marL="0" indent="0" algn="l">
              <a:buNone/>
              <a:defRPr sz="2100">
                <a:solidFill>
                  <a:srgbClr val="000000"/>
                </a:solidFill>
                <a:latin typeface="Aptos"/>
              </a:defRPr>
            </a:lvl1pPr>
          </a:lstStyle>
          <a:p>
            <a:r>
              <a:rPr lang="en-US"/>
              <a:t>One short sentence describing this tile.</a:t>
            </a:r>
            <a:endParaRPr lang="en-US"/>
          </a:p>
        </p:txBody>
      </p:sp>
      <p:sp>
        <p:nvSpPr>
          <p:cNvPr id="24" name="Tile4 Bg"/>
          <p:cNvSpPr/>
          <p:nvPr/>
        </p:nvSpPr>
        <p:spPr>
          <a:xfrm>
            <a:off x="1143000" y="7372350"/>
            <a:ext cx="5181600" cy="2190750"/>
          </a:xfrm>
          <a:prstGeom prst="rect">
            <a:avLst/>
          </a:prstGeom>
          <a:solidFill>
            <a:srgbClr val="F3F4F6"/>
          </a:solidFill>
          <a:ln>
            <a:noFill/>
          </a:ln>
        </p:spPr>
        <p:txBody>
          <a:bodyPr rtlCol="0" anchor="ctr"/>
          <a:lstStyle/>
          <a:p>
            <a:endParaRPr lang="en-US"/>
          </a:p>
        </p:txBody>
      </p:sp>
      <p:sp>
        <p:nvSpPr>
          <p:cNvPr id="25" name="Tile4 Rule"/>
          <p:cNvSpPr/>
          <p:nvPr/>
        </p:nvSpPr>
        <p:spPr>
          <a:xfrm>
            <a:off x="1143000" y="7372350"/>
            <a:ext cx="5181600" cy="28575"/>
          </a:xfrm>
          <a:prstGeom prst="rect">
            <a:avLst/>
          </a:prstGeom>
          <a:solidFill>
            <a:srgbClr val="0F6BFF"/>
          </a:solidFill>
          <a:ln>
            <a:noFill/>
          </a:ln>
        </p:spPr>
        <p:txBody>
          <a:bodyPr rtlCol="0" anchor="ctr"/>
          <a:lstStyle/>
          <a:p>
            <a:endParaRPr lang="en-US"/>
          </a:p>
        </p:txBody>
      </p:sp>
      <p:sp>
        <p:nvSpPr>
          <p:cNvPr id="26" name="Tile4 Label"/>
          <p:cNvSpPr>
            <a:spLocks noGrp="1"/>
          </p:cNvSpPr>
          <p:nvPr>
            <p:ph type="body" idx="26"/>
          </p:nvPr>
        </p:nvSpPr>
        <p:spPr>
          <a:xfrm>
            <a:off x="1981200" y="7600950"/>
            <a:ext cx="4114800" cy="457200"/>
          </a:xfrm>
          <a:prstGeom prst="rect">
            <a:avLst/>
          </a:prstGeom>
        </p:spPr>
        <p:txBody>
          <a:bodyPr wrap="square" rtlCol="0" anchor="ctr" lIns="0" tIns="0" rIns="0" bIns="0"/>
          <a:lstStyle>
            <a:lvl1pPr marL="0" indent="0" algn="l">
              <a:buNone/>
              <a:defRPr sz="2100" b="1">
                <a:solidFill>
                  <a:srgbClr val="0F6BFF"/>
                </a:solidFill>
                <a:latin typeface="Aptos"/>
              </a:defRPr>
            </a:lvl1pPr>
          </a:lstStyle>
          <a:p>
            <a:r>
              <a:rPr lang="en-US"/>
              <a:t>Tile 4 label</a:t>
            </a:r>
            <a:endParaRPr lang="en-US"/>
          </a:p>
        </p:txBody>
      </p:sp>
      <p:sp>
        <p:nvSpPr>
          <p:cNvPr id="27" name="Tile4 Body"/>
          <p:cNvSpPr>
            <a:spLocks noGrp="1"/>
          </p:cNvSpPr>
          <p:nvPr>
            <p:ph type="body" idx="27"/>
          </p:nvPr>
        </p:nvSpPr>
        <p:spPr>
          <a:xfrm>
            <a:off x="1371600" y="8286750"/>
            <a:ext cx="4724400" cy="1085850"/>
          </a:xfrm>
          <a:prstGeom prst="rect">
            <a:avLst/>
          </a:prstGeom>
        </p:spPr>
        <p:txBody>
          <a:bodyPr wrap="square" rtlCol="0" anchor="t" lIns="0" tIns="0" rIns="0" bIns="0"/>
          <a:lstStyle>
            <a:lvl1pPr marL="0" indent="0" algn="l">
              <a:buNone/>
              <a:defRPr sz="2100">
                <a:solidFill>
                  <a:srgbClr val="000000"/>
                </a:solidFill>
                <a:latin typeface="Aptos"/>
              </a:defRPr>
            </a:lvl1pPr>
          </a:lstStyle>
          <a:p>
            <a:r>
              <a:rPr lang="en-US"/>
              <a:t>One short sentence describing this tile.</a:t>
            </a:r>
            <a:endParaRPr lang="en-US"/>
          </a:p>
        </p:txBody>
      </p:sp>
      <p:sp>
        <p:nvSpPr>
          <p:cNvPr id="28" name="Tile5 Bg"/>
          <p:cNvSpPr/>
          <p:nvPr/>
        </p:nvSpPr>
        <p:spPr>
          <a:xfrm>
            <a:off x="6553200" y="7372350"/>
            <a:ext cx="5181600" cy="2190750"/>
          </a:xfrm>
          <a:prstGeom prst="rect">
            <a:avLst/>
          </a:prstGeom>
          <a:solidFill>
            <a:srgbClr val="F3F4F6"/>
          </a:solidFill>
          <a:ln>
            <a:noFill/>
          </a:ln>
        </p:spPr>
        <p:txBody>
          <a:bodyPr rtlCol="0" anchor="ctr"/>
          <a:lstStyle/>
          <a:p>
            <a:endParaRPr lang="en-US"/>
          </a:p>
        </p:txBody>
      </p:sp>
      <p:sp>
        <p:nvSpPr>
          <p:cNvPr id="29" name="Tile5 Rule"/>
          <p:cNvSpPr/>
          <p:nvPr/>
        </p:nvSpPr>
        <p:spPr>
          <a:xfrm>
            <a:off x="6553200" y="7372350"/>
            <a:ext cx="5181600" cy="28575"/>
          </a:xfrm>
          <a:prstGeom prst="rect">
            <a:avLst/>
          </a:prstGeom>
          <a:solidFill>
            <a:srgbClr val="0F6BFF"/>
          </a:solidFill>
          <a:ln>
            <a:noFill/>
          </a:ln>
        </p:spPr>
        <p:txBody>
          <a:bodyPr rtlCol="0" anchor="ctr"/>
          <a:lstStyle/>
          <a:p>
            <a:endParaRPr lang="en-US"/>
          </a:p>
        </p:txBody>
      </p:sp>
      <p:sp>
        <p:nvSpPr>
          <p:cNvPr id="30" name="Tile5 Label"/>
          <p:cNvSpPr>
            <a:spLocks noGrp="1"/>
          </p:cNvSpPr>
          <p:nvPr>
            <p:ph type="body" idx="28"/>
          </p:nvPr>
        </p:nvSpPr>
        <p:spPr>
          <a:xfrm>
            <a:off x="7391400" y="7600950"/>
            <a:ext cx="4114800" cy="457200"/>
          </a:xfrm>
          <a:prstGeom prst="rect">
            <a:avLst/>
          </a:prstGeom>
        </p:spPr>
        <p:txBody>
          <a:bodyPr wrap="square" rtlCol="0" anchor="ctr" lIns="0" tIns="0" rIns="0" bIns="0"/>
          <a:lstStyle>
            <a:lvl1pPr marL="0" indent="0" algn="l">
              <a:buNone/>
              <a:defRPr sz="2100" b="1">
                <a:solidFill>
                  <a:srgbClr val="0F6BFF"/>
                </a:solidFill>
                <a:latin typeface="Aptos"/>
              </a:defRPr>
            </a:lvl1pPr>
          </a:lstStyle>
          <a:p>
            <a:r>
              <a:rPr lang="en-US"/>
              <a:t>Tile 5 label</a:t>
            </a:r>
            <a:endParaRPr lang="en-US"/>
          </a:p>
        </p:txBody>
      </p:sp>
      <p:sp>
        <p:nvSpPr>
          <p:cNvPr id="31" name="Tile5 Body"/>
          <p:cNvSpPr>
            <a:spLocks noGrp="1"/>
          </p:cNvSpPr>
          <p:nvPr>
            <p:ph type="body" idx="29"/>
          </p:nvPr>
        </p:nvSpPr>
        <p:spPr>
          <a:xfrm>
            <a:off x="6781800" y="8286750"/>
            <a:ext cx="4724400" cy="1085850"/>
          </a:xfrm>
          <a:prstGeom prst="rect">
            <a:avLst/>
          </a:prstGeom>
        </p:spPr>
        <p:txBody>
          <a:bodyPr wrap="square" rtlCol="0" anchor="t" lIns="0" tIns="0" rIns="0" bIns="0"/>
          <a:lstStyle>
            <a:lvl1pPr marL="0" indent="0" algn="l">
              <a:buNone/>
              <a:defRPr sz="2100">
                <a:solidFill>
                  <a:srgbClr val="000000"/>
                </a:solidFill>
                <a:latin typeface="Aptos"/>
              </a:defRPr>
            </a:lvl1pPr>
          </a:lstStyle>
          <a:p>
            <a:r>
              <a:rPr lang="en-US"/>
              <a:t>One short sentence describing this tile.</a:t>
            </a:r>
            <a:endParaRPr lang="en-US"/>
          </a:p>
        </p:txBody>
      </p:sp>
      <p:sp>
        <p:nvSpPr>
          <p:cNvPr id="32" name="Tile6 Bg"/>
          <p:cNvSpPr/>
          <p:nvPr/>
        </p:nvSpPr>
        <p:spPr>
          <a:xfrm>
            <a:off x="11963400" y="7372350"/>
            <a:ext cx="5181600" cy="2190750"/>
          </a:xfrm>
          <a:prstGeom prst="rect">
            <a:avLst/>
          </a:prstGeom>
          <a:solidFill>
            <a:srgbClr val="F3F4F6"/>
          </a:solidFill>
          <a:ln>
            <a:noFill/>
          </a:ln>
        </p:spPr>
        <p:txBody>
          <a:bodyPr rtlCol="0" anchor="ctr"/>
          <a:lstStyle/>
          <a:p>
            <a:endParaRPr lang="en-US"/>
          </a:p>
        </p:txBody>
      </p:sp>
      <p:sp>
        <p:nvSpPr>
          <p:cNvPr id="33" name="Tile6 Rule"/>
          <p:cNvSpPr/>
          <p:nvPr/>
        </p:nvSpPr>
        <p:spPr>
          <a:xfrm>
            <a:off x="11963400" y="7372350"/>
            <a:ext cx="5181600" cy="28575"/>
          </a:xfrm>
          <a:prstGeom prst="rect">
            <a:avLst/>
          </a:prstGeom>
          <a:solidFill>
            <a:srgbClr val="0F6BFF"/>
          </a:solidFill>
          <a:ln>
            <a:noFill/>
          </a:ln>
        </p:spPr>
        <p:txBody>
          <a:bodyPr rtlCol="0" anchor="ctr"/>
          <a:lstStyle/>
          <a:p>
            <a:endParaRPr lang="en-US"/>
          </a:p>
        </p:txBody>
      </p:sp>
      <p:sp>
        <p:nvSpPr>
          <p:cNvPr id="34" name="Tile6 Label"/>
          <p:cNvSpPr>
            <a:spLocks noGrp="1"/>
          </p:cNvSpPr>
          <p:nvPr>
            <p:ph type="body" idx="30"/>
          </p:nvPr>
        </p:nvSpPr>
        <p:spPr>
          <a:xfrm>
            <a:off x="12801600" y="7600950"/>
            <a:ext cx="4114800" cy="457200"/>
          </a:xfrm>
          <a:prstGeom prst="rect">
            <a:avLst/>
          </a:prstGeom>
        </p:spPr>
        <p:txBody>
          <a:bodyPr wrap="square" rtlCol="0" anchor="ctr" lIns="0" tIns="0" rIns="0" bIns="0"/>
          <a:lstStyle>
            <a:lvl1pPr marL="0" indent="0" algn="l">
              <a:buNone/>
              <a:defRPr sz="2100" b="1">
                <a:solidFill>
                  <a:srgbClr val="0F6BFF"/>
                </a:solidFill>
                <a:latin typeface="Aptos"/>
              </a:defRPr>
            </a:lvl1pPr>
          </a:lstStyle>
          <a:p>
            <a:r>
              <a:rPr lang="en-US"/>
              <a:t>Tile 6 label</a:t>
            </a:r>
            <a:endParaRPr lang="en-US"/>
          </a:p>
        </p:txBody>
      </p:sp>
      <p:sp>
        <p:nvSpPr>
          <p:cNvPr id="35" name="Tile6 Body"/>
          <p:cNvSpPr>
            <a:spLocks noGrp="1"/>
          </p:cNvSpPr>
          <p:nvPr>
            <p:ph type="body" idx="31"/>
          </p:nvPr>
        </p:nvSpPr>
        <p:spPr>
          <a:xfrm>
            <a:off x="12192000" y="8286750"/>
            <a:ext cx="4724400" cy="1085850"/>
          </a:xfrm>
          <a:prstGeom prst="rect">
            <a:avLst/>
          </a:prstGeom>
        </p:spPr>
        <p:txBody>
          <a:bodyPr wrap="square" rtlCol="0" anchor="t" lIns="0" tIns="0" rIns="0" bIns="0"/>
          <a:lstStyle>
            <a:lvl1pPr marL="0" indent="0" algn="l">
              <a:buNone/>
              <a:defRPr sz="2100">
                <a:solidFill>
                  <a:srgbClr val="000000"/>
                </a:solidFill>
                <a:latin typeface="Aptos"/>
              </a:defRPr>
            </a:lvl1pPr>
          </a:lstStyle>
          <a:p>
            <a:r>
              <a:rPr lang="en-US"/>
              <a:t>One short sentence describing this tile.</a:t>
            </a:r>
            <a:endParaRPr lang="en-US"/>
          </a:p>
        </p:txBody>
      </p:sp>
      <p:sp>
        <p:nvSpPr>
          <p:cNvPr id="36" name="Footer"/>
          <p:cNvSpPr>
            <a:spLocks noGrp="1"/>
          </p:cNvSpPr>
          <p:nvPr/>
        </p:nvSpPr>
        <p:spPr>
          <a:xfrm>
            <a:off x="1143000" y="9982200"/>
            <a:ext cx="16002000" cy="228600"/>
          </a:xfrm>
          <a:prstGeom prst="rect">
            <a:avLst/>
          </a:prstGeom>
        </p:spPr>
        <p:txBody>
          <a:bodyPr wrap="square" rtlCol="0" anchor="t" lIns="0" tIns="0" rIns="0" bIns="0"/>
          <a:lstStyle>
            <a:lvl1pPr marL="0" indent="0" algn="l">
              <a:buNone/>
              <a:defRPr sz="1000" cap="all" spc="50">
                <a:solidFill>
                  <a:srgbClr val="6B7280"/>
                </a:solidFill>
                <a:latin typeface="Aptos"/>
              </a:defRPr>
            </a:lvl1pPr>
          </a:lstStyle>
          <a:p>
            <a:r>
              <a:rPr lang="en-US"/>
              <a:t>OPEN COMPONENT MODEL · OCM.SOFTWARE</a:t>
            </a:r>
            <a:endParaRPr lang="en-US"/>
          </a:p>
        </p:txBody>
      </p:sp>
    </p:spTree>
  </p:cSld>
  <p:clrMapOvr>
    <a:masterClrMapping/>
  </p:clrMapOvr>
</p:sldLayout>
</file>

<file path=ppt/slideLayouts/slideLayout8.xml><?xml version="1.0" encoding="utf-8"?>
<p:sldLayout xmlns:a="http://schemas.openxmlformats.org/drawingml/2006/main" xmlns:p="http://schemas.openxmlformats.org/presentationml/2006/main" xmlns:r="http://schemas.openxmlformats.org/officeDocument/2006/relationships" type="twoObj" preserve="1" userDrawn="1">
  <p:cSld name="Content / 2-Column">
    <p:bg>
      <p:bgPr>
        <a:solidFill>
          <a:srgbClr val="FFFFFF"/>
        </a:solidFill>
        <a:effectLst/>
      </p:bgPr>
    </p:bg>
    <p:spTree>
      <p:nvGrpSpPr>
        <p:cNvPr id="1" name=""/>
        <p:cNvGrpSpPr/>
        <p:nvPr/>
      </p:nvGrpSpPr>
      <p:grpSpPr>
        <a:xfrm>
          <a:off x="0" y="0"/>
          <a:ext cx="0" cy="0"/>
          <a:chOff x="0" y="0"/>
          <a:chExt cx="0" cy="0"/>
        </a:xfrm>
      </p:grpSpPr>
      <p:sp>
        <p:nvSpPr>
          <p:cNvPr id="10" name="Eyebrow"/>
          <p:cNvSpPr>
            <a:spLocks noGrp="1"/>
          </p:cNvSpPr>
          <p:nvPr>
            <p:ph type="body" idx="1"/>
          </p:nvPr>
        </p:nvSpPr>
        <p:spPr>
          <a:xfrm>
            <a:off x="1143000" y="2428875"/>
            <a:ext cx="16002000" cy="457200"/>
          </a:xfrm>
          <a:prstGeom prst="rect">
            <a:avLst/>
          </a:prstGeom>
        </p:spPr>
        <p:txBody>
          <a:bodyPr wrap="square" rtlCol="0" anchor="t" lIns="0" tIns="0" rIns="0" bIns="0"/>
          <a:lstStyle>
            <a:lvl1pPr marL="0" indent="0" algn="l">
              <a:buNone/>
              <a:defRPr sz="3200" b="1" cap="all" spc="140">
                <a:solidFill>
                  <a:srgbClr val="0F6BFF"/>
                </a:solidFill>
                <a:latin typeface="Aptos"/>
              </a:defRPr>
            </a:lvl1pPr>
          </a:lstStyle>
          <a:p>
            <a:r>
              <a:rPr lang="en-US"/>
              <a:t>EYEBROW</a:t>
            </a:r>
            <a:endParaRPr lang="en-US"/>
          </a:p>
        </p:txBody>
      </p:sp>
      <p:sp>
        <p:nvSpPr>
          <p:cNvPr id="11" name="Title"/>
          <p:cNvSpPr>
            <a:spLocks noGrp="1"/>
          </p:cNvSpPr>
          <p:nvPr>
            <p:ph type="title" idx="2"/>
          </p:nvPr>
        </p:nvSpPr>
        <p:spPr>
          <a:xfrm>
            <a:off x="1143000" y="2933700"/>
            <a:ext cx="16002000" cy="1905000"/>
          </a:xfrm>
          <a:prstGeom prst="rect">
            <a:avLst/>
          </a:prstGeom>
        </p:spPr>
        <p:txBody>
          <a:bodyPr wrap="square" rtlCol="0" anchor="t" lIns="0" tIns="0" rIns="0" bIns="0"/>
          <a:lstStyle>
            <a:lvl1pPr marL="0" indent="0" algn="l">
              <a:lnSpc>
                <a:spcPct val="90000"/>
              </a:lnSpc>
              <a:buNone/>
              <a:defRPr sz="7400" b="1">
                <a:solidFill>
                  <a:srgbClr val="000000"/>
                </a:solidFill>
                <a:latin typeface="Aptos Display"/>
              </a:defRPr>
            </a:lvl1pPr>
          </a:lstStyle>
          <a:p>
            <a:r>
              <a:rPr lang="en-US"/>
              <a:t>Section title goes here.</a:t>
            </a:r>
            <a:endParaRPr lang="en-US"/>
          </a:p>
        </p:txBody>
      </p:sp>
      <p:sp>
        <p:nvSpPr>
          <p:cNvPr id="12" name="Left Body"/>
          <p:cNvSpPr>
            <a:spLocks noGrp="1"/>
          </p:cNvSpPr>
          <p:nvPr>
            <p:ph type="body" idx="10"/>
          </p:nvPr>
        </p:nvSpPr>
        <p:spPr>
          <a:xfrm>
            <a:off x="1143000" y="4953000"/>
            <a:ext cx="7810500" cy="4381500"/>
          </a:xfrm>
          <a:prstGeom prst="rect">
            <a:avLst/>
          </a:prstGeom>
        </p:spPr>
        <p:txBody>
          <a:bodyPr wrap="square" rtlCol="0" anchor="t" lIns="0" tIns="0" rIns="0" bIns="0"/>
          <a:lstStyle>
            <a:lvl1pPr marL="0" indent="0" algn="l">
              <a:buNone/>
              <a:defRPr sz="2500">
                <a:solidFill>
                  <a:srgbClr val="000000"/>
                </a:solidFill>
                <a:latin typeface="Aptos"/>
              </a:defRPr>
            </a:lvl1pPr>
          </a:lstStyle>
          <a:p>
            <a:r>
              <a:rPr lang="en-US"/>
              <a:t>Left column body.</a:t>
            </a:r>
            <a:endParaRPr lang="en-US"/>
          </a:p>
        </p:txBody>
      </p:sp>
      <p:sp>
        <p:nvSpPr>
          <p:cNvPr id="13" name="Right Body"/>
          <p:cNvSpPr>
            <a:spLocks noGrp="1"/>
          </p:cNvSpPr>
          <p:nvPr>
            <p:ph type="body" idx="11"/>
          </p:nvPr>
        </p:nvSpPr>
        <p:spPr>
          <a:xfrm>
            <a:off x="9334500" y="4953000"/>
            <a:ext cx="7810500" cy="4381500"/>
          </a:xfrm>
          <a:prstGeom prst="rect">
            <a:avLst/>
          </a:prstGeom>
        </p:spPr>
        <p:txBody>
          <a:bodyPr wrap="square" rtlCol="0" anchor="t" lIns="0" tIns="0" rIns="0" bIns="0"/>
          <a:lstStyle>
            <a:lvl1pPr marL="0" indent="0" algn="l">
              <a:buNone/>
              <a:defRPr sz="2500">
                <a:solidFill>
                  <a:srgbClr val="000000"/>
                </a:solidFill>
                <a:latin typeface="Aptos"/>
              </a:defRPr>
            </a:lvl1pPr>
          </a:lstStyle>
          <a:p>
            <a:r>
              <a:rPr lang="en-US"/>
              <a:t>Right column body.</a:t>
            </a:r>
            <a:endParaRPr lang="en-US"/>
          </a:p>
        </p:txBody>
      </p:sp>
      <p:sp>
        <p:nvSpPr>
          <p:cNvPr id="14" name="Footer"/>
          <p:cNvSpPr>
            <a:spLocks noGrp="1"/>
          </p:cNvSpPr>
          <p:nvPr/>
        </p:nvSpPr>
        <p:spPr>
          <a:xfrm>
            <a:off x="1143000" y="9982200"/>
            <a:ext cx="16002000" cy="228600"/>
          </a:xfrm>
          <a:prstGeom prst="rect">
            <a:avLst/>
          </a:prstGeom>
        </p:spPr>
        <p:txBody>
          <a:bodyPr wrap="square" rtlCol="0" anchor="t" lIns="0" tIns="0" rIns="0" bIns="0"/>
          <a:lstStyle>
            <a:lvl1pPr marL="0" indent="0" algn="l">
              <a:buNone/>
              <a:defRPr sz="1000" cap="all" spc="50">
                <a:solidFill>
                  <a:srgbClr val="6B7280"/>
                </a:solidFill>
                <a:latin typeface="Aptos"/>
              </a:defRPr>
            </a:lvl1pPr>
          </a:lstStyle>
          <a:p>
            <a:r>
              <a:rPr lang="en-US"/>
              <a:t>OPEN COMPONENT MODEL · OCM.SOFTWARE</a:t>
            </a:r>
            <a:endParaRPr lang="en-US"/>
          </a:p>
        </p:txBody>
      </p:sp>
    </p:spTree>
  </p:cSld>
  <p:clrMapOvr>
    <a:masterClrMapping/>
  </p:clrMapOvr>
</p:sldLayout>
</file>

<file path=ppt/slideLayouts/slideLayout9.xml><?xml version="1.0" encoding="utf-8"?>
<p:sldLayout xmlns:a="http://schemas.openxmlformats.org/drawingml/2006/main" xmlns:p="http://schemas.openxmlformats.org/presentationml/2006/main" xmlns:r="http://schemas.openxmlformats.org/officeDocument/2006/relationships" type="secHead" preserve="1" userDrawn="1">
  <p:cSld name="Section Divider">
    <p:bg>
      <p:bgPr>
        <a:solidFill>
          <a:srgbClr val="0F6BFF"/>
        </a:solidFill>
        <a:effectLst/>
      </p:bgPr>
    </p:bg>
    <p:spTree>
      <p:nvGrpSpPr>
        <p:cNvPr id="1" name=""/>
        <p:cNvGrpSpPr/>
        <p:nvPr/>
      </p:nvGrpSpPr>
      <p:grpSpPr>
        <a:xfrm>
          <a:off x="0" y="0"/>
          <a:ext cx="0" cy="0"/>
          <a:chOff x="0" y="0"/>
          <a:chExt cx="0" cy="0"/>
        </a:xfrm>
      </p:grpSpPr>
      <p:sp>
        <p:nvSpPr>
          <p:cNvPr id="10" name="Section Title"/>
          <p:cNvSpPr>
            <a:spLocks noGrp="1"/>
          </p:cNvSpPr>
          <p:nvPr>
            <p:ph type="title" idx="1"/>
          </p:nvPr>
        </p:nvSpPr>
        <p:spPr>
          <a:xfrm>
            <a:off x="762000" y="4381500"/>
            <a:ext cx="16764000" cy="1905000"/>
          </a:xfrm>
          <a:prstGeom prst="rect">
            <a:avLst/>
          </a:prstGeom>
        </p:spPr>
        <p:txBody>
          <a:bodyPr wrap="square" rtlCol="0" anchor="ctr" lIns="0" tIns="0" rIns="0" bIns="0"/>
          <a:lstStyle>
            <a:lvl1pPr marL="0" indent="0" algn="ctr">
              <a:buNone/>
              <a:defRPr sz="8300" b="1">
                <a:solidFill>
                  <a:srgbClr val="FFFFFF"/>
                </a:solidFill>
                <a:latin typeface="Aptos Display"/>
              </a:defRPr>
            </a:lvl1pPr>
          </a:lstStyle>
          <a:p>
            <a:r>
              <a:rPr lang="en-US"/>
              <a:t>Section</a:t>
            </a:r>
            <a:endParaRPr lang="en-US"/>
          </a:p>
        </p:txBody>
      </p:sp>
    </p:spTree>
  </p:cSld>
  <p:clrMapOvr>
    <a:masterClrMapping/>
  </p:clrMapOvr>
</p:sldLayout>
</file>

<file path=ppt/slideLayouts/slideLayout10.xml><?xml version="1.0" encoding="utf-8"?>
<p:sldLayout xmlns:a="http://schemas.openxmlformats.org/drawingml/2006/main" xmlns:p="http://schemas.openxmlformats.org/presentationml/2006/main" xmlns:r="http://schemas.openxmlformats.org/officeDocument/2006/relationships" type="obj" preserve="1" userDrawn="1">
  <p:cSld name="Plain">
    <p:bg>
      <p:bgPr>
        <a:solidFill>
          <a:srgbClr val="FFFFFF"/>
        </a:solidFill>
        <a:effectLst/>
      </p:bgPr>
    </p:bg>
    <p:spTree>
      <p:nvGrpSpPr>
        <p:cNvPr id="1" name=""/>
        <p:cNvGrpSpPr/>
        <p:nvPr/>
      </p:nvGrpSpPr>
      <p:grpSpPr>
        <a:xfrm>
          <a:off x="0" y="0"/>
          <a:ext cx="0" cy="0"/>
          <a:chOff x="0" y="0"/>
          <a:chExt cx="0" cy="0"/>
        </a:xfrm>
      </p:grpSpPr>
      <p:sp>
        <p:nvSpPr>
          <p:cNvPr id="10" name="Eyebrow"/>
          <p:cNvSpPr>
            <a:spLocks noGrp="1"/>
          </p:cNvSpPr>
          <p:nvPr>
            <p:ph type="body" idx="1"/>
          </p:nvPr>
        </p:nvSpPr>
        <p:spPr>
          <a:xfrm>
            <a:off x="1143000" y="2428875"/>
            <a:ext cx="16002000" cy="457200"/>
          </a:xfrm>
          <a:prstGeom prst="rect">
            <a:avLst/>
          </a:prstGeom>
        </p:spPr>
        <p:txBody>
          <a:bodyPr wrap="square" rtlCol="0" anchor="t" lIns="0" tIns="0" rIns="0" bIns="0"/>
          <a:lstStyle>
            <a:lvl1pPr marL="0" indent="0" algn="l">
              <a:buNone/>
              <a:defRPr sz="3200" b="1" cap="all" spc="140">
                <a:solidFill>
                  <a:srgbClr val="0F6BFF"/>
                </a:solidFill>
                <a:latin typeface="Aptos"/>
              </a:defRPr>
            </a:lvl1pPr>
          </a:lstStyle>
          <a:p>
            <a:r>
              <a:rPr lang="en-US"/>
              <a:t>EYEBROW</a:t>
            </a:r>
            <a:endParaRPr lang="en-US"/>
          </a:p>
        </p:txBody>
      </p:sp>
      <p:sp>
        <p:nvSpPr>
          <p:cNvPr id="11" name="Title"/>
          <p:cNvSpPr>
            <a:spLocks noGrp="1"/>
          </p:cNvSpPr>
          <p:nvPr>
            <p:ph type="title" idx="2"/>
          </p:nvPr>
        </p:nvSpPr>
        <p:spPr>
          <a:xfrm>
            <a:off x="1143000" y="2933700"/>
            <a:ext cx="16002000" cy="1905000"/>
          </a:xfrm>
          <a:prstGeom prst="rect">
            <a:avLst/>
          </a:prstGeom>
        </p:spPr>
        <p:txBody>
          <a:bodyPr wrap="square" rtlCol="0" anchor="t" lIns="0" tIns="0" rIns="0" bIns="0"/>
          <a:lstStyle>
            <a:lvl1pPr marL="0" indent="0" algn="l">
              <a:lnSpc>
                <a:spcPct val="90000"/>
              </a:lnSpc>
              <a:buNone/>
              <a:defRPr sz="7400" b="1">
                <a:solidFill>
                  <a:srgbClr val="000000"/>
                </a:solidFill>
                <a:latin typeface="Aptos Display"/>
              </a:defRPr>
            </a:lvl1pPr>
          </a:lstStyle>
          <a:p>
            <a:r>
              <a:rPr lang="en-US"/>
              <a:t>Section title goes here.</a:t>
            </a:r>
            <a:endParaRPr lang="en-US"/>
          </a:p>
        </p:txBody>
      </p:sp>
      <p:sp>
        <p:nvSpPr>
          <p:cNvPr id="12" name="Body"/>
          <p:cNvSpPr>
            <a:spLocks noGrp="1"/>
          </p:cNvSpPr>
          <p:nvPr>
            <p:ph type="body" idx="10"/>
          </p:nvPr>
        </p:nvSpPr>
        <p:spPr>
          <a:xfrm>
            <a:off x="1143000" y="5524500"/>
            <a:ext cx="16002000" cy="3810000"/>
          </a:xfrm>
          <a:prstGeom prst="rect">
            <a:avLst/>
          </a:prstGeom>
        </p:spPr>
        <p:txBody>
          <a:bodyPr wrap="square" rtlCol="0" anchor="t" lIns="0" tIns="0" rIns="0" bIns="0"/>
          <a:lstStyle>
            <a:lvl1pPr marL="0" indent="0" algn="l">
              <a:buNone/>
              <a:defRPr sz="2500">
                <a:solidFill>
                  <a:srgbClr val="000000"/>
                </a:solidFill>
                <a:latin typeface="Aptos"/>
              </a:defRPr>
            </a:lvl1pPr>
          </a:lstStyle>
          <a:p>
            <a:r>
              <a:rPr lang="en-US"/>
              <a:t>Body text.</a:t>
            </a:r>
            <a:endParaRPr lang="en-US"/>
          </a:p>
        </p:txBody>
      </p:sp>
      <p:sp>
        <p:nvSpPr>
          <p:cNvPr id="13" name="Footer"/>
          <p:cNvSpPr>
            <a:spLocks noGrp="1"/>
          </p:cNvSpPr>
          <p:nvPr/>
        </p:nvSpPr>
        <p:spPr>
          <a:xfrm>
            <a:off x="1143000" y="9982200"/>
            <a:ext cx="16002000" cy="228600"/>
          </a:xfrm>
          <a:prstGeom prst="rect">
            <a:avLst/>
          </a:prstGeom>
        </p:spPr>
        <p:txBody>
          <a:bodyPr wrap="square" rtlCol="0" anchor="t" lIns="0" tIns="0" rIns="0" bIns="0"/>
          <a:lstStyle>
            <a:lvl1pPr marL="0" indent="0" algn="l">
              <a:buNone/>
              <a:defRPr sz="1000" cap="all" spc="50">
                <a:solidFill>
                  <a:srgbClr val="6B7280"/>
                </a:solidFill>
                <a:latin typeface="Aptos"/>
              </a:defRPr>
            </a:lvl1pPr>
          </a:lstStyle>
          <a:p>
            <a:r>
              <a:rPr lang="en-US"/>
              <a:t>OPEN COMPONENT MODEL · OCM.SOFTWARE</a:t>
            </a:r>
            <a:endParaRPr lang="en-US"/>
          </a:p>
        </p:txBody>
      </p:sp>
    </p:spTree>
  </p:cSld>
  <p:clrMapOvr>
    <a:masterClrMapping/>
  </p:clrMapOvr>
</p:sldLayout>
</file>

<file path=ppt/slideLayouts/slideLayout11.xml><?xml version="1.0" encoding="utf-8"?>
<p:sldLayout xmlns:a="http://schemas.openxmlformats.org/drawingml/2006/main" xmlns:p="http://schemas.openxmlformats.org/presentationml/2006/main" xmlns:r="http://schemas.openxmlformats.org/officeDocument/2006/relationships" type="obj" preserve="1" userDrawn="1">
  <p:cSld name="Plain / Compact">
    <p:bg>
      <p:bgPr>
        <a:solidFill>
          <a:srgbClr val="FFFFFF"/>
        </a:solidFill>
        <a:effectLst/>
      </p:bgPr>
    </p:bg>
    <p:spTree>
      <p:nvGrpSpPr>
        <p:cNvPr id="1" name=""/>
        <p:cNvGrpSpPr/>
        <p:nvPr/>
      </p:nvGrpSpPr>
      <p:grpSpPr>
        <a:xfrm>
          <a:off x="0" y="0"/>
          <a:ext cx="0" cy="0"/>
          <a:chOff x="0" y="0"/>
          <a:chExt cx="0" cy="0"/>
        </a:xfrm>
      </p:grpSpPr>
      <p:sp>
        <p:nvSpPr>
          <p:cNvPr id="10" name="Eyebrow"/>
          <p:cNvSpPr>
            <a:spLocks noGrp="1"/>
          </p:cNvSpPr>
          <p:nvPr>
            <p:ph type="body" idx="1"/>
          </p:nvPr>
        </p:nvSpPr>
        <p:spPr>
          <a:xfrm>
            <a:off x="1143000" y="2428875"/>
            <a:ext cx="16002000" cy="457200"/>
          </a:xfrm>
          <a:prstGeom prst="rect">
            <a:avLst/>
          </a:prstGeom>
        </p:spPr>
        <p:txBody>
          <a:bodyPr wrap="square" rtlCol="0" anchor="t" lIns="0" tIns="0" rIns="0" bIns="0"/>
          <a:lstStyle>
            <a:lvl1pPr marL="0" indent="0" algn="l">
              <a:buNone/>
              <a:defRPr sz="3200" b="1" cap="all" spc="140">
                <a:solidFill>
                  <a:srgbClr val="0F6BFF"/>
                </a:solidFill>
                <a:latin typeface="Aptos"/>
              </a:defRPr>
            </a:lvl1pPr>
          </a:lstStyle>
          <a:p>
            <a:r>
              <a:rPr lang="en-US"/>
              <a:t>EYEBROW</a:t>
            </a:r>
            <a:endParaRPr lang="en-US"/>
          </a:p>
        </p:txBody>
      </p:sp>
      <p:sp>
        <p:nvSpPr>
          <p:cNvPr id="11" name="Title"/>
          <p:cNvSpPr>
            <a:spLocks noGrp="1"/>
          </p:cNvSpPr>
          <p:nvPr>
            <p:ph type="title" idx="2"/>
          </p:nvPr>
        </p:nvSpPr>
        <p:spPr>
          <a:xfrm>
            <a:off x="1143000" y="2933700"/>
            <a:ext cx="16002000" cy="1905000"/>
          </a:xfrm>
          <a:prstGeom prst="rect">
            <a:avLst/>
          </a:prstGeom>
        </p:spPr>
        <p:txBody>
          <a:bodyPr wrap="square" rtlCol="0" anchor="t" lIns="0" tIns="0" rIns="0" bIns="0"/>
          <a:lstStyle>
            <a:lvl1pPr marL="0" indent="0" algn="l">
              <a:lnSpc>
                <a:spcPct val="90000"/>
              </a:lnSpc>
              <a:buNone/>
              <a:defRPr sz="7400" b="1">
                <a:solidFill>
                  <a:srgbClr val="000000"/>
                </a:solidFill>
                <a:latin typeface="Aptos Display"/>
              </a:defRPr>
            </a:lvl1pPr>
          </a:lstStyle>
          <a:p>
            <a:r>
              <a:rPr lang="en-US"/>
              <a:t>Section title goes here.</a:t>
            </a:r>
            <a:endParaRPr lang="en-US"/>
          </a:p>
        </p:txBody>
      </p:sp>
      <p:sp>
        <p:nvSpPr>
          <p:cNvPr id="12" name="Body"/>
          <p:cNvSpPr>
            <a:spLocks noGrp="1"/>
          </p:cNvSpPr>
          <p:nvPr>
            <p:ph type="body" idx="10"/>
          </p:nvPr>
        </p:nvSpPr>
        <p:spPr>
          <a:xfrm>
            <a:off x="1143000" y="4953000"/>
            <a:ext cx="16002000" cy="4381500"/>
          </a:xfrm>
          <a:prstGeom prst="rect">
            <a:avLst/>
          </a:prstGeom>
        </p:spPr>
        <p:txBody>
          <a:bodyPr wrap="square" rtlCol="0" anchor="t" lIns="0" tIns="0" rIns="0" bIns="0"/>
          <a:lstStyle>
            <a:lvl1pPr marL="0" indent="0" algn="l">
              <a:buNone/>
              <a:defRPr sz="2500">
                <a:solidFill>
                  <a:srgbClr val="000000"/>
                </a:solidFill>
                <a:latin typeface="Aptos"/>
              </a:defRPr>
            </a:lvl1pPr>
          </a:lstStyle>
          <a:p>
            <a:r>
              <a:rPr lang="en-US"/>
              <a:t>Body text.</a:t>
            </a:r>
            <a:endParaRPr lang="en-US"/>
          </a:p>
        </p:txBody>
      </p:sp>
      <p:sp>
        <p:nvSpPr>
          <p:cNvPr id="13" name="Footer"/>
          <p:cNvSpPr>
            <a:spLocks noGrp="1"/>
          </p:cNvSpPr>
          <p:nvPr/>
        </p:nvSpPr>
        <p:spPr>
          <a:xfrm>
            <a:off x="1143000" y="9982200"/>
            <a:ext cx="16002000" cy="228600"/>
          </a:xfrm>
          <a:prstGeom prst="rect">
            <a:avLst/>
          </a:prstGeom>
        </p:spPr>
        <p:txBody>
          <a:bodyPr wrap="square" rtlCol="0" anchor="t" lIns="0" tIns="0" rIns="0" bIns="0"/>
          <a:lstStyle>
            <a:lvl1pPr marL="0" indent="0" algn="l">
              <a:buNone/>
              <a:defRPr sz="1000" cap="all" spc="50">
                <a:solidFill>
                  <a:srgbClr val="6B7280"/>
                </a:solidFill>
                <a:latin typeface="Aptos"/>
              </a:defRPr>
            </a:lvl1pPr>
          </a:lstStyle>
          <a:p>
            <a:r>
              <a:rPr lang="en-US"/>
              <a:t>OPEN COMPONENT MODEL · OCM.SOFTWARE</a:t>
            </a:r>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9.png"/><Relationship Id="rId3" Type="http://schemas.openxmlformats.org/officeDocument/2006/relationships/hyperlink" Target="https://gardener.cloud" TargetMode="External"/><Relationship Id="rId4" Type="http://schemas.openxmlformats.org/officeDocument/2006/relationships/image" Target="../media/image10.png"/><Relationship Id="rId5" Type="http://schemas.openxmlformats.org/officeDocument/2006/relationships/hyperlink" Target="https://kyma-project.io" TargetMode="External"/><Relationship Id="rId6" Type="http://schemas.openxmlformats.org/officeDocument/2006/relationships/image" Target="../media/image11.png"/><Relationship Id="rId7" Type="http://schemas.openxmlformats.org/officeDocument/2006/relationships/hyperlink" Target="https://open-control-plane.io" TargetMode="External"/><Relationship Id="rId8" Type="http://schemas.openxmlformats.org/officeDocument/2006/relationships/image" Target="../media/image12.png"/><Relationship Id="rId9" Type="http://schemas.openxmlformats.org/officeDocument/2006/relationships/hyperlink" Target="https://konfidence.cloud" TargetMode="External"/><Relationship Id="rId10"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6" name="Picture 5" descr="OCM-Banner.png"/>
          <p:cNvPicPr>
            <a:picLocks noChangeAspect="1"/>
          </p:cNvPicPr>
          <p:nvPr/>
        </p:nvPicPr>
        <p:blipFill>
          <a:blip r:embed="rId2"/>
          <a:stretch>
            <a:fillRect/>
          </a:stretch>
        </p:blipFill>
        <p:spPr>
          <a:xfrm>
            <a:off x="0" y="0"/>
            <a:ext cx="18288000" cy="10287000"/>
          </a:xfrm>
          <a:prstGeom prst="rect">
            <a:avLst/>
          </a:prstGeom>
        </p:spPr>
      </p:pic>
      <p:sp>
        <p:nvSpPr>
          <p:cNvPr id="3" name="Text Placeholder 2"/>
          <p:cNvSpPr>
            <a:spLocks noGrp="1"/>
          </p:cNvSpPr>
          <p:nvPr>
            <p:ph type="body" idx="2"/>
          </p:nvPr>
        </p:nvSpPr>
        <p:spPr/>
        <p:txBody>
          <a:bodyPr/>
          <a:lstStyle/>
          <a:p>
            <a:pPr algn="l"/>
            <a:r>
              <a:rPr>
                <a:solidFill>
                  <a:srgbClr val="FFFFFF"/>
                </a:solidFill>
              </a:rPr>
              <a:t>What's a release</a:t>
            </a:r>
            <a:br/>
            <a:r>
              <a:rPr>
                <a:gradFill flip="none" rotWithShape="1">
                  <a:gsLst>
                    <a:gs pos="0">
                      <a:srgbClr val="FFFFFF"/>
                    </a:gs>
                    <a:gs pos="35000">
                      <a:srgbClr val="5CD6FF"/>
                    </a:gs>
                    <a:gs pos="75000">
                      <a:srgbClr val="0F6BFF"/>
                    </a:gs>
                  </a:gsLst>
                  <a:lin ang="0" scaled="1"/>
                </a:gradFill>
              </a:rPr>
              <a:t>as one signed unit?</a:t>
            </a:r>
          </a:p>
        </p:txBody>
      </p:sp>
      <p:sp>
        <p:nvSpPr>
          <p:cNvPr id="4" name="Text Placeholder 3"/>
          <p:cNvSpPr>
            <a:spLocks noGrp="1"/>
          </p:cNvSpPr>
          <p:nvPr>
            <p:ph type="body" idx="3"/>
          </p:nvPr>
        </p:nvSpPr>
        <p:spPr/>
        <p:txBody>
          <a:bodyPr/>
          <a:lstStyle/>
          <a:p>
            <a:r>
              <a:rPr>
                <a:solidFill>
                  <a:srgbClr val="5CD6FF"/>
                </a:solidFill>
              </a:rPr>
              <a:t>The model. The mechanic. The honest edges.</a:t>
            </a:r>
          </a:p>
        </p:txBody>
      </p:sp>
      <p:sp>
        <p:nvSpPr>
          <p:cNvPr id="5" name="Text Placeholder 4"/>
          <p:cNvSpPr>
            <a:spLocks noGrp="1"/>
          </p:cNvSpPr>
          <p:nvPr>
            <p:ph type="body" idx="4"/>
          </p:nvPr>
        </p:nvSpPr>
        <p:spPr/>
        <p:txBody>
          <a:bodyPr/>
          <a:lstStyle/>
          <a:p>
            <a:r>
              <a:rPr>
                <a:solidFill>
                  <a:srgbClr val="FFFFFF"/>
                </a:solidFill>
              </a:rPr>
              <a:t>Open Component Model — open source, NeoNephos Foundation.</a:t>
            </a:r>
          </a:p>
        </p:txBody>
      </p:sp>
      <p:pic>
        <p:nvPicPr>
          <p:cNvPr id="7" name="Picture 6" descr="ocm-horizontal-white_400.png"/>
          <p:cNvPicPr>
            <a:picLocks noChangeAspect="1"/>
          </p:cNvPicPr>
          <p:nvPr/>
        </p:nvPicPr>
        <p:blipFill>
          <a:blip r:embed="rId3"/>
          <a:stretch>
            <a:fillRect/>
          </a:stretch>
        </p:blipFill>
        <p:spPr>
          <a:xfrm>
            <a:off x="914400" y="9029700"/>
            <a:ext cx="1905000" cy="723900"/>
          </a:xfrm>
          <a:prstGeom prst="rect">
            <a:avLst/>
          </a:prstGeom>
        </p:spPr>
      </p:pic>
      <p:pic>
        <p:nvPicPr>
          <p:cNvPr id="8" name="Picture 7" descr="neonephos-foundation-horizontal-white_400.png"/>
          <p:cNvPicPr>
            <a:picLocks noChangeAspect="1"/>
          </p:cNvPicPr>
          <p:nvPr/>
        </p:nvPicPr>
        <p:blipFill>
          <a:blip r:embed="rId4"/>
          <a:stretch>
            <a:fillRect/>
          </a:stretch>
        </p:blipFill>
        <p:spPr>
          <a:xfrm>
            <a:off x="14833600" y="9258300"/>
            <a:ext cx="2540000" cy="4953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DIAGNOSIS</a:t>
            </a:r>
          </a:p>
        </p:txBody>
      </p:sp>
      <p:sp>
        <p:nvSpPr>
          <p:cNvPr id="3" name="Title 2"/>
          <p:cNvSpPr>
            <a:spLocks noGrp="1"/>
          </p:cNvSpPr>
          <p:nvPr>
            <p:ph type="title" idx="2"/>
          </p:nvPr>
        </p:nvSpPr>
        <p:spPr/>
        <p:txBody>
          <a:bodyPr/>
          <a:lstStyle/>
          <a:p>
            <a:r>
              <a:t>In every existing tool, identity is bound to location.</a:t>
            </a:r>
          </a:p>
        </p:txBody>
      </p:sp>
      <p:sp>
        <p:nvSpPr>
          <p:cNvPr id="4" name="Text Placeholder 3"/>
          <p:cNvSpPr>
            <a:spLocks noGrp="1"/>
          </p:cNvSpPr>
          <p:nvPr>
            <p:ph type="body" idx="10"/>
          </p:nvPr>
        </p:nvSpPr>
        <p:spPr/>
        <p:txBody>
          <a:bodyPr/>
          <a:lstStyle/>
          <a:p>
            <a:pPr>
              <a:spcBef>
                <a:spcPts val="800"/>
              </a:spcBef>
              <a:spcAft>
                <a:spcPts val="800"/>
              </a:spcAft>
            </a:pPr>
            <a:r>
              <a:rPr b="1">
                <a:solidFill>
                  <a:srgbClr val="0F6BFF"/>
                </a:solidFill>
              </a:rPr>
              <a:t>▪  </a:t>
            </a:r>
            <a:r>
              <a:rPr b="1">
                <a:solidFill>
                  <a:srgbClr val="0F6BFF"/>
                </a:solidFill>
              </a:rPr>
              <a:t>OCI image</a:t>
            </a:r>
            <a:r>
              <a:rPr>
                <a:solidFill>
                  <a:srgbClr val="000000"/>
                </a:solidFill>
              </a:rPr>
              <a:t> — identified by registry/repo:tag. Mirror it; every downstream reference is invalidated.</a:t>
            </a:r>
          </a:p>
          <a:p>
            <a:pPr>
              <a:spcBef>
                <a:spcPts val="800"/>
              </a:spcBef>
              <a:spcAft>
                <a:spcPts val="800"/>
              </a:spcAft>
            </a:pPr>
            <a:r>
              <a:rPr b="1">
                <a:solidFill>
                  <a:srgbClr val="0F6BFF"/>
                </a:solidFill>
              </a:rPr>
              <a:t>▪  </a:t>
            </a:r>
            <a:r>
              <a:rPr b="1">
                <a:solidFill>
                  <a:srgbClr val="0F6BFF"/>
                </a:solidFill>
              </a:rPr>
              <a:t>Helm chart</a:t>
            </a:r>
            <a:r>
              <a:rPr>
                <a:solidFill>
                  <a:srgbClr val="000000"/>
                </a:solidFill>
              </a:rPr>
              <a:t> — identified by repo URL + name + version. Mirror the repo; pulls fail.</a:t>
            </a:r>
          </a:p>
          <a:p>
            <a:pPr>
              <a:spcBef>
                <a:spcPts val="800"/>
              </a:spcBef>
              <a:spcAft>
                <a:spcPts val="800"/>
              </a:spcAft>
            </a:pPr>
            <a:r>
              <a:rPr b="1">
                <a:solidFill>
                  <a:srgbClr val="0F6BFF"/>
                </a:solidFill>
              </a:rPr>
              <a:t>▪  </a:t>
            </a:r>
            <a:r>
              <a:rPr b="1">
                <a:solidFill>
                  <a:srgbClr val="0F6BFF"/>
                </a:solidFill>
              </a:rPr>
              <a:t>SBOM</a:t>
            </a:r>
            <a:r>
              <a:rPr>
                <a:solidFill>
                  <a:srgbClr val="000000"/>
                </a:solidFill>
              </a:rPr>
              <a:t> — linked to its subject by file path or naming convention. Move the artifact; the link dangles.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THE HINGE</a:t>
            </a:r>
          </a:p>
        </p:txBody>
      </p:sp>
      <p:sp>
        <p:nvSpPr>
          <p:cNvPr id="3" name="Title 2"/>
          <p:cNvSpPr>
            <a:spLocks noGrp="1"/>
          </p:cNvSpPr>
          <p:nvPr>
            <p:ph type="title" idx="2"/>
          </p:nvPr>
        </p:nvSpPr>
        <p:spPr/>
        <p:txBody>
          <a:bodyPr/>
          <a:lstStyle/>
          <a:p>
            <a:r>
              <a:t>Identity that travels with the artifact.</a:t>
            </a:r>
          </a:p>
        </p:txBody>
      </p:sp>
      <p:sp>
        <p:nvSpPr>
          <p:cNvPr id="4" name="TextBox 3"/>
          <p:cNvSpPr txBox="1"/>
          <p:nvPr/>
        </p:nvSpPr>
        <p:spPr>
          <a:xfrm>
            <a:off x="1143000" y="5143500"/>
            <a:ext cx="8953500" cy="4000500"/>
          </a:xfrm>
          <a:prstGeom prst="rect">
            <a:avLst/>
          </a:prstGeom>
          <a:noFill/>
        </p:spPr>
        <p:txBody>
          <a:bodyPr wrap="square" lIns="0" rIns="0" tIns="0" bIns="0">
            <a:spAutoFit/>
          </a:bodyPr>
          <a:lstStyle/>
          <a:p>
            <a:pPr>
              <a:lnSpc>
                <a:spcPct val="135000"/>
              </a:lnSpc>
              <a:spcBef>
                <a:spcPts val="0"/>
              </a:spcBef>
              <a:spcAft>
                <a:spcPts val="0"/>
              </a:spcAft>
            </a:pPr>
            <a:r>
              <a:rPr sz="2800" b="1">
                <a:solidFill>
                  <a:srgbClr val="0F6BFF"/>
                </a:solidFill>
                <a:latin typeface="Aptos"/>
              </a:rPr>
              <a:t>▪  </a:t>
            </a:r>
            <a:r>
              <a:rPr sz="2800" b="1">
                <a:solidFill>
                  <a:srgbClr val="0F6BFF"/>
                </a:solidFill>
                <a:latin typeface="Aptos"/>
              </a:rPr>
              <a:t>Component identity</a:t>
            </a:r>
            <a:r>
              <a:rPr sz="2800">
                <a:solidFill>
                  <a:srgbClr val="000000"/>
                </a:solidFill>
                <a:latin typeface="Aptos"/>
              </a:rPr>
              <a:t> — name and version of the component. Globally unique. Location-agnostic.</a:t>
            </a:r>
          </a:p>
          <a:p>
            <a:pPr>
              <a:lnSpc>
                <a:spcPct val="135000"/>
              </a:lnSpc>
              <a:spcBef>
                <a:spcPts val="1000"/>
              </a:spcBef>
              <a:spcAft>
                <a:spcPts val="0"/>
              </a:spcAft>
            </a:pPr>
            <a:r>
              <a:rPr sz="2800" b="1">
                <a:solidFill>
                  <a:srgbClr val="0F6BFF"/>
                </a:solidFill>
                <a:latin typeface="Aptos"/>
              </a:rPr>
              <a:t>▪  </a:t>
            </a:r>
            <a:r>
              <a:rPr sz="2800" b="1">
                <a:solidFill>
                  <a:srgbClr val="0F6BFF"/>
                </a:solidFill>
                <a:latin typeface="Aptos"/>
              </a:rPr>
              <a:t>Digest</a:t>
            </a:r>
            <a:r>
              <a:rPr sz="2800">
                <a:solidFill>
                  <a:srgbClr val="000000"/>
                </a:solidFill>
                <a:latin typeface="Aptos"/>
              </a:rPr>
              <a:t> — every resource inside the component carries a content hash. Computed once.</a:t>
            </a:r>
          </a:p>
          <a:p>
            <a:pPr>
              <a:lnSpc>
                <a:spcPct val="135000"/>
              </a:lnSpc>
              <a:spcBef>
                <a:spcPts val="1000"/>
              </a:spcBef>
              <a:spcAft>
                <a:spcPts val="0"/>
              </a:spcAft>
            </a:pPr>
            <a:r>
              <a:rPr sz="2800" b="1">
                <a:solidFill>
                  <a:srgbClr val="0F6BFF"/>
                </a:solidFill>
                <a:latin typeface="Aptos"/>
              </a:rPr>
              <a:t>▪  </a:t>
            </a:r>
            <a:r>
              <a:rPr sz="2800" b="1">
                <a:solidFill>
                  <a:srgbClr val="0F6BFF"/>
                </a:solidFill>
                <a:latin typeface="Aptos"/>
              </a:rPr>
              <a:t>Access</a:t>
            </a:r>
            <a:r>
              <a:rPr sz="2800">
                <a:solidFill>
                  <a:srgbClr val="000000"/>
                </a:solidFill>
                <a:latin typeface="Aptos"/>
              </a:rPr>
              <a:t> — where the resource currently lives. Rewritten on transfer. Digest stays.</a:t>
            </a:r>
          </a:p>
        </p:txBody>
      </p:sp>
      <p:sp>
        <p:nvSpPr>
          <p:cNvPr id="5" name="Rounded Rectangle 4"/>
          <p:cNvSpPr/>
          <p:nvPr/>
        </p:nvSpPr>
        <p:spPr>
          <a:xfrm>
            <a:off x="11144250" y="5143500"/>
            <a:ext cx="5715000" cy="609600"/>
          </a:xfrm>
          <a:prstGeom prst="roundRect">
            <a:avLst/>
          </a:prstGeom>
          <a:solidFill>
            <a:srgbClr val="F3F4F6"/>
          </a:solidFill>
          <a:ln w="19050">
            <a:solidFill>
              <a:srgbClr val="0F6BFF"/>
            </a:solidFill>
          </a:ln>
        </p:spPr>
        <p:style>
          <a:lnRef idx="1">
            <a:schemeClr val="accent1"/>
          </a:lnRef>
          <a:fillRef idx="3">
            <a:schemeClr val="accent1"/>
          </a:fillRef>
          <a:effectRef idx="2">
            <a:schemeClr val="accent1"/>
          </a:effectRef>
          <a:fontRef idx="minor">
            <a:schemeClr val="lt1"/>
          </a:fontRef>
        </p:style>
        <p:txBody>
          <a:bodyPr rtlCol="0" anchor="ctr" lIns="80000" rIns="80000" tIns="40000" bIns="40000"/>
          <a:lstStyle/>
          <a:p>
            <a:pPr algn="ctr"/>
            <a:r>
              <a:rPr sz="2000" b="1">
                <a:solidFill>
                  <a:srgbClr val="0F6BFF"/>
                </a:solidFill>
                <a:latin typeface="Consolas"/>
              </a:rPr>
              <a:t>github.com/acme.org/helloworld:1.0.0</a:t>
            </a:r>
          </a:p>
        </p:txBody>
      </p:sp>
      <p:sp>
        <p:nvSpPr>
          <p:cNvPr id="6" name="Can 5"/>
          <p:cNvSpPr/>
          <p:nvPr/>
        </p:nvSpPr>
        <p:spPr>
          <a:xfrm>
            <a:off x="10906125" y="6515100"/>
            <a:ext cx="1524000" cy="1333500"/>
          </a:xfrm>
          <a:prstGeom prst="can">
            <a:avLst/>
          </a:prstGeom>
          <a:solidFill>
            <a:srgbClr val="FFFFFF"/>
          </a:solidFill>
          <a:ln w="19050">
            <a:solidFill>
              <a:srgbClr val="0F6BFF"/>
            </a:solidFill>
          </a:ln>
        </p:spPr>
        <p:style>
          <a:lnRef idx="1">
            <a:schemeClr val="accent1"/>
          </a:lnRef>
          <a:fillRef idx="3">
            <a:schemeClr val="accent1"/>
          </a:fillRef>
          <a:effectRef idx="2">
            <a:schemeClr val="accent1"/>
          </a:effectRef>
          <a:fontRef idx="minor">
            <a:schemeClr val="lt1"/>
          </a:fontRef>
        </p:style>
        <p:txBody>
          <a:bodyPr rtlCol="0" anchor="ctr" lIns="40000" rIns="40000" tIns="40000" bIns="40000"/>
          <a:lstStyle/>
          <a:p>
            <a:pPr algn="ctr"/>
            <a:r>
              <a:rPr sz="2000" b="1">
                <a:solidFill>
                  <a:srgbClr val="0F6BFF"/>
                </a:solidFill>
                <a:latin typeface="Aptos"/>
              </a:rPr>
              <a:t>EU reg</a:t>
            </a:r>
          </a:p>
        </p:txBody>
      </p:sp>
      <p:sp>
        <p:nvSpPr>
          <p:cNvPr id="7" name="TextBox 6"/>
          <p:cNvSpPr txBox="1"/>
          <p:nvPr/>
        </p:nvSpPr>
        <p:spPr>
          <a:xfrm>
            <a:off x="10525125" y="8001000"/>
            <a:ext cx="2286000" cy="342900"/>
          </a:xfrm>
          <a:prstGeom prst="rect">
            <a:avLst/>
          </a:prstGeom>
          <a:noFill/>
        </p:spPr>
        <p:txBody>
          <a:bodyPr wrap="square" lIns="0" rIns="0" tIns="0" bIns="0">
            <a:spAutoFit/>
          </a:bodyPr>
          <a:lstStyle/>
          <a:p>
            <a:pPr algn="ctr"/>
            <a:r>
              <a:rPr sz="1800">
                <a:solidFill>
                  <a:srgbClr val="6B7280"/>
                </a:solidFill>
                <a:latin typeface="Consolas"/>
              </a:rPr>
              <a:t>access: ghcr.io/eu/...</a:t>
            </a:r>
          </a:p>
        </p:txBody>
      </p:sp>
      <p:sp>
        <p:nvSpPr>
          <p:cNvPr id="8" name="Can 7"/>
          <p:cNvSpPr/>
          <p:nvPr/>
        </p:nvSpPr>
        <p:spPr>
          <a:xfrm>
            <a:off x="13239750" y="6515100"/>
            <a:ext cx="1524000" cy="1333500"/>
          </a:xfrm>
          <a:prstGeom prst="can">
            <a:avLst/>
          </a:prstGeom>
          <a:solidFill>
            <a:srgbClr val="FFFFFF"/>
          </a:solidFill>
          <a:ln w="19050">
            <a:solidFill>
              <a:srgbClr val="0F6BFF"/>
            </a:solidFill>
          </a:ln>
        </p:spPr>
        <p:style>
          <a:lnRef idx="1">
            <a:schemeClr val="accent1"/>
          </a:lnRef>
          <a:fillRef idx="3">
            <a:schemeClr val="accent1"/>
          </a:fillRef>
          <a:effectRef idx="2">
            <a:schemeClr val="accent1"/>
          </a:effectRef>
          <a:fontRef idx="minor">
            <a:schemeClr val="lt1"/>
          </a:fontRef>
        </p:style>
        <p:txBody>
          <a:bodyPr rtlCol="0" anchor="ctr" lIns="40000" rIns="40000" tIns="40000" bIns="40000"/>
          <a:lstStyle/>
          <a:p>
            <a:pPr algn="ctr"/>
            <a:r>
              <a:rPr sz="2000" b="1">
                <a:solidFill>
                  <a:srgbClr val="0F6BFF"/>
                </a:solidFill>
                <a:latin typeface="Aptos"/>
              </a:rPr>
              <a:t>US reg</a:t>
            </a:r>
          </a:p>
        </p:txBody>
      </p:sp>
      <p:sp>
        <p:nvSpPr>
          <p:cNvPr id="9" name="TextBox 8"/>
          <p:cNvSpPr txBox="1"/>
          <p:nvPr/>
        </p:nvSpPr>
        <p:spPr>
          <a:xfrm>
            <a:off x="12858750" y="8001000"/>
            <a:ext cx="2286000" cy="342900"/>
          </a:xfrm>
          <a:prstGeom prst="rect">
            <a:avLst/>
          </a:prstGeom>
          <a:noFill/>
        </p:spPr>
        <p:txBody>
          <a:bodyPr wrap="square" lIns="0" rIns="0" tIns="0" bIns="0">
            <a:spAutoFit/>
          </a:bodyPr>
          <a:lstStyle/>
          <a:p>
            <a:pPr algn="ctr"/>
            <a:r>
              <a:rPr sz="1800">
                <a:solidFill>
                  <a:srgbClr val="6B7280"/>
                </a:solidFill>
                <a:latin typeface="Consolas"/>
              </a:rPr>
              <a:t>access: ghcr.io/us/...</a:t>
            </a:r>
          </a:p>
        </p:txBody>
      </p:sp>
      <p:sp>
        <p:nvSpPr>
          <p:cNvPr id="10" name="Can 9"/>
          <p:cNvSpPr/>
          <p:nvPr/>
        </p:nvSpPr>
        <p:spPr>
          <a:xfrm>
            <a:off x="15573375" y="6515100"/>
            <a:ext cx="1524000" cy="1333500"/>
          </a:xfrm>
          <a:prstGeom prst="can">
            <a:avLst/>
          </a:prstGeom>
          <a:solidFill>
            <a:srgbClr val="FFFFFF"/>
          </a:solidFill>
          <a:ln w="19050">
            <a:solidFill>
              <a:srgbClr val="0F6BFF"/>
            </a:solidFill>
          </a:ln>
        </p:spPr>
        <p:style>
          <a:lnRef idx="1">
            <a:schemeClr val="accent1"/>
          </a:lnRef>
          <a:fillRef idx="3">
            <a:schemeClr val="accent1"/>
          </a:fillRef>
          <a:effectRef idx="2">
            <a:schemeClr val="accent1"/>
          </a:effectRef>
          <a:fontRef idx="minor">
            <a:schemeClr val="lt1"/>
          </a:fontRef>
        </p:style>
        <p:txBody>
          <a:bodyPr rtlCol="0" anchor="ctr" lIns="40000" rIns="40000" tIns="40000" bIns="40000"/>
          <a:lstStyle/>
          <a:p>
            <a:pPr algn="ctr"/>
            <a:r>
              <a:rPr sz="2000" b="1">
                <a:solidFill>
                  <a:srgbClr val="0F6BFF"/>
                </a:solidFill>
                <a:latin typeface="Aptos"/>
              </a:rPr>
              <a:t>Air-gap</a:t>
            </a:r>
          </a:p>
        </p:txBody>
      </p:sp>
      <p:sp>
        <p:nvSpPr>
          <p:cNvPr id="11" name="TextBox 10"/>
          <p:cNvSpPr txBox="1"/>
          <p:nvPr/>
        </p:nvSpPr>
        <p:spPr>
          <a:xfrm>
            <a:off x="15192375" y="8001000"/>
            <a:ext cx="2286000" cy="342900"/>
          </a:xfrm>
          <a:prstGeom prst="rect">
            <a:avLst/>
          </a:prstGeom>
          <a:noFill/>
        </p:spPr>
        <p:txBody>
          <a:bodyPr wrap="square" lIns="0" rIns="0" tIns="0" bIns="0">
            <a:spAutoFit/>
          </a:bodyPr>
          <a:lstStyle/>
          <a:p>
            <a:pPr algn="ctr"/>
            <a:r>
              <a:rPr sz="1800">
                <a:solidFill>
                  <a:srgbClr val="6B7280"/>
                </a:solidFill>
                <a:latin typeface="Consolas"/>
              </a:rPr>
              <a:t>access: registry.local/...</a:t>
            </a:r>
          </a:p>
        </p:txBody>
      </p:sp>
      <p:cxnSp>
        <p:nvCxnSpPr>
          <p:cNvPr id="12" name="Connector 11"/>
          <p:cNvCxnSpPr/>
          <p:nvPr/>
        </p:nvCxnSpPr>
        <p:spPr>
          <a:xfrm flipH="1">
            <a:off x="11668125" y="5753100"/>
            <a:ext cx="2333625" cy="762000"/>
          </a:xfrm>
          <a:prstGeom prst="line">
            <a:avLst/>
          </a:prstGeom>
          <a:ln w="15875">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4001750" y="5753100"/>
            <a:ext cx="0" cy="762000"/>
          </a:xfrm>
          <a:prstGeom prst="line">
            <a:avLst/>
          </a:prstGeom>
          <a:ln w="15875">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4001750" y="5753100"/>
            <a:ext cx="2333625" cy="762000"/>
          </a:xfrm>
          <a:prstGeom prst="line">
            <a:avLst/>
          </a:prstGeom>
          <a:ln w="15875">
            <a:solidFill>
              <a:srgbClr val="6B728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143000" y="9429750"/>
            <a:ext cx="16002000" cy="571500"/>
          </a:xfrm>
          <a:prstGeom prst="rect">
            <a:avLst/>
          </a:prstGeom>
          <a:noFill/>
        </p:spPr>
        <p:txBody>
          <a:bodyPr wrap="square" lIns="0" rIns="0" tIns="0" bIns="0">
            <a:spAutoFit/>
          </a:bodyPr>
          <a:lstStyle/>
          <a:p>
            <a:pPr algn="ctr"/>
            <a:r>
              <a:rPr sz="2400">
                <a:solidFill>
                  <a:srgbClr val="0F6BFF"/>
                </a:solidFill>
                <a:latin typeface="Aptos"/>
              </a:rPr>
              <a:t>Move the artifact. The digest stays. Only the access changes.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WHERE OCM SITS</a:t>
            </a:r>
          </a:p>
        </p:txBody>
      </p:sp>
      <p:sp>
        <p:nvSpPr>
          <p:cNvPr id="3" name="Title 2"/>
          <p:cNvSpPr>
            <a:spLocks noGrp="1"/>
          </p:cNvSpPr>
          <p:nvPr>
            <p:ph type="title" idx="2"/>
          </p:nvPr>
        </p:nvSpPr>
        <p:spPr/>
        <p:txBody>
          <a:bodyPr/>
          <a:lstStyle/>
          <a:p>
            <a:r>
              <a:t>Wraps every artifact. Signs the whole release.</a:t>
            </a:r>
          </a:p>
        </p:txBody>
      </p:sp>
      <p:sp>
        <p:nvSpPr>
          <p:cNvPr id="4" name="Text Placeholder 3"/>
          <p:cNvSpPr>
            <a:spLocks noGrp="1"/>
          </p:cNvSpPr>
          <p:nvPr>
            <p:ph type="body" idx="10"/>
          </p:nvPr>
        </p:nvSpPr>
        <p:spPr/>
        <p:txBody>
          <a:bodyPr/>
          <a:lstStyle/>
          <a:p>
            <a:r>
              <a:t>ANY FORMAT</a:t>
            </a:r>
          </a:p>
        </p:txBody>
      </p:sp>
      <p:sp>
        <p:nvSpPr>
          <p:cNvPr id="5" name="Text Placeholder 4"/>
          <p:cNvSpPr>
            <a:spLocks noGrp="1"/>
          </p:cNvSpPr>
          <p:nvPr>
            <p:ph type="body" idx="11"/>
          </p:nvPr>
        </p:nvSpPr>
        <p:spPr/>
        <p:txBody>
          <a:bodyPr/>
          <a:lstStyle/>
          <a:p>
            <a:r>
              <a:t>OCI, Helm, configs, SBOMs, npm, maven, binaries.</a:t>
            </a:r>
          </a:p>
          <a:p>
            <a:r>
              <a:t>Artifact type is free-form; access types are pluggable.</a:t>
            </a:r>
          </a:p>
        </p:txBody>
      </p:sp>
      <p:sp>
        <p:nvSpPr>
          <p:cNvPr id="6" name="Text Placeholder 5"/>
          <p:cNvSpPr>
            <a:spLocks noGrp="1"/>
          </p:cNvSpPr>
          <p:nvPr>
            <p:ph type="body" idx="12"/>
          </p:nvPr>
        </p:nvSpPr>
        <p:spPr/>
        <p:txBody>
          <a:bodyPr/>
          <a:lstStyle/>
          <a:p>
            <a:r>
              <a:t>ANY LOCATION</a:t>
            </a:r>
          </a:p>
        </p:txBody>
      </p:sp>
      <p:sp>
        <p:nvSpPr>
          <p:cNvPr id="7" name="Text Placeholder 6"/>
          <p:cNvSpPr>
            <a:spLocks noGrp="1"/>
          </p:cNvSpPr>
          <p:nvPr>
            <p:ph type="body" idx="13"/>
          </p:nvPr>
        </p:nvSpPr>
        <p:spPr/>
        <p:txBody>
          <a:bodyPr/>
          <a:lstStyle/>
          <a:p>
            <a:r>
              <a:t>Component identity travels.</a:t>
            </a:r>
          </a:p>
          <a:p>
            <a:r>
              <a:t>The component carries its name across registries.</a:t>
            </a:r>
          </a:p>
        </p:txBody>
      </p:sp>
      <p:sp>
        <p:nvSpPr>
          <p:cNvPr id="8" name="Text Placeholder 7"/>
          <p:cNvSpPr>
            <a:spLocks noGrp="1"/>
          </p:cNvSpPr>
          <p:nvPr>
            <p:ph type="body" idx="14"/>
          </p:nvPr>
        </p:nvSpPr>
        <p:spPr/>
        <p:txBody>
          <a:bodyPr/>
          <a:lstStyle/>
          <a:p>
            <a:r>
              <a:t>ONE SIGNATURE</a:t>
            </a:r>
          </a:p>
        </p:txBody>
      </p:sp>
      <p:sp>
        <p:nvSpPr>
          <p:cNvPr id="9" name="Text Placeholder 8"/>
          <p:cNvSpPr>
            <a:spLocks noGrp="1"/>
          </p:cNvSpPr>
          <p:nvPr>
            <p:ph type="body" idx="15"/>
          </p:nvPr>
        </p:nvSpPr>
        <p:spPr/>
        <p:txBody>
          <a:bodyPr/>
          <a:lstStyle/>
          <a:p>
            <a:r>
              <a:t>Covers every digest in the component.</a:t>
            </a:r>
          </a:p>
          <a:p>
            <a:r>
              <a:t>Survives transport.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CONSTRUCTOR</a:t>
            </a:r>
          </a:p>
        </p:txBody>
      </p:sp>
      <p:sp>
        <p:nvSpPr>
          <p:cNvPr id="3" name="Title 2"/>
          <p:cNvSpPr>
            <a:spLocks noGrp="1"/>
          </p:cNvSpPr>
          <p:nvPr>
            <p:ph type="title" idx="2"/>
          </p:nvPr>
        </p:nvSpPr>
        <p:spPr/>
        <p:txBody>
          <a:bodyPr/>
          <a:lstStyle/>
          <a:p>
            <a:r>
              <a:t>What you write.</a:t>
            </a:r>
          </a:p>
        </p:txBody>
      </p:sp>
      <p:sp>
        <p:nvSpPr>
          <p:cNvPr id="4" name="Rounded Rectangle 3"/>
          <p:cNvSpPr/>
          <p:nvPr/>
        </p:nvSpPr>
        <p:spPr>
          <a:xfrm>
            <a:off x="1143000" y="2857500"/>
            <a:ext cx="11239500" cy="5905500"/>
          </a:xfrm>
          <a:prstGeom prst="roundRect">
            <a:avLst/>
          </a:prstGeom>
          <a:solidFill>
            <a:srgbClr val="F3F4F6"/>
          </a:solidFill>
          <a:ln w="9525">
            <a:solidFill>
              <a:srgbClr val="6B7280"/>
            </a:solidFill>
          </a:ln>
        </p:spPr>
        <p:style>
          <a:lnRef idx="1">
            <a:schemeClr val="accent1"/>
          </a:lnRef>
          <a:fillRef idx="3">
            <a:schemeClr val="accent1"/>
          </a:fillRef>
          <a:effectRef idx="2">
            <a:schemeClr val="accent1"/>
          </a:effectRef>
          <a:fontRef idx="minor">
            <a:schemeClr val="lt1"/>
          </a:fontRef>
        </p:style>
        <p:txBody>
          <a:bodyPr rtlCol="0" anchor="t" lIns="140000" rIns="140000" tIns="120000" bIns="120000" wrap="none"/>
          <a:lstStyle/>
          <a:p>
            <a:pPr algn="l">
              <a:lnSpc>
                <a:spcPct val="115000"/>
              </a:lnSpc>
              <a:spcBef>
                <a:spcPts val="0"/>
              </a:spcBef>
              <a:spcAft>
                <a:spcPts val="0"/>
              </a:spcAft>
            </a:pPr>
            <a:r>
              <a:rPr sz="1600">
                <a:solidFill>
                  <a:srgbClr val="0A3A99"/>
                </a:solidFill>
                <a:latin typeface="Consolas"/>
              </a:rPr>
              <a:t>components:</a:t>
            </a:r>
          </a:p>
          <a:p>
            <a:pPr algn="l">
              <a:lnSpc>
                <a:spcPct val="115000"/>
              </a:lnSpc>
              <a:spcBef>
                <a:spcPts val="0"/>
              </a:spcBef>
              <a:spcAft>
                <a:spcPts val="0"/>
              </a:spcAft>
            </a:pPr>
            <a:r>
              <a:rPr sz="1600">
                <a:solidFill>
                  <a:srgbClr val="000000"/>
                </a:solidFill>
                <a:latin typeface="Consolas"/>
              </a:rPr>
              <a:t>- name: github.com/acme.org/helloworld</a:t>
            </a:r>
          </a:p>
          <a:p>
            <a:pPr algn="l">
              <a:lnSpc>
                <a:spcPct val="115000"/>
              </a:lnSpc>
              <a:spcBef>
                <a:spcPts val="0"/>
              </a:spcBef>
              <a:spcAft>
                <a:spcPts val="0"/>
              </a:spcAft>
            </a:pPr>
            <a:r>
              <a:rPr sz="1600">
                <a:solidFill>
                  <a:srgbClr val="000000"/>
                </a:solidFill>
                <a:latin typeface="Consolas"/>
              </a:rPr>
              <a:t>  version: 1.0.0</a:t>
            </a:r>
          </a:p>
          <a:p>
            <a:pPr algn="l">
              <a:lnSpc>
                <a:spcPct val="115000"/>
              </a:lnSpc>
              <a:spcBef>
                <a:spcPts val="0"/>
              </a:spcBef>
              <a:spcAft>
                <a:spcPts val="0"/>
              </a:spcAft>
            </a:pPr>
            <a:r>
              <a:rPr sz="1600">
                <a:solidFill>
                  <a:srgbClr val="0A3A99"/>
                </a:solidFill>
                <a:latin typeface="Consolas"/>
              </a:rPr>
              <a:t>  provider:</a:t>
            </a:r>
          </a:p>
          <a:p>
            <a:pPr algn="l">
              <a:lnSpc>
                <a:spcPct val="115000"/>
              </a:lnSpc>
              <a:spcBef>
                <a:spcPts val="0"/>
              </a:spcBef>
              <a:spcAft>
                <a:spcPts val="0"/>
              </a:spcAft>
            </a:pPr>
            <a:r>
              <a:rPr sz="1600">
                <a:solidFill>
                  <a:srgbClr val="000000"/>
                </a:solidFill>
                <a:latin typeface="Consolas"/>
              </a:rPr>
              <a:t>    name: acme.org</a:t>
            </a:r>
          </a:p>
          <a:p>
            <a:pPr algn="l">
              <a:lnSpc>
                <a:spcPct val="115000"/>
              </a:lnSpc>
              <a:spcBef>
                <a:spcPts val="0"/>
              </a:spcBef>
              <a:spcAft>
                <a:spcPts val="0"/>
              </a:spcAft>
            </a:pPr>
            <a:r>
              <a:rPr sz="1600">
                <a:solidFill>
                  <a:srgbClr val="0A3A99"/>
                </a:solidFill>
                <a:latin typeface="Consolas"/>
              </a:rPr>
              <a:t>  resources:</a:t>
            </a:r>
          </a:p>
          <a:p>
            <a:pPr algn="l">
              <a:lnSpc>
                <a:spcPct val="115000"/>
              </a:lnSpc>
              <a:spcBef>
                <a:spcPts val="0"/>
              </a:spcBef>
              <a:spcAft>
                <a:spcPts val="0"/>
              </a:spcAft>
            </a:pPr>
            <a:r>
              <a:rPr sz="1600">
                <a:solidFill>
                  <a:srgbClr val="000000"/>
                </a:solidFill>
                <a:latin typeface="Consolas"/>
              </a:rPr>
              <a:t>    - name: mylocalfile</a:t>
            </a:r>
          </a:p>
          <a:p>
            <a:pPr algn="l">
              <a:lnSpc>
                <a:spcPct val="115000"/>
              </a:lnSpc>
              <a:spcBef>
                <a:spcPts val="0"/>
              </a:spcBef>
              <a:spcAft>
                <a:spcPts val="0"/>
              </a:spcAft>
            </a:pPr>
            <a:r>
              <a:rPr sz="1600">
                <a:solidFill>
                  <a:srgbClr val="000000"/>
                </a:solidFill>
                <a:latin typeface="Consolas"/>
              </a:rPr>
              <a:t>      type: blob</a:t>
            </a:r>
          </a:p>
          <a:p>
            <a:pPr algn="l">
              <a:lnSpc>
                <a:spcPct val="115000"/>
              </a:lnSpc>
              <a:spcBef>
                <a:spcPts val="0"/>
              </a:spcBef>
              <a:spcAft>
                <a:spcPts val="0"/>
              </a:spcAft>
            </a:pPr>
            <a:r>
              <a:rPr sz="1600">
                <a:solidFill>
                  <a:srgbClr val="6B7280"/>
                </a:solidFill>
                <a:latin typeface="Consolas"/>
              </a:rPr>
              <a:t>      input:                # Embed by value</a:t>
            </a:r>
          </a:p>
          <a:p>
            <a:pPr algn="l">
              <a:lnSpc>
                <a:spcPct val="115000"/>
              </a:lnSpc>
              <a:spcBef>
                <a:spcPts val="0"/>
              </a:spcBef>
              <a:spcAft>
                <a:spcPts val="0"/>
              </a:spcAft>
            </a:pPr>
            <a:r>
              <a:rPr sz="1600">
                <a:solidFill>
                  <a:srgbClr val="000000"/>
                </a:solidFill>
                <a:latin typeface="Consolas"/>
              </a:rPr>
              <a:t>        type: File/v1</a:t>
            </a:r>
          </a:p>
          <a:p>
            <a:pPr algn="l">
              <a:lnSpc>
                <a:spcPct val="115000"/>
              </a:lnSpc>
              <a:spcBef>
                <a:spcPts val="0"/>
              </a:spcBef>
              <a:spcAft>
                <a:spcPts val="0"/>
              </a:spcAft>
            </a:pPr>
            <a:r>
              <a:rPr sz="1600">
                <a:solidFill>
                  <a:srgbClr val="000000"/>
                </a:solidFill>
                <a:latin typeface="Consolas"/>
              </a:rPr>
              <a:t>        path: ./my-local-resource.txt</a:t>
            </a:r>
          </a:p>
          <a:p>
            <a:pPr algn="l">
              <a:lnSpc>
                <a:spcPct val="115000"/>
              </a:lnSpc>
              <a:spcBef>
                <a:spcPts val="0"/>
              </a:spcBef>
              <a:spcAft>
                <a:spcPts val="0"/>
              </a:spcAft>
            </a:pPr>
            <a:r>
              <a:rPr sz="1600">
                <a:solidFill>
                  <a:srgbClr val="000000"/>
                </a:solidFill>
                <a:latin typeface="Consolas"/>
              </a:rPr>
              <a:t>    - name: image</a:t>
            </a:r>
          </a:p>
          <a:p>
            <a:pPr algn="l">
              <a:lnSpc>
                <a:spcPct val="115000"/>
              </a:lnSpc>
              <a:spcBef>
                <a:spcPts val="0"/>
              </a:spcBef>
              <a:spcAft>
                <a:spcPts val="0"/>
              </a:spcAft>
            </a:pPr>
            <a:r>
              <a:rPr sz="1600">
                <a:solidFill>
                  <a:srgbClr val="000000"/>
                </a:solidFill>
                <a:latin typeface="Consolas"/>
              </a:rPr>
              <a:t>      type: ociImage</a:t>
            </a:r>
          </a:p>
          <a:p>
            <a:pPr algn="l">
              <a:lnSpc>
                <a:spcPct val="115000"/>
              </a:lnSpc>
              <a:spcBef>
                <a:spcPts val="0"/>
              </a:spcBef>
              <a:spcAft>
                <a:spcPts val="0"/>
              </a:spcAft>
            </a:pPr>
            <a:r>
              <a:rPr sz="1600">
                <a:solidFill>
                  <a:srgbClr val="000000"/>
                </a:solidFill>
                <a:latin typeface="Consolas"/>
              </a:rPr>
              <a:t>      version: 1.0.0</a:t>
            </a:r>
          </a:p>
          <a:p>
            <a:pPr algn="l">
              <a:lnSpc>
                <a:spcPct val="115000"/>
              </a:lnSpc>
              <a:spcBef>
                <a:spcPts val="0"/>
              </a:spcBef>
              <a:spcAft>
                <a:spcPts val="0"/>
              </a:spcAft>
            </a:pPr>
            <a:r>
              <a:rPr sz="1600">
                <a:solidFill>
                  <a:srgbClr val="6B7280"/>
                </a:solidFill>
                <a:latin typeface="Consolas"/>
              </a:rPr>
              <a:t>      access:               # Reference external artifact</a:t>
            </a:r>
          </a:p>
          <a:p>
            <a:pPr algn="l">
              <a:lnSpc>
                <a:spcPct val="115000"/>
              </a:lnSpc>
              <a:spcBef>
                <a:spcPts val="0"/>
              </a:spcBef>
              <a:spcAft>
                <a:spcPts val="0"/>
              </a:spcAft>
            </a:pPr>
            <a:r>
              <a:rPr sz="1600">
                <a:solidFill>
                  <a:srgbClr val="000000"/>
                </a:solidFill>
                <a:latin typeface="Consolas"/>
              </a:rPr>
              <a:t>        type: OCIImage/v1</a:t>
            </a:r>
          </a:p>
          <a:p>
            <a:pPr algn="l">
              <a:lnSpc>
                <a:spcPct val="115000"/>
              </a:lnSpc>
              <a:spcBef>
                <a:spcPts val="0"/>
              </a:spcBef>
              <a:spcAft>
                <a:spcPts val="0"/>
              </a:spcAft>
            </a:pPr>
            <a:r>
              <a:rPr sz="1600">
                <a:solidFill>
                  <a:srgbClr val="000000"/>
                </a:solidFill>
                <a:latin typeface="Consolas"/>
              </a:rPr>
              <a:t>        imageReference: ghcr.io/stefanprodan/podinfo:6.9.1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DESCRIPTOR</a:t>
            </a:r>
          </a:p>
        </p:txBody>
      </p:sp>
      <p:sp>
        <p:nvSpPr>
          <p:cNvPr id="3" name="Title 2"/>
          <p:cNvSpPr>
            <a:spLocks noGrp="1"/>
          </p:cNvSpPr>
          <p:nvPr>
            <p:ph type="title" idx="2"/>
          </p:nvPr>
        </p:nvSpPr>
        <p:spPr/>
        <p:txBody>
          <a:bodyPr/>
          <a:lstStyle/>
          <a:p>
            <a:r>
              <a:t>What gets signed and travels.</a:t>
            </a:r>
          </a:p>
        </p:txBody>
      </p:sp>
      <p:sp>
        <p:nvSpPr>
          <p:cNvPr id="4" name="Rounded Rectangle 3"/>
          <p:cNvSpPr/>
          <p:nvPr/>
        </p:nvSpPr>
        <p:spPr>
          <a:xfrm>
            <a:off x="1143000" y="2667000"/>
            <a:ext cx="14287500" cy="6477000"/>
          </a:xfrm>
          <a:prstGeom prst="roundRect">
            <a:avLst/>
          </a:prstGeom>
          <a:solidFill>
            <a:srgbClr val="F3F4F6"/>
          </a:solidFill>
          <a:ln w="9525">
            <a:solidFill>
              <a:srgbClr val="6B7280"/>
            </a:solidFill>
          </a:ln>
        </p:spPr>
        <p:style>
          <a:lnRef idx="1">
            <a:schemeClr val="accent1"/>
          </a:lnRef>
          <a:fillRef idx="3">
            <a:schemeClr val="accent1"/>
          </a:fillRef>
          <a:effectRef idx="2">
            <a:schemeClr val="accent1"/>
          </a:effectRef>
          <a:fontRef idx="minor">
            <a:schemeClr val="lt1"/>
          </a:fontRef>
        </p:style>
        <p:txBody>
          <a:bodyPr rtlCol="0" anchor="t" lIns="140000" rIns="140000" tIns="120000" bIns="120000" wrap="none"/>
          <a:lstStyle/>
          <a:p>
            <a:pPr algn="l">
              <a:lnSpc>
                <a:spcPct val="115000"/>
              </a:lnSpc>
              <a:spcBef>
                <a:spcPts val="0"/>
              </a:spcBef>
              <a:spcAft>
                <a:spcPts val="0"/>
              </a:spcAft>
            </a:pPr>
            <a:r>
              <a:rPr sz="1400">
                <a:solidFill>
                  <a:srgbClr val="6B7280"/>
                </a:solidFill>
                <a:latin typeface="Consolas"/>
              </a:rPr>
              <a:t>component:                              # (fields trimmed)</a:t>
            </a:r>
          </a:p>
          <a:p>
            <a:pPr algn="l">
              <a:lnSpc>
                <a:spcPct val="115000"/>
              </a:lnSpc>
              <a:spcBef>
                <a:spcPts val="0"/>
              </a:spcBef>
              <a:spcAft>
                <a:spcPts val="0"/>
              </a:spcAft>
            </a:pPr>
            <a:r>
              <a:rPr sz="1400">
                <a:solidFill>
                  <a:srgbClr val="000000"/>
                </a:solidFill>
                <a:latin typeface="Consolas"/>
              </a:rPr>
              <a:t>  name: github.com/acme.org/helloworld</a:t>
            </a:r>
          </a:p>
          <a:p>
            <a:pPr algn="l">
              <a:lnSpc>
                <a:spcPct val="115000"/>
              </a:lnSpc>
              <a:spcBef>
                <a:spcPts val="0"/>
              </a:spcBef>
              <a:spcAft>
                <a:spcPts val="0"/>
              </a:spcAft>
            </a:pPr>
            <a:r>
              <a:rPr sz="1400">
                <a:solidFill>
                  <a:srgbClr val="000000"/>
                </a:solidFill>
                <a:latin typeface="Consolas"/>
              </a:rPr>
              <a:t>  version: 1.0.0</a:t>
            </a:r>
          </a:p>
          <a:p>
            <a:pPr algn="l">
              <a:lnSpc>
                <a:spcPct val="115000"/>
              </a:lnSpc>
              <a:spcBef>
                <a:spcPts val="0"/>
              </a:spcBef>
              <a:spcAft>
                <a:spcPts val="0"/>
              </a:spcAft>
            </a:pPr>
            <a:r>
              <a:rPr sz="1400">
                <a:solidFill>
                  <a:srgbClr val="0A3A99"/>
                </a:solidFill>
                <a:latin typeface="Consolas"/>
              </a:rPr>
              <a:t>  resources:</a:t>
            </a:r>
          </a:p>
          <a:p>
            <a:pPr algn="l">
              <a:lnSpc>
                <a:spcPct val="115000"/>
              </a:lnSpc>
              <a:spcBef>
                <a:spcPts val="0"/>
              </a:spcBef>
              <a:spcAft>
                <a:spcPts val="0"/>
              </a:spcAft>
            </a:pPr>
            <a:r>
              <a:rPr sz="1400">
                <a:solidFill>
                  <a:srgbClr val="000000"/>
                </a:solidFill>
                <a:latin typeface="Consolas"/>
              </a:rPr>
              <a:t>    - name: image</a:t>
            </a:r>
          </a:p>
          <a:p>
            <a:pPr algn="l">
              <a:lnSpc>
                <a:spcPct val="115000"/>
              </a:lnSpc>
              <a:spcBef>
                <a:spcPts val="0"/>
              </a:spcBef>
              <a:spcAft>
                <a:spcPts val="0"/>
              </a:spcAft>
            </a:pPr>
            <a:r>
              <a:rPr sz="1400">
                <a:solidFill>
                  <a:srgbClr val="000000"/>
                </a:solidFill>
                <a:latin typeface="Consolas"/>
              </a:rPr>
              <a:t>      type: ociImage</a:t>
            </a:r>
          </a:p>
          <a:p>
            <a:pPr algn="l">
              <a:lnSpc>
                <a:spcPct val="115000"/>
              </a:lnSpc>
              <a:spcBef>
                <a:spcPts val="0"/>
              </a:spcBef>
              <a:spcAft>
                <a:spcPts val="0"/>
              </a:spcAft>
            </a:pPr>
            <a:r>
              <a:rPr sz="1400">
                <a:solidFill>
                  <a:srgbClr val="6B7280"/>
                </a:solidFill>
                <a:latin typeface="Consolas"/>
              </a:rPr>
              <a:t>      access:                          # excluded — rewritten on transfer</a:t>
            </a:r>
          </a:p>
          <a:p>
            <a:pPr algn="l">
              <a:lnSpc>
                <a:spcPct val="115000"/>
              </a:lnSpc>
              <a:spcBef>
                <a:spcPts val="0"/>
              </a:spcBef>
              <a:spcAft>
                <a:spcPts val="0"/>
              </a:spcAft>
            </a:pPr>
            <a:r>
              <a:rPr sz="1400">
                <a:solidFill>
                  <a:srgbClr val="000000"/>
                </a:solidFill>
                <a:latin typeface="Consolas"/>
              </a:rPr>
              <a:t>        type: OCIImage/v1</a:t>
            </a:r>
          </a:p>
          <a:p>
            <a:pPr algn="l">
              <a:lnSpc>
                <a:spcPct val="115000"/>
              </a:lnSpc>
              <a:spcBef>
                <a:spcPts val="0"/>
              </a:spcBef>
              <a:spcAft>
                <a:spcPts val="0"/>
              </a:spcAft>
            </a:pPr>
            <a:r>
              <a:rPr sz="1400">
                <a:solidFill>
                  <a:srgbClr val="000000"/>
                </a:solidFill>
                <a:latin typeface="Consolas"/>
              </a:rPr>
              <a:t>        imageReference: ghcr.io/.../podinfo@sha256:8fa569...</a:t>
            </a:r>
          </a:p>
          <a:p>
            <a:pPr algn="l">
              <a:lnSpc>
                <a:spcPct val="115000"/>
              </a:lnSpc>
              <a:spcBef>
                <a:spcPts val="0"/>
              </a:spcBef>
              <a:spcAft>
                <a:spcPts val="0"/>
              </a:spcAft>
            </a:pPr>
            <a:r>
              <a:rPr sz="1400">
                <a:solidFill>
                  <a:srgbClr val="000000"/>
                </a:solidFill>
                <a:latin typeface="Consolas"/>
              </a:rPr>
              <a:t> </a:t>
            </a:r>
          </a:p>
          <a:p>
            <a:pPr algn="l">
              <a:lnSpc>
                <a:spcPct val="115000"/>
              </a:lnSpc>
              <a:spcBef>
                <a:spcPts val="0"/>
              </a:spcBef>
              <a:spcAft>
                <a:spcPts val="0"/>
              </a:spcAft>
            </a:pPr>
            <a:r>
              <a:rPr sz="1400">
                <a:solidFill>
                  <a:srgbClr val="6B7280"/>
                </a:solidFill>
                <a:latin typeface="Consolas"/>
              </a:rPr>
              <a:t>      digest:                          # content identity — input to descriptor hash</a:t>
            </a:r>
          </a:p>
          <a:p>
            <a:pPr algn="l">
              <a:lnSpc>
                <a:spcPct val="115000"/>
              </a:lnSpc>
              <a:spcBef>
                <a:spcPts val="0"/>
              </a:spcBef>
              <a:spcAft>
                <a:spcPts val="0"/>
              </a:spcAft>
            </a:pPr>
            <a:r>
              <a:rPr sz="1400">
                <a:solidFill>
                  <a:srgbClr val="0F6BFF"/>
                </a:solidFill>
                <a:latin typeface="Consolas"/>
              </a:rPr>
              <a:t>        hashAlgorithm: SHA-256</a:t>
            </a:r>
          </a:p>
          <a:p>
            <a:pPr algn="l">
              <a:lnSpc>
                <a:spcPct val="115000"/>
              </a:lnSpc>
              <a:spcBef>
                <a:spcPts val="0"/>
              </a:spcBef>
              <a:spcAft>
                <a:spcPts val="0"/>
              </a:spcAft>
            </a:pPr>
            <a:r>
              <a:rPr sz="1400">
                <a:solidFill>
                  <a:srgbClr val="0F6BFF"/>
                </a:solidFill>
                <a:latin typeface="Consolas"/>
              </a:rPr>
              <a:t>        value: 262578cde928d5c9eba3bce0...</a:t>
            </a:r>
          </a:p>
          <a:p>
            <a:pPr algn="l">
              <a:lnSpc>
                <a:spcPct val="115000"/>
              </a:lnSpc>
              <a:spcBef>
                <a:spcPts val="0"/>
              </a:spcBef>
              <a:spcAft>
                <a:spcPts val="0"/>
              </a:spcAft>
            </a:pPr>
            <a:r>
              <a:rPr sz="1400">
                <a:solidFill>
                  <a:srgbClr val="000000"/>
                </a:solidFill>
                <a:latin typeface="Consolas"/>
              </a:rPr>
              <a:t> </a:t>
            </a:r>
          </a:p>
          <a:p>
            <a:pPr algn="l">
              <a:lnSpc>
                <a:spcPct val="115000"/>
              </a:lnSpc>
              <a:spcBef>
                <a:spcPts val="0"/>
              </a:spcBef>
              <a:spcAft>
                <a:spcPts val="0"/>
              </a:spcAft>
            </a:pPr>
            <a:r>
              <a:rPr sz="1400">
                <a:solidFill>
                  <a:srgbClr val="6B7280"/>
                </a:solidFill>
                <a:latin typeface="Consolas"/>
              </a:rPr>
              <a:t>signatures:                            # one hash over the canonicalized descriptor</a:t>
            </a:r>
          </a:p>
          <a:p>
            <a:pPr algn="l">
              <a:lnSpc>
                <a:spcPct val="115000"/>
              </a:lnSpc>
              <a:spcBef>
                <a:spcPts val="0"/>
              </a:spcBef>
              <a:spcAft>
                <a:spcPts val="0"/>
              </a:spcAft>
            </a:pPr>
            <a:r>
              <a:rPr sz="1400">
                <a:solidFill>
                  <a:srgbClr val="0F6BFF"/>
                </a:solidFill>
                <a:latin typeface="Consolas"/>
              </a:rPr>
              <a:t>  - name: acme-release-key</a:t>
            </a:r>
          </a:p>
          <a:p>
            <a:pPr algn="l">
              <a:lnSpc>
                <a:spcPct val="115000"/>
              </a:lnSpc>
              <a:spcBef>
                <a:spcPts val="0"/>
              </a:spcBef>
              <a:spcAft>
                <a:spcPts val="0"/>
              </a:spcAft>
            </a:pPr>
            <a:r>
              <a:rPr sz="1400">
                <a:solidFill>
                  <a:srgbClr val="6B7280"/>
                </a:solidFill>
                <a:latin typeface="Consolas"/>
              </a:rPr>
              <a:t>    digest:                            # of the descriptor</a:t>
            </a:r>
          </a:p>
          <a:p>
            <a:pPr algn="l">
              <a:lnSpc>
                <a:spcPct val="115000"/>
              </a:lnSpc>
              <a:spcBef>
                <a:spcPts val="0"/>
              </a:spcBef>
              <a:spcAft>
                <a:spcPts val="0"/>
              </a:spcAft>
            </a:pPr>
            <a:r>
              <a:rPr sz="1400">
                <a:solidFill>
                  <a:srgbClr val="0F6BFF"/>
                </a:solidFill>
                <a:latin typeface="Consolas"/>
              </a:rPr>
              <a:t>      hashAlgorithm: SHA-256</a:t>
            </a:r>
          </a:p>
          <a:p>
            <a:pPr algn="l">
              <a:lnSpc>
                <a:spcPct val="115000"/>
              </a:lnSpc>
              <a:spcBef>
                <a:spcPts val="0"/>
              </a:spcBef>
              <a:spcAft>
                <a:spcPts val="0"/>
              </a:spcAft>
            </a:pPr>
            <a:r>
              <a:rPr sz="1400">
                <a:solidFill>
                  <a:srgbClr val="0F6BFF"/>
                </a:solidFill>
                <a:latin typeface="Consolas"/>
              </a:rPr>
              <a:t>      value: a4b1c2d3e4f5...</a:t>
            </a:r>
          </a:p>
          <a:p>
            <a:pPr algn="l">
              <a:lnSpc>
                <a:spcPct val="115000"/>
              </a:lnSpc>
              <a:spcBef>
                <a:spcPts val="0"/>
              </a:spcBef>
              <a:spcAft>
                <a:spcPts val="0"/>
              </a:spcAft>
            </a:pPr>
            <a:r>
              <a:rPr sz="1400">
                <a:solidFill>
                  <a:srgbClr val="0A3A99"/>
                </a:solidFill>
                <a:latin typeface="Consolas"/>
              </a:rPr>
              <a:t>    signature:</a:t>
            </a:r>
          </a:p>
          <a:p>
            <a:pPr algn="l">
              <a:lnSpc>
                <a:spcPct val="115000"/>
              </a:lnSpc>
              <a:spcBef>
                <a:spcPts val="0"/>
              </a:spcBef>
              <a:spcAft>
                <a:spcPts val="0"/>
              </a:spcAft>
            </a:pPr>
            <a:r>
              <a:rPr sz="1400">
                <a:solidFill>
                  <a:srgbClr val="0F6BFF"/>
                </a:solidFill>
                <a:latin typeface="Consolas"/>
              </a:rPr>
              <a:t>      algorithm: RSASSA-PSS</a:t>
            </a:r>
          </a:p>
          <a:p>
            <a:pPr algn="l">
              <a:lnSpc>
                <a:spcPct val="115000"/>
              </a:lnSpc>
              <a:spcBef>
                <a:spcPts val="0"/>
              </a:spcBef>
              <a:spcAft>
                <a:spcPts val="0"/>
              </a:spcAft>
            </a:pPr>
            <a:r>
              <a:rPr sz="1400">
                <a:solidFill>
                  <a:srgbClr val="0F6BFF"/>
                </a:solidFill>
                <a:latin typeface="Consolas"/>
              </a:rPr>
              <a:t>      value: &lt;hex-encoded signature&gt;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THE FOUR MOVES</a:t>
            </a:r>
          </a:p>
        </p:txBody>
      </p:sp>
      <p:sp>
        <p:nvSpPr>
          <p:cNvPr id="3" name="Title 2"/>
          <p:cNvSpPr>
            <a:spLocks noGrp="1"/>
          </p:cNvSpPr>
          <p:nvPr>
            <p:ph type="title" idx="2"/>
          </p:nvPr>
        </p:nvSpPr>
        <p:spPr/>
        <p:txBody>
          <a:bodyPr/>
          <a:lstStyle/>
          <a:p>
            <a:r>
              <a:t>Pack · Sign · Transport · Deploy.</a:t>
            </a:r>
          </a:p>
        </p:txBody>
      </p:sp>
      <p:sp>
        <p:nvSpPr>
          <p:cNvPr id="4" name="Picture Placeholder 3"/>
          <p:cNvSpPr>
            <a:spLocks noGrp="1"/>
          </p:cNvSpPr>
          <p:nvPr>
            <p:ph type="pic" idx="10"/>
          </p:nvPr>
        </p:nvSpPr>
        <p:spPr/>
      </p:sp>
      <p:sp>
        <p:nvSpPr>
          <p:cNvPr id="5" name="Rounded Rectangle 4"/>
          <p:cNvSpPr/>
          <p:nvPr/>
        </p:nvSpPr>
        <p:spPr>
          <a:xfrm>
            <a:off x="660796" y="4214812"/>
            <a:ext cx="3214687" cy="3571875"/>
          </a:xfrm>
          <a:prstGeom prst="roundRect">
            <a:avLst>
              <a:gd name="adj" fmla="val 3888"/>
            </a:avLst>
          </a:prstGeom>
          <a:solidFill>
            <a:srgbClr val="F3F4F6"/>
          </a:solidFill>
          <a:ln>
            <a:noFill/>
          </a:ln>
          <a:effectLst>
            <a:outerShdw blurRad="28575" dist="28575" dir="5400000"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60796" y="4214812"/>
            <a:ext cx="3214687" cy="35718"/>
          </a:xfrm>
          <a:prstGeom prst="rect">
            <a:avLst/>
          </a:prstGeom>
          <a:solidFill>
            <a:srgbClr val="0F6B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package_192_0F6BFF_sw1.png"/>
          <p:cNvPicPr>
            <a:picLocks noChangeAspect="1"/>
          </p:cNvPicPr>
          <p:nvPr/>
        </p:nvPicPr>
        <p:blipFill>
          <a:blip r:embed="rId2"/>
          <a:stretch>
            <a:fillRect/>
          </a:stretch>
        </p:blipFill>
        <p:spPr>
          <a:xfrm>
            <a:off x="946546" y="4536281"/>
            <a:ext cx="535781" cy="535781"/>
          </a:xfrm>
          <a:prstGeom prst="rect">
            <a:avLst/>
          </a:prstGeom>
        </p:spPr>
      </p:pic>
      <p:sp>
        <p:nvSpPr>
          <p:cNvPr id="8" name="TextBox 7"/>
          <p:cNvSpPr txBox="1"/>
          <p:nvPr/>
        </p:nvSpPr>
        <p:spPr>
          <a:xfrm>
            <a:off x="946546" y="5429250"/>
            <a:ext cx="2643187" cy="392906"/>
          </a:xfrm>
          <a:prstGeom prst="rect">
            <a:avLst/>
          </a:prstGeom>
          <a:noFill/>
        </p:spPr>
        <p:txBody>
          <a:bodyPr wrap="square" lIns="0" rIns="0" tIns="0" bIns="0" anchor="ctr">
            <a:spAutoFit/>
          </a:bodyPr>
          <a:lstStyle/>
          <a:p>
            <a:r>
              <a:rPr sz="3000" b="1" i="0">
                <a:solidFill>
                  <a:srgbClr val="0A3A99"/>
                </a:solidFill>
                <a:latin typeface="Aptos"/>
              </a:rPr>
              <a:t>PACK</a:t>
            </a:r>
          </a:p>
        </p:txBody>
      </p:sp>
      <p:sp>
        <p:nvSpPr>
          <p:cNvPr id="9" name="TextBox 8"/>
          <p:cNvSpPr txBox="1"/>
          <p:nvPr/>
        </p:nvSpPr>
        <p:spPr>
          <a:xfrm>
            <a:off x="946546" y="5911453"/>
            <a:ext cx="2643187" cy="892968"/>
          </a:xfrm>
          <a:prstGeom prst="rect">
            <a:avLst/>
          </a:prstGeom>
          <a:noFill/>
        </p:spPr>
        <p:txBody>
          <a:bodyPr wrap="square" lIns="0" rIns="0" tIns="0" bIns="0">
            <a:spAutoFit/>
          </a:bodyPr>
          <a:lstStyle/>
          <a:p>
            <a:pPr>
              <a:lnSpc>
                <a:spcPct val="125000"/>
              </a:lnSpc>
            </a:pPr>
            <a:r>
              <a:rPr sz="2200" b="0" i="0">
                <a:solidFill>
                  <a:srgbClr val="333333"/>
                </a:solidFill>
                <a:latin typeface="Aptos"/>
              </a:rPr>
              <a:t>Bundle your software</a:t>
            </a:r>
          </a:p>
          <a:p>
            <a:pPr>
              <a:lnSpc>
                <a:spcPct val="125000"/>
              </a:lnSpc>
            </a:pPr>
            <a:r>
              <a:rPr sz="2200" b="0" i="0">
                <a:solidFill>
                  <a:srgbClr val="333333"/>
                </a:solidFill>
                <a:latin typeface="Aptos"/>
              </a:rPr>
              <a:t>One source of truth.</a:t>
            </a:r>
          </a:p>
        </p:txBody>
      </p:sp>
      <p:sp>
        <p:nvSpPr>
          <p:cNvPr id="10" name="Rounded Rectangle 9"/>
          <p:cNvSpPr/>
          <p:nvPr/>
        </p:nvSpPr>
        <p:spPr>
          <a:xfrm>
            <a:off x="4321968" y="4214812"/>
            <a:ext cx="3214687" cy="3571875"/>
          </a:xfrm>
          <a:prstGeom prst="roundRect">
            <a:avLst>
              <a:gd name="adj" fmla="val 3888"/>
            </a:avLst>
          </a:prstGeom>
          <a:solidFill>
            <a:srgbClr val="F3F4F6"/>
          </a:solidFill>
          <a:ln>
            <a:noFill/>
          </a:ln>
          <a:effectLst>
            <a:outerShdw blurRad="28575" dist="28575" dir="5400000"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21968" y="4214812"/>
            <a:ext cx="3214687" cy="35718"/>
          </a:xfrm>
          <a:prstGeom prst="rect">
            <a:avLst/>
          </a:prstGeom>
          <a:solidFill>
            <a:srgbClr val="0F6B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hield-check_192_0F6BFF_sw1.png"/>
          <p:cNvPicPr>
            <a:picLocks noChangeAspect="1"/>
          </p:cNvPicPr>
          <p:nvPr/>
        </p:nvPicPr>
        <p:blipFill>
          <a:blip r:embed="rId3"/>
          <a:stretch>
            <a:fillRect/>
          </a:stretch>
        </p:blipFill>
        <p:spPr>
          <a:xfrm>
            <a:off x="4607718" y="4536281"/>
            <a:ext cx="535781" cy="535781"/>
          </a:xfrm>
          <a:prstGeom prst="rect">
            <a:avLst/>
          </a:prstGeom>
        </p:spPr>
      </p:pic>
      <p:sp>
        <p:nvSpPr>
          <p:cNvPr id="13" name="TextBox 12"/>
          <p:cNvSpPr txBox="1"/>
          <p:nvPr/>
        </p:nvSpPr>
        <p:spPr>
          <a:xfrm>
            <a:off x="4607718" y="5429250"/>
            <a:ext cx="2643187" cy="392906"/>
          </a:xfrm>
          <a:prstGeom prst="rect">
            <a:avLst/>
          </a:prstGeom>
          <a:noFill/>
        </p:spPr>
        <p:txBody>
          <a:bodyPr wrap="square" lIns="0" rIns="0" tIns="0" bIns="0" anchor="ctr">
            <a:spAutoFit/>
          </a:bodyPr>
          <a:lstStyle/>
          <a:p>
            <a:r>
              <a:rPr sz="3000" b="1" i="0">
                <a:solidFill>
                  <a:srgbClr val="0A3A99"/>
                </a:solidFill>
                <a:latin typeface="Aptos"/>
              </a:rPr>
              <a:t>SIGN</a:t>
            </a:r>
          </a:p>
        </p:txBody>
      </p:sp>
      <p:sp>
        <p:nvSpPr>
          <p:cNvPr id="14" name="TextBox 13"/>
          <p:cNvSpPr txBox="1"/>
          <p:nvPr/>
        </p:nvSpPr>
        <p:spPr>
          <a:xfrm>
            <a:off x="4607718" y="5911453"/>
            <a:ext cx="2643187" cy="892968"/>
          </a:xfrm>
          <a:prstGeom prst="rect">
            <a:avLst/>
          </a:prstGeom>
          <a:noFill/>
        </p:spPr>
        <p:txBody>
          <a:bodyPr wrap="square" lIns="0" rIns="0" tIns="0" bIns="0">
            <a:spAutoFit/>
          </a:bodyPr>
          <a:lstStyle/>
          <a:p>
            <a:pPr>
              <a:lnSpc>
                <a:spcPct val="125000"/>
              </a:lnSpc>
            </a:pPr>
            <a:r>
              <a:rPr sz="2200" b="0" i="0">
                <a:solidFill>
                  <a:srgbClr val="333333"/>
                </a:solidFill>
                <a:latin typeface="Aptos"/>
              </a:rPr>
              <a:t>One signature covers</a:t>
            </a:r>
          </a:p>
          <a:p>
            <a:pPr>
              <a:lnSpc>
                <a:spcPct val="125000"/>
              </a:lnSpc>
            </a:pPr>
            <a:r>
              <a:rPr sz="2200" b="0" i="0">
                <a:solidFill>
                  <a:srgbClr val="333333"/>
                </a:solidFill>
                <a:latin typeface="Aptos"/>
              </a:rPr>
              <a:t>all artifacts.</a:t>
            </a:r>
          </a:p>
        </p:txBody>
      </p:sp>
      <p:sp>
        <p:nvSpPr>
          <p:cNvPr id="15" name="Rounded Rectangle 14"/>
          <p:cNvSpPr/>
          <p:nvPr/>
        </p:nvSpPr>
        <p:spPr>
          <a:xfrm>
            <a:off x="7983140" y="4214812"/>
            <a:ext cx="3214687" cy="3571875"/>
          </a:xfrm>
          <a:prstGeom prst="roundRect">
            <a:avLst>
              <a:gd name="adj" fmla="val 3888"/>
            </a:avLst>
          </a:prstGeom>
          <a:solidFill>
            <a:srgbClr val="F3F4F6"/>
          </a:solidFill>
          <a:ln>
            <a:noFill/>
          </a:ln>
          <a:effectLst>
            <a:outerShdw blurRad="28575" dist="28575" dir="5400000"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983140" y="4214812"/>
            <a:ext cx="3214687" cy="35718"/>
          </a:xfrm>
          <a:prstGeom prst="rect">
            <a:avLst/>
          </a:prstGeom>
          <a:solidFill>
            <a:srgbClr val="0F6B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world_192_0F6BFF_sw1.png"/>
          <p:cNvPicPr>
            <a:picLocks noChangeAspect="1"/>
          </p:cNvPicPr>
          <p:nvPr/>
        </p:nvPicPr>
        <p:blipFill>
          <a:blip r:embed="rId4"/>
          <a:stretch>
            <a:fillRect/>
          </a:stretch>
        </p:blipFill>
        <p:spPr>
          <a:xfrm>
            <a:off x="8268890" y="4536281"/>
            <a:ext cx="535781" cy="535781"/>
          </a:xfrm>
          <a:prstGeom prst="rect">
            <a:avLst/>
          </a:prstGeom>
        </p:spPr>
      </p:pic>
      <p:sp>
        <p:nvSpPr>
          <p:cNvPr id="18" name="TextBox 17"/>
          <p:cNvSpPr txBox="1"/>
          <p:nvPr/>
        </p:nvSpPr>
        <p:spPr>
          <a:xfrm>
            <a:off x="8268890" y="5429250"/>
            <a:ext cx="2643187" cy="392906"/>
          </a:xfrm>
          <a:prstGeom prst="rect">
            <a:avLst/>
          </a:prstGeom>
          <a:noFill/>
        </p:spPr>
        <p:txBody>
          <a:bodyPr wrap="square" lIns="0" rIns="0" tIns="0" bIns="0" anchor="ctr">
            <a:spAutoFit/>
          </a:bodyPr>
          <a:lstStyle/>
          <a:p>
            <a:r>
              <a:rPr sz="3000" b="1" i="0">
                <a:solidFill>
                  <a:srgbClr val="0A3A99"/>
                </a:solidFill>
                <a:latin typeface="Aptos"/>
              </a:rPr>
              <a:t>TRANSPORT</a:t>
            </a:r>
          </a:p>
        </p:txBody>
      </p:sp>
      <p:sp>
        <p:nvSpPr>
          <p:cNvPr id="19" name="TextBox 18"/>
          <p:cNvSpPr txBox="1"/>
          <p:nvPr/>
        </p:nvSpPr>
        <p:spPr>
          <a:xfrm>
            <a:off x="8268890" y="5911453"/>
            <a:ext cx="2643187" cy="892968"/>
          </a:xfrm>
          <a:prstGeom prst="rect">
            <a:avLst/>
          </a:prstGeom>
          <a:noFill/>
        </p:spPr>
        <p:txBody>
          <a:bodyPr wrap="square" lIns="0" rIns="0" tIns="0" bIns="0">
            <a:spAutoFit/>
          </a:bodyPr>
          <a:lstStyle/>
          <a:p>
            <a:pPr>
              <a:lnSpc>
                <a:spcPct val="125000"/>
              </a:lnSpc>
            </a:pPr>
            <a:r>
              <a:rPr sz="2200" b="0" i="0">
                <a:solidFill>
                  <a:srgbClr val="333333"/>
                </a:solidFill>
                <a:latin typeface="Aptos"/>
              </a:rPr>
              <a:t>Across any boundary.</a:t>
            </a:r>
          </a:p>
          <a:p>
            <a:pPr>
              <a:lnSpc>
                <a:spcPct val="125000"/>
              </a:lnSpc>
            </a:pPr>
            <a:r>
              <a:rPr sz="2200" b="0" i="0">
                <a:solidFill>
                  <a:srgbClr val="333333"/>
                </a:solidFill>
                <a:latin typeface="Aptos"/>
              </a:rPr>
              <a:t>Even air-gapped.</a:t>
            </a:r>
          </a:p>
        </p:txBody>
      </p:sp>
      <p:sp>
        <p:nvSpPr>
          <p:cNvPr id="20" name="Rounded Rectangle 19"/>
          <p:cNvSpPr/>
          <p:nvPr/>
        </p:nvSpPr>
        <p:spPr>
          <a:xfrm>
            <a:off x="11644312" y="4214812"/>
            <a:ext cx="3214687" cy="3571875"/>
          </a:xfrm>
          <a:prstGeom prst="roundRect">
            <a:avLst>
              <a:gd name="adj" fmla="val 3888"/>
            </a:avLst>
          </a:prstGeom>
          <a:solidFill>
            <a:srgbClr val="F3F4F6"/>
          </a:solidFill>
          <a:ln>
            <a:noFill/>
          </a:ln>
          <a:effectLst>
            <a:outerShdw blurRad="28575" dist="28575" dir="5400000"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1644312" y="4214812"/>
            <a:ext cx="3214687" cy="35718"/>
          </a:xfrm>
          <a:prstGeom prst="rect">
            <a:avLst/>
          </a:prstGeom>
          <a:solidFill>
            <a:srgbClr val="0F6B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rocket_192_0F6BFF_sw1.png"/>
          <p:cNvPicPr>
            <a:picLocks noChangeAspect="1"/>
          </p:cNvPicPr>
          <p:nvPr/>
        </p:nvPicPr>
        <p:blipFill>
          <a:blip r:embed="rId5"/>
          <a:stretch>
            <a:fillRect/>
          </a:stretch>
        </p:blipFill>
        <p:spPr>
          <a:xfrm>
            <a:off x="11930062" y="4536281"/>
            <a:ext cx="535781" cy="535781"/>
          </a:xfrm>
          <a:prstGeom prst="rect">
            <a:avLst/>
          </a:prstGeom>
        </p:spPr>
      </p:pic>
      <p:sp>
        <p:nvSpPr>
          <p:cNvPr id="23" name="TextBox 22"/>
          <p:cNvSpPr txBox="1"/>
          <p:nvPr/>
        </p:nvSpPr>
        <p:spPr>
          <a:xfrm>
            <a:off x="11930062" y="5429250"/>
            <a:ext cx="2643187" cy="392906"/>
          </a:xfrm>
          <a:prstGeom prst="rect">
            <a:avLst/>
          </a:prstGeom>
          <a:noFill/>
        </p:spPr>
        <p:txBody>
          <a:bodyPr wrap="square" lIns="0" rIns="0" tIns="0" bIns="0" anchor="ctr">
            <a:spAutoFit/>
          </a:bodyPr>
          <a:lstStyle/>
          <a:p>
            <a:r>
              <a:rPr sz="3000" b="1" i="0">
                <a:solidFill>
                  <a:srgbClr val="0A3A99"/>
                </a:solidFill>
                <a:latin typeface="Aptos"/>
              </a:rPr>
              <a:t>DEPLOY</a:t>
            </a:r>
          </a:p>
        </p:txBody>
      </p:sp>
      <p:sp>
        <p:nvSpPr>
          <p:cNvPr id="24" name="TextBox 23"/>
          <p:cNvSpPr txBox="1"/>
          <p:nvPr/>
        </p:nvSpPr>
        <p:spPr>
          <a:xfrm>
            <a:off x="11930062" y="5911453"/>
            <a:ext cx="2643187" cy="892968"/>
          </a:xfrm>
          <a:prstGeom prst="rect">
            <a:avLst/>
          </a:prstGeom>
          <a:noFill/>
        </p:spPr>
        <p:txBody>
          <a:bodyPr wrap="square" lIns="0" rIns="0" tIns="0" bIns="0">
            <a:spAutoFit/>
          </a:bodyPr>
          <a:lstStyle/>
          <a:p>
            <a:pPr>
              <a:lnSpc>
                <a:spcPct val="125000"/>
              </a:lnSpc>
            </a:pPr>
            <a:r>
              <a:rPr sz="2200" b="0" i="0">
                <a:solidFill>
                  <a:srgbClr val="333333"/>
                </a:solidFill>
                <a:latin typeface="Aptos"/>
              </a:rPr>
              <a:t>Bring your own GitOps.</a:t>
            </a:r>
          </a:p>
          <a:p>
            <a:pPr>
              <a:lnSpc>
                <a:spcPct val="125000"/>
              </a:lnSpc>
            </a:pPr>
            <a:r>
              <a:rPr sz="2200" b="0" i="0">
                <a:solidFill>
                  <a:srgbClr val="333333"/>
                </a:solidFill>
                <a:latin typeface="Aptos"/>
              </a:rPr>
              <a:t>Use OCM's K8s Controllers</a:t>
            </a:r>
          </a:p>
        </p:txBody>
      </p:sp>
      <p:sp>
        <p:nvSpPr>
          <p:cNvPr id="25" name="Rectangle 24"/>
          <p:cNvSpPr/>
          <p:nvPr/>
        </p:nvSpPr>
        <p:spPr>
          <a:xfrm>
            <a:off x="3964781" y="5990034"/>
            <a:ext cx="134540" cy="21431"/>
          </a:xfrm>
          <a:prstGeom prst="rect">
            <a:avLst/>
          </a:prstGeom>
          <a:solidFill>
            <a:srgbClr val="6B72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Freeform 25"/>
          <p:cNvSpPr/>
          <p:nvPr/>
        </p:nvSpPr>
        <p:spPr>
          <a:xfrm>
            <a:off x="4089796" y="5956101"/>
            <a:ext cx="107157" cy="89297"/>
          </a:xfrm>
          <a:custGeom>
            <a:avLst/>
            <a:gdLst/>
            <a:ahLst/>
            <a:cxnLst/>
            <a:rect l="l" t="t" r="r" b="b"/>
            <a:pathLst>
              <a:path w="107157" h="89297">
                <a:moveTo>
                  <a:pt x="0" y="44649"/>
                </a:moveTo>
                <a:lnTo>
                  <a:pt x="107157" y="0"/>
                </a:lnTo>
                <a:lnTo>
                  <a:pt x="107157" y="89297"/>
                </a:lnTo>
                <a:close/>
              </a:path>
            </a:pathLst>
          </a:custGeom>
          <a:solidFill>
            <a:srgbClr val="6B72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625953" y="5990034"/>
            <a:ext cx="134540" cy="21431"/>
          </a:xfrm>
          <a:prstGeom prst="rect">
            <a:avLst/>
          </a:prstGeom>
          <a:solidFill>
            <a:srgbClr val="6B72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Freeform 27"/>
          <p:cNvSpPr/>
          <p:nvPr/>
        </p:nvSpPr>
        <p:spPr>
          <a:xfrm>
            <a:off x="7750968" y="5956101"/>
            <a:ext cx="107157" cy="89297"/>
          </a:xfrm>
          <a:custGeom>
            <a:avLst/>
            <a:gdLst/>
            <a:ahLst/>
            <a:cxnLst/>
            <a:rect l="l" t="t" r="r" b="b"/>
            <a:pathLst>
              <a:path w="107157" h="89297">
                <a:moveTo>
                  <a:pt x="0" y="44649"/>
                </a:moveTo>
                <a:lnTo>
                  <a:pt x="107157" y="0"/>
                </a:lnTo>
                <a:lnTo>
                  <a:pt x="107157" y="89297"/>
                </a:lnTo>
                <a:close/>
              </a:path>
            </a:pathLst>
          </a:custGeom>
          <a:solidFill>
            <a:srgbClr val="6B72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287125" y="5990034"/>
            <a:ext cx="134540" cy="21431"/>
          </a:xfrm>
          <a:prstGeom prst="rect">
            <a:avLst/>
          </a:prstGeom>
          <a:solidFill>
            <a:srgbClr val="6B72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Freeform 29"/>
          <p:cNvSpPr/>
          <p:nvPr/>
        </p:nvSpPr>
        <p:spPr>
          <a:xfrm>
            <a:off x="11412140" y="5956101"/>
            <a:ext cx="107156" cy="89297"/>
          </a:xfrm>
          <a:custGeom>
            <a:avLst/>
            <a:gdLst/>
            <a:ahLst/>
            <a:cxnLst/>
            <a:rect l="l" t="t" r="r" b="b"/>
            <a:pathLst>
              <a:path w="107156" h="89297">
                <a:moveTo>
                  <a:pt x="0" y="44649"/>
                </a:moveTo>
                <a:lnTo>
                  <a:pt x="107156" y="0"/>
                </a:lnTo>
                <a:lnTo>
                  <a:pt x="107156" y="89297"/>
                </a:lnTo>
                <a:close/>
              </a:path>
            </a:pathLst>
          </a:custGeom>
          <a:solidFill>
            <a:srgbClr val="6B72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14948296" y="5987891"/>
            <a:ext cx="330993" cy="25717"/>
          </a:xfrm>
          <a:prstGeom prst="rect">
            <a:avLst/>
          </a:prstGeom>
          <a:solidFill>
            <a:srgbClr val="6B72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Freeform 31"/>
          <p:cNvSpPr/>
          <p:nvPr/>
        </p:nvSpPr>
        <p:spPr>
          <a:xfrm>
            <a:off x="15269765" y="5947171"/>
            <a:ext cx="125016" cy="107157"/>
          </a:xfrm>
          <a:custGeom>
            <a:avLst/>
            <a:gdLst/>
            <a:ahLst/>
            <a:cxnLst/>
            <a:rect l="l" t="t" r="r" b="b"/>
            <a:pathLst>
              <a:path w="125016" h="107157">
                <a:moveTo>
                  <a:pt x="0" y="53579"/>
                </a:moveTo>
                <a:lnTo>
                  <a:pt x="125016" y="0"/>
                </a:lnTo>
                <a:lnTo>
                  <a:pt x="125016" y="107157"/>
                </a:lnTo>
                <a:close/>
              </a:path>
            </a:pathLst>
          </a:custGeom>
          <a:solidFill>
            <a:srgbClr val="6B72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Freeform 32"/>
          <p:cNvSpPr/>
          <p:nvPr/>
        </p:nvSpPr>
        <p:spPr>
          <a:xfrm>
            <a:off x="15591234" y="4625578"/>
            <a:ext cx="1946671" cy="1107281"/>
          </a:xfrm>
          <a:custGeom>
            <a:avLst/>
            <a:gdLst/>
            <a:ahLst/>
            <a:cxnLst/>
            <a:rect l="l" t="t" r="r" b="b"/>
            <a:pathLst>
              <a:path w="1946671" h="1107281">
                <a:moveTo>
                  <a:pt x="464343" y="1107281"/>
                </a:moveTo>
                <a:cubicBezTo>
                  <a:pt x="214312" y="1107281"/>
                  <a:pt x="0" y="928687"/>
                  <a:pt x="0" y="660796"/>
                </a:cubicBezTo>
                <a:cubicBezTo>
                  <a:pt x="0" y="428625"/>
                  <a:pt x="196453" y="232171"/>
                  <a:pt x="446484" y="267890"/>
                </a:cubicBezTo>
                <a:cubicBezTo>
                  <a:pt x="535781" y="71437"/>
                  <a:pt x="785812" y="0"/>
                  <a:pt x="964406" y="142875"/>
                </a:cubicBezTo>
                <a:cubicBezTo>
                  <a:pt x="1143000" y="0"/>
                  <a:pt x="1410890" y="71437"/>
                  <a:pt x="1518046" y="285750"/>
                </a:cubicBezTo>
                <a:cubicBezTo>
                  <a:pt x="1750218" y="267890"/>
                  <a:pt x="1946671" y="446484"/>
                  <a:pt x="1946671" y="660796"/>
                </a:cubicBezTo>
                <a:cubicBezTo>
                  <a:pt x="1946671" y="910828"/>
                  <a:pt x="1732359" y="1107281"/>
                  <a:pt x="1518046" y="1107281"/>
                </a:cubicBezTo>
                <a:close/>
              </a:path>
            </a:pathLst>
          </a:custGeom>
          <a:solidFill>
            <a:srgbClr val="0F6B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lock_192_FFFFFF_sw1.png"/>
          <p:cNvPicPr>
            <a:picLocks noChangeAspect="1"/>
          </p:cNvPicPr>
          <p:nvPr/>
        </p:nvPicPr>
        <p:blipFill>
          <a:blip r:embed="rId6"/>
          <a:stretch>
            <a:fillRect/>
          </a:stretch>
        </p:blipFill>
        <p:spPr>
          <a:xfrm>
            <a:off x="16314539" y="4920257"/>
            <a:ext cx="500062" cy="500062"/>
          </a:xfrm>
          <a:prstGeom prst="rect">
            <a:avLst/>
          </a:prstGeom>
        </p:spPr>
      </p:pic>
      <p:sp>
        <p:nvSpPr>
          <p:cNvPr id="35" name="TextBox 34"/>
          <p:cNvSpPr txBox="1"/>
          <p:nvPr/>
        </p:nvSpPr>
        <p:spPr>
          <a:xfrm>
            <a:off x="15341203" y="6072187"/>
            <a:ext cx="2500312" cy="714375"/>
          </a:xfrm>
          <a:prstGeom prst="rect">
            <a:avLst/>
          </a:prstGeom>
          <a:noFill/>
        </p:spPr>
        <p:txBody>
          <a:bodyPr wrap="square" lIns="0" rIns="0" tIns="0" bIns="0">
            <a:spAutoFit/>
          </a:bodyPr>
          <a:lstStyle/>
          <a:p>
            <a:pPr algn="ctr"/>
            <a:r>
              <a:rPr sz="3000" b="1" i="0">
                <a:solidFill>
                  <a:srgbClr val="0A3A99"/>
                </a:solidFill>
                <a:latin typeface="Aptos"/>
              </a:rPr>
              <a:t>SOVEREIGN</a:t>
            </a:r>
          </a:p>
          <a:p>
            <a:pPr algn="ctr"/>
            <a:r>
              <a:rPr sz="3000" b="1" i="0">
                <a:solidFill>
                  <a:srgbClr val="0A3A99"/>
                </a:solidFill>
                <a:latin typeface="Aptos"/>
              </a:rPr>
              <a:t>CLOUD</a:t>
            </a:r>
          </a:p>
        </p:txBody>
      </p:sp>
      <p:sp>
        <p:nvSpPr>
          <p:cNvPr id="36" name="TextBox 35"/>
          <p:cNvSpPr txBox="1"/>
          <p:nvPr/>
        </p:nvSpPr>
        <p:spPr>
          <a:xfrm>
            <a:off x="15073312" y="6750843"/>
            <a:ext cx="3036093" cy="803671"/>
          </a:xfrm>
          <a:prstGeom prst="rect">
            <a:avLst/>
          </a:prstGeom>
          <a:noFill/>
        </p:spPr>
        <p:txBody>
          <a:bodyPr wrap="square" lIns="0" rIns="0" tIns="0" bIns="0">
            <a:spAutoFit/>
          </a:bodyPr>
          <a:lstStyle/>
          <a:p>
            <a:pPr algn="ctr">
              <a:lnSpc>
                <a:spcPct val="125000"/>
              </a:lnSpc>
            </a:pPr>
            <a:r>
              <a:rPr sz="2200" b="0" i="0">
                <a:solidFill>
                  <a:srgbClr val="333333"/>
                </a:solidFill>
                <a:latin typeface="Aptos"/>
              </a:rPr>
              <a:t>Verify at destination.</a:t>
            </a:r>
          </a:p>
          <a:p>
            <a:pPr algn="ctr">
              <a:lnSpc>
                <a:spcPct val="125000"/>
              </a:lnSpc>
            </a:pPr>
            <a:r>
              <a:rPr sz="2200" b="0" i="0">
                <a:solidFill>
                  <a:srgbClr val="333333"/>
                </a:solidFill>
                <a:latin typeface="Aptos"/>
              </a:rPr>
              <a:t>No callback upstream.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COMPOSE</a:t>
            </a:r>
          </a:p>
        </p:txBody>
      </p:sp>
      <p:sp>
        <p:nvSpPr>
          <p:cNvPr id="3" name="Title 2"/>
          <p:cNvSpPr>
            <a:spLocks noGrp="1"/>
          </p:cNvSpPr>
          <p:nvPr>
            <p:ph type="title" idx="2"/>
          </p:nvPr>
        </p:nvSpPr>
        <p:spPr/>
        <p:txBody>
          <a:bodyPr/>
          <a:lstStyle/>
          <a:p>
            <a:r>
              <a:t>Service carries resources. Product carries references.</a:t>
            </a:r>
          </a:p>
        </p:txBody>
      </p:sp>
      <p:sp>
        <p:nvSpPr>
          <p:cNvPr id="4" name="TextBox 3"/>
          <p:cNvSpPr txBox="1"/>
          <p:nvPr/>
        </p:nvSpPr>
        <p:spPr>
          <a:xfrm>
            <a:off x="1143000" y="2667000"/>
            <a:ext cx="16002000" cy="857250"/>
          </a:xfrm>
          <a:prstGeom prst="rect">
            <a:avLst/>
          </a:prstGeom>
          <a:noFill/>
        </p:spPr>
        <p:txBody>
          <a:bodyPr wrap="square" lIns="0" rIns="0" tIns="0" bIns="0">
            <a:spAutoFit/>
          </a:bodyPr>
          <a:lstStyle/>
          <a:p>
            <a:pPr algn="l">
              <a:lnSpc>
                <a:spcPct val="130000"/>
              </a:lnSpc>
            </a:pPr>
            <a:r>
              <a:rPr sz="2200" b="1">
                <a:solidFill>
                  <a:srgbClr val="0F6BFF"/>
                </a:solidFill>
                <a:latin typeface="Aptos"/>
              </a:rPr>
              <a:t>Service components </a:t>
            </a:r>
            <a:r>
              <a:rPr sz="2200">
                <a:solidFill>
                  <a:srgbClr val="000000"/>
                </a:solidFill>
                <a:latin typeface="Aptos"/>
              </a:rPr>
              <a:t>carry resources — images, charts, configs, SBOMs, …
</a:t>
            </a:r>
            <a:r>
              <a:rPr sz="2200" b="1">
                <a:solidFill>
                  <a:srgbClr val="0F6BFF"/>
                </a:solidFill>
                <a:latin typeface="Aptos"/>
              </a:rPr>
              <a:t>A product component </a:t>
            </a:r>
            <a:r>
              <a:rPr sz="2200">
                <a:solidFill>
                  <a:srgbClr val="000000"/>
                </a:solidFill>
                <a:latin typeface="Aptos"/>
              </a:rPr>
              <a:t>composes other components.</a:t>
            </a:r>
            <a:r>
              <a:rPr sz="2200">
                <a:solidFill>
                  <a:srgbClr val="000000"/>
                </a:solidFill>
                <a:latin typeface="Aptos"/>
              </a:rPr>
              <a:t> One release unit, transferable, signable end-to-end.</a:t>
            </a:r>
          </a:p>
        </p:txBody>
      </p:sp>
      <p:sp>
        <p:nvSpPr>
          <p:cNvPr id="5" name="Rounded Rectangle 4"/>
          <p:cNvSpPr/>
          <p:nvPr/>
        </p:nvSpPr>
        <p:spPr>
          <a:xfrm>
            <a:off x="1143000" y="4381500"/>
            <a:ext cx="7239000" cy="5334000"/>
          </a:xfrm>
          <a:prstGeom prst="roundRect">
            <a:avLst/>
          </a:prstGeom>
          <a:solidFill>
            <a:srgbClr val="F3F4F6"/>
          </a:solidFill>
          <a:ln w="9525">
            <a:solidFill>
              <a:srgbClr val="6B7280"/>
            </a:solidFill>
          </a:ln>
        </p:spPr>
        <p:style>
          <a:lnRef idx="1">
            <a:schemeClr val="accent1"/>
          </a:lnRef>
          <a:fillRef idx="3">
            <a:schemeClr val="accent1"/>
          </a:fillRef>
          <a:effectRef idx="2">
            <a:schemeClr val="accent1"/>
          </a:effectRef>
          <a:fontRef idx="minor">
            <a:schemeClr val="lt1"/>
          </a:fontRef>
        </p:style>
        <p:txBody>
          <a:bodyPr rtlCol="0" anchor="t" lIns="140000" rIns="140000" tIns="120000" bIns="120000" wrap="none"/>
          <a:lstStyle/>
          <a:p>
            <a:pPr algn="l">
              <a:lnSpc>
                <a:spcPct val="115000"/>
              </a:lnSpc>
              <a:spcBef>
                <a:spcPts val="0"/>
              </a:spcBef>
              <a:spcAft>
                <a:spcPts val="0"/>
              </a:spcAft>
            </a:pPr>
            <a:r>
              <a:rPr sz="1700">
                <a:solidFill>
                  <a:srgbClr val="0A3A99"/>
                </a:solidFill>
                <a:latin typeface="Consolas"/>
              </a:rPr>
              <a:t>components:</a:t>
            </a:r>
          </a:p>
          <a:p>
            <a:pPr algn="l">
              <a:lnSpc>
                <a:spcPct val="115000"/>
              </a:lnSpc>
              <a:spcBef>
                <a:spcPts val="0"/>
              </a:spcBef>
              <a:spcAft>
                <a:spcPts val="0"/>
              </a:spcAft>
            </a:pPr>
            <a:r>
              <a:rPr sz="1700">
                <a:solidFill>
                  <a:srgbClr val="000000"/>
                </a:solidFill>
                <a:latin typeface="Consolas"/>
              </a:rPr>
              <a:t>  - name: acme.org/sovereign/notes</a:t>
            </a:r>
          </a:p>
          <a:p>
            <a:pPr algn="l">
              <a:lnSpc>
                <a:spcPct val="115000"/>
              </a:lnSpc>
              <a:spcBef>
                <a:spcPts val="0"/>
              </a:spcBef>
              <a:spcAft>
                <a:spcPts val="0"/>
              </a:spcAft>
            </a:pPr>
            <a:r>
              <a:rPr sz="1700">
                <a:solidFill>
                  <a:srgbClr val="000000"/>
                </a:solidFill>
                <a:latin typeface="Consolas"/>
              </a:rPr>
              <a:t>    version: 1.0.0</a:t>
            </a:r>
          </a:p>
          <a:p>
            <a:pPr algn="l">
              <a:lnSpc>
                <a:spcPct val="115000"/>
              </a:lnSpc>
              <a:spcBef>
                <a:spcPts val="0"/>
              </a:spcBef>
              <a:spcAft>
                <a:spcPts val="0"/>
              </a:spcAft>
            </a:pPr>
            <a:r>
              <a:rPr sz="1700">
                <a:solidFill>
                  <a:srgbClr val="0A3A99"/>
                </a:solidFill>
                <a:latin typeface="Consolas"/>
              </a:rPr>
              <a:t>    resources:</a:t>
            </a:r>
          </a:p>
          <a:p>
            <a:pPr algn="l">
              <a:lnSpc>
                <a:spcPct val="115000"/>
              </a:lnSpc>
              <a:spcBef>
                <a:spcPts val="0"/>
              </a:spcBef>
              <a:spcAft>
                <a:spcPts val="0"/>
              </a:spcAft>
            </a:pPr>
            <a:r>
              <a:rPr sz="1700">
                <a:solidFill>
                  <a:srgbClr val="000000"/>
                </a:solidFill>
                <a:latin typeface="Consolas"/>
              </a:rPr>
              <a:t>      - name: image       # OCI image</a:t>
            </a:r>
          </a:p>
          <a:p>
            <a:pPr algn="l">
              <a:lnSpc>
                <a:spcPct val="115000"/>
              </a:lnSpc>
              <a:spcBef>
                <a:spcPts val="0"/>
              </a:spcBef>
              <a:spcAft>
                <a:spcPts val="0"/>
              </a:spcAft>
            </a:pPr>
            <a:r>
              <a:rPr sz="1700">
                <a:solidFill>
                  <a:srgbClr val="6B7280"/>
                </a:solidFill>
                <a:latin typeface="Consolas"/>
              </a:rPr>
              <a:t>        # type, input/access, digest trimmed</a:t>
            </a:r>
          </a:p>
          <a:p>
            <a:pPr algn="l">
              <a:lnSpc>
                <a:spcPct val="115000"/>
              </a:lnSpc>
              <a:spcBef>
                <a:spcPts val="0"/>
              </a:spcBef>
              <a:spcAft>
                <a:spcPts val="0"/>
              </a:spcAft>
            </a:pPr>
            <a:r>
              <a:rPr sz="1700">
                <a:solidFill>
                  <a:srgbClr val="000000"/>
                </a:solidFill>
                <a:latin typeface="Consolas"/>
              </a:rPr>
              <a:t>      - name: chart       # Helm chart</a:t>
            </a:r>
          </a:p>
          <a:p>
            <a:pPr algn="l">
              <a:lnSpc>
                <a:spcPct val="115000"/>
              </a:lnSpc>
              <a:spcBef>
                <a:spcPts val="0"/>
              </a:spcBef>
              <a:spcAft>
                <a:spcPts val="0"/>
              </a:spcAft>
            </a:pPr>
            <a:r>
              <a:rPr sz="1700">
                <a:solidFill>
                  <a:srgbClr val="6B7280"/>
                </a:solidFill>
                <a:latin typeface="Consolas"/>
              </a:rPr>
              <a:t>        ...</a:t>
            </a:r>
          </a:p>
          <a:p>
            <a:pPr algn="l">
              <a:lnSpc>
                <a:spcPct val="115000"/>
              </a:lnSpc>
              <a:spcBef>
                <a:spcPts val="0"/>
              </a:spcBef>
              <a:spcAft>
                <a:spcPts val="0"/>
              </a:spcAft>
            </a:pPr>
            <a:r>
              <a:rPr sz="1700">
                <a:solidFill>
                  <a:srgbClr val="000000"/>
                </a:solidFill>
                <a:latin typeface="Consolas"/>
              </a:rPr>
              <a:t>  - name: acme.org/sovereign/postgres</a:t>
            </a:r>
          </a:p>
          <a:p>
            <a:pPr algn="l">
              <a:lnSpc>
                <a:spcPct val="115000"/>
              </a:lnSpc>
              <a:spcBef>
                <a:spcPts val="0"/>
              </a:spcBef>
              <a:spcAft>
                <a:spcPts val="0"/>
              </a:spcAft>
            </a:pPr>
            <a:r>
              <a:rPr sz="1700">
                <a:solidFill>
                  <a:srgbClr val="000000"/>
                </a:solidFill>
                <a:latin typeface="Consolas"/>
              </a:rPr>
              <a:t>    version: 1.0.0</a:t>
            </a:r>
          </a:p>
          <a:p>
            <a:pPr algn="l">
              <a:lnSpc>
                <a:spcPct val="115000"/>
              </a:lnSpc>
              <a:spcBef>
                <a:spcPts val="0"/>
              </a:spcBef>
              <a:spcAft>
                <a:spcPts val="0"/>
              </a:spcAft>
            </a:pPr>
            <a:r>
              <a:rPr sz="1700">
                <a:solidFill>
                  <a:srgbClr val="0A3A99"/>
                </a:solidFill>
                <a:latin typeface="Consolas"/>
              </a:rPr>
              <a:t>    resources:</a:t>
            </a:r>
          </a:p>
          <a:p>
            <a:pPr algn="l">
              <a:lnSpc>
                <a:spcPct val="115000"/>
              </a:lnSpc>
              <a:spcBef>
                <a:spcPts val="0"/>
              </a:spcBef>
              <a:spcAft>
                <a:spcPts val="0"/>
              </a:spcAft>
            </a:pPr>
            <a:r>
              <a:rPr sz="1700">
                <a:solidFill>
                  <a:srgbClr val="000000"/>
                </a:solidFill>
                <a:latin typeface="Consolas"/>
              </a:rPr>
              <a:t>      - name: image       # OCI image</a:t>
            </a:r>
          </a:p>
          <a:p>
            <a:pPr algn="l">
              <a:lnSpc>
                <a:spcPct val="115000"/>
              </a:lnSpc>
              <a:spcBef>
                <a:spcPts val="0"/>
              </a:spcBef>
              <a:spcAft>
                <a:spcPts val="0"/>
              </a:spcAft>
            </a:pPr>
            <a:r>
              <a:rPr sz="1700">
                <a:solidFill>
                  <a:srgbClr val="6B7280"/>
                </a:solidFill>
                <a:latin typeface="Consolas"/>
              </a:rPr>
              <a:t>        ...</a:t>
            </a:r>
          </a:p>
          <a:p>
            <a:pPr algn="l">
              <a:lnSpc>
                <a:spcPct val="115000"/>
              </a:lnSpc>
              <a:spcBef>
                <a:spcPts val="0"/>
              </a:spcBef>
              <a:spcAft>
                <a:spcPts val="0"/>
              </a:spcAft>
            </a:pPr>
            <a:r>
              <a:rPr sz="1700">
                <a:solidFill>
                  <a:srgbClr val="000000"/>
                </a:solidFill>
                <a:latin typeface="Consolas"/>
              </a:rPr>
              <a:t>      - name: chart       # Helm chart</a:t>
            </a:r>
          </a:p>
          <a:p>
            <a:pPr algn="l">
              <a:lnSpc>
                <a:spcPct val="115000"/>
              </a:lnSpc>
              <a:spcBef>
                <a:spcPts val="0"/>
              </a:spcBef>
              <a:spcAft>
                <a:spcPts val="0"/>
              </a:spcAft>
            </a:pPr>
            <a:r>
              <a:rPr sz="1700">
                <a:solidFill>
                  <a:srgbClr val="6B7280"/>
                </a:solidFill>
                <a:latin typeface="Consolas"/>
              </a:rPr>
              <a:t>        ...</a:t>
            </a:r>
          </a:p>
          <a:p>
            <a:pPr algn="l">
              <a:lnSpc>
                <a:spcPct val="115000"/>
              </a:lnSpc>
              <a:spcBef>
                <a:spcPts val="0"/>
              </a:spcBef>
              <a:spcAft>
                <a:spcPts val="0"/>
              </a:spcAft>
            </a:pPr>
            <a:r>
              <a:rPr sz="1700">
                <a:solidFill>
                  <a:srgbClr val="6B7280"/>
                </a:solidFill>
                <a:latin typeface="Consolas"/>
              </a:rPr>
              <a:t># product references both, by name and version</a:t>
            </a:r>
          </a:p>
        </p:txBody>
      </p:sp>
      <p:sp>
        <p:nvSpPr>
          <p:cNvPr id="6" name="Rounded Rectangle 5"/>
          <p:cNvSpPr/>
          <p:nvPr/>
        </p:nvSpPr>
        <p:spPr>
          <a:xfrm>
            <a:off x="9906000" y="4381500"/>
            <a:ext cx="7239000" cy="5334000"/>
          </a:xfrm>
          <a:prstGeom prst="roundRect">
            <a:avLst/>
          </a:prstGeom>
          <a:solidFill>
            <a:srgbClr val="F3F4F6"/>
          </a:solidFill>
          <a:ln w="9525">
            <a:solidFill>
              <a:srgbClr val="6B7280"/>
            </a:solidFill>
          </a:ln>
        </p:spPr>
        <p:style>
          <a:lnRef idx="1">
            <a:schemeClr val="accent1"/>
          </a:lnRef>
          <a:fillRef idx="3">
            <a:schemeClr val="accent1"/>
          </a:fillRef>
          <a:effectRef idx="2">
            <a:schemeClr val="accent1"/>
          </a:effectRef>
          <a:fontRef idx="minor">
            <a:schemeClr val="lt1"/>
          </a:fontRef>
        </p:style>
        <p:txBody>
          <a:bodyPr rtlCol="0" anchor="t" lIns="140000" rIns="140000" tIns="120000" bIns="120000" wrap="none"/>
          <a:lstStyle/>
          <a:p>
            <a:pPr algn="l">
              <a:lnSpc>
                <a:spcPct val="115000"/>
              </a:lnSpc>
              <a:spcBef>
                <a:spcPts val="0"/>
              </a:spcBef>
              <a:spcAft>
                <a:spcPts val="0"/>
              </a:spcAft>
            </a:pPr>
            <a:r>
              <a:rPr sz="1700">
                <a:solidFill>
                  <a:srgbClr val="0A3A99"/>
                </a:solidFill>
                <a:latin typeface="Consolas"/>
              </a:rPr>
              <a:t>components:</a:t>
            </a:r>
          </a:p>
          <a:p>
            <a:pPr algn="l">
              <a:lnSpc>
                <a:spcPct val="115000"/>
              </a:lnSpc>
              <a:spcBef>
                <a:spcPts val="0"/>
              </a:spcBef>
              <a:spcAft>
                <a:spcPts val="0"/>
              </a:spcAft>
            </a:pPr>
            <a:r>
              <a:rPr sz="1700">
                <a:solidFill>
                  <a:srgbClr val="000000"/>
                </a:solidFill>
                <a:latin typeface="Consolas"/>
              </a:rPr>
              <a:t>  - name: acme.org/sovereign/product</a:t>
            </a:r>
          </a:p>
          <a:p>
            <a:pPr algn="l">
              <a:lnSpc>
                <a:spcPct val="115000"/>
              </a:lnSpc>
              <a:spcBef>
                <a:spcPts val="0"/>
              </a:spcBef>
              <a:spcAft>
                <a:spcPts val="0"/>
              </a:spcAft>
            </a:pPr>
            <a:r>
              <a:rPr sz="1700">
                <a:solidFill>
                  <a:srgbClr val="000000"/>
                </a:solidFill>
                <a:latin typeface="Consolas"/>
              </a:rPr>
              <a:t>    version: 1.0.0</a:t>
            </a:r>
          </a:p>
          <a:p>
            <a:pPr algn="l">
              <a:lnSpc>
                <a:spcPct val="115000"/>
              </a:lnSpc>
              <a:spcBef>
                <a:spcPts val="0"/>
              </a:spcBef>
              <a:spcAft>
                <a:spcPts val="0"/>
              </a:spcAft>
            </a:pPr>
            <a:r>
              <a:rPr sz="1700">
                <a:solidFill>
                  <a:srgbClr val="0A3A99"/>
                </a:solidFill>
                <a:latin typeface="Consolas"/>
              </a:rPr>
              <a:t>    componentReferences:</a:t>
            </a:r>
          </a:p>
          <a:p>
            <a:pPr algn="l">
              <a:lnSpc>
                <a:spcPct val="115000"/>
              </a:lnSpc>
              <a:spcBef>
                <a:spcPts val="0"/>
              </a:spcBef>
              <a:spcAft>
                <a:spcPts val="0"/>
              </a:spcAft>
            </a:pPr>
            <a:r>
              <a:rPr sz="1700">
                <a:solidFill>
                  <a:srgbClr val="000000"/>
                </a:solidFill>
                <a:latin typeface="Consolas"/>
              </a:rPr>
              <a:t>      - name: notes</a:t>
            </a:r>
          </a:p>
          <a:p>
            <a:pPr algn="l">
              <a:lnSpc>
                <a:spcPct val="115000"/>
              </a:lnSpc>
              <a:spcBef>
                <a:spcPts val="0"/>
              </a:spcBef>
              <a:spcAft>
                <a:spcPts val="0"/>
              </a:spcAft>
            </a:pPr>
            <a:r>
              <a:rPr sz="1700">
                <a:solidFill>
                  <a:srgbClr val="000000"/>
                </a:solidFill>
                <a:latin typeface="Consolas"/>
              </a:rPr>
              <a:t>        componentName: acme.org/sovereign/notes</a:t>
            </a:r>
          </a:p>
          <a:p>
            <a:pPr algn="l">
              <a:lnSpc>
                <a:spcPct val="115000"/>
              </a:lnSpc>
              <a:spcBef>
                <a:spcPts val="0"/>
              </a:spcBef>
              <a:spcAft>
                <a:spcPts val="0"/>
              </a:spcAft>
            </a:pPr>
            <a:r>
              <a:rPr sz="1700">
                <a:solidFill>
                  <a:srgbClr val="000000"/>
                </a:solidFill>
                <a:latin typeface="Consolas"/>
              </a:rPr>
              <a:t>        version: 1.0.0</a:t>
            </a:r>
          </a:p>
          <a:p>
            <a:pPr algn="l">
              <a:lnSpc>
                <a:spcPct val="115000"/>
              </a:lnSpc>
              <a:spcBef>
                <a:spcPts val="0"/>
              </a:spcBef>
              <a:spcAft>
                <a:spcPts val="0"/>
              </a:spcAft>
            </a:pPr>
            <a:r>
              <a:rPr sz="1700">
                <a:solidFill>
                  <a:srgbClr val="000000"/>
                </a:solidFill>
                <a:latin typeface="Consolas"/>
              </a:rPr>
              <a:t>      - name: postgres</a:t>
            </a:r>
          </a:p>
          <a:p>
            <a:pPr algn="l">
              <a:lnSpc>
                <a:spcPct val="115000"/>
              </a:lnSpc>
              <a:spcBef>
                <a:spcPts val="0"/>
              </a:spcBef>
              <a:spcAft>
                <a:spcPts val="0"/>
              </a:spcAft>
            </a:pPr>
            <a:r>
              <a:rPr sz="1700">
                <a:solidFill>
                  <a:srgbClr val="000000"/>
                </a:solidFill>
                <a:latin typeface="Consolas"/>
              </a:rPr>
              <a:t>        componentName: acme.org/sovereign/postgres</a:t>
            </a:r>
          </a:p>
          <a:p>
            <a:pPr algn="l">
              <a:lnSpc>
                <a:spcPct val="115000"/>
              </a:lnSpc>
              <a:spcBef>
                <a:spcPts val="0"/>
              </a:spcBef>
              <a:spcAft>
                <a:spcPts val="0"/>
              </a:spcAft>
            </a:pPr>
            <a:r>
              <a:rPr sz="1700">
                <a:solidFill>
                  <a:srgbClr val="000000"/>
                </a:solidFill>
                <a:latin typeface="Consolas"/>
              </a:rPr>
              <a:t>        version: 1.0.0</a:t>
            </a:r>
          </a:p>
          <a:p>
            <a:pPr algn="l">
              <a:lnSpc>
                <a:spcPct val="115000"/>
              </a:lnSpc>
              <a:spcBef>
                <a:spcPts val="0"/>
              </a:spcBef>
              <a:spcAft>
                <a:spcPts val="0"/>
              </a:spcAft>
            </a:pPr>
            <a:r>
              <a:rPr sz="1700">
                <a:solidFill>
                  <a:srgbClr val="6B7280"/>
                </a:solidFill>
                <a:latin typeface="Consolas"/>
              </a:rPr>
              <a:t># no resources of its own — pure composition</a:t>
            </a:r>
          </a:p>
        </p:txBody>
      </p:sp>
      <p:sp>
        <p:nvSpPr>
          <p:cNvPr id="7" name="TextBox 6"/>
          <p:cNvSpPr txBox="1"/>
          <p:nvPr/>
        </p:nvSpPr>
        <p:spPr>
          <a:xfrm>
            <a:off x="1143000" y="3905250"/>
            <a:ext cx="7239000" cy="342900"/>
          </a:xfrm>
          <a:prstGeom prst="rect">
            <a:avLst/>
          </a:prstGeom>
          <a:noFill/>
        </p:spPr>
        <p:txBody>
          <a:bodyPr wrap="square" lIns="0" rIns="0" tIns="0" bIns="0">
            <a:spAutoFit/>
          </a:bodyPr>
          <a:lstStyle/>
          <a:p>
            <a:pPr algn="l"/>
            <a:r>
              <a:rPr sz="2200" b="1">
                <a:solidFill>
                  <a:srgbClr val="6B7280"/>
                </a:solidFill>
                <a:latin typeface="Aptos"/>
              </a:rPr>
              <a:t>SERVICE</a:t>
            </a:r>
          </a:p>
        </p:txBody>
      </p:sp>
      <p:sp>
        <p:nvSpPr>
          <p:cNvPr id="8" name="TextBox 7"/>
          <p:cNvSpPr txBox="1"/>
          <p:nvPr/>
        </p:nvSpPr>
        <p:spPr>
          <a:xfrm>
            <a:off x="9906000" y="3905250"/>
            <a:ext cx="7239000" cy="342900"/>
          </a:xfrm>
          <a:prstGeom prst="rect">
            <a:avLst/>
          </a:prstGeom>
          <a:noFill/>
        </p:spPr>
        <p:txBody>
          <a:bodyPr wrap="square" lIns="0" rIns="0" tIns="0" bIns="0">
            <a:spAutoFit/>
          </a:bodyPr>
          <a:lstStyle/>
          <a:p>
            <a:pPr algn="l"/>
            <a:r>
              <a:rPr sz="2200" b="1">
                <a:solidFill>
                  <a:srgbClr val="0F6BFF"/>
                </a:solidFill>
                <a:latin typeface="Aptos"/>
              </a:rPr>
              <a:t>PRODUCT</a:t>
            </a:r>
          </a:p>
        </p:txBody>
      </p:sp>
      <p:sp>
        <p:nvSpPr>
          <p:cNvPr id="9" name="Right Arrow 8"/>
          <p:cNvSpPr/>
          <p:nvPr/>
        </p:nvSpPr>
        <p:spPr>
          <a:xfrm>
            <a:off x="8667750" y="6667500"/>
            <a:ext cx="952500" cy="762000"/>
          </a:xfrm>
          <a:prstGeom prst="rightArrow">
            <a:avLst/>
          </a:prstGeom>
          <a:solidFill>
            <a:srgbClr val="0F6B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SIGN</a:t>
            </a:r>
          </a:p>
        </p:txBody>
      </p:sp>
      <p:sp>
        <p:nvSpPr>
          <p:cNvPr id="3" name="Title 2"/>
          <p:cNvSpPr>
            <a:spLocks noGrp="1"/>
          </p:cNvSpPr>
          <p:nvPr>
            <p:ph type="title" idx="2"/>
          </p:nvPr>
        </p:nvSpPr>
        <p:spPr/>
        <p:txBody>
          <a:bodyPr/>
          <a:lstStyle/>
          <a:p>
            <a:r>
              <a:t>Same signed object. Three signing options.</a:t>
            </a:r>
          </a:p>
        </p:txBody>
      </p:sp>
      <p:sp>
        <p:nvSpPr>
          <p:cNvPr id="4" name="Text Placeholder 3"/>
          <p:cNvSpPr>
            <a:spLocks noGrp="1"/>
          </p:cNvSpPr>
          <p:nvPr>
            <p:ph type="body" idx="10"/>
          </p:nvPr>
        </p:nvSpPr>
        <p:spPr/>
        <p:txBody>
          <a:bodyPr/>
          <a:lstStyle/>
          <a:p>
            <a:r>
              <a:t>RSA</a:t>
            </a:r>
          </a:p>
        </p:txBody>
      </p:sp>
      <p:sp>
        <p:nvSpPr>
          <p:cNvPr id="5" name="Text Placeholder 4"/>
          <p:cNvSpPr>
            <a:spLocks noGrp="1"/>
          </p:cNvSpPr>
          <p:nvPr>
            <p:ph type="body" idx="11"/>
          </p:nvPr>
        </p:nvSpPr>
        <p:spPr/>
        <p:txBody>
          <a:bodyPr/>
          <a:lstStyle/>
          <a:p>
            <a:r>
              <a:t>Bare public-key pinning.</a:t>
            </a:r>
          </a:p>
          <a:p>
            <a:r>
              <a:t>If you already rotate a signing key.</a:t>
            </a:r>
          </a:p>
        </p:txBody>
      </p:sp>
      <p:sp>
        <p:nvSpPr>
          <p:cNvPr id="6" name="Text Placeholder 5"/>
          <p:cNvSpPr>
            <a:spLocks noGrp="1"/>
          </p:cNvSpPr>
          <p:nvPr>
            <p:ph type="body" idx="12"/>
          </p:nvPr>
        </p:nvSpPr>
        <p:spPr/>
        <p:txBody>
          <a:bodyPr/>
          <a:lstStyle/>
          <a:p>
            <a:r>
              <a:t>GPG</a:t>
            </a:r>
          </a:p>
        </p:txBody>
      </p:sp>
      <p:sp>
        <p:nvSpPr>
          <p:cNvPr id="7" name="Text Placeholder 6"/>
          <p:cNvSpPr>
            <a:spLocks noGrp="1"/>
          </p:cNvSpPr>
          <p:nvPr>
            <p:ph type="body" idx="13"/>
          </p:nvPr>
        </p:nvSpPr>
        <p:spPr/>
        <p:txBody>
          <a:bodyPr/>
          <a:lstStyle/>
          <a:p>
            <a:r>
              <a:t>OpenPGP keys, ASCII-armored.</a:t>
            </a:r>
          </a:p>
          <a:p>
            <a:r>
              <a:t>If your team runs a keyring.</a:t>
            </a:r>
          </a:p>
        </p:txBody>
      </p:sp>
      <p:sp>
        <p:nvSpPr>
          <p:cNvPr id="8" name="Text Placeholder 7"/>
          <p:cNvSpPr>
            <a:spLocks noGrp="1"/>
          </p:cNvSpPr>
          <p:nvPr>
            <p:ph type="body" idx="14"/>
          </p:nvPr>
        </p:nvSpPr>
        <p:spPr/>
        <p:txBody>
          <a:bodyPr/>
          <a:lstStyle/>
          <a:p>
            <a:r>
              <a:t>SIGSTORE</a:t>
            </a:r>
          </a:p>
        </p:txBody>
      </p:sp>
      <p:sp>
        <p:nvSpPr>
          <p:cNvPr id="9" name="Text Placeholder 8"/>
          <p:cNvSpPr>
            <a:spLocks noGrp="1"/>
          </p:cNvSpPr>
          <p:nvPr>
            <p:ph type="body" idx="15"/>
          </p:nvPr>
        </p:nvSpPr>
        <p:spPr/>
        <p:txBody>
          <a:bodyPr/>
          <a:lstStyle/>
          <a:p>
            <a:r>
              <a:t>Keyless via OIDC + Rekor.</a:t>
            </a:r>
          </a:p>
          <a:p>
            <a:r>
              <a:t>If you already trust your identity provider.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TRANSPORT</a:t>
            </a:r>
          </a:p>
        </p:txBody>
      </p:sp>
      <p:sp>
        <p:nvSpPr>
          <p:cNvPr id="3" name="Title 2"/>
          <p:cNvSpPr>
            <a:spLocks noGrp="1"/>
          </p:cNvSpPr>
          <p:nvPr>
            <p:ph type="title" idx="2"/>
          </p:nvPr>
        </p:nvSpPr>
        <p:spPr/>
        <p:txBody>
          <a:bodyPr/>
          <a:lstStyle/>
          <a:p>
            <a:r>
              <a:t>Three patterns. One command.</a:t>
            </a:r>
          </a:p>
        </p:txBody>
      </p:sp>
      <p:sp>
        <p:nvSpPr>
          <p:cNvPr id="4" name="Text Placeholder 3"/>
          <p:cNvSpPr>
            <a:spLocks noGrp="1"/>
          </p:cNvSpPr>
          <p:nvPr>
            <p:ph type="body" idx="10"/>
          </p:nvPr>
        </p:nvSpPr>
        <p:spPr/>
        <p:txBody>
          <a:bodyPr/>
          <a:lstStyle/>
          <a:p>
            <a:r>
              <a:t>REGISTRY → REGISTRY</a:t>
            </a:r>
          </a:p>
        </p:txBody>
      </p:sp>
      <p:sp>
        <p:nvSpPr>
          <p:cNvPr id="5" name="Text Placeholder 4"/>
          <p:cNvSpPr>
            <a:spLocks noGrp="1"/>
          </p:cNvSpPr>
          <p:nvPr>
            <p:ph type="body" idx="11"/>
          </p:nvPr>
        </p:nvSpPr>
        <p:spPr/>
        <p:txBody>
          <a:bodyPr/>
          <a:lstStyle/>
          <a:p>
            <a:r>
              <a:t>Promote across stages.</a:t>
            </a:r>
          </a:p>
          <a:p>
            <a:r>
              <a:t>Source registry to target registry.</a:t>
            </a:r>
          </a:p>
        </p:txBody>
      </p:sp>
      <p:sp>
        <p:nvSpPr>
          <p:cNvPr id="6" name="Text Placeholder 5"/>
          <p:cNvSpPr>
            <a:spLocks noGrp="1"/>
          </p:cNvSpPr>
          <p:nvPr>
            <p:ph type="body" idx="12"/>
          </p:nvPr>
        </p:nvSpPr>
        <p:spPr/>
        <p:txBody>
          <a:bodyPr/>
          <a:lstStyle/>
          <a:p>
            <a:r>
              <a:t>REGISTRY → CTF</a:t>
            </a:r>
          </a:p>
        </p:txBody>
      </p:sp>
      <p:sp>
        <p:nvSpPr>
          <p:cNvPr id="7" name="Text Placeholder 6"/>
          <p:cNvSpPr>
            <a:spLocks noGrp="1"/>
          </p:cNvSpPr>
          <p:nvPr>
            <p:ph type="body" idx="13"/>
          </p:nvPr>
        </p:nvSpPr>
        <p:spPr/>
        <p:txBody>
          <a:bodyPr/>
          <a:lstStyle/>
          <a:p>
            <a:r>
              <a:t>Export to a local archive.</a:t>
            </a:r>
          </a:p>
          <a:p>
            <a:r>
              <a:t>Hand-carry across the boundary.</a:t>
            </a:r>
          </a:p>
        </p:txBody>
      </p:sp>
      <p:sp>
        <p:nvSpPr>
          <p:cNvPr id="8" name="Text Placeholder 7"/>
          <p:cNvSpPr>
            <a:spLocks noGrp="1"/>
          </p:cNvSpPr>
          <p:nvPr>
            <p:ph type="body" idx="14"/>
          </p:nvPr>
        </p:nvSpPr>
        <p:spPr/>
        <p:txBody>
          <a:bodyPr/>
          <a:lstStyle/>
          <a:p>
            <a:r>
              <a:t>CTF → REGISTRY</a:t>
            </a:r>
          </a:p>
        </p:txBody>
      </p:sp>
      <p:sp>
        <p:nvSpPr>
          <p:cNvPr id="9" name="Text Placeholder 8"/>
          <p:cNvSpPr>
            <a:spLocks noGrp="1"/>
          </p:cNvSpPr>
          <p:nvPr>
            <p:ph type="body" idx="15"/>
          </p:nvPr>
        </p:nvSpPr>
        <p:spPr/>
        <p:txBody>
          <a:bodyPr/>
          <a:lstStyle/>
          <a:p>
            <a:r>
              <a:t>Air-gap import.</a:t>
            </a:r>
          </a:p>
          <a:p>
            <a:r>
              <a:t>Verify on arrival. No callback to source.</a:t>
            </a:r>
          </a:p>
        </p:txBody>
      </p:sp>
      <p:sp>
        <p:nvSpPr>
          <p:cNvPr id="10" name="TextBox 9"/>
          <p:cNvSpPr txBox="1"/>
          <p:nvPr/>
        </p:nvSpPr>
        <p:spPr>
          <a:xfrm>
            <a:off x="1143000" y="9334500"/>
            <a:ext cx="16002000" cy="571500"/>
          </a:xfrm>
          <a:prstGeom prst="rect">
            <a:avLst/>
          </a:prstGeom>
          <a:noFill/>
        </p:spPr>
        <p:txBody>
          <a:bodyPr wrap="square" lIns="0" rIns="0" tIns="0" bIns="0">
            <a:spAutoFit/>
          </a:bodyPr>
          <a:lstStyle/>
          <a:p>
            <a:pPr algn="l"/>
            <a:r>
              <a:rPr sz="2000">
                <a:solidFill>
                  <a:srgbClr val="6B7280"/>
                </a:solidFill>
                <a:latin typeface="Aptos"/>
              </a:rPr>
              <a:t>CTF = Common Transport Format — a filesystem-based OCM repository, portable via any transfer mechanism.</a:t>
            </a:r>
          </a:p>
        </p:txBody>
      </p:sp>
      <p:sp>
        <p:nvSpPr>
          <p:cNvPr id="11" name="TextBox 10"/>
          <p:cNvSpPr txBox="1"/>
          <p:nvPr/>
        </p:nvSpPr>
        <p:spPr>
          <a:xfrm>
            <a:off x="12573000" y="4953000"/>
            <a:ext cx="3048000" cy="381000"/>
          </a:xfrm>
          <a:prstGeom prst="rect">
            <a:avLst/>
          </a:prstGeom>
          <a:noFill/>
        </p:spPr>
        <p:txBody>
          <a:bodyPr wrap="square" lIns="0" rIns="0" tIns="0" bIns="0">
            <a:spAutoFit/>
          </a:bodyPr>
          <a:lstStyle/>
          <a:p>
            <a:pPr algn="ctr"/>
            <a:r>
              <a:rPr sz="2200" b="1">
                <a:solidFill>
                  <a:srgbClr val="0F6BFF"/>
                </a:solidFill>
                <a:latin typeface="Aptos"/>
              </a:rPr>
              <a:t>AIR-GAP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DEPLOY</a:t>
            </a:r>
          </a:p>
        </p:txBody>
      </p:sp>
      <p:sp>
        <p:nvSpPr>
          <p:cNvPr id="3" name="Title 2"/>
          <p:cNvSpPr>
            <a:spLocks noGrp="1"/>
          </p:cNvSpPr>
          <p:nvPr>
            <p:ph type="title" idx="2"/>
          </p:nvPr>
        </p:nvSpPr>
        <p:spPr/>
        <p:txBody>
          <a:bodyPr/>
          <a:lstStyle/>
          <a:p>
            <a:r>
              <a:t>OCM controllers verify and apply.</a:t>
            </a:r>
          </a:p>
        </p:txBody>
      </p:sp>
      <p:sp>
        <p:nvSpPr>
          <p:cNvPr id="4" name="Rounded Rectangle 3"/>
          <p:cNvSpPr/>
          <p:nvPr/>
        </p:nvSpPr>
        <p:spPr>
          <a:xfrm>
            <a:off x="1181100" y="5143500"/>
            <a:ext cx="3438525" cy="2524125"/>
          </a:xfrm>
          <a:prstGeom prst="roundRect">
            <a:avLst>
              <a:gd name="adj" fmla="val 5283"/>
            </a:avLst>
          </a:prstGeom>
          <a:solidFill>
            <a:srgbClr val="F3F4F6"/>
          </a:solidFill>
          <a:ln>
            <a:noFill/>
          </a:ln>
          <a:effectLst>
            <a:outerShdw blurRad="28575" dist="28575" dir="5400000"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181100" y="5143500"/>
            <a:ext cx="3438525" cy="47625"/>
          </a:xfrm>
          <a:prstGeom prst="rect">
            <a:avLst/>
          </a:prstGeom>
          <a:solidFill>
            <a:srgbClr val="0F6B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466850" y="5543550"/>
            <a:ext cx="2867025" cy="476250"/>
          </a:xfrm>
          <a:prstGeom prst="rect">
            <a:avLst/>
          </a:prstGeom>
          <a:noFill/>
        </p:spPr>
        <p:txBody>
          <a:bodyPr wrap="square" lIns="0" rIns="0" tIns="0" bIns="0">
            <a:spAutoFit/>
          </a:bodyPr>
          <a:lstStyle/>
          <a:p>
            <a:pPr algn="l"/>
            <a:r>
              <a:rPr sz="3000" b="1">
                <a:solidFill>
                  <a:srgbClr val="0A3A99"/>
                </a:solidFill>
                <a:latin typeface="Aptos"/>
              </a:rPr>
              <a:t>REPOSITORY</a:t>
            </a:r>
          </a:p>
        </p:txBody>
      </p:sp>
      <p:sp>
        <p:nvSpPr>
          <p:cNvPr id="7" name="TextBox 6"/>
          <p:cNvSpPr txBox="1"/>
          <p:nvPr/>
        </p:nvSpPr>
        <p:spPr>
          <a:xfrm>
            <a:off x="1466850" y="6191250"/>
            <a:ext cx="2867025" cy="1285875"/>
          </a:xfrm>
          <a:prstGeom prst="rect">
            <a:avLst/>
          </a:prstGeom>
          <a:noFill/>
        </p:spPr>
        <p:txBody>
          <a:bodyPr wrap="square" lIns="0" rIns="0" tIns="0" bIns="0">
            <a:spAutoFit/>
          </a:bodyPr>
          <a:lstStyle/>
          <a:p>
            <a:pPr algn="l">
              <a:lnSpc>
                <a:spcPct val="125000"/>
              </a:lnSpc>
            </a:pPr>
            <a:r>
              <a:rPr sz="2200">
                <a:solidFill>
                  <a:srgbClr val="333333"/>
                </a:solidFill>
                <a:latin typeface="Aptos"/>
              </a:rPr>
              <a:t>Where component versions live.</a:t>
            </a:r>
          </a:p>
        </p:txBody>
      </p:sp>
      <p:sp>
        <p:nvSpPr>
          <p:cNvPr id="8" name="Rectangle 7"/>
          <p:cNvSpPr/>
          <p:nvPr/>
        </p:nvSpPr>
        <p:spPr>
          <a:xfrm>
            <a:off x="4714875" y="6392227"/>
            <a:ext cx="390525" cy="17145"/>
          </a:xfrm>
          <a:prstGeom prst="rect">
            <a:avLst/>
          </a:prstGeom>
          <a:solidFill>
            <a:srgbClr val="0F6B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Freeform 8"/>
          <p:cNvSpPr/>
          <p:nvPr/>
        </p:nvSpPr>
        <p:spPr>
          <a:xfrm>
            <a:off x="5095875" y="6334125"/>
            <a:ext cx="152400" cy="133350"/>
          </a:xfrm>
          <a:custGeom>
            <a:avLst/>
            <a:gdLst/>
            <a:ahLst/>
            <a:cxnLst/>
            <a:rect l="l" t="t" r="r" b="b"/>
            <a:pathLst>
              <a:path w="152400" h="133350">
                <a:moveTo>
                  <a:pt x="0" y="66675"/>
                </a:moveTo>
                <a:lnTo>
                  <a:pt x="152400" y="0"/>
                </a:lnTo>
                <a:lnTo>
                  <a:pt x="152400" y="133350"/>
                </a:lnTo>
                <a:close/>
              </a:path>
            </a:pathLst>
          </a:custGeom>
          <a:solidFill>
            <a:srgbClr val="0F6B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343525" y="5143500"/>
            <a:ext cx="3438525" cy="2524125"/>
          </a:xfrm>
          <a:prstGeom prst="roundRect">
            <a:avLst>
              <a:gd name="adj" fmla="val 5283"/>
            </a:avLst>
          </a:prstGeom>
          <a:solidFill>
            <a:srgbClr val="F3F4F6"/>
          </a:solidFill>
          <a:ln>
            <a:noFill/>
          </a:ln>
          <a:effectLst>
            <a:outerShdw blurRad="28575" dist="28575" dir="5400000"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343525" y="5143500"/>
            <a:ext cx="3438525" cy="47625"/>
          </a:xfrm>
          <a:prstGeom prst="rect">
            <a:avLst/>
          </a:prstGeom>
          <a:solidFill>
            <a:srgbClr val="0F6B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29275" y="5543550"/>
            <a:ext cx="2867025" cy="476250"/>
          </a:xfrm>
          <a:prstGeom prst="rect">
            <a:avLst/>
          </a:prstGeom>
          <a:noFill/>
        </p:spPr>
        <p:txBody>
          <a:bodyPr wrap="square" lIns="0" rIns="0" tIns="0" bIns="0">
            <a:spAutoFit/>
          </a:bodyPr>
          <a:lstStyle/>
          <a:p>
            <a:pPr algn="l"/>
            <a:r>
              <a:rPr sz="3000" b="1">
                <a:solidFill>
                  <a:srgbClr val="0A3A99"/>
                </a:solidFill>
                <a:latin typeface="Aptos"/>
              </a:rPr>
              <a:t>COMPONENT</a:t>
            </a:r>
          </a:p>
        </p:txBody>
      </p:sp>
      <p:sp>
        <p:nvSpPr>
          <p:cNvPr id="13" name="TextBox 12"/>
          <p:cNvSpPr txBox="1"/>
          <p:nvPr/>
        </p:nvSpPr>
        <p:spPr>
          <a:xfrm>
            <a:off x="5629275" y="6191250"/>
            <a:ext cx="2867025" cy="1285875"/>
          </a:xfrm>
          <a:prstGeom prst="rect">
            <a:avLst/>
          </a:prstGeom>
          <a:noFill/>
        </p:spPr>
        <p:txBody>
          <a:bodyPr wrap="square" lIns="0" rIns="0" tIns="0" bIns="0">
            <a:spAutoFit/>
          </a:bodyPr>
          <a:lstStyle/>
          <a:p>
            <a:pPr algn="l">
              <a:lnSpc>
                <a:spcPct val="125000"/>
              </a:lnSpc>
            </a:pPr>
            <a:r>
              <a:rPr sz="2200">
                <a:solidFill>
                  <a:srgbClr val="333333"/>
                </a:solidFill>
                <a:latin typeface="Aptos"/>
              </a:rPr>
              <a:t>Pulls one version.</a:t>
            </a:r>
          </a:p>
          <a:p>
            <a:pPr algn="l">
              <a:lnSpc>
                <a:spcPct val="125000"/>
              </a:lnSpc>
            </a:pPr>
            <a:r>
              <a:rPr sz="2200" b="1">
                <a:solidFill>
                  <a:srgbClr val="333333"/>
                </a:solidFill>
                <a:latin typeface="Aptos"/>
              </a:rPr>
              <a:t>Verifies its signature.</a:t>
            </a:r>
          </a:p>
        </p:txBody>
      </p:sp>
      <p:sp>
        <p:nvSpPr>
          <p:cNvPr id="14" name="Rectangle 13"/>
          <p:cNvSpPr/>
          <p:nvPr/>
        </p:nvSpPr>
        <p:spPr>
          <a:xfrm>
            <a:off x="8877300" y="6392227"/>
            <a:ext cx="390525" cy="17145"/>
          </a:xfrm>
          <a:prstGeom prst="rect">
            <a:avLst/>
          </a:prstGeom>
          <a:solidFill>
            <a:srgbClr val="0F6B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Freeform 14"/>
          <p:cNvSpPr/>
          <p:nvPr/>
        </p:nvSpPr>
        <p:spPr>
          <a:xfrm>
            <a:off x="9258300" y="6334125"/>
            <a:ext cx="152400" cy="133350"/>
          </a:xfrm>
          <a:custGeom>
            <a:avLst/>
            <a:gdLst/>
            <a:ahLst/>
            <a:cxnLst/>
            <a:rect l="l" t="t" r="r" b="b"/>
            <a:pathLst>
              <a:path w="152400" h="133350">
                <a:moveTo>
                  <a:pt x="0" y="66675"/>
                </a:moveTo>
                <a:lnTo>
                  <a:pt x="152400" y="0"/>
                </a:lnTo>
                <a:lnTo>
                  <a:pt x="152400" y="133350"/>
                </a:lnTo>
                <a:close/>
              </a:path>
            </a:pathLst>
          </a:custGeom>
          <a:solidFill>
            <a:srgbClr val="0F6B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505950" y="5143500"/>
            <a:ext cx="3438525" cy="2524125"/>
          </a:xfrm>
          <a:prstGeom prst="roundRect">
            <a:avLst>
              <a:gd name="adj" fmla="val 5283"/>
            </a:avLst>
          </a:prstGeom>
          <a:solidFill>
            <a:srgbClr val="F3F4F6"/>
          </a:solidFill>
          <a:ln>
            <a:noFill/>
          </a:ln>
          <a:effectLst>
            <a:outerShdw blurRad="28575" dist="28575" dir="5400000"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9505950" y="5143500"/>
            <a:ext cx="3438525" cy="47625"/>
          </a:xfrm>
          <a:prstGeom prst="rect">
            <a:avLst/>
          </a:prstGeom>
          <a:solidFill>
            <a:srgbClr val="0F6B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791700" y="5543550"/>
            <a:ext cx="2867025" cy="476250"/>
          </a:xfrm>
          <a:prstGeom prst="rect">
            <a:avLst/>
          </a:prstGeom>
          <a:noFill/>
        </p:spPr>
        <p:txBody>
          <a:bodyPr wrap="square" lIns="0" rIns="0" tIns="0" bIns="0">
            <a:spAutoFit/>
          </a:bodyPr>
          <a:lstStyle/>
          <a:p>
            <a:pPr algn="l"/>
            <a:r>
              <a:rPr sz="3000" b="1">
                <a:solidFill>
                  <a:srgbClr val="0A3A99"/>
                </a:solidFill>
                <a:latin typeface="Aptos"/>
              </a:rPr>
              <a:t>RESOURCE</a:t>
            </a:r>
          </a:p>
        </p:txBody>
      </p:sp>
      <p:sp>
        <p:nvSpPr>
          <p:cNvPr id="19" name="TextBox 18"/>
          <p:cNvSpPr txBox="1"/>
          <p:nvPr/>
        </p:nvSpPr>
        <p:spPr>
          <a:xfrm>
            <a:off x="9791700" y="6191250"/>
            <a:ext cx="2867025" cy="1285875"/>
          </a:xfrm>
          <a:prstGeom prst="rect">
            <a:avLst/>
          </a:prstGeom>
          <a:noFill/>
        </p:spPr>
        <p:txBody>
          <a:bodyPr wrap="square" lIns="0" rIns="0" tIns="0" bIns="0">
            <a:spAutoFit/>
          </a:bodyPr>
          <a:lstStyle/>
          <a:p>
            <a:pPr algn="l">
              <a:lnSpc>
                <a:spcPct val="125000"/>
              </a:lnSpc>
            </a:pPr>
            <a:r>
              <a:rPr sz="2200">
                <a:solidFill>
                  <a:srgbClr val="333333"/>
                </a:solidFill>
                <a:latin typeface="Aptos"/>
              </a:rPr>
              <a:t>One artifact, by digest.</a:t>
            </a:r>
          </a:p>
        </p:txBody>
      </p:sp>
      <p:sp>
        <p:nvSpPr>
          <p:cNvPr id="20" name="Rectangle 19"/>
          <p:cNvSpPr/>
          <p:nvPr/>
        </p:nvSpPr>
        <p:spPr>
          <a:xfrm>
            <a:off x="13039725" y="6392227"/>
            <a:ext cx="390525" cy="17145"/>
          </a:xfrm>
          <a:prstGeom prst="rect">
            <a:avLst/>
          </a:prstGeom>
          <a:solidFill>
            <a:srgbClr val="0F6B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Freeform 20"/>
          <p:cNvSpPr/>
          <p:nvPr/>
        </p:nvSpPr>
        <p:spPr>
          <a:xfrm>
            <a:off x="13420725" y="6334125"/>
            <a:ext cx="152400" cy="133350"/>
          </a:xfrm>
          <a:custGeom>
            <a:avLst/>
            <a:gdLst/>
            <a:ahLst/>
            <a:cxnLst/>
            <a:rect l="l" t="t" r="r" b="b"/>
            <a:pathLst>
              <a:path w="152400" h="133350">
                <a:moveTo>
                  <a:pt x="0" y="66675"/>
                </a:moveTo>
                <a:lnTo>
                  <a:pt x="152400" y="0"/>
                </a:lnTo>
                <a:lnTo>
                  <a:pt x="152400" y="133350"/>
                </a:lnTo>
                <a:close/>
              </a:path>
            </a:pathLst>
          </a:custGeom>
          <a:solidFill>
            <a:srgbClr val="0F6B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3668375" y="5143500"/>
            <a:ext cx="3438525" cy="2524125"/>
          </a:xfrm>
          <a:prstGeom prst="roundRect">
            <a:avLst>
              <a:gd name="adj" fmla="val 5283"/>
            </a:avLst>
          </a:prstGeom>
          <a:solidFill>
            <a:srgbClr val="F3F4F6"/>
          </a:solidFill>
          <a:ln>
            <a:noFill/>
          </a:ln>
          <a:effectLst>
            <a:outerShdw blurRad="28575" dist="28575" dir="5400000"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3668375" y="5143500"/>
            <a:ext cx="3438525" cy="47625"/>
          </a:xfrm>
          <a:prstGeom prst="rect">
            <a:avLst/>
          </a:prstGeom>
          <a:solidFill>
            <a:srgbClr val="0F6B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3954125" y="5543550"/>
            <a:ext cx="2867025" cy="476250"/>
          </a:xfrm>
          <a:prstGeom prst="rect">
            <a:avLst/>
          </a:prstGeom>
          <a:noFill/>
        </p:spPr>
        <p:txBody>
          <a:bodyPr wrap="square" lIns="0" rIns="0" tIns="0" bIns="0">
            <a:spAutoFit/>
          </a:bodyPr>
          <a:lstStyle/>
          <a:p>
            <a:pPr algn="l"/>
            <a:r>
              <a:rPr sz="3000" b="1">
                <a:solidFill>
                  <a:srgbClr val="0A3A99"/>
                </a:solidFill>
                <a:latin typeface="Aptos"/>
              </a:rPr>
              <a:t>DEPLOYER</a:t>
            </a:r>
          </a:p>
        </p:txBody>
      </p:sp>
      <p:sp>
        <p:nvSpPr>
          <p:cNvPr id="25" name="TextBox 24"/>
          <p:cNvSpPr txBox="1"/>
          <p:nvPr/>
        </p:nvSpPr>
        <p:spPr>
          <a:xfrm>
            <a:off x="13954125" y="6191250"/>
            <a:ext cx="2867025" cy="1285875"/>
          </a:xfrm>
          <a:prstGeom prst="rect">
            <a:avLst/>
          </a:prstGeom>
          <a:noFill/>
        </p:spPr>
        <p:txBody>
          <a:bodyPr wrap="square" lIns="0" rIns="0" tIns="0" bIns="0">
            <a:spAutoFit/>
          </a:bodyPr>
          <a:lstStyle/>
          <a:p>
            <a:pPr algn="l">
              <a:lnSpc>
                <a:spcPct val="125000"/>
              </a:lnSpc>
            </a:pPr>
            <a:r>
              <a:rPr sz="2200">
                <a:solidFill>
                  <a:srgbClr val="333333"/>
                </a:solidFill>
                <a:latin typeface="Aptos"/>
              </a:rPr>
              <a:t>Applies it to the cluster.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DAY 2</a:t>
            </a:r>
          </a:p>
        </p:txBody>
      </p:sp>
      <p:sp>
        <p:nvSpPr>
          <p:cNvPr id="3" name="Title 2"/>
          <p:cNvSpPr>
            <a:spLocks noGrp="1"/>
          </p:cNvSpPr>
          <p:nvPr>
            <p:ph type="title" idx="2"/>
          </p:nvPr>
        </p:nvSpPr>
        <p:spPr/>
        <p:txBody>
          <a:bodyPr/>
          <a:lstStyle/>
          <a:p>
            <a:r>
              <a:t>Bump the product version.</a:t>
            </a:r>
          </a:p>
          <a:p>
            <a:r>
              <a:t>Everything follows.</a:t>
            </a:r>
          </a:p>
        </p:txBody>
      </p:sp>
      <p:sp>
        <p:nvSpPr>
          <p:cNvPr id="4" name="Rounded Rectangle 3"/>
          <p:cNvSpPr/>
          <p:nvPr/>
        </p:nvSpPr>
        <p:spPr>
          <a:xfrm>
            <a:off x="1333500" y="3524250"/>
            <a:ext cx="7048500" cy="5715000"/>
          </a:xfrm>
          <a:prstGeom prst="roundRect">
            <a:avLst/>
          </a:prstGeom>
          <a:solidFill>
            <a:srgbClr val="F3F4F6"/>
          </a:solidFill>
          <a:ln w="9525">
            <a:solidFill>
              <a:srgbClr val="6B7280"/>
            </a:solidFill>
          </a:ln>
        </p:spPr>
        <p:style>
          <a:lnRef idx="1">
            <a:schemeClr val="accent1"/>
          </a:lnRef>
          <a:fillRef idx="3">
            <a:schemeClr val="accent1"/>
          </a:fillRef>
          <a:effectRef idx="2">
            <a:schemeClr val="accent1"/>
          </a:effectRef>
          <a:fontRef idx="minor">
            <a:schemeClr val="lt1"/>
          </a:fontRef>
        </p:style>
        <p:txBody>
          <a:bodyPr rtlCol="0" anchor="t" lIns="140000" rIns="140000" tIns="120000" bIns="120000" wrap="none"/>
          <a:lstStyle/>
          <a:p>
            <a:pPr algn="l">
              <a:lnSpc>
                <a:spcPct val="115000"/>
              </a:lnSpc>
              <a:spcBef>
                <a:spcPts val="0"/>
              </a:spcBef>
              <a:spcAft>
                <a:spcPts val="0"/>
              </a:spcAft>
            </a:pPr>
            <a:r>
              <a:rPr sz="1700">
                <a:solidFill>
                  <a:srgbClr val="0A3A99"/>
                </a:solidFill>
                <a:latin typeface="Consolas"/>
              </a:rPr>
              <a:t>component:</a:t>
            </a:r>
          </a:p>
          <a:p>
            <a:pPr algn="l">
              <a:lnSpc>
                <a:spcPct val="115000"/>
              </a:lnSpc>
              <a:spcBef>
                <a:spcPts val="0"/>
              </a:spcBef>
              <a:spcAft>
                <a:spcPts val="0"/>
              </a:spcAft>
            </a:pPr>
            <a:r>
              <a:rPr sz="1700">
                <a:solidFill>
                  <a:srgbClr val="000000"/>
                </a:solidFill>
                <a:latin typeface="Consolas"/>
              </a:rPr>
              <a:t>  name: acme.org/sovereign/product</a:t>
            </a:r>
          </a:p>
          <a:p>
            <a:pPr algn="l">
              <a:lnSpc>
                <a:spcPct val="115000"/>
              </a:lnSpc>
              <a:spcBef>
                <a:spcPts val="0"/>
              </a:spcBef>
              <a:spcAft>
                <a:spcPts val="0"/>
              </a:spcAft>
            </a:pPr>
            <a:r>
              <a:rPr sz="1700">
                <a:solidFill>
                  <a:srgbClr val="000000"/>
                </a:solidFill>
                <a:latin typeface="Consolas"/>
              </a:rPr>
              <a:t>  version: 1.0.0</a:t>
            </a:r>
          </a:p>
          <a:p>
            <a:pPr algn="l">
              <a:lnSpc>
                <a:spcPct val="115000"/>
              </a:lnSpc>
              <a:spcBef>
                <a:spcPts val="0"/>
              </a:spcBef>
              <a:spcAft>
                <a:spcPts val="0"/>
              </a:spcAft>
            </a:pPr>
            <a:r>
              <a:rPr sz="1700">
                <a:solidFill>
                  <a:srgbClr val="0A3A99"/>
                </a:solidFill>
                <a:latin typeface="Consolas"/>
              </a:rPr>
              <a:t>  componentReferences:</a:t>
            </a:r>
          </a:p>
          <a:p>
            <a:pPr algn="l">
              <a:lnSpc>
                <a:spcPct val="115000"/>
              </a:lnSpc>
              <a:spcBef>
                <a:spcPts val="0"/>
              </a:spcBef>
              <a:spcAft>
                <a:spcPts val="0"/>
              </a:spcAft>
            </a:pPr>
            <a:r>
              <a:rPr sz="1700">
                <a:solidFill>
                  <a:srgbClr val="000000"/>
                </a:solidFill>
                <a:latin typeface="Consolas"/>
              </a:rPr>
              <a:t>    - name: notes</a:t>
            </a:r>
          </a:p>
          <a:p>
            <a:pPr algn="l">
              <a:lnSpc>
                <a:spcPct val="115000"/>
              </a:lnSpc>
              <a:spcBef>
                <a:spcPts val="0"/>
              </a:spcBef>
              <a:spcAft>
                <a:spcPts val="0"/>
              </a:spcAft>
            </a:pPr>
            <a:r>
              <a:rPr sz="1700">
                <a:solidFill>
                  <a:srgbClr val="000000"/>
                </a:solidFill>
                <a:latin typeface="Consolas"/>
              </a:rPr>
              <a:t>      componentName: acme.org/sovereign/notes</a:t>
            </a:r>
          </a:p>
          <a:p>
            <a:pPr algn="l">
              <a:lnSpc>
                <a:spcPct val="115000"/>
              </a:lnSpc>
              <a:spcBef>
                <a:spcPts val="0"/>
              </a:spcBef>
              <a:spcAft>
                <a:spcPts val="0"/>
              </a:spcAft>
            </a:pPr>
            <a:r>
              <a:rPr sz="1700">
                <a:solidFill>
                  <a:srgbClr val="000000"/>
                </a:solidFill>
                <a:latin typeface="Consolas"/>
              </a:rPr>
              <a:t>      version: 1.0.0</a:t>
            </a:r>
          </a:p>
          <a:p>
            <a:pPr algn="l">
              <a:lnSpc>
                <a:spcPct val="115000"/>
              </a:lnSpc>
              <a:spcBef>
                <a:spcPts val="0"/>
              </a:spcBef>
              <a:spcAft>
                <a:spcPts val="0"/>
              </a:spcAft>
            </a:pPr>
            <a:r>
              <a:rPr sz="1700">
                <a:solidFill>
                  <a:srgbClr val="6B7280"/>
                </a:solidFill>
                <a:latin typeface="Consolas"/>
              </a:rPr>
              <a:t>      digest:                                               # of the child descriptor</a:t>
            </a:r>
          </a:p>
          <a:p>
            <a:pPr algn="l">
              <a:lnSpc>
                <a:spcPct val="115000"/>
              </a:lnSpc>
              <a:spcBef>
                <a:spcPts val="0"/>
              </a:spcBef>
              <a:spcAft>
                <a:spcPts val="0"/>
              </a:spcAft>
            </a:pPr>
            <a:r>
              <a:rPr sz="1700">
                <a:solidFill>
                  <a:srgbClr val="000000"/>
                </a:solidFill>
                <a:latin typeface="Consolas"/>
              </a:rPr>
              <a:t>        hashAlgorithm: SHA-256</a:t>
            </a:r>
          </a:p>
          <a:p>
            <a:pPr algn="l">
              <a:lnSpc>
                <a:spcPct val="115000"/>
              </a:lnSpc>
              <a:spcBef>
                <a:spcPts val="0"/>
              </a:spcBef>
              <a:spcAft>
                <a:spcPts val="0"/>
              </a:spcAft>
            </a:pPr>
            <a:r>
              <a:rPr sz="1700">
                <a:solidFill>
                  <a:srgbClr val="000000"/>
                </a:solidFill>
                <a:latin typeface="Consolas"/>
              </a:rPr>
              <a:t>        value: 7a1b2c3d4e...</a:t>
            </a:r>
          </a:p>
          <a:p>
            <a:pPr algn="l">
              <a:lnSpc>
                <a:spcPct val="115000"/>
              </a:lnSpc>
              <a:spcBef>
                <a:spcPts val="0"/>
              </a:spcBef>
              <a:spcAft>
                <a:spcPts val="0"/>
              </a:spcAft>
            </a:pPr>
            <a:r>
              <a:rPr sz="1700">
                <a:solidFill>
                  <a:srgbClr val="000000"/>
                </a:solidFill>
                <a:latin typeface="Consolas"/>
              </a:rPr>
              <a:t>    - name: postgres</a:t>
            </a:r>
          </a:p>
          <a:p>
            <a:pPr algn="l">
              <a:lnSpc>
                <a:spcPct val="115000"/>
              </a:lnSpc>
              <a:spcBef>
                <a:spcPts val="0"/>
              </a:spcBef>
              <a:spcAft>
                <a:spcPts val="0"/>
              </a:spcAft>
            </a:pPr>
            <a:r>
              <a:rPr sz="1700">
                <a:solidFill>
                  <a:srgbClr val="000000"/>
                </a:solidFill>
                <a:latin typeface="Consolas"/>
              </a:rPr>
              <a:t>      componentName: acme.org/sovereign/postgres</a:t>
            </a:r>
          </a:p>
          <a:p>
            <a:pPr algn="l">
              <a:lnSpc>
                <a:spcPct val="115000"/>
              </a:lnSpc>
              <a:spcBef>
                <a:spcPts val="0"/>
              </a:spcBef>
              <a:spcAft>
                <a:spcPts val="0"/>
              </a:spcAft>
            </a:pPr>
            <a:r>
              <a:rPr sz="1700">
                <a:solidFill>
                  <a:srgbClr val="000000"/>
                </a:solidFill>
                <a:latin typeface="Consolas"/>
              </a:rPr>
              <a:t>      version: 1.0.0</a:t>
            </a:r>
          </a:p>
          <a:p>
            <a:pPr algn="l">
              <a:lnSpc>
                <a:spcPct val="115000"/>
              </a:lnSpc>
              <a:spcBef>
                <a:spcPts val="0"/>
              </a:spcBef>
              <a:spcAft>
                <a:spcPts val="0"/>
              </a:spcAft>
            </a:pPr>
            <a:r>
              <a:rPr sz="1700">
                <a:solidFill>
                  <a:srgbClr val="6B7280"/>
                </a:solidFill>
                <a:latin typeface="Consolas"/>
              </a:rPr>
              <a:t>      digest:</a:t>
            </a:r>
          </a:p>
          <a:p>
            <a:pPr algn="l">
              <a:lnSpc>
                <a:spcPct val="115000"/>
              </a:lnSpc>
              <a:spcBef>
                <a:spcPts val="0"/>
              </a:spcBef>
              <a:spcAft>
                <a:spcPts val="0"/>
              </a:spcAft>
            </a:pPr>
            <a:r>
              <a:rPr sz="1700">
                <a:solidFill>
                  <a:srgbClr val="000000"/>
                </a:solidFill>
                <a:latin typeface="Consolas"/>
              </a:rPr>
              <a:t>        hashAlgorithm: SHA-256</a:t>
            </a:r>
          </a:p>
          <a:p>
            <a:pPr algn="l">
              <a:lnSpc>
                <a:spcPct val="115000"/>
              </a:lnSpc>
              <a:spcBef>
                <a:spcPts val="0"/>
              </a:spcBef>
              <a:spcAft>
                <a:spcPts val="0"/>
              </a:spcAft>
            </a:pPr>
            <a:r>
              <a:rPr sz="1700">
                <a:solidFill>
                  <a:srgbClr val="000000"/>
                </a:solidFill>
                <a:latin typeface="Consolas"/>
              </a:rPr>
              <a:t>        value: f5e4d3c2b1...</a:t>
            </a:r>
          </a:p>
          <a:p>
            <a:pPr algn="l">
              <a:lnSpc>
                <a:spcPct val="115000"/>
              </a:lnSpc>
              <a:spcBef>
                <a:spcPts val="0"/>
              </a:spcBef>
              <a:spcAft>
                <a:spcPts val="0"/>
              </a:spcAft>
            </a:pPr>
            <a:r>
              <a:rPr sz="1700">
                <a:solidFill>
                  <a:srgbClr val="0A3A99"/>
                </a:solidFill>
                <a:latin typeface="Consolas"/>
              </a:rPr>
              <a:t>signatures:</a:t>
            </a:r>
          </a:p>
          <a:p>
            <a:pPr algn="l">
              <a:lnSpc>
                <a:spcPct val="115000"/>
              </a:lnSpc>
              <a:spcBef>
                <a:spcPts val="0"/>
              </a:spcBef>
              <a:spcAft>
                <a:spcPts val="0"/>
              </a:spcAft>
            </a:pPr>
            <a:r>
              <a:rPr sz="1700">
                <a:solidFill>
                  <a:srgbClr val="000000"/>
                </a:solidFill>
                <a:latin typeface="Consolas"/>
              </a:rPr>
              <a:t>  - name: acme-release-key</a:t>
            </a:r>
          </a:p>
          <a:p>
            <a:pPr algn="l">
              <a:lnSpc>
                <a:spcPct val="115000"/>
              </a:lnSpc>
              <a:spcBef>
                <a:spcPts val="0"/>
              </a:spcBef>
              <a:spcAft>
                <a:spcPts val="0"/>
              </a:spcAft>
            </a:pPr>
            <a:r>
              <a:rPr sz="1700">
                <a:solidFill>
                  <a:srgbClr val="0A3A99"/>
                </a:solidFill>
                <a:latin typeface="Consolas"/>
              </a:rPr>
              <a:t>    signature:</a:t>
            </a:r>
          </a:p>
          <a:p>
            <a:pPr algn="l">
              <a:lnSpc>
                <a:spcPct val="115000"/>
              </a:lnSpc>
              <a:spcBef>
                <a:spcPts val="0"/>
              </a:spcBef>
              <a:spcAft>
                <a:spcPts val="0"/>
              </a:spcAft>
            </a:pPr>
            <a:r>
              <a:rPr sz="1700">
                <a:solidFill>
                  <a:srgbClr val="000000"/>
                </a:solidFill>
                <a:latin typeface="Consolas"/>
              </a:rPr>
              <a:t>      algorithm: RSASSA-PSS</a:t>
            </a:r>
          </a:p>
          <a:p>
            <a:pPr algn="l">
              <a:lnSpc>
                <a:spcPct val="115000"/>
              </a:lnSpc>
              <a:spcBef>
                <a:spcPts val="0"/>
              </a:spcBef>
              <a:spcAft>
                <a:spcPts val="0"/>
              </a:spcAft>
            </a:pPr>
            <a:r>
              <a:rPr sz="1700">
                <a:solidFill>
                  <a:srgbClr val="000000"/>
                </a:solidFill>
                <a:latin typeface="Consolas"/>
              </a:rPr>
              <a:t>      value: a4b1c2d3e5f6789abc012345def04691...</a:t>
            </a:r>
          </a:p>
        </p:txBody>
      </p:sp>
      <p:sp>
        <p:nvSpPr>
          <p:cNvPr id="5" name="Rounded Rectangle 4"/>
          <p:cNvSpPr/>
          <p:nvPr/>
        </p:nvSpPr>
        <p:spPr>
          <a:xfrm>
            <a:off x="9906000" y="3524250"/>
            <a:ext cx="7048500" cy="5715000"/>
          </a:xfrm>
          <a:prstGeom prst="roundRect">
            <a:avLst/>
          </a:prstGeom>
          <a:solidFill>
            <a:srgbClr val="F3F4F6"/>
          </a:solidFill>
          <a:ln w="9525">
            <a:solidFill>
              <a:srgbClr val="6B7280"/>
            </a:solidFill>
          </a:ln>
        </p:spPr>
        <p:style>
          <a:lnRef idx="1">
            <a:schemeClr val="accent1"/>
          </a:lnRef>
          <a:fillRef idx="3">
            <a:schemeClr val="accent1"/>
          </a:fillRef>
          <a:effectRef idx="2">
            <a:schemeClr val="accent1"/>
          </a:effectRef>
          <a:fontRef idx="minor">
            <a:schemeClr val="lt1"/>
          </a:fontRef>
        </p:style>
        <p:txBody>
          <a:bodyPr rtlCol="0" anchor="t" lIns="140000" rIns="140000" tIns="120000" bIns="120000" wrap="none"/>
          <a:lstStyle/>
          <a:p>
            <a:pPr algn="l">
              <a:lnSpc>
                <a:spcPct val="115000"/>
              </a:lnSpc>
              <a:spcBef>
                <a:spcPts val="0"/>
              </a:spcBef>
              <a:spcAft>
                <a:spcPts val="0"/>
              </a:spcAft>
            </a:pPr>
            <a:r>
              <a:rPr sz="1700">
                <a:solidFill>
                  <a:srgbClr val="0A3A99"/>
                </a:solidFill>
                <a:latin typeface="Consolas"/>
              </a:rPr>
              <a:t>component:</a:t>
            </a:r>
          </a:p>
          <a:p>
            <a:pPr algn="l">
              <a:lnSpc>
                <a:spcPct val="115000"/>
              </a:lnSpc>
              <a:spcBef>
                <a:spcPts val="0"/>
              </a:spcBef>
              <a:spcAft>
                <a:spcPts val="0"/>
              </a:spcAft>
            </a:pPr>
            <a:r>
              <a:rPr sz="1700">
                <a:solidFill>
                  <a:srgbClr val="000000"/>
                </a:solidFill>
                <a:latin typeface="Consolas"/>
              </a:rPr>
              <a:t>  name: acme.org/sovereign/product</a:t>
            </a:r>
          </a:p>
          <a:p>
            <a:pPr algn="l">
              <a:lnSpc>
                <a:spcPct val="115000"/>
              </a:lnSpc>
              <a:spcBef>
                <a:spcPts val="0"/>
              </a:spcBef>
              <a:spcAft>
                <a:spcPts val="0"/>
              </a:spcAft>
            </a:pPr>
            <a:r>
              <a:rPr sz="1700">
                <a:solidFill>
                  <a:srgbClr val="0F6BFF"/>
                </a:solidFill>
                <a:latin typeface="Consolas"/>
              </a:rPr>
              <a:t>  version: 1.1.0</a:t>
            </a:r>
          </a:p>
          <a:p>
            <a:pPr algn="l">
              <a:lnSpc>
                <a:spcPct val="115000"/>
              </a:lnSpc>
              <a:spcBef>
                <a:spcPts val="0"/>
              </a:spcBef>
              <a:spcAft>
                <a:spcPts val="0"/>
              </a:spcAft>
            </a:pPr>
            <a:r>
              <a:rPr sz="1700">
                <a:solidFill>
                  <a:srgbClr val="0A3A99"/>
                </a:solidFill>
                <a:latin typeface="Consolas"/>
              </a:rPr>
              <a:t>  componentReferences:</a:t>
            </a:r>
          </a:p>
          <a:p>
            <a:pPr algn="l">
              <a:lnSpc>
                <a:spcPct val="115000"/>
              </a:lnSpc>
              <a:spcBef>
                <a:spcPts val="0"/>
              </a:spcBef>
              <a:spcAft>
                <a:spcPts val="0"/>
              </a:spcAft>
            </a:pPr>
            <a:r>
              <a:rPr sz="1700">
                <a:solidFill>
                  <a:srgbClr val="000000"/>
                </a:solidFill>
                <a:latin typeface="Consolas"/>
              </a:rPr>
              <a:t>    - name: notes</a:t>
            </a:r>
          </a:p>
          <a:p>
            <a:pPr algn="l">
              <a:lnSpc>
                <a:spcPct val="115000"/>
              </a:lnSpc>
              <a:spcBef>
                <a:spcPts val="0"/>
              </a:spcBef>
              <a:spcAft>
                <a:spcPts val="0"/>
              </a:spcAft>
            </a:pPr>
            <a:r>
              <a:rPr sz="1700">
                <a:solidFill>
                  <a:srgbClr val="000000"/>
                </a:solidFill>
                <a:latin typeface="Consolas"/>
              </a:rPr>
              <a:t>      componentName: acme.org/sovereign/notes</a:t>
            </a:r>
          </a:p>
          <a:p>
            <a:pPr algn="l">
              <a:lnSpc>
                <a:spcPct val="115000"/>
              </a:lnSpc>
              <a:spcBef>
                <a:spcPts val="0"/>
              </a:spcBef>
              <a:spcAft>
                <a:spcPts val="0"/>
              </a:spcAft>
            </a:pPr>
            <a:r>
              <a:rPr sz="1700">
                <a:solidFill>
                  <a:srgbClr val="0F6BFF"/>
                </a:solidFill>
                <a:latin typeface="Consolas"/>
              </a:rPr>
              <a:t>      version: 1.1.0</a:t>
            </a:r>
          </a:p>
          <a:p>
            <a:pPr algn="l">
              <a:lnSpc>
                <a:spcPct val="115000"/>
              </a:lnSpc>
              <a:spcBef>
                <a:spcPts val="0"/>
              </a:spcBef>
              <a:spcAft>
                <a:spcPts val="0"/>
              </a:spcAft>
            </a:pPr>
            <a:r>
              <a:rPr sz="1700">
                <a:solidFill>
                  <a:srgbClr val="6B7280"/>
                </a:solidFill>
                <a:latin typeface="Consolas"/>
              </a:rPr>
              <a:t>      digest:                                               # of the child descriptor</a:t>
            </a:r>
          </a:p>
          <a:p>
            <a:pPr algn="l">
              <a:lnSpc>
                <a:spcPct val="115000"/>
              </a:lnSpc>
              <a:spcBef>
                <a:spcPts val="0"/>
              </a:spcBef>
              <a:spcAft>
                <a:spcPts val="0"/>
              </a:spcAft>
            </a:pPr>
            <a:r>
              <a:rPr sz="1700">
                <a:solidFill>
                  <a:srgbClr val="000000"/>
                </a:solidFill>
                <a:latin typeface="Consolas"/>
              </a:rPr>
              <a:t>        hashAlgorithm: SHA-256</a:t>
            </a:r>
          </a:p>
          <a:p>
            <a:pPr algn="l">
              <a:lnSpc>
                <a:spcPct val="115000"/>
              </a:lnSpc>
              <a:spcBef>
                <a:spcPts val="0"/>
              </a:spcBef>
              <a:spcAft>
                <a:spcPts val="0"/>
              </a:spcAft>
            </a:pPr>
            <a:r>
              <a:rPr sz="1700">
                <a:solidFill>
                  <a:srgbClr val="0F6BFF"/>
                </a:solidFill>
                <a:latin typeface="Consolas"/>
              </a:rPr>
              <a:t>        value: 9b8a7c6d5e...</a:t>
            </a:r>
          </a:p>
          <a:p>
            <a:pPr algn="l">
              <a:lnSpc>
                <a:spcPct val="115000"/>
              </a:lnSpc>
              <a:spcBef>
                <a:spcPts val="0"/>
              </a:spcBef>
              <a:spcAft>
                <a:spcPts val="0"/>
              </a:spcAft>
            </a:pPr>
            <a:r>
              <a:rPr sz="1700">
                <a:solidFill>
                  <a:srgbClr val="000000"/>
                </a:solidFill>
                <a:latin typeface="Consolas"/>
              </a:rPr>
              <a:t>    - name: postgres</a:t>
            </a:r>
          </a:p>
          <a:p>
            <a:pPr algn="l">
              <a:lnSpc>
                <a:spcPct val="115000"/>
              </a:lnSpc>
              <a:spcBef>
                <a:spcPts val="0"/>
              </a:spcBef>
              <a:spcAft>
                <a:spcPts val="0"/>
              </a:spcAft>
            </a:pPr>
            <a:r>
              <a:rPr sz="1700">
                <a:solidFill>
                  <a:srgbClr val="000000"/>
                </a:solidFill>
                <a:latin typeface="Consolas"/>
              </a:rPr>
              <a:t>      componentName: acme.org/sovereign/postgres</a:t>
            </a:r>
          </a:p>
          <a:p>
            <a:pPr algn="l">
              <a:lnSpc>
                <a:spcPct val="115000"/>
              </a:lnSpc>
              <a:spcBef>
                <a:spcPts val="0"/>
              </a:spcBef>
              <a:spcAft>
                <a:spcPts val="0"/>
              </a:spcAft>
            </a:pPr>
            <a:r>
              <a:rPr sz="1700">
                <a:solidFill>
                  <a:srgbClr val="000000"/>
                </a:solidFill>
                <a:latin typeface="Consolas"/>
              </a:rPr>
              <a:t>      version: 1.0.0</a:t>
            </a:r>
          </a:p>
          <a:p>
            <a:pPr algn="l">
              <a:lnSpc>
                <a:spcPct val="115000"/>
              </a:lnSpc>
              <a:spcBef>
                <a:spcPts val="0"/>
              </a:spcBef>
              <a:spcAft>
                <a:spcPts val="0"/>
              </a:spcAft>
            </a:pPr>
            <a:r>
              <a:rPr sz="1700">
                <a:solidFill>
                  <a:srgbClr val="6B7280"/>
                </a:solidFill>
                <a:latin typeface="Consolas"/>
              </a:rPr>
              <a:t>      digest:</a:t>
            </a:r>
          </a:p>
          <a:p>
            <a:pPr algn="l">
              <a:lnSpc>
                <a:spcPct val="115000"/>
              </a:lnSpc>
              <a:spcBef>
                <a:spcPts val="0"/>
              </a:spcBef>
              <a:spcAft>
                <a:spcPts val="0"/>
              </a:spcAft>
            </a:pPr>
            <a:r>
              <a:rPr sz="1700">
                <a:solidFill>
                  <a:srgbClr val="000000"/>
                </a:solidFill>
                <a:latin typeface="Consolas"/>
              </a:rPr>
              <a:t>        hashAlgorithm: SHA-256</a:t>
            </a:r>
          </a:p>
          <a:p>
            <a:pPr algn="l">
              <a:lnSpc>
                <a:spcPct val="115000"/>
              </a:lnSpc>
              <a:spcBef>
                <a:spcPts val="0"/>
              </a:spcBef>
              <a:spcAft>
                <a:spcPts val="0"/>
              </a:spcAft>
            </a:pPr>
            <a:r>
              <a:rPr sz="1700">
                <a:solidFill>
                  <a:srgbClr val="000000"/>
                </a:solidFill>
                <a:latin typeface="Consolas"/>
              </a:rPr>
              <a:t>        value: f5e4d3c2b1...</a:t>
            </a:r>
          </a:p>
          <a:p>
            <a:pPr algn="l">
              <a:lnSpc>
                <a:spcPct val="115000"/>
              </a:lnSpc>
              <a:spcBef>
                <a:spcPts val="0"/>
              </a:spcBef>
              <a:spcAft>
                <a:spcPts val="0"/>
              </a:spcAft>
            </a:pPr>
            <a:r>
              <a:rPr sz="1700">
                <a:solidFill>
                  <a:srgbClr val="0A3A99"/>
                </a:solidFill>
                <a:latin typeface="Consolas"/>
              </a:rPr>
              <a:t>signatures:</a:t>
            </a:r>
          </a:p>
          <a:p>
            <a:pPr algn="l">
              <a:lnSpc>
                <a:spcPct val="115000"/>
              </a:lnSpc>
              <a:spcBef>
                <a:spcPts val="0"/>
              </a:spcBef>
              <a:spcAft>
                <a:spcPts val="0"/>
              </a:spcAft>
            </a:pPr>
            <a:r>
              <a:rPr sz="1700">
                <a:solidFill>
                  <a:srgbClr val="000000"/>
                </a:solidFill>
                <a:latin typeface="Consolas"/>
              </a:rPr>
              <a:t>  - name: acme-release-key</a:t>
            </a:r>
          </a:p>
          <a:p>
            <a:pPr algn="l">
              <a:lnSpc>
                <a:spcPct val="115000"/>
              </a:lnSpc>
              <a:spcBef>
                <a:spcPts val="0"/>
              </a:spcBef>
              <a:spcAft>
                <a:spcPts val="0"/>
              </a:spcAft>
            </a:pPr>
            <a:r>
              <a:rPr sz="1700">
                <a:solidFill>
                  <a:srgbClr val="0A3A99"/>
                </a:solidFill>
                <a:latin typeface="Consolas"/>
              </a:rPr>
              <a:t>    signature:</a:t>
            </a:r>
          </a:p>
          <a:p>
            <a:pPr algn="l">
              <a:lnSpc>
                <a:spcPct val="115000"/>
              </a:lnSpc>
              <a:spcBef>
                <a:spcPts val="0"/>
              </a:spcBef>
              <a:spcAft>
                <a:spcPts val="0"/>
              </a:spcAft>
            </a:pPr>
            <a:r>
              <a:rPr sz="1700">
                <a:solidFill>
                  <a:srgbClr val="000000"/>
                </a:solidFill>
                <a:latin typeface="Consolas"/>
              </a:rPr>
              <a:t>      algorithm: RSASSA-PSS</a:t>
            </a:r>
          </a:p>
          <a:p>
            <a:pPr algn="l">
              <a:lnSpc>
                <a:spcPct val="115000"/>
              </a:lnSpc>
              <a:spcBef>
                <a:spcPts val="0"/>
              </a:spcBef>
              <a:spcAft>
                <a:spcPts val="0"/>
              </a:spcAft>
            </a:pPr>
            <a:r>
              <a:rPr sz="1700">
                <a:solidFill>
                  <a:srgbClr val="0F6BFF"/>
                </a:solidFill>
                <a:latin typeface="Consolas"/>
              </a:rPr>
              <a:t>      value: 9c2af18b3e7d52914a8c6b0f1d2e8f37...</a:t>
            </a:r>
          </a:p>
        </p:txBody>
      </p:sp>
      <p:sp>
        <p:nvSpPr>
          <p:cNvPr id="6" name="Right Arrow 5"/>
          <p:cNvSpPr/>
          <p:nvPr/>
        </p:nvSpPr>
        <p:spPr>
          <a:xfrm>
            <a:off x="8572500" y="5905500"/>
            <a:ext cx="1143000" cy="952500"/>
          </a:xfrm>
          <a:prstGeom prst="rightArrow">
            <a:avLst/>
          </a:prstGeom>
          <a:solidFill>
            <a:srgbClr val="0F6B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86750" y="5334000"/>
            <a:ext cx="1714500" cy="476250"/>
          </a:xfrm>
          <a:prstGeom prst="rect">
            <a:avLst/>
          </a:prstGeom>
          <a:noFill/>
        </p:spPr>
        <p:txBody>
          <a:bodyPr wrap="square" lIns="0" rIns="0" tIns="0" bIns="0">
            <a:spAutoFit/>
          </a:bodyPr>
          <a:lstStyle/>
          <a:p>
            <a:pPr algn="ctr"/>
            <a:r>
              <a:rPr sz="2000" b="1">
                <a:solidFill>
                  <a:srgbClr val="0F6BFF"/>
                </a:solidFill>
                <a:latin typeface="Aptos"/>
              </a:rPr>
              <a:t>bump version</a:t>
            </a:r>
          </a:p>
        </p:txBody>
      </p:sp>
      <p:sp>
        <p:nvSpPr>
          <p:cNvPr id="8" name="TextBox 7"/>
          <p:cNvSpPr txBox="1"/>
          <p:nvPr/>
        </p:nvSpPr>
        <p:spPr>
          <a:xfrm>
            <a:off x="1143000" y="9382125"/>
            <a:ext cx="16002000" cy="571500"/>
          </a:xfrm>
          <a:prstGeom prst="rect">
            <a:avLst/>
          </a:prstGeom>
          <a:noFill/>
        </p:spPr>
        <p:txBody>
          <a:bodyPr wrap="square" lIns="0" rIns="0" tIns="0" bIns="0">
            <a:spAutoFit/>
          </a:bodyPr>
          <a:lstStyle/>
          <a:p>
            <a:pPr algn="ctr"/>
            <a:r>
              <a:rPr sz="2400">
                <a:solidFill>
                  <a:srgbClr val="0F6BFF"/>
                </a:solidFill>
                <a:latin typeface="Aptos"/>
              </a:rPr>
              <a:t>Every digest pinned by the signature. The cluster cannot drift.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ADOPTION</a:t>
            </a:r>
          </a:p>
        </p:txBody>
      </p:sp>
      <p:sp>
        <p:nvSpPr>
          <p:cNvPr id="3" name="Title 2"/>
          <p:cNvSpPr>
            <a:spLocks noGrp="1"/>
          </p:cNvSpPr>
          <p:nvPr>
            <p:ph type="title" idx="2"/>
          </p:nvPr>
        </p:nvSpPr>
        <p:spPr/>
        <p:txBody>
          <a:bodyPr/>
          <a:lstStyle/>
          <a:p>
            <a:r>
              <a:t>Two SAP-shaped paths to a first OCM component.</a:t>
            </a:r>
          </a:p>
        </p:txBody>
      </p:sp>
      <p:sp>
        <p:nvSpPr>
          <p:cNvPr id="4" name="TextBox 3"/>
          <p:cNvSpPr txBox="1"/>
          <p:nvPr/>
        </p:nvSpPr>
        <p:spPr>
          <a:xfrm>
            <a:off x="952500" y="4762500"/>
            <a:ext cx="7810500" cy="533400"/>
          </a:xfrm>
          <a:prstGeom prst="rect">
            <a:avLst/>
          </a:prstGeom>
          <a:noFill/>
        </p:spPr>
        <p:txBody>
          <a:bodyPr wrap="square" lIns="0" rIns="0" tIns="0" bIns="0">
            <a:spAutoFit/>
          </a:bodyPr>
          <a:lstStyle/>
          <a:p>
            <a:pPr algn="l"/>
            <a:r>
              <a:rPr sz="2200" b="1">
                <a:solidFill>
                  <a:srgbClr val="0F6BFF"/>
                </a:solidFill>
                <a:latin typeface="Aptos"/>
              </a:rPr>
              <a:t>PACK &amp; SHIP</a:t>
            </a:r>
          </a:p>
        </p:txBody>
      </p:sp>
      <p:cxnSp>
        <p:nvCxnSpPr>
          <p:cNvPr id="5" name="Connector 4"/>
          <p:cNvCxnSpPr/>
          <p:nvPr/>
        </p:nvCxnSpPr>
        <p:spPr>
          <a:xfrm>
            <a:off x="952500" y="5295900"/>
            <a:ext cx="7810500" cy="0"/>
          </a:xfrm>
          <a:prstGeom prst="line">
            <a:avLst/>
          </a:prstGeom>
          <a:ln w="15875">
            <a:solidFill>
              <a:srgbClr val="0F6BFF"/>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952500" y="5448300"/>
            <a:ext cx="7810500" cy="2933700"/>
          </a:xfrm>
          <a:prstGeom prst="rect">
            <a:avLst/>
          </a:prstGeom>
          <a:noFill/>
        </p:spPr>
        <p:txBody>
          <a:bodyPr wrap="square" lIns="0" rIns="0" tIns="0" bIns="0">
            <a:spAutoFit/>
          </a:bodyPr>
          <a:lstStyle/>
          <a:p>
            <a:pPr algn="l">
              <a:spcBef>
                <a:spcPts val="0"/>
              </a:spcBef>
            </a:pPr>
            <a:r>
              <a:rPr sz="2200">
                <a:solidFill>
                  <a:srgbClr val="000000"/>
                </a:solidFill>
                <a:latin typeface="Aptos"/>
              </a:rPr>
              <a:t>OCM CLI v2 — pack one product. Sign it.</a:t>
            </a:r>
          </a:p>
          <a:p>
            <a:pPr algn="l">
              <a:spcBef>
                <a:spcPts val="1000"/>
              </a:spcBef>
            </a:pPr>
            <a:r>
              <a:rPr sz="2200">
                <a:solidFill>
                  <a:srgbClr val="000000"/>
                </a:solidFill>
                <a:latin typeface="Aptos"/>
              </a:rPr>
              <a:t>RBSC integration — ship via the shipment channel.</a:t>
            </a:r>
          </a:p>
          <a:p>
            <a:pPr algn="l">
              <a:spcBef>
                <a:spcPts val="1000"/>
              </a:spcBef>
            </a:pPr>
            <a:r>
              <a:rPr sz="2200">
                <a:solidFill>
                  <a:srgbClr val="000000"/>
                </a:solidFill>
                <a:latin typeface="Aptos"/>
              </a:rPr>
              <a:t>Air-gap-safe by construction. No callbacks.</a:t>
            </a:r>
          </a:p>
          <a:p>
            <a:pPr algn="l">
              <a:spcBef>
                <a:spcPts val="1000"/>
              </a:spcBef>
            </a:pPr>
            <a:r>
              <a:rPr sz="2200">
                <a:solidFill>
                  <a:srgbClr val="000000"/>
                </a:solidFill>
                <a:latin typeface="Aptos"/>
              </a:rPr>
              <a:t>Start hands-on: pack locally in 30 minutes.</a:t>
            </a:r>
          </a:p>
        </p:txBody>
      </p:sp>
      <p:sp>
        <p:nvSpPr>
          <p:cNvPr id="7" name="TextBox 6"/>
          <p:cNvSpPr txBox="1"/>
          <p:nvPr/>
        </p:nvSpPr>
        <p:spPr>
          <a:xfrm>
            <a:off x="9525000" y="4762500"/>
            <a:ext cx="7810500" cy="533400"/>
          </a:xfrm>
          <a:prstGeom prst="rect">
            <a:avLst/>
          </a:prstGeom>
          <a:noFill/>
        </p:spPr>
        <p:txBody>
          <a:bodyPr wrap="square" lIns="0" rIns="0" tIns="0" bIns="0">
            <a:spAutoFit/>
          </a:bodyPr>
          <a:lstStyle/>
          <a:p>
            <a:pPr algn="l"/>
            <a:r>
              <a:rPr sz="2200" b="1">
                <a:solidFill>
                  <a:srgbClr val="0F6BFF"/>
                </a:solidFill>
                <a:latin typeface="Aptos"/>
              </a:rPr>
              <a:t>DEPLOY &amp; OPERATE</a:t>
            </a:r>
          </a:p>
        </p:txBody>
      </p:sp>
      <p:cxnSp>
        <p:nvCxnSpPr>
          <p:cNvPr id="8" name="Connector 7"/>
          <p:cNvCxnSpPr/>
          <p:nvPr/>
        </p:nvCxnSpPr>
        <p:spPr>
          <a:xfrm>
            <a:off x="9525000" y="5295900"/>
            <a:ext cx="7810500" cy="0"/>
          </a:xfrm>
          <a:prstGeom prst="line">
            <a:avLst/>
          </a:prstGeom>
          <a:ln w="15875">
            <a:solidFill>
              <a:srgbClr val="0F6BFF"/>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9525000" y="5448300"/>
            <a:ext cx="7810500" cy="2933700"/>
          </a:xfrm>
          <a:prstGeom prst="rect">
            <a:avLst/>
          </a:prstGeom>
          <a:noFill/>
        </p:spPr>
        <p:txBody>
          <a:bodyPr wrap="square" lIns="0" rIns="0" tIns="0" bIns="0">
            <a:spAutoFit/>
          </a:bodyPr>
          <a:lstStyle/>
          <a:p>
            <a:pPr algn="l">
              <a:spcBef>
                <a:spcPts val="0"/>
              </a:spcBef>
            </a:pPr>
            <a:r>
              <a:rPr sz="2200">
                <a:solidFill>
                  <a:srgbClr val="000000"/>
                </a:solidFill>
                <a:latin typeface="Aptos"/>
              </a:rPr>
              <a:t>Open Delivery Gear — OCM compliance automation.</a:t>
            </a:r>
          </a:p>
          <a:p>
            <a:pPr algn="l">
              <a:spcBef>
                <a:spcPts val="1000"/>
              </a:spcBef>
            </a:pPr>
            <a:r>
              <a:rPr sz="2200">
                <a:solidFill>
                  <a:srgbClr val="000000"/>
                </a:solidFill>
                <a:latin typeface="Aptos"/>
              </a:rPr>
              <a:t>Open Control Plane — declarative deploy runtime.</a:t>
            </a:r>
          </a:p>
          <a:p>
            <a:pPr algn="l">
              <a:spcBef>
                <a:spcPts val="1000"/>
              </a:spcBef>
            </a:pPr>
            <a:r>
              <a:rPr sz="2200">
                <a:solidFill>
                  <a:srgbClr val="000000"/>
                </a:solidFill>
                <a:latin typeface="Aptos"/>
              </a:rPr>
              <a:t>Sovereign-cloud-ready. Verify at the destination.</a:t>
            </a:r>
          </a:p>
          <a:p>
            <a:pPr algn="l">
              <a:spcBef>
                <a:spcPts val="1000"/>
              </a:spcBef>
            </a:pPr>
            <a:r>
              <a:rPr sz="2200">
                <a:solidFill>
                  <a:srgbClr val="000000"/>
                </a:solidFill>
                <a:latin typeface="Aptos"/>
              </a:rPr>
              <a:t>Day-2 ops on the same primitive.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WHAT'S SHARP</a:t>
            </a:r>
          </a:p>
        </p:txBody>
      </p:sp>
      <p:sp>
        <p:nvSpPr>
          <p:cNvPr id="3" name="Title 2"/>
          <p:cNvSpPr>
            <a:spLocks noGrp="1"/>
          </p:cNvSpPr>
          <p:nvPr>
            <p:ph type="title" idx="2"/>
          </p:nvPr>
        </p:nvSpPr>
        <p:spPr/>
        <p:txBody>
          <a:bodyPr/>
          <a:lstStyle/>
          <a:p>
            <a:r>
              <a:t>Three honest edges.</a:t>
            </a:r>
          </a:p>
        </p:txBody>
      </p:sp>
      <p:sp>
        <p:nvSpPr>
          <p:cNvPr id="4" name="Text Placeholder 3"/>
          <p:cNvSpPr>
            <a:spLocks noGrp="1"/>
          </p:cNvSpPr>
          <p:nvPr>
            <p:ph type="body" idx="10"/>
          </p:nvPr>
        </p:nvSpPr>
        <p:spPr/>
        <p:txBody>
          <a:bodyPr/>
          <a:lstStyle/>
          <a:p>
            <a:pPr>
              <a:spcBef>
                <a:spcPts val="800"/>
              </a:spcBef>
              <a:spcAft>
                <a:spcPts val="800"/>
              </a:spcAft>
            </a:pPr>
            <a:r>
              <a:rPr b="1" sz="2600">
                <a:solidFill>
                  <a:srgbClr val="0F6BFF"/>
                </a:solidFill>
              </a:rPr>
              <a:t>▪  </a:t>
            </a:r>
            <a:r>
              <a:rPr b="1" sz="2600">
                <a:solidFill>
                  <a:srgbClr val="0F6BFF"/>
                </a:solidFill>
              </a:rPr>
              <a:t>Transfer defaults</a:t>
            </a:r>
            <a:r>
              <a:rPr sz="2600">
                <a:solidFill>
                  <a:srgbClr val="000000"/>
                </a:solidFill>
              </a:rPr>
              <a:t> — copies only the descriptor. For air-gap, pass --copy-resources so the bytes travel too.</a:t>
            </a:r>
          </a:p>
          <a:p>
            <a:pPr>
              <a:spcBef>
                <a:spcPts val="800"/>
              </a:spcBef>
              <a:spcAft>
                <a:spcPts val="800"/>
              </a:spcAft>
            </a:pPr>
            <a:r>
              <a:rPr b="1" sz="2600">
                <a:solidFill>
                  <a:srgbClr val="0F6BFF"/>
                </a:solidFill>
              </a:rPr>
              <a:t>▪  </a:t>
            </a:r>
            <a:r>
              <a:rPr b="1" sz="2600">
                <a:solidFill>
                  <a:srgbClr val="0F6BFF"/>
                </a:solidFill>
              </a:rPr>
              <a:t>Controllers are v1alpha1</a:t>
            </a:r>
            <a:r>
              <a:rPr sz="2600">
                <a:solidFill>
                  <a:srgbClr val="000000"/>
                </a:solidFill>
              </a:rPr>
              <a:t> — the CRD surface can move. Pin to specific release tags in your platform installs.</a:t>
            </a:r>
          </a:p>
          <a:p>
            <a:pPr>
              <a:spcBef>
                <a:spcPts val="800"/>
              </a:spcBef>
              <a:spcAft>
                <a:spcPts val="800"/>
              </a:spcAft>
            </a:pPr>
            <a:r>
              <a:rPr b="1" sz="2600">
                <a:solidFill>
                  <a:srgbClr val="0F6BFF"/>
                </a:solidFill>
              </a:rPr>
              <a:t>▪  </a:t>
            </a:r>
            <a:r>
              <a:rPr b="1" sz="2600">
                <a:solidFill>
                  <a:srgbClr val="0F6BFF"/>
                </a:solidFill>
              </a:rPr>
              <a:t>Helm-deploy adds kro + Flux</a:t>
            </a:r>
            <a:r>
              <a:rPr sz="2600">
                <a:solidFill>
                  <a:srgbClr val="000000"/>
                </a:solidFill>
              </a:rPr>
              <a:t> — the OCM controllers don't ship them. Bring your existing GitOps engine.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ADOPTER PROOF</a:t>
            </a:r>
          </a:p>
        </p:txBody>
      </p:sp>
      <p:sp>
        <p:nvSpPr>
          <p:cNvPr id="3" name="Title 2"/>
          <p:cNvSpPr>
            <a:spLocks noGrp="1"/>
          </p:cNvSpPr>
          <p:nvPr>
            <p:ph type="title" idx="2"/>
          </p:nvPr>
        </p:nvSpPr>
        <p:spPr/>
        <p:txBody>
          <a:bodyPr/>
          <a:lstStyle/>
          <a:p>
            <a:r>
              <a:t>Open ecosystem on the left. SAP teams on the right.</a:t>
            </a:r>
          </a:p>
        </p:txBody>
      </p:sp>
      <p:sp>
        <p:nvSpPr>
          <p:cNvPr id="4" name="TextBox 3"/>
          <p:cNvSpPr txBox="1"/>
          <p:nvPr/>
        </p:nvSpPr>
        <p:spPr>
          <a:xfrm>
            <a:off x="1143000" y="4953000"/>
            <a:ext cx="7810500" cy="342900"/>
          </a:xfrm>
          <a:prstGeom prst="rect">
            <a:avLst/>
          </a:prstGeom>
          <a:noFill/>
        </p:spPr>
        <p:txBody>
          <a:bodyPr wrap="square" lIns="0" rIns="0" tIns="0" bIns="0">
            <a:spAutoFit/>
          </a:bodyPr>
          <a:lstStyle/>
          <a:p>
            <a:pPr algn="l"/>
            <a:r>
              <a:rPr sz="1800" b="1" cap="all" spc="110">
                <a:solidFill>
                  <a:srgbClr val="0F6BFF"/>
                </a:solidFill>
                <a:latin typeface="Aptos"/>
              </a:rPr>
              <a:t>SAP OPEN-SOURCE PROJECTS</a:t>
            </a:r>
          </a:p>
        </p:txBody>
      </p:sp>
      <p:cxnSp>
        <p:nvCxnSpPr>
          <p:cNvPr id="5" name="Connector 4"/>
          <p:cNvCxnSpPr/>
          <p:nvPr/>
        </p:nvCxnSpPr>
        <p:spPr>
          <a:xfrm>
            <a:off x="1143000" y="5295900"/>
            <a:ext cx="7810500" cy="0"/>
          </a:xfrm>
          <a:prstGeom prst="line">
            <a:avLst/>
          </a:prstGeom>
          <a:ln w="15875">
            <a:solidFill>
              <a:srgbClr val="0F6BFF"/>
            </a:solidFill>
          </a:ln>
        </p:spPr>
        <p:style>
          <a:lnRef idx="2">
            <a:schemeClr val="accent1"/>
          </a:lnRef>
          <a:fillRef idx="0">
            <a:schemeClr val="accent1"/>
          </a:fillRef>
          <a:effectRef idx="1">
            <a:schemeClr val="accent1"/>
          </a:effectRef>
          <a:fontRef idx="minor">
            <a:schemeClr val="tx1"/>
          </a:fontRef>
        </p:style>
      </p:cxnSp>
      <p:pic>
        <p:nvPicPr>
          <p:cNvPr id="6" name="Picture 5" descr="gardener-horizontal-color_400.png">
            <a:hlinkClick r:id="rId3"/>
          </p:cNvPr>
          <p:cNvPicPr>
            <a:picLocks noChangeAspect="1"/>
          </p:cNvPicPr>
          <p:nvPr/>
        </p:nvPicPr>
        <p:blipFill>
          <a:blip r:embed="rId2"/>
          <a:stretch>
            <a:fillRect/>
          </a:stretch>
        </p:blipFill>
        <p:spPr>
          <a:xfrm>
            <a:off x="1571625" y="5524500"/>
            <a:ext cx="3048000" cy="876300"/>
          </a:xfrm>
          <a:prstGeom prst="rect">
            <a:avLst/>
          </a:prstGeom>
        </p:spPr>
      </p:pic>
      <p:pic>
        <p:nvPicPr>
          <p:cNvPr id="7" name="Picture 6" descr="kyma-icon-color_400.png">
            <a:hlinkClick r:id="rId5"/>
          </p:cNvPr>
          <p:cNvPicPr>
            <a:picLocks noChangeAspect="1"/>
          </p:cNvPicPr>
          <p:nvPr/>
        </p:nvPicPr>
        <p:blipFill>
          <a:blip r:embed="rId4"/>
          <a:stretch>
            <a:fillRect/>
          </a:stretch>
        </p:blipFill>
        <p:spPr>
          <a:xfrm>
            <a:off x="6509896" y="5524500"/>
            <a:ext cx="981958" cy="952500"/>
          </a:xfrm>
          <a:prstGeom prst="rect">
            <a:avLst/>
          </a:prstGeom>
        </p:spPr>
      </p:pic>
      <p:sp>
        <p:nvSpPr>
          <p:cNvPr id="8" name="TextBox 7"/>
          <p:cNvSpPr txBox="1"/>
          <p:nvPr/>
        </p:nvSpPr>
        <p:spPr>
          <a:xfrm>
            <a:off x="5048250" y="6553200"/>
            <a:ext cx="3905250" cy="266700"/>
          </a:xfrm>
          <a:prstGeom prst="rect">
            <a:avLst/>
          </a:prstGeom>
          <a:noFill/>
        </p:spPr>
        <p:txBody>
          <a:bodyPr wrap="none" lIns="0" rIns="0" tIns="0" bIns="0">
            <a:spAutoFit/>
          </a:bodyPr>
          <a:lstStyle/>
          <a:p>
            <a:pPr algn="ctr"/>
            <a:r>
              <a:rPr sz="1600">
                <a:solidFill>
                  <a:srgbClr val="6B7280"/>
                </a:solidFill>
                <a:latin typeface="Aptos"/>
              </a:rPr>
              <a:t>Kyma</a:t>
            </a:r>
          </a:p>
        </p:txBody>
      </p:sp>
      <p:pic>
        <p:nvPicPr>
          <p:cNvPr id="9" name="Picture 8" descr="opencontrolplane-icon-color_400.png">
            <a:hlinkClick r:id="rId7"/>
          </p:cNvPr>
          <p:cNvPicPr>
            <a:picLocks noChangeAspect="1"/>
          </p:cNvPicPr>
          <p:nvPr/>
        </p:nvPicPr>
        <p:blipFill>
          <a:blip r:embed="rId6"/>
          <a:stretch>
            <a:fillRect/>
          </a:stretch>
        </p:blipFill>
        <p:spPr>
          <a:xfrm>
            <a:off x="2685948" y="7239000"/>
            <a:ext cx="819354" cy="952500"/>
          </a:xfrm>
          <a:prstGeom prst="rect">
            <a:avLst/>
          </a:prstGeom>
        </p:spPr>
      </p:pic>
      <p:sp>
        <p:nvSpPr>
          <p:cNvPr id="10" name="TextBox 9"/>
          <p:cNvSpPr txBox="1"/>
          <p:nvPr/>
        </p:nvSpPr>
        <p:spPr>
          <a:xfrm>
            <a:off x="1143000" y="8267700"/>
            <a:ext cx="3905250" cy="266700"/>
          </a:xfrm>
          <a:prstGeom prst="rect">
            <a:avLst/>
          </a:prstGeom>
          <a:noFill/>
        </p:spPr>
        <p:txBody>
          <a:bodyPr wrap="none" lIns="0" rIns="0" tIns="0" bIns="0">
            <a:spAutoFit/>
          </a:bodyPr>
          <a:lstStyle/>
          <a:p>
            <a:pPr algn="ctr"/>
            <a:r>
              <a:rPr sz="1600">
                <a:solidFill>
                  <a:srgbClr val="6B7280"/>
                </a:solidFill>
                <a:latin typeface="Aptos"/>
              </a:rPr>
              <a:t>OpenControlPlane</a:t>
            </a:r>
          </a:p>
        </p:txBody>
      </p:sp>
      <p:pic>
        <p:nvPicPr>
          <p:cNvPr id="11" name="Picture 10" descr="konfidence-horizontal-light_400.png">
            <a:hlinkClick r:id="rId9"/>
          </p:cNvPr>
          <p:cNvPicPr>
            <a:picLocks noChangeAspect="1"/>
          </p:cNvPicPr>
          <p:nvPr/>
        </p:nvPicPr>
        <p:blipFill>
          <a:blip r:embed="rId8"/>
          <a:stretch>
            <a:fillRect/>
          </a:stretch>
        </p:blipFill>
        <p:spPr>
          <a:xfrm>
            <a:off x="5476875" y="7239000"/>
            <a:ext cx="3048000" cy="358140"/>
          </a:xfrm>
          <a:prstGeom prst="rect">
            <a:avLst/>
          </a:prstGeom>
        </p:spPr>
      </p:pic>
      <p:sp>
        <p:nvSpPr>
          <p:cNvPr id="12" name="TextBox 11"/>
          <p:cNvSpPr txBox="1"/>
          <p:nvPr/>
        </p:nvSpPr>
        <p:spPr>
          <a:xfrm>
            <a:off x="9525000" y="4953000"/>
            <a:ext cx="7620000" cy="342900"/>
          </a:xfrm>
          <a:prstGeom prst="rect">
            <a:avLst/>
          </a:prstGeom>
          <a:noFill/>
        </p:spPr>
        <p:txBody>
          <a:bodyPr wrap="square" lIns="0" rIns="0" tIns="0" bIns="0">
            <a:spAutoFit/>
          </a:bodyPr>
          <a:lstStyle/>
          <a:p>
            <a:pPr algn="l"/>
            <a:r>
              <a:rPr sz="1800" b="1" cap="all" spc="110">
                <a:solidFill>
                  <a:srgbClr val="0F6BFF"/>
                </a:solidFill>
                <a:latin typeface="Aptos"/>
              </a:rPr>
              <a:t>SAP-INTERNAL TEAMS</a:t>
            </a:r>
          </a:p>
        </p:txBody>
      </p:sp>
      <p:cxnSp>
        <p:nvCxnSpPr>
          <p:cNvPr id="13" name="Connector 12"/>
          <p:cNvCxnSpPr/>
          <p:nvPr/>
        </p:nvCxnSpPr>
        <p:spPr>
          <a:xfrm>
            <a:off x="9525000" y="5295900"/>
            <a:ext cx="7620000" cy="0"/>
          </a:xfrm>
          <a:prstGeom prst="line">
            <a:avLst/>
          </a:prstGeom>
          <a:ln w="15875">
            <a:solidFill>
              <a:srgbClr val="0F6BFF"/>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9525000" y="5524500"/>
            <a:ext cx="7620000" cy="3429000"/>
          </a:xfrm>
          <a:prstGeom prst="rect">
            <a:avLst/>
          </a:prstGeom>
          <a:noFill/>
        </p:spPr>
        <p:txBody>
          <a:bodyPr wrap="square" lIns="0" rIns="0" tIns="0" bIns="0">
            <a:spAutoFit/>
          </a:bodyPr>
          <a:lstStyle/>
          <a:p>
            <a:pPr algn="l">
              <a:spcBef>
                <a:spcPts val="0"/>
              </a:spcBef>
            </a:pPr>
            <a:r>
              <a:rPr sz="2000">
                <a:solidFill>
                  <a:srgbClr val="000000"/>
                </a:solidFill>
                <a:latin typeface="Aptos"/>
              </a:rPr>
              <a:t>Hyperspace — internal Dev Portal &amp; product delivery.</a:t>
            </a:r>
          </a:p>
          <a:p>
            <a:pPr algn="l">
              <a:spcBef>
                <a:spcPts val="1400"/>
              </a:spcBef>
            </a:pPr>
            <a:r>
              <a:rPr sz="2000">
                <a:solidFill>
                  <a:srgbClr val="000000"/>
                </a:solidFill>
                <a:latin typeface="Aptos"/>
              </a:rPr>
              <a:t>RBSC — Release-Based Shipment Channel.</a:t>
            </a:r>
          </a:p>
          <a:p>
            <a:pPr algn="l">
              <a:spcBef>
                <a:spcPts val="1400"/>
              </a:spcBef>
            </a:pPr>
            <a:r>
              <a:rPr sz="2000">
                <a:solidFill>
                  <a:srgbClr val="000000"/>
                </a:solidFill>
                <a:latin typeface="Aptos"/>
              </a:rPr>
              <a:t>CSI — Common Service Infrastructure.</a:t>
            </a:r>
          </a:p>
          <a:p>
            <a:pPr algn="l">
              <a:spcBef>
                <a:spcPts val="1400"/>
              </a:spcBef>
            </a:pPr>
            <a:r>
              <a:rPr sz="2000">
                <a:solidFill>
                  <a:srgbClr val="000000"/>
                </a:solidFill>
                <a:latin typeface="Aptos"/>
              </a:rPr>
              <a:t>Steampunk — ABAP Development PaaS.</a:t>
            </a:r>
          </a:p>
          <a:p>
            <a:pPr algn="l">
              <a:spcBef>
                <a:spcPts val="1400"/>
              </a:spcBef>
            </a:pPr>
            <a:r>
              <a:rPr sz="2000">
                <a:solidFill>
                  <a:srgbClr val="000000"/>
                </a:solidFill>
                <a:latin typeface="Aptos"/>
              </a:rPr>
              <a:t>Sovereign Services &amp; Delivery — sovereign-market operations.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
          </p:nvPr>
        </p:nvSpPr>
        <p:spPr/>
        <p:txBody>
          <a:bodyPr/>
          <a:lstStyle/>
          <a:p>
            <a:r>
              <a:rPr>
                <a:solidFill>
                  <a:srgbClr val="FFFFFF"/>
                </a:solidFill>
              </a:rPr>
              <a:t>Pilot. Standardize. Steward.</a:t>
            </a:r>
          </a:p>
        </p:txBody>
      </p:sp>
      <p:sp>
        <p:nvSpPr>
          <p:cNvPr id="3" name="Text Placeholder 2"/>
          <p:cNvSpPr>
            <a:spLocks noGrp="1"/>
          </p:cNvSpPr>
          <p:nvPr>
            <p:ph type="body" idx="2"/>
          </p:nvPr>
        </p:nvSpPr>
        <p:spPr/>
        <p:txBody>
          <a:bodyPr/>
          <a:lstStyle/>
          <a:p>
            <a:r>
              <a:rPr b="1">
                <a:solidFill>
                  <a:srgbClr val="5CD6FF"/>
                </a:solidFill>
              </a:rPr>
              <a:t>Pilot</a:t>
            </a:r>
            <a:r>
              <a:rPr>
                <a:solidFill>
                  <a:srgbClr val="FFFFFF"/>
                </a:solidFill>
              </a:rPr>
              <a:t> — Pack one product as an OCM component in your team this quarter.</a:t>
            </a:r>
          </a:p>
          <a:p>
            <a:r>
              <a:rPr b="1">
                <a:solidFill>
                  <a:srgbClr val="5CD6FF"/>
                </a:solidFill>
              </a:rPr>
              <a:t>Standardize</a:t>
            </a:r>
            <a:r>
              <a:rPr>
                <a:solidFill>
                  <a:srgbClr val="FFFFFF"/>
                </a:solidFill>
              </a:rPr>
              <a:t> — Make OCM the default for component delivery in your LoB.</a:t>
            </a:r>
          </a:p>
          <a:p>
            <a:r>
              <a:rPr b="1">
                <a:solidFill>
                  <a:srgbClr val="5CD6FF"/>
                </a:solidFill>
              </a:rPr>
              <a:t>Steward</a:t>
            </a:r>
            <a:r>
              <a:rPr>
                <a:solidFill>
                  <a:srgbClr val="FFFFFF"/>
                </a:solidFill>
              </a:rPr>
              <a:t> — Bring your LoB into the OCM steering conversation — SAP Slack #sap-tech-ocm.</a:t>
            </a:r>
          </a:p>
        </p:txBody>
      </p:sp>
      <p:pic>
        <p:nvPicPr>
          <p:cNvPr id="4" name="Picture 3" descr="ocm-horizontal-white_400.png"/>
          <p:cNvPicPr>
            <a:picLocks noChangeAspect="1"/>
          </p:cNvPicPr>
          <p:nvPr/>
        </p:nvPicPr>
        <p:blipFill>
          <a:blip r:embed="rId2"/>
          <a:stretch>
            <a:fillRect/>
          </a:stretch>
        </p:blipFill>
        <p:spPr>
          <a:xfrm>
            <a:off x="914400" y="9029700"/>
            <a:ext cx="1905000" cy="723900"/>
          </a:xfrm>
          <a:prstGeom prst="rect">
            <a:avLst/>
          </a:prstGeom>
        </p:spPr>
      </p:pic>
      <p:pic>
        <p:nvPicPr>
          <p:cNvPr id="5" name="Picture 4" descr="neonephos-foundation-horizontal-white_400.png"/>
          <p:cNvPicPr>
            <a:picLocks noChangeAspect="1"/>
          </p:cNvPicPr>
          <p:nvPr/>
        </p:nvPicPr>
        <p:blipFill>
          <a:blip r:embed="rId3"/>
          <a:stretch>
            <a:fillRect/>
          </a:stretch>
        </p:blipFill>
        <p:spPr>
          <a:xfrm>
            <a:off x="14833600" y="9258300"/>
            <a:ext cx="2540000" cy="4953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APPENDIX · REPLICATION</a:t>
            </a:r>
          </a:p>
        </p:txBody>
      </p:sp>
      <p:sp>
        <p:nvSpPr>
          <p:cNvPr id="3" name="Title 2"/>
          <p:cNvSpPr>
            <a:spLocks noGrp="1"/>
          </p:cNvSpPr>
          <p:nvPr>
            <p:ph type="title" idx="2"/>
          </p:nvPr>
        </p:nvSpPr>
        <p:spPr/>
        <p:txBody>
          <a:bodyPr/>
          <a:lstStyle/>
          <a:p>
            <a:r>
              <a:t>Alongside the chain. Not within it.</a:t>
            </a:r>
          </a:p>
        </p:txBody>
      </p:sp>
      <p:sp>
        <p:nvSpPr>
          <p:cNvPr id="4" name="Rounded Rectangle 3"/>
          <p:cNvSpPr/>
          <p:nvPr/>
        </p:nvSpPr>
        <p:spPr>
          <a:xfrm>
            <a:off x="2000250" y="4953000"/>
            <a:ext cx="3143250" cy="1905000"/>
          </a:xfrm>
          <a:prstGeom prst="roundRect">
            <a:avLst>
              <a:gd name="adj" fmla="val 7000"/>
            </a:avLst>
          </a:prstGeom>
          <a:solidFill>
            <a:srgbClr val="F3F4F6"/>
          </a:solidFill>
          <a:ln>
            <a:noFill/>
          </a:ln>
          <a:effectLst>
            <a:outerShdw blurRad="28575" dist="28575" dir="5400000"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2000250" y="4953000"/>
            <a:ext cx="3143250" cy="38100"/>
          </a:xfrm>
          <a:prstGeom prst="rect">
            <a:avLst/>
          </a:prstGeom>
          <a:solidFill>
            <a:srgbClr val="6B72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228850" y="5257800"/>
            <a:ext cx="2686050" cy="476250"/>
          </a:xfrm>
          <a:prstGeom prst="rect">
            <a:avLst/>
          </a:prstGeom>
          <a:noFill/>
        </p:spPr>
        <p:txBody>
          <a:bodyPr wrap="square" lIns="0" rIns="0" tIns="0" bIns="0">
            <a:spAutoFit/>
          </a:bodyPr>
          <a:lstStyle/>
          <a:p>
            <a:pPr algn="l"/>
            <a:r>
              <a:rPr sz="2200" b="1">
                <a:solidFill>
                  <a:srgbClr val="6B7280"/>
                </a:solidFill>
                <a:latin typeface="Aptos"/>
              </a:rPr>
              <a:t>REPOSITORY</a:t>
            </a:r>
          </a:p>
        </p:txBody>
      </p:sp>
      <p:sp>
        <p:nvSpPr>
          <p:cNvPr id="7" name="TextBox 6"/>
          <p:cNvSpPr txBox="1"/>
          <p:nvPr/>
        </p:nvSpPr>
        <p:spPr>
          <a:xfrm>
            <a:off x="2228850" y="5810250"/>
            <a:ext cx="2686050" cy="857250"/>
          </a:xfrm>
          <a:prstGeom prst="rect">
            <a:avLst/>
          </a:prstGeom>
          <a:noFill/>
        </p:spPr>
        <p:txBody>
          <a:bodyPr wrap="square" lIns="0" rIns="0" tIns="0" bIns="0">
            <a:spAutoFit/>
          </a:bodyPr>
          <a:lstStyle/>
          <a:p>
            <a:pPr algn="l">
              <a:lnSpc>
                <a:spcPct val="125000"/>
              </a:lnSpc>
            </a:pPr>
            <a:r>
              <a:rPr sz="1600">
                <a:solidFill>
                  <a:srgbClr val="6B7280"/>
                </a:solidFill>
                <a:latin typeface="Aptos"/>
              </a:rPr>
              <a:t>Where component versions live.</a:t>
            </a:r>
          </a:p>
        </p:txBody>
      </p:sp>
      <p:sp>
        <p:nvSpPr>
          <p:cNvPr id="8" name="Rectangle 7"/>
          <p:cNvSpPr/>
          <p:nvPr/>
        </p:nvSpPr>
        <p:spPr>
          <a:xfrm>
            <a:off x="5238750" y="5897784"/>
            <a:ext cx="238125" cy="15430"/>
          </a:xfrm>
          <a:prstGeom prst="rect">
            <a:avLst/>
          </a:prstGeom>
          <a:solidFill>
            <a:srgbClr val="6B72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Freeform 8"/>
          <p:cNvSpPr/>
          <p:nvPr/>
        </p:nvSpPr>
        <p:spPr>
          <a:xfrm>
            <a:off x="5467350" y="5838825"/>
            <a:ext cx="152400" cy="133350"/>
          </a:xfrm>
          <a:custGeom>
            <a:avLst/>
            <a:gdLst/>
            <a:ahLst/>
            <a:cxnLst/>
            <a:rect l="l" t="t" r="r" b="b"/>
            <a:pathLst>
              <a:path w="152400" h="133350">
                <a:moveTo>
                  <a:pt x="0" y="66675"/>
                </a:moveTo>
                <a:lnTo>
                  <a:pt x="152400" y="0"/>
                </a:lnTo>
                <a:lnTo>
                  <a:pt x="152400" y="133350"/>
                </a:lnTo>
                <a:close/>
              </a:path>
            </a:pathLst>
          </a:custGeom>
          <a:solidFill>
            <a:srgbClr val="6B72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715000" y="4953000"/>
            <a:ext cx="3143250" cy="1905000"/>
          </a:xfrm>
          <a:prstGeom prst="roundRect">
            <a:avLst>
              <a:gd name="adj" fmla="val 7000"/>
            </a:avLst>
          </a:prstGeom>
          <a:solidFill>
            <a:srgbClr val="F3F4F6"/>
          </a:solidFill>
          <a:ln>
            <a:noFill/>
          </a:ln>
          <a:effectLst>
            <a:outerShdw blurRad="28575" dist="28575" dir="5400000"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715000" y="4953000"/>
            <a:ext cx="3143250" cy="38100"/>
          </a:xfrm>
          <a:prstGeom prst="rect">
            <a:avLst/>
          </a:prstGeom>
          <a:solidFill>
            <a:srgbClr val="6B72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0" y="5257800"/>
            <a:ext cx="2686050" cy="476250"/>
          </a:xfrm>
          <a:prstGeom prst="rect">
            <a:avLst/>
          </a:prstGeom>
          <a:noFill/>
        </p:spPr>
        <p:txBody>
          <a:bodyPr wrap="square" lIns="0" rIns="0" tIns="0" bIns="0">
            <a:spAutoFit/>
          </a:bodyPr>
          <a:lstStyle/>
          <a:p>
            <a:pPr algn="l"/>
            <a:r>
              <a:rPr sz="2200" b="1">
                <a:solidFill>
                  <a:srgbClr val="6B7280"/>
                </a:solidFill>
                <a:latin typeface="Aptos"/>
              </a:rPr>
              <a:t>COMPONENT</a:t>
            </a:r>
          </a:p>
        </p:txBody>
      </p:sp>
      <p:sp>
        <p:nvSpPr>
          <p:cNvPr id="13" name="TextBox 12"/>
          <p:cNvSpPr txBox="1"/>
          <p:nvPr/>
        </p:nvSpPr>
        <p:spPr>
          <a:xfrm>
            <a:off x="5943600" y="5810250"/>
            <a:ext cx="2686050" cy="857250"/>
          </a:xfrm>
          <a:prstGeom prst="rect">
            <a:avLst/>
          </a:prstGeom>
          <a:noFill/>
        </p:spPr>
        <p:txBody>
          <a:bodyPr wrap="square" lIns="0" rIns="0" tIns="0" bIns="0">
            <a:spAutoFit/>
          </a:bodyPr>
          <a:lstStyle/>
          <a:p>
            <a:pPr algn="l">
              <a:lnSpc>
                <a:spcPct val="125000"/>
              </a:lnSpc>
            </a:pPr>
            <a:r>
              <a:rPr sz="1600">
                <a:solidFill>
                  <a:srgbClr val="6B7280"/>
                </a:solidFill>
                <a:latin typeface="Aptos"/>
              </a:rPr>
              <a:t>Pulls + verifies.</a:t>
            </a:r>
          </a:p>
        </p:txBody>
      </p:sp>
      <p:sp>
        <p:nvSpPr>
          <p:cNvPr id="14" name="Rectangle 13"/>
          <p:cNvSpPr/>
          <p:nvPr/>
        </p:nvSpPr>
        <p:spPr>
          <a:xfrm>
            <a:off x="8953500" y="5897784"/>
            <a:ext cx="238125" cy="15430"/>
          </a:xfrm>
          <a:prstGeom prst="rect">
            <a:avLst/>
          </a:prstGeom>
          <a:solidFill>
            <a:srgbClr val="6B72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Freeform 14"/>
          <p:cNvSpPr/>
          <p:nvPr/>
        </p:nvSpPr>
        <p:spPr>
          <a:xfrm>
            <a:off x="9182100" y="5838825"/>
            <a:ext cx="152400" cy="133350"/>
          </a:xfrm>
          <a:custGeom>
            <a:avLst/>
            <a:gdLst/>
            <a:ahLst/>
            <a:cxnLst/>
            <a:rect l="l" t="t" r="r" b="b"/>
            <a:pathLst>
              <a:path w="152400" h="133350">
                <a:moveTo>
                  <a:pt x="0" y="66675"/>
                </a:moveTo>
                <a:lnTo>
                  <a:pt x="152400" y="0"/>
                </a:lnTo>
                <a:lnTo>
                  <a:pt x="152400" y="133350"/>
                </a:lnTo>
                <a:close/>
              </a:path>
            </a:pathLst>
          </a:custGeom>
          <a:solidFill>
            <a:srgbClr val="6B72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429750" y="4953000"/>
            <a:ext cx="3143250" cy="1905000"/>
          </a:xfrm>
          <a:prstGeom prst="roundRect">
            <a:avLst>
              <a:gd name="adj" fmla="val 7000"/>
            </a:avLst>
          </a:prstGeom>
          <a:solidFill>
            <a:srgbClr val="F3F4F6"/>
          </a:solidFill>
          <a:ln>
            <a:noFill/>
          </a:ln>
          <a:effectLst>
            <a:outerShdw blurRad="28575" dist="28575" dir="5400000"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9429750" y="4953000"/>
            <a:ext cx="3143250" cy="38100"/>
          </a:xfrm>
          <a:prstGeom prst="rect">
            <a:avLst/>
          </a:prstGeom>
          <a:solidFill>
            <a:srgbClr val="6B72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58350" y="5257800"/>
            <a:ext cx="2686050" cy="476250"/>
          </a:xfrm>
          <a:prstGeom prst="rect">
            <a:avLst/>
          </a:prstGeom>
          <a:noFill/>
        </p:spPr>
        <p:txBody>
          <a:bodyPr wrap="square" lIns="0" rIns="0" tIns="0" bIns="0">
            <a:spAutoFit/>
          </a:bodyPr>
          <a:lstStyle/>
          <a:p>
            <a:pPr algn="l"/>
            <a:r>
              <a:rPr sz="2200" b="1">
                <a:solidFill>
                  <a:srgbClr val="6B7280"/>
                </a:solidFill>
                <a:latin typeface="Aptos"/>
              </a:rPr>
              <a:t>RESOURCE</a:t>
            </a:r>
          </a:p>
        </p:txBody>
      </p:sp>
      <p:sp>
        <p:nvSpPr>
          <p:cNvPr id="19" name="TextBox 18"/>
          <p:cNvSpPr txBox="1"/>
          <p:nvPr/>
        </p:nvSpPr>
        <p:spPr>
          <a:xfrm>
            <a:off x="9658350" y="5810250"/>
            <a:ext cx="2686050" cy="857250"/>
          </a:xfrm>
          <a:prstGeom prst="rect">
            <a:avLst/>
          </a:prstGeom>
          <a:noFill/>
        </p:spPr>
        <p:txBody>
          <a:bodyPr wrap="square" lIns="0" rIns="0" tIns="0" bIns="0">
            <a:spAutoFit/>
          </a:bodyPr>
          <a:lstStyle/>
          <a:p>
            <a:pPr algn="l">
              <a:lnSpc>
                <a:spcPct val="125000"/>
              </a:lnSpc>
            </a:pPr>
            <a:r>
              <a:rPr sz="1600">
                <a:solidFill>
                  <a:srgbClr val="6B7280"/>
                </a:solidFill>
                <a:latin typeface="Aptos"/>
              </a:rPr>
              <a:t>One artifact, by digest.</a:t>
            </a:r>
          </a:p>
        </p:txBody>
      </p:sp>
      <p:sp>
        <p:nvSpPr>
          <p:cNvPr id="20" name="Rectangle 19"/>
          <p:cNvSpPr/>
          <p:nvPr/>
        </p:nvSpPr>
        <p:spPr>
          <a:xfrm>
            <a:off x="12668250" y="5897784"/>
            <a:ext cx="238125" cy="15430"/>
          </a:xfrm>
          <a:prstGeom prst="rect">
            <a:avLst/>
          </a:prstGeom>
          <a:solidFill>
            <a:srgbClr val="6B72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Freeform 20"/>
          <p:cNvSpPr/>
          <p:nvPr/>
        </p:nvSpPr>
        <p:spPr>
          <a:xfrm>
            <a:off x="12896850" y="5838825"/>
            <a:ext cx="152400" cy="133350"/>
          </a:xfrm>
          <a:custGeom>
            <a:avLst/>
            <a:gdLst/>
            <a:ahLst/>
            <a:cxnLst/>
            <a:rect l="l" t="t" r="r" b="b"/>
            <a:pathLst>
              <a:path w="152400" h="133350">
                <a:moveTo>
                  <a:pt x="0" y="66675"/>
                </a:moveTo>
                <a:lnTo>
                  <a:pt x="152400" y="0"/>
                </a:lnTo>
                <a:lnTo>
                  <a:pt x="152400" y="133350"/>
                </a:lnTo>
                <a:close/>
              </a:path>
            </a:pathLst>
          </a:custGeom>
          <a:solidFill>
            <a:srgbClr val="6B72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3144500" y="4953000"/>
            <a:ext cx="3143250" cy="1905000"/>
          </a:xfrm>
          <a:prstGeom prst="roundRect">
            <a:avLst>
              <a:gd name="adj" fmla="val 7000"/>
            </a:avLst>
          </a:prstGeom>
          <a:solidFill>
            <a:srgbClr val="F3F4F6"/>
          </a:solidFill>
          <a:ln>
            <a:noFill/>
          </a:ln>
          <a:effectLst>
            <a:outerShdw blurRad="28575" dist="28575" dir="5400000"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3144500" y="4953000"/>
            <a:ext cx="3143250" cy="38100"/>
          </a:xfrm>
          <a:prstGeom prst="rect">
            <a:avLst/>
          </a:prstGeom>
          <a:solidFill>
            <a:srgbClr val="6B72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3373100" y="5257800"/>
            <a:ext cx="2686050" cy="476250"/>
          </a:xfrm>
          <a:prstGeom prst="rect">
            <a:avLst/>
          </a:prstGeom>
          <a:noFill/>
        </p:spPr>
        <p:txBody>
          <a:bodyPr wrap="square" lIns="0" rIns="0" tIns="0" bIns="0">
            <a:spAutoFit/>
          </a:bodyPr>
          <a:lstStyle/>
          <a:p>
            <a:pPr algn="l"/>
            <a:r>
              <a:rPr sz="2200" b="1">
                <a:solidFill>
                  <a:srgbClr val="6B7280"/>
                </a:solidFill>
                <a:latin typeface="Aptos"/>
              </a:rPr>
              <a:t>DEPLOYER</a:t>
            </a:r>
          </a:p>
        </p:txBody>
      </p:sp>
      <p:sp>
        <p:nvSpPr>
          <p:cNvPr id="25" name="TextBox 24"/>
          <p:cNvSpPr txBox="1"/>
          <p:nvPr/>
        </p:nvSpPr>
        <p:spPr>
          <a:xfrm>
            <a:off x="13373100" y="5810250"/>
            <a:ext cx="2686050" cy="857250"/>
          </a:xfrm>
          <a:prstGeom prst="rect">
            <a:avLst/>
          </a:prstGeom>
          <a:noFill/>
        </p:spPr>
        <p:txBody>
          <a:bodyPr wrap="square" lIns="0" rIns="0" tIns="0" bIns="0">
            <a:spAutoFit/>
          </a:bodyPr>
          <a:lstStyle/>
          <a:p>
            <a:pPr algn="l">
              <a:lnSpc>
                <a:spcPct val="125000"/>
              </a:lnSpc>
            </a:pPr>
            <a:r>
              <a:rPr sz="1600">
                <a:solidFill>
                  <a:srgbClr val="6B7280"/>
                </a:solidFill>
                <a:latin typeface="Aptos"/>
              </a:rPr>
              <a:t>Applies it to the cluster.</a:t>
            </a:r>
          </a:p>
        </p:txBody>
      </p:sp>
      <p:sp>
        <p:nvSpPr>
          <p:cNvPr id="26" name="Rounded Rectangle 25"/>
          <p:cNvSpPr/>
          <p:nvPr/>
        </p:nvSpPr>
        <p:spPr>
          <a:xfrm>
            <a:off x="5810250" y="7429500"/>
            <a:ext cx="6667500" cy="2476500"/>
          </a:xfrm>
          <a:prstGeom prst="roundRect">
            <a:avLst>
              <a:gd name="adj" fmla="val 5384"/>
            </a:avLst>
          </a:prstGeom>
          <a:solidFill>
            <a:srgbClr val="F3F4F6"/>
          </a:solidFill>
          <a:ln>
            <a:noFill/>
          </a:ln>
          <a:effectLst>
            <a:outerShdw blurRad="28575" dist="28575" dir="5400000"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810250" y="7429500"/>
            <a:ext cx="6667500" cy="47625"/>
          </a:xfrm>
          <a:prstGeom prst="rect">
            <a:avLst/>
          </a:prstGeom>
          <a:solidFill>
            <a:srgbClr val="0F6B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096000" y="7829550"/>
            <a:ext cx="6096000" cy="476250"/>
          </a:xfrm>
          <a:prstGeom prst="rect">
            <a:avLst/>
          </a:prstGeom>
          <a:noFill/>
        </p:spPr>
        <p:txBody>
          <a:bodyPr wrap="square" lIns="0" rIns="0" tIns="0" bIns="0">
            <a:spAutoFit/>
          </a:bodyPr>
          <a:lstStyle/>
          <a:p>
            <a:pPr algn="l"/>
            <a:r>
              <a:rPr sz="3000" b="1">
                <a:solidFill>
                  <a:srgbClr val="0A3A99"/>
                </a:solidFill>
                <a:latin typeface="Aptos"/>
              </a:rPr>
              <a:t>REPLICATION</a:t>
            </a:r>
          </a:p>
        </p:txBody>
      </p:sp>
      <p:sp>
        <p:nvSpPr>
          <p:cNvPr id="29" name="TextBox 28"/>
          <p:cNvSpPr txBox="1"/>
          <p:nvPr/>
        </p:nvSpPr>
        <p:spPr>
          <a:xfrm>
            <a:off x="6096000" y="8477250"/>
            <a:ext cx="6096000" cy="1238250"/>
          </a:xfrm>
          <a:prstGeom prst="rect">
            <a:avLst/>
          </a:prstGeom>
          <a:noFill/>
        </p:spPr>
        <p:txBody>
          <a:bodyPr wrap="square" lIns="0" rIns="0" tIns="0" bIns="0">
            <a:spAutoFit/>
          </a:bodyPr>
          <a:lstStyle/>
          <a:p>
            <a:pPr algn="l">
              <a:lnSpc>
                <a:spcPct val="125000"/>
              </a:lnSpc>
            </a:pPr>
            <a:r>
              <a:rPr sz="2200">
                <a:solidFill>
                  <a:srgbClr val="333333"/>
                </a:solidFill>
                <a:latin typeface="Aptos"/>
              </a:rPr>
              <a:t>Transfers a resolved component version from one OCM repository to another.</a:t>
            </a:r>
          </a:p>
          <a:p>
            <a:pPr algn="l">
              <a:lnSpc>
                <a:spcPct val="125000"/>
              </a:lnSpc>
            </a:pPr>
            <a:r>
              <a:rPr sz="2200">
                <a:solidFill>
                  <a:srgbClr val="333333"/>
                </a:solidFill>
                <a:latin typeface="Aptos"/>
              </a:rPr>
              <a:t>Records status.lastTransferredDigest. Same digest → no-op.</a:t>
            </a:r>
          </a:p>
        </p:txBody>
      </p:sp>
      <p:sp>
        <p:nvSpPr>
          <p:cNvPr id="30" name="TextBox 29"/>
          <p:cNvSpPr txBox="1"/>
          <p:nvPr/>
        </p:nvSpPr>
        <p:spPr>
          <a:xfrm>
            <a:off x="1143000" y="9620250"/>
            <a:ext cx="16002000" cy="476250"/>
          </a:xfrm>
          <a:prstGeom prst="rect">
            <a:avLst/>
          </a:prstGeom>
          <a:noFill/>
        </p:spPr>
        <p:txBody>
          <a:bodyPr wrap="square" lIns="0" rIns="0" tIns="0" bIns="0">
            <a:spAutoFit/>
          </a:bodyPr>
          <a:lstStyle/>
          <a:p>
            <a:pPr algn="ctr"/>
            <a:r>
              <a:rPr sz="2000">
                <a:solidFill>
                  <a:srgbClr val="0A3A99"/>
                </a:solidFill>
                <a:latin typeface="Aptos"/>
              </a:rPr>
              <a:t>Controller-shaped equivalent of the OCM CLI's `ocm transfer cv` — point it at a source `Component` and a target `Repository`, and it keeps them in sync.</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APPENDIX · ABBREVIATIONS</a:t>
            </a:r>
          </a:p>
        </p:txBody>
      </p:sp>
      <p:sp>
        <p:nvSpPr>
          <p:cNvPr id="3" name="Title 2"/>
          <p:cNvSpPr>
            <a:spLocks noGrp="1"/>
          </p:cNvSpPr>
          <p:nvPr>
            <p:ph type="title" idx="2"/>
          </p:nvPr>
        </p:nvSpPr>
        <p:spPr/>
        <p:txBody>
          <a:bodyPr/>
          <a:lstStyle/>
          <a:p>
            <a:r>
              <a:t>Quick reference for terms used in this deck.</a:t>
            </a:r>
          </a:p>
        </p:txBody>
      </p:sp>
      <p:sp>
        <p:nvSpPr>
          <p:cNvPr id="4" name="TextBox 3"/>
          <p:cNvSpPr txBox="1"/>
          <p:nvPr/>
        </p:nvSpPr>
        <p:spPr>
          <a:xfrm>
            <a:off x="762000" y="4953000"/>
            <a:ext cx="8191500" cy="571500"/>
          </a:xfrm>
          <a:prstGeom prst="rect">
            <a:avLst/>
          </a:prstGeom>
          <a:noFill/>
        </p:spPr>
        <p:txBody>
          <a:bodyPr wrap="square" lIns="0" rIns="0" tIns="0" bIns="0">
            <a:spAutoFit/>
          </a:bodyPr>
          <a:lstStyle/>
          <a:p>
            <a:pPr algn="l"/>
            <a:r>
              <a:rPr sz="1400" b="1">
                <a:solidFill>
                  <a:srgbClr val="0F6BFF"/>
                </a:solidFill>
                <a:latin typeface="Aptos"/>
              </a:rPr>
              <a:t>CSI </a:t>
            </a:r>
            <a:r>
              <a:rPr sz="1400">
                <a:solidFill>
                  <a:srgbClr val="000000"/>
                </a:solidFill>
                <a:latin typeface="Aptos"/>
              </a:rPr>
              <a:t>— Common Service Infrastructure — SAP-internal shared services platform.</a:t>
            </a:r>
          </a:p>
        </p:txBody>
      </p:sp>
      <p:sp>
        <p:nvSpPr>
          <p:cNvPr id="5" name="TextBox 4"/>
          <p:cNvSpPr txBox="1"/>
          <p:nvPr/>
        </p:nvSpPr>
        <p:spPr>
          <a:xfrm>
            <a:off x="762000" y="5524500"/>
            <a:ext cx="8191500" cy="571500"/>
          </a:xfrm>
          <a:prstGeom prst="rect">
            <a:avLst/>
          </a:prstGeom>
          <a:noFill/>
        </p:spPr>
        <p:txBody>
          <a:bodyPr wrap="square" lIns="0" rIns="0" tIns="0" bIns="0">
            <a:spAutoFit/>
          </a:bodyPr>
          <a:lstStyle/>
          <a:p>
            <a:pPr algn="l"/>
            <a:r>
              <a:rPr sz="1400" b="1">
                <a:solidFill>
                  <a:srgbClr val="0F6BFF"/>
                </a:solidFill>
                <a:latin typeface="Aptos"/>
              </a:rPr>
              <a:t>Helm </a:t>
            </a:r>
            <a:r>
              <a:rPr sz="1400">
                <a:solidFill>
                  <a:srgbClr val="000000"/>
                </a:solidFill>
                <a:latin typeface="Aptos"/>
              </a:rPr>
              <a:t>— Package manager for Kubernetes; reference artifact type for OCM.</a:t>
            </a:r>
          </a:p>
        </p:txBody>
      </p:sp>
      <p:sp>
        <p:nvSpPr>
          <p:cNvPr id="6" name="TextBox 5"/>
          <p:cNvSpPr txBox="1"/>
          <p:nvPr/>
        </p:nvSpPr>
        <p:spPr>
          <a:xfrm>
            <a:off x="762000" y="6096000"/>
            <a:ext cx="8191500" cy="571500"/>
          </a:xfrm>
          <a:prstGeom prst="rect">
            <a:avLst/>
          </a:prstGeom>
          <a:noFill/>
        </p:spPr>
        <p:txBody>
          <a:bodyPr wrap="square" lIns="0" rIns="0" tIns="0" bIns="0">
            <a:spAutoFit/>
          </a:bodyPr>
          <a:lstStyle/>
          <a:p>
            <a:pPr algn="l"/>
            <a:r>
              <a:rPr sz="1400" b="1">
                <a:solidFill>
                  <a:srgbClr val="0F6BFF"/>
                </a:solidFill>
                <a:latin typeface="Aptos"/>
              </a:rPr>
              <a:t>LoB </a:t>
            </a:r>
            <a:r>
              <a:rPr sz="1400">
                <a:solidFill>
                  <a:srgbClr val="000000"/>
                </a:solidFill>
                <a:latin typeface="Aptos"/>
              </a:rPr>
              <a:t>— Line of Business — SAP organisational unit owning a product portfolio.</a:t>
            </a:r>
          </a:p>
        </p:txBody>
      </p:sp>
      <p:sp>
        <p:nvSpPr>
          <p:cNvPr id="7" name="TextBox 6"/>
          <p:cNvSpPr txBox="1"/>
          <p:nvPr/>
        </p:nvSpPr>
        <p:spPr>
          <a:xfrm>
            <a:off x="762000" y="6667500"/>
            <a:ext cx="8191500" cy="571500"/>
          </a:xfrm>
          <a:prstGeom prst="rect">
            <a:avLst/>
          </a:prstGeom>
          <a:noFill/>
        </p:spPr>
        <p:txBody>
          <a:bodyPr wrap="square" lIns="0" rIns="0" tIns="0" bIns="0">
            <a:spAutoFit/>
          </a:bodyPr>
          <a:lstStyle/>
          <a:p>
            <a:pPr algn="l"/>
            <a:r>
              <a:rPr sz="1400" b="1">
                <a:solidFill>
                  <a:srgbClr val="0F6BFF"/>
                </a:solidFill>
                <a:latin typeface="Aptos"/>
              </a:rPr>
              <a:t>NeoNephos </a:t>
            </a:r>
            <a:r>
              <a:rPr sz="1400">
                <a:solidFill>
                  <a:srgbClr val="000000"/>
                </a:solidFill>
                <a:latin typeface="Aptos"/>
              </a:rPr>
              <a:t>— European foundation for sovereign cloud open-source projects (Linux Foundation Europe).</a:t>
            </a:r>
          </a:p>
        </p:txBody>
      </p:sp>
      <p:sp>
        <p:nvSpPr>
          <p:cNvPr id="8" name="TextBox 7"/>
          <p:cNvSpPr txBox="1"/>
          <p:nvPr/>
        </p:nvSpPr>
        <p:spPr>
          <a:xfrm>
            <a:off x="762000" y="7239000"/>
            <a:ext cx="8191500" cy="571500"/>
          </a:xfrm>
          <a:prstGeom prst="rect">
            <a:avLst/>
          </a:prstGeom>
          <a:noFill/>
        </p:spPr>
        <p:txBody>
          <a:bodyPr wrap="square" lIns="0" rIns="0" tIns="0" bIns="0">
            <a:spAutoFit/>
          </a:bodyPr>
          <a:lstStyle/>
          <a:p>
            <a:pPr algn="l"/>
            <a:r>
              <a:rPr sz="1400" b="1">
                <a:solidFill>
                  <a:srgbClr val="0F6BFF"/>
                </a:solidFill>
                <a:latin typeface="Aptos"/>
              </a:rPr>
              <a:t>OCI </a:t>
            </a:r>
            <a:r>
              <a:rPr sz="1400">
                <a:solidFill>
                  <a:srgbClr val="000000"/>
                </a:solidFill>
                <a:latin typeface="Aptos"/>
              </a:rPr>
              <a:t>— Open Container Initiative — open standards for container image format and distribution.</a:t>
            </a:r>
          </a:p>
        </p:txBody>
      </p:sp>
      <p:sp>
        <p:nvSpPr>
          <p:cNvPr id="9" name="TextBox 8"/>
          <p:cNvSpPr txBox="1"/>
          <p:nvPr/>
        </p:nvSpPr>
        <p:spPr>
          <a:xfrm>
            <a:off x="762000" y="7810500"/>
            <a:ext cx="8191500" cy="571500"/>
          </a:xfrm>
          <a:prstGeom prst="rect">
            <a:avLst/>
          </a:prstGeom>
          <a:noFill/>
        </p:spPr>
        <p:txBody>
          <a:bodyPr wrap="square" lIns="0" rIns="0" tIns="0" bIns="0">
            <a:spAutoFit/>
          </a:bodyPr>
          <a:lstStyle/>
          <a:p>
            <a:pPr algn="l"/>
            <a:r>
              <a:rPr sz="1400" b="1">
                <a:solidFill>
                  <a:srgbClr val="0F6BFF"/>
                </a:solidFill>
                <a:latin typeface="Aptos"/>
              </a:rPr>
              <a:t>OCM </a:t>
            </a:r>
            <a:r>
              <a:rPr sz="1400">
                <a:solidFill>
                  <a:srgbClr val="000000"/>
                </a:solidFill>
                <a:latin typeface="Aptos"/>
              </a:rPr>
              <a:t>— Open Component Model — vendor-neutral specification for signed, transportable software components.</a:t>
            </a:r>
          </a:p>
        </p:txBody>
      </p:sp>
      <p:sp>
        <p:nvSpPr>
          <p:cNvPr id="10" name="TextBox 9"/>
          <p:cNvSpPr txBox="1"/>
          <p:nvPr/>
        </p:nvSpPr>
        <p:spPr>
          <a:xfrm>
            <a:off x="9334500" y="4953000"/>
            <a:ext cx="8191500" cy="571500"/>
          </a:xfrm>
          <a:prstGeom prst="rect">
            <a:avLst/>
          </a:prstGeom>
          <a:noFill/>
        </p:spPr>
        <p:txBody>
          <a:bodyPr wrap="square" lIns="0" rIns="0" tIns="0" bIns="0">
            <a:spAutoFit/>
          </a:bodyPr>
          <a:lstStyle/>
          <a:p>
            <a:pPr algn="l"/>
            <a:r>
              <a:rPr sz="1400" b="1">
                <a:solidFill>
                  <a:srgbClr val="0F6BFF"/>
                </a:solidFill>
                <a:latin typeface="Aptos"/>
              </a:rPr>
              <a:t>OpenPGP </a:t>
            </a:r>
            <a:r>
              <a:rPr sz="1400">
                <a:solidFill>
                  <a:srgbClr val="000000"/>
                </a:solidFill>
                <a:latin typeface="Aptos"/>
              </a:rPr>
              <a:t>— Open standard for cryptographic signatures (RFC 4880). GPG is one implementation; Sequoia and RNP produce compatible signatures.</a:t>
            </a:r>
          </a:p>
        </p:txBody>
      </p:sp>
      <p:sp>
        <p:nvSpPr>
          <p:cNvPr id="11" name="TextBox 10"/>
          <p:cNvSpPr txBox="1"/>
          <p:nvPr/>
        </p:nvSpPr>
        <p:spPr>
          <a:xfrm>
            <a:off x="9334500" y="5524500"/>
            <a:ext cx="8191500" cy="571500"/>
          </a:xfrm>
          <a:prstGeom prst="rect">
            <a:avLst/>
          </a:prstGeom>
          <a:noFill/>
        </p:spPr>
        <p:txBody>
          <a:bodyPr wrap="square" lIns="0" rIns="0" tIns="0" bIns="0">
            <a:spAutoFit/>
          </a:bodyPr>
          <a:lstStyle/>
          <a:p>
            <a:pPr algn="l"/>
            <a:r>
              <a:rPr sz="1400" b="1">
                <a:solidFill>
                  <a:srgbClr val="0F6BFF"/>
                </a:solidFill>
                <a:latin typeface="Aptos"/>
              </a:rPr>
              <a:t>RBSC </a:t>
            </a:r>
            <a:r>
              <a:rPr sz="1400">
                <a:solidFill>
                  <a:srgbClr val="000000"/>
                </a:solidFill>
                <a:latin typeface="Aptos"/>
              </a:rPr>
              <a:t>— Release-Based Shipment Channel — SAP-internal customer shipment channel.</a:t>
            </a:r>
          </a:p>
        </p:txBody>
      </p:sp>
      <p:sp>
        <p:nvSpPr>
          <p:cNvPr id="12" name="TextBox 11"/>
          <p:cNvSpPr txBox="1"/>
          <p:nvPr/>
        </p:nvSpPr>
        <p:spPr>
          <a:xfrm>
            <a:off x="9334500" y="6096000"/>
            <a:ext cx="8191500" cy="571500"/>
          </a:xfrm>
          <a:prstGeom prst="rect">
            <a:avLst/>
          </a:prstGeom>
          <a:noFill/>
        </p:spPr>
        <p:txBody>
          <a:bodyPr wrap="square" lIns="0" rIns="0" tIns="0" bIns="0">
            <a:spAutoFit/>
          </a:bodyPr>
          <a:lstStyle/>
          <a:p>
            <a:pPr algn="l"/>
            <a:r>
              <a:rPr sz="1400" b="1">
                <a:solidFill>
                  <a:srgbClr val="0F6BFF"/>
                </a:solidFill>
                <a:latin typeface="Aptos"/>
              </a:rPr>
              <a:t>RSA </a:t>
            </a:r>
            <a:r>
              <a:rPr sz="1400">
                <a:solidFill>
                  <a:srgbClr val="000000"/>
                </a:solidFill>
                <a:latin typeface="Aptos"/>
              </a:rPr>
              <a:t>— RSA / RSASSA-PSS — bare public-key signing scheme. Trust model: operator pins the public key. No PKI required.</a:t>
            </a:r>
          </a:p>
        </p:txBody>
      </p:sp>
      <p:sp>
        <p:nvSpPr>
          <p:cNvPr id="13" name="TextBox 12"/>
          <p:cNvSpPr txBox="1"/>
          <p:nvPr/>
        </p:nvSpPr>
        <p:spPr>
          <a:xfrm>
            <a:off x="9334500" y="6667500"/>
            <a:ext cx="8191500" cy="571500"/>
          </a:xfrm>
          <a:prstGeom prst="rect">
            <a:avLst/>
          </a:prstGeom>
          <a:noFill/>
        </p:spPr>
        <p:txBody>
          <a:bodyPr wrap="square" lIns="0" rIns="0" tIns="0" bIns="0">
            <a:spAutoFit/>
          </a:bodyPr>
          <a:lstStyle/>
          <a:p>
            <a:pPr algn="l"/>
            <a:r>
              <a:rPr sz="1400" b="1">
                <a:solidFill>
                  <a:srgbClr val="0F6BFF"/>
                </a:solidFill>
                <a:latin typeface="Aptos"/>
              </a:rPr>
              <a:t>SBOM </a:t>
            </a:r>
            <a:r>
              <a:rPr sz="1400">
                <a:solidFill>
                  <a:srgbClr val="000000"/>
                </a:solidFill>
                <a:latin typeface="Aptos"/>
              </a:rPr>
              <a:t>— Software Bill of Materials — inventory of components and dependencies inside a software artifact.</a:t>
            </a:r>
          </a:p>
        </p:txBody>
      </p:sp>
      <p:sp>
        <p:nvSpPr>
          <p:cNvPr id="14" name="TextBox 13"/>
          <p:cNvSpPr txBox="1"/>
          <p:nvPr/>
        </p:nvSpPr>
        <p:spPr>
          <a:xfrm>
            <a:off x="9334500" y="7239000"/>
            <a:ext cx="8191500" cy="571500"/>
          </a:xfrm>
          <a:prstGeom prst="rect">
            <a:avLst/>
          </a:prstGeom>
          <a:noFill/>
        </p:spPr>
        <p:txBody>
          <a:bodyPr wrap="square" lIns="0" rIns="0" tIns="0" bIns="0">
            <a:spAutoFit/>
          </a:bodyPr>
          <a:lstStyle/>
          <a:p>
            <a:pPr algn="l"/>
            <a:r>
              <a:rPr sz="1400" b="1">
                <a:solidFill>
                  <a:srgbClr val="0F6BFF"/>
                </a:solidFill>
                <a:latin typeface="Aptos"/>
              </a:rPr>
              <a:t>Sigstore </a:t>
            </a:r>
            <a:r>
              <a:rPr sz="1400">
                <a:solidFill>
                  <a:srgbClr val="000000"/>
                </a:solidFill>
                <a:latin typeface="Aptos"/>
              </a:rPr>
              <a:t>— Open-source project for keyless software signing using OIDC identities + Rekor transparency log.</a:t>
            </a:r>
          </a:p>
        </p:txBody>
      </p:sp>
      <p:sp>
        <p:nvSpPr>
          <p:cNvPr id="15" name="TextBox 14"/>
          <p:cNvSpPr txBox="1"/>
          <p:nvPr/>
        </p:nvSpPr>
        <p:spPr>
          <a:xfrm>
            <a:off x="9334500" y="7810500"/>
            <a:ext cx="8191500" cy="571500"/>
          </a:xfrm>
          <a:prstGeom prst="rect">
            <a:avLst/>
          </a:prstGeom>
          <a:noFill/>
        </p:spPr>
        <p:txBody>
          <a:bodyPr wrap="square" lIns="0" rIns="0" tIns="0" bIns="0">
            <a:spAutoFit/>
          </a:bodyPr>
          <a:lstStyle/>
          <a:p>
            <a:pPr algn="l"/>
            <a:r>
              <a:rPr sz="1400" b="1">
                <a:solidFill>
                  <a:srgbClr val="0F6BFF"/>
                </a:solidFill>
                <a:latin typeface="Aptos"/>
              </a:rPr>
              <a:t>SS&amp;D </a:t>
            </a:r>
            <a:r>
              <a:rPr sz="1400">
                <a:solidFill>
                  <a:srgbClr val="000000"/>
                </a:solidFill>
                <a:latin typeface="Aptos"/>
              </a:rPr>
              <a:t>— Sovereign Services &amp; Delivery — SAP organisation operating products in sovereign markets.</a:t>
            </a:r>
          </a:p>
        </p:txBody>
      </p:sp>
    </p:spTree>
  </p:cSld>
  <p:clrMapOvr>
    <a:masterClrMapping/>
  </p:clrMapOvr>
</p:sld>
</file>

<file path=ppt/theme/theme1.xml><?xml version="1.0" encoding="utf-8"?>
<a:theme xmlns:a="http://schemas.openxmlformats.org/drawingml/2006/main" name="OCM">
  <a:themeElements>
    <a:clrScheme name="OCM">
      <a:dk1>
        <a:srgbClr val="000000"/>
      </a:dk1>
      <a:lt1>
        <a:srgbClr val="FFFFFF"/>
      </a:lt1>
      <a:dk2>
        <a:srgbClr val="0A3A99"/>
      </a:dk2>
      <a:lt2>
        <a:srgbClr val="F3F4F6"/>
      </a:lt2>
      <a:accent1>
        <a:srgbClr val="0F6BFF"/>
      </a:accent1>
      <a:accent2>
        <a:srgbClr val="0A3A99"/>
      </a:accent2>
      <a:accent3>
        <a:srgbClr val="5CD6FF"/>
      </a:accent3>
      <a:accent4>
        <a:srgbClr val="6B7280"/>
      </a:accent4>
      <a:accent5>
        <a:srgbClr val="0A1530"/>
      </a:accent5>
      <a:accent6>
        <a:srgbClr val="F3F4F6"/>
      </a:accent6>
      <a:hlink>
        <a:srgbClr val="0F6BFF"/>
      </a:hlink>
      <a:folHlink>
        <a:srgbClr val="0A3A99"/>
      </a:folHlink>
    </a:clrScheme>
    <a:fontScheme name="OCM">
      <a:majorFont>
        <a:latin typeface="Aptos Display"/>
        <a:ea typeface=""/>
        <a:cs typeface=""/>
      </a:majorFont>
      <a:minorFont>
        <a:latin typeface="Aptos"/>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outerShdw blurRad="40000" dist="20000" dir="5400000" rotWithShape="0">
              <a:srgbClr val="000000">
                <a:alpha val="38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schemeClr>
            </a:gs>
            <a:gs pos="50000">
              <a:schemeClr val="phClr">
                <a:tint val="98000"/>
                <a:satMod val="130000"/>
                <a:shade val="9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