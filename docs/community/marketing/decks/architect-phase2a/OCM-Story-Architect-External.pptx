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observation, not the product 'OCM'.</a:t>
            </a:r>
          </a:p>
          <a:p>
            <a:r>
              <a:t>Any release in the last six months: images, charts, configs, SBOMs - each named differently, each signed differently, if at all.</a:t>
            </a:r>
          </a:p>
          <a:p>
            <a:r>
              <a:t>You shipped pieces. Nothing carried the release.</a:t>
            </a:r>
          </a:p>
          <a:p>
            <a:r>
              <a:t>Thread the arc: by the end of the deck you'll have a thirty-minute path to your first OCM component on a laptop - and an afternoon to one running on a cluster. Until then, here's why that matters.</a:t>
            </a:r>
          </a:p>
          <a:p>
            <a:r>
              <a:t>No brand pitch yet - the deck does that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existing toolbox does not compose. Three artifact types, three identity shapes:</a:t>
            </a:r>
          </a:p>
          <a:p>
            <a:r>
              <a:t>• OCI image - digest pins the bytes. Nothing pins the release the image belongs to.</a:t>
            </a:r>
          </a:p>
          <a:p>
            <a:r>
              <a:t>• Helm chart - version pins the chart. Nothing pins it to the image, config, and SBOM it ships with.</a:t>
            </a:r>
          </a:p>
          <a:p>
            <a:r>
              <a:t>• SBOM - referrer attaches to one digest. No referrer spans the whole release.</a:t>
            </a:r>
          </a:p>
          <a:p>
            <a:r>
              <a:t>Calibration for COSIGN (which can update the digest after explicit `cosign copy`): keep signing each piece. What is missing is a name for the release as one unit, signable, verifiable in a sovereign zone with no callback.</a:t>
            </a:r>
          </a:p>
          <a:p>
            <a:r>
              <a:t>Diagnosis: identity is bound to location.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conceptual fulcrum. Let it breathe. OCM separates three things the existing tools fuse:</a:t>
            </a:r>
          </a:p>
          <a:p>
            <a:r>
              <a:t>• Component identity - DNS-style name plus SemVer. Globally unique, location-agnostic. No registry in the name.</a:t>
            </a:r>
          </a:p>
          <a:p>
            <a:r>
              <a:t>• Digest - SHA-256 over each resource. Computed at pack time. This is what we sign.</a:t>
            </a:r>
          </a:p>
          <a:p>
            <a:r>
              <a:t>• Access - type plus fetch fields (`OCIImage/v1`, `Helm/v1`, `LocalBlob/v1`). Where the bytes currently live.</a:t>
            </a:r>
          </a:p>
          <a:p>
            <a:r>
              <a:t>Promote EU -&gt; US -&gt; air-gapped CTF and DEV -&gt; STAGING -&gt; PROD : identity stays, digest stays, only access is rewritten. Signature still verifies - anywhere.</a:t>
            </a:r>
          </a:p>
          <a:p>
            <a:r>
              <a:t>Move the artifact. The digest stays. Only the access changes. That is the whole trick.</a:t>
            </a:r>
          </a:p>
          <a:p>
            <a:r>
              <a:t>Q&amp;A backup on 'globally unique': inherits from DNS-prefix naming - same model as Go import paths. We don't run a registry that arbitrates conflicts; uniqueness is delegated to DNS. Two parties claiming `acme.org/helloworld` is prevented the same way two parties claiming `acme.org` is prevented.</a:t>
            </a:r>
          </a:p>
          <a:p>
            <a:r>
              <a:t>Q&amp;A backup on squatting: trust is per-component - the verifier knows what trust anchor to apply to the descriptor in front of it. A regulated environment relies on (a) controlling which registry the controllers are configured to pull from, and (b) per-component verifier config. Per-name-prefix trust-anchor binding is not in the spec or the controllers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jobs: pre-empt 'what does this replace?' and define the noun 'COMPONENT' the rest of the deck rests on.</a:t>
            </a:r>
          </a:p>
          <a:p>
            <a:r>
              <a:t>OCM is not a replacement for OCI, Helm, cosign, sigstore, or your SBOM tooling. It WRAPS them — adds one envelope signature over the whole release, sitting on top of whatever signatures the individual artifacts already carried.</a:t>
            </a:r>
          </a:p>
          <a:p>
            <a:r>
              <a:t>• Any format - Helm stays Helm, OCI stays OCI, configs stay configs. The artifact `type:` is free-form, so an OCM component already carries SBOMs, npm packages, maven artifacts and anything else your team produces today - access is via `File/v1` or `LocalBlob/v1`. Dedicated `NPM/v1` and `Maven/v1` access types are roadmap (Maven epic ocm-project#836; NPM targeted before first GA at end of 2026).</a:t>
            </a:r>
          </a:p>
          <a:p>
            <a:r>
              <a:t>• Any location - name and version do not encode a registry. Move it; the name stays.</a:t>
            </a:r>
          </a:p>
          <a:p>
            <a:r>
              <a:t>• One signature - covers every digest in the component. The whole release is one signed unit.</a:t>
            </a:r>
          </a:p>
          <a:p>
            <a:r>
              <a:t>Q&amp;A backup on cosign / sigstore / OCI 1.1 referrers: We don't replace per-artifact signatures - they travel inside the component. OCM adds a release-level envelope: one signature over the canonicalized component descriptor that covers the digests of every resource. If you cosign-sign every image and ship a sigstore bundle per chart today, keep doing that - OCM signs the wrapper above them.</a:t>
            </a:r>
          </a:p>
          <a:p>
            <a:r>
              <a:t>Q&amp;A backup on SBOD vocabulary: if the audience knows OCM at all, they may have heard 'Software Bill of Delivery' - SBOD - in earlier presentations or on the website. It's our positioning term against SBOM. Technically an SBOD is the same object architects call the component descriptor - the serialized form of an OCM component version. Different words, one object.</a:t>
            </a:r>
          </a:p>
          <a:p>
            <a:r>
              <a:t>A component is the unit you sign, transport, and deploy. Hold the noun.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YAML the audience sees. Walk it like you would for a colleague - eighteen lines, hand-written.</a:t>
            </a:r>
          </a:p>
          <a:p>
            <a:r>
              <a:t>• `components` - list, usually one. Name is DNS-style; version is SemVer.</a:t>
            </a:r>
          </a:p>
          <a:p>
            <a:r>
              <a:t>• `provider` - metadata, required.</a:t>
            </a:r>
          </a:p>
          <a:p>
            <a:r>
              <a:t>• `resources` - every artifact in the release. Two ways in:</a:t>
            </a:r>
          </a:p>
          <a:p>
            <a:r>
              <a:t>  ▪ `input:` - by value. Constructor reads the file at pack time, embeds the bytes. Travels in the archive.</a:t>
            </a:r>
          </a:p>
          <a:p>
            <a:r>
              <a:t>  ▪ `access:` - by reference. Records a pointer (e.g. `ghcr.io/.../podinfo:6.9.1`), resolves digest now, copies bytes later.</a:t>
            </a:r>
          </a:p>
          <a:p>
            <a:r>
              <a:t>Local files and configs tend to be input; big images tend to be access. Mix freely.</a:t>
            </a:r>
          </a:p>
          <a:p>
            <a:r>
              <a:t>CLI if asked: `ocm add cv` against this file, default output a CTF archive.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first: this is generated by `ocm add cv`. You do not hand-edit it. This is what travels.</a:t>
            </a:r>
          </a:p>
          <a:p>
            <a:r>
              <a:t>We show one resource - the image - to keep focus on the mechanism. Real components carry many resources and may reference other components; the '...' line stands in for that.</a:t>
            </a:r>
          </a:p>
          <a:p>
            <a:r>
              <a:t>• `access` - `OCIImage/v1` with the imageReference pinned to a digest. Kills the repoint-the-tag attack class. Excluded from the canonical form on purpose - transport rewrites it.</a:t>
            </a:r>
          </a:p>
          <a:p>
            <a:r>
              <a:t>• `digest` - SHA-256 over the resource bytes. Computed at pack time. Input to the descriptor hash.</a:t>
            </a:r>
          </a:p>
          <a:p>
            <a:r>
              <a:t>• `signatures:` - list. Each entry signs ONE hash: the SHA-256 of the canonicalized descriptor. That single hash covers every resource digest. Multiple signatures allowed - dual-sign RSA + Sigstore, verifiers pick.</a:t>
            </a:r>
          </a:p>
          <a:p>
            <a:r>
              <a:t>Three things to land. Signed: the descriptor hash - so one signature covers every artifact in the component. Not signed: the access fields - so transport can rewrite them freely. The signature still verifies, anywhere.</a:t>
            </a:r>
          </a:p>
          <a:p>
            <a:r>
              <a:t>Sign the descriptor hash, not the access. Seven words; whole transport story.</a:t>
            </a:r>
          </a:p>
          <a:p>
            <a:r>
              <a:t>Q&amp;A backup on the trust model (one per scheme, all configurable): RSA-PSS uses bare public-key pinning - operator pins the public key. Sigstore uses OIDC issuer + Fulcio short-lived cert + Rekor transparency log - operator pins the issuer. GPG uses an OpenPGP keyring - operator pins the key fingerprint. Algorithm is configurable per signature; the signed object is the canonicalized descriptor regardless of algorithm.</a:t>
            </a:r>
          </a:p>
          <a:p>
            <a:r>
              <a:t>Q&amp;A backup on composition: the signature transitively pins `componentReferences` (introduced on slide 8). The product signature covers every reference's descriptor digest - so re-signing or re-publishing a referenced component breaks the product signature. Verifier policy is per-component: a referenced component is verified against its own trust anchor at deploy time; the product is verified against the product's anchor.</a:t>
            </a:r>
          </a:p>
          <a:p>
            <a:r>
              <a:t>Q&amp;A backup on canonicalization: the canonical form of the descriptor is spec'd at `ocm-spec/04-extensions/01-artifact-types/`. Signatures are over canonical bytes - so JSON/YAML field ordering and whitespace can't break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noun to verb. On slides 5 and 6 you saw the static artifact - what you write and what travels. Now four moves on that artifact.</a:t>
            </a:r>
          </a:p>
          <a:p>
            <a:r>
              <a:t>We've covered the first half of two of them already: the constructor (slide 5) is the input to Pack; the descriptor (slide 6) is the output of Pack, the target of Sign, and the unit of Transport.</a:t>
            </a:r>
          </a:p>
          <a:p>
            <a:r>
              <a:t>Name the primitive: the signed descriptor is itself an OCI artifact - media type `application/vnd.ocm.software.component-descriptor.v2`. Lives in your registry next to the images. No new infrastructure.</a:t>
            </a:r>
          </a:p>
          <a:p>
            <a:r>
              <a:t>Four moves, same flow, every component:</a:t>
            </a:r>
          </a:p>
          <a:p>
            <a:r>
              <a:t>• Pack - bundle once, name once.</a:t>
            </a:r>
          </a:p>
          <a:p>
            <a:r>
              <a:t>• Sign - one signature covers every digest.</a:t>
            </a:r>
          </a:p>
          <a:p>
            <a:r>
              <a:t>• Transport - registry ↔ registry ↔ tarball. Signature survives every hop.</a:t>
            </a:r>
          </a:p>
          <a:p>
            <a:r>
              <a:t>• Deploy - controller verifies, resolves digests, applies. No callback upstream.</a:t>
            </a:r>
          </a:p>
          <a:p>
            <a:r>
              <a:t>These are lifecycle moves, not CLI verbs. The CLI you'll type is `ocm add cv`, `ocm sign cv`, `ocm transfer cv`, then `kubectl apply` against the Deployer CR. Same four moves, slightly different names. Sovereign cloud, air-gap, customer cluster. Next four slides are the mechanics.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Composition is the architectural fact that makes day-2 work.</a:t>
            </a:r>
          </a:p>
          <a:p>
            <a:r>
              <a:t>• Service components carry resources - images, charts, configs, SBOMs. Walk the LEFT box: `acme.org/sovereign/notes` and `acme.org/sovereign/postgres`, each with image + chart + `...` (real components carry more - configs, SBOMs - the `...` stands for that).</a:t>
            </a:r>
          </a:p>
          <a:p>
            <a:r>
              <a:t>• A product component composes services via `componentReferences:` - name + version, no resources of its own. Walk the RIGHT box: `acme.org/sovereign/product` references both notes and postgres by name and version. Nothing else.</a:t>
            </a:r>
          </a:p>
          <a:p>
            <a:r>
              <a:t>• Each service is independently versioned, signed, transferable. The product is a small descriptor that points at them.</a:t>
            </a:r>
          </a:p>
          <a:p>
            <a:r>
              <a:t>Real releases are not one big component - they are one product component referencing several services. This is the shape day-2 (slide 12) operates on.</a:t>
            </a:r>
          </a:p>
          <a:p>
            <a:r>
              <a:t>Q&amp;A backup on transitive trust: `componentReferences` are pinned by the digest of the referenced component's descriptor. The product signature covers each reference's digest - re-signing a referenced component breaks the product signature. At deploy time the verifier checks each component against its own trust anchor: notes against the notes team's anchor, postgres against the postgres team's anchor, product against the product team's anchor. Without an explicit per-component policy, the controller applies whatever trust anchor was configured on the Component CR for that name.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signed object - the canonical descriptor digest - in all three. How you prove the key is what varies. All three schemes are stable in the CLI on the v1alpha1 API surface today:</a:t>
            </a:r>
          </a:p>
          <a:p>
            <a:r>
              <a:t>• RSA / RSASSA-PSS - bare public-key pinning. The key you already rotate. No PKI required. Trust model: key pinning.</a:t>
            </a:r>
          </a:p>
          <a:p>
            <a:r>
              <a:t>• OpenPGP - OpenPGP key material; trust model is the same as RSA Plain (key pinning), just with a different key format. Fits orgs already running web-of-trust keyrings. (Slide header says 'OpenPGP' - GPG is one implementation; Sequoia and RNP produce compatible signatures.)</a:t>
            </a:r>
          </a:p>
          <a:p>
            <a:r>
              <a:t>• Sigstore - keyless via OIDC + Rekor transparency log; trust anchor is your OIDC issuer. Fits CI workloads and any signer that can present an OIDC identity.</a:t>
            </a:r>
          </a:p>
          <a:p>
            <a:r>
              <a:t>Three things to land. Same signed object - the canonical descriptor digest. Verifiers can require multiple in parallel (RSA from release team + Sigstore from CI). Pick what your org already runs.</a:t>
            </a:r>
          </a:p>
          <a:p>
            <a:r>
              <a:t>Q&amp;A backup on verifier policy on the Kubernetes Component CR: the Component CR has an optional `verify:` field - a list of {signature-name, public-key} pairs. Verification is opt-in: with NO `verify:` entries the controller resolves and pulls but does not check signatures. With `verify:` entries the controller looks for signatures with those names in the descriptor and verifies them against the provided keys. There is no scheme-pinning on the CR; the scheme is derived from each signature's algorithm field in the descriptor itself.</a:t>
            </a:r>
          </a:p>
          <a:p>
            <a:r>
              <a:t>Honest scope note (the question a security architect actually asks): the v1alpha1 Kubernetes controller TODAY implements RSA (RSASSA-PSS, RSASSA-PKCS1V15) only. OpenPGP and Sigstore verification work in the CLI - the three columns on this slide are the CLI surface. The controller will reject a non-RSA signature with an 'unsupported signature algorithm' error rather than fall through silently, so the safety property holds, but the practical answer for an audience running the controllers in production today is: RSA on the CR, CLI for the broader scheme set, OpenPGP and Sigstore controller support on the roadmap.</a:t>
            </a:r>
          </a:p>
          <a:p>
            <a:r>
              <a:t>Q&amp;A backup on global enforcement: there is no admission webhook shipping with the OCM controllers. Verification policy lives on each Component CR. Production installs that want global enforcement bring their own admission policy - Kyverno, Gatekeeper, or a custom webhook against the Component resource.</a:t>
            </a:r>
          </a:p>
          <a:p>
            <a:r>
              <a:t>Q&amp;A backup on PEM / cert chains: A fourth option exists - RSA with X.509 certificate chain, PEM encoding. Still experimental: the CLI prints `experimental` warnings on every sign and verify. Watch the docs; we'll promote it when the encoding stabilizes.</a:t>
            </a:r>
          </a:p>
          <a:p>
            <a:r>
              <a:t>CLI: `ocm sign cv ./archive//github.com/acme/widget:v1.4.2 --signature acme-release-key --private-key ./release-key.pem`. Idempotent.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mechanic, three patterns - covers every delivery topology you will see.</a:t>
            </a:r>
          </a:p>
          <a:p>
            <a:r>
              <a:t>• Registry -&gt; Registry - promotion across dev/staging/prod, or cross-cloud GHCR -&gt; ECR. Same digests, every access rewritten.</a:t>
            </a:r>
          </a:p>
          <a:p>
            <a:r>
              <a:t>• Registry -&gt; CTF - Common Transport Format. A local archive of blobs + index. Hand-carry across the boundary.</a:t>
            </a:r>
          </a:p>
          <a:p>
            <a:r>
              <a:t>• CTF -&gt; Registry - the air-gap import. Archive arrives, `ocm transfer` uploads, access rewrites to local registry, signature verifies locally. No traffic to source.</a:t>
            </a:r>
          </a:p>
          <a:p>
            <a:r>
              <a:t>Same command in all three: `ocm transfer cv &lt;src&gt; &lt;dst&gt;`. Access changes; digests do not. Signature covers digests, so it survives every hop. Verification is purely local at the destination - that is the air-gap property.</a:t>
            </a:r>
          </a:p>
          <a:p>
            <a:r>
              <a:t>Q&amp;A backup on the air-gap default footgun: default `ocm transfer` copies only the component descriptor - the access fields still point back at the source registry. For air-gap (CTF -&gt; Registry) you MUST pass `--copy-resources` so the bytes travel with the descriptor. Slide 14 names this as one of the three honest edges. Worth catching in a CI step the first time someone runs an air-gap export.</a:t>
            </a:r>
          </a:p>
          <a:p>
            <a:r>
              <a:t>Q&amp;A backup on Sigstore air-gap specifically: Sigstore verification at the destination is offline IF the trusted-root file (Fulcio CA + Rekor public key for the configured issuer) has been distributed into the destination once, out of band. After that, `ocm verify cv` runs without contacting Rekor or Fulcio. RSA and OpenPGP need only their pinned public keys - no trusted-root file.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CRs, one chain. The controllers verify and apply the component.</a:t>
            </a:r>
          </a:p>
          <a:p>
            <a:r>
              <a:t>• Repository - names where component versions live. OCI registry, mounted CTF, S3, local FS.</a:t>
            </a:r>
          </a:p>
          <a:p>
            <a:r>
              <a:t>• Component - names a specific component version. Pulls the descriptor and verifies its signature against the trust anchor configured on the Component CR. Verification is OPT-IN: without a `verify:` entry referencing a key/secret, the controller resolves and pulls but does not check signatures. Production installs should require verification via admission policy.</a:t>
            </a:r>
          </a:p>
          <a:p>
            <a:r>
              <a:t>• Resource - picks one artifact from the verified component, by digest: Helm chart, OCI image, raw manifest, blob.</a:t>
            </a:r>
          </a:p>
          <a:p>
            <a:r>
              <a:t>• Deployer - applies the resource to the cluster. Resolves image refs and other deploy-time pointers from the verified component descriptor at apply time - that is where localization happens in v2.</a:t>
            </a:r>
          </a:p>
          <a:p>
            <a:r>
              <a:t>Foreshadow the dependency now so slide 14 doesn't feel retroactive: the four-card chain on its own deploys raw Kubernetes manifests. For the Helm-deploy reference flow, the chain feeds a `ResourceGraphDefinition` that kro reconciles, with Flux (or Argo CD) applying the resulting `HelmRelease`. The OCM controllers DON'T ship kro, Flux, or Argo CD - bring your own. Slide 14 names this as one of the three honest edges.</a:t>
            </a:r>
          </a:p>
          <a:p>
            <a:r>
              <a:t>Q&amp;A backup on Argo CD: tabs for Argo CD are landing in the website how-tos before the deck ships. Until then, the documented Helm-deploy path is kro + Flux; the Argo CD path is symmetrical.</a:t>
            </a:r>
          </a:p>
          <a:p>
            <a:r>
              <a:t>Q&amp;A backup on the controller-shaped `ocm transfer`: yes, there's a `Replication` CR for in-cluster repo-to-repo mirroring. Appendix slide 16 covers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Composition was just defined on slide 8. This slide does ONE job: the day-2 mechanic.</a:t>
            </a:r>
          </a:p>
          <a:p>
            <a:r>
              <a:t>The product is `acme.org/sovereign/product`. Day 1 references notes 1.0.0 and postgres 1.0.0, each with its descriptor digest pinned. The notes team ships a patch (1.0.0 -&gt; 1.1.0). The platform team raises the product to 1.1.0 and updates the notes reference (its version AND its digest, because the new notes descriptor hashes differently). Postgres stays - same version, same digest.</a:t>
            </a:r>
          </a:p>
          <a:p>
            <a:r>
              <a:t>Commit. The controller pulls the new product descriptor, verifies the signature, resolves the new digests, applies. Notes rolls forward; postgres is untouched.</a:t>
            </a:r>
          </a:p>
          <a:p>
            <a:r>
              <a:t>Differentiator framing for security architects: OCM is a release-level envelope. `helm upgrade` upgrades one chart; cosign signs one image. The OCM signature covers the whole release as one unit - every digest in every resource of every referenced component is pinned by the one parent signature. Drift would mean breaking that signature.</a:t>
            </a:r>
          </a:p>
          <a:p>
            <a:r>
              <a:t>Q&amp;A backup on forged descriptors: nothing OCM-specific stops a malicious operator from committing a forged descriptor with bumped versions, an attacker's image references, and a re-signed signature using a stolen key. Same threat model as any signed-release system: rotate keys, dual-sign, audit. What OCM gives you is one signature to audit instead of N.</a:t>
            </a:r>
          </a:p>
          <a:p>
            <a:r>
              <a:t>Bump the product. The references follow. The cluster cannot drift without breaking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to a first OCM component. Both tested in conformance on every release.</a:t>
            </a:r>
          </a:p>
          <a:p>
            <a:r>
              <a:t>• From zero - CLI. No cluster needed. Install CLI. Write a constructor for one component. Pack. Sign with RSA. Export as CTF. Carry to a second machine. Import. Verify. Cold-start budget: about thirty minutes - CLI install plus the simple `helloworld` pack/sign/verify walked in the website tutorial. Recommend this path first.</a:t>
            </a:r>
          </a:p>
          <a:p>
            <a:r>
              <a:t>• On your cluster - controllers. Spin up a kind cluster. Helm-install the OCM controllers, plus kro, plus your deployer of choice (Flux or Argo CD). Point them at your registry. Apply a Component resource - verified and reconciling. Cold-start budget: an afternoon - includes the bootstrap (kind + controllers + kro + Flux/Argo CD) and a Helm-deploy of the simple component documented in the getting-started tutorial.</a:t>
            </a:r>
          </a:p>
          <a:p>
            <a:r>
              <a:t>On the slide: no marketing minutes. The honest numbers live here so the speaker can land them when asked.</a:t>
            </a:r>
          </a:p>
          <a:p>
            <a:r>
              <a:t>Both paths coexist with what you already run - cosign, Argo CD, Flux, Kyverno. OCM signs the descriptor; your existing controls stay in place.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that earns trust. Deliver straight; do not soften.</a:t>
            </a:r>
          </a:p>
          <a:p>
            <a:r>
              <a:t>• Transfer defaults - copies only the descriptor. For air-gap, pass --copy-resources so the bytes travel too. Worth catching in a CI step the first time someone runs an air-gap export.</a:t>
            </a:r>
          </a:p>
          <a:p>
            <a:r>
              <a:t>• Controllers v1alpha1 - CRD shapes for Repository/Component/Resource/Deployer are stabilising but still v1alpha1. Pin to specific release tags in your platform installs.</a:t>
            </a:r>
          </a:p>
          <a:p>
            <a:r>
              <a:t>• Helm-deploy adds kro + Flux or Argo CD - the OCM controllers don't ship them. Bring your existing GitOps engine. Nuance for Q&amp;A: kro is required for ALL documented deploy paths (it reconciles the ResourceGraphDefinition the Deployer feeds it), not only Helm-deploy. The GitOps engine - Flux today, Argo CD path landing in the docs before this deck ships - is the Helm-deploy-specific add. Three installs total for Helm-deploy.</a:t>
            </a:r>
          </a:p>
          <a:p>
            <a:r>
              <a:t>Honest now beats apologetic later. If any edge is a deal-breaker, tell us early.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 Three doors, architect-shaped.</a:t>
            </a:r>
          </a:p>
          <a:p>
            <a:r>
              <a:t>• Evaluate - `ocm.software`. Read the spec, run the conformance scenario at `conformance/scenarios/sovereign`, judge fit. You will know within an afternoon if OCM fits.</a:t>
            </a:r>
          </a:p>
          <a:p>
            <a:r>
              <a:t>• Pilot - `github.com/open-component-model`. Take one product, one team, scoped scope of work. Spec, implementation, conformance suite, roadmap - all in the open.</a:t>
            </a:r>
          </a:p>
          <a:p>
            <a:r>
              <a:t>• Engage - community channels on the website. We're stewarding a standard under NeoNephos Foundation governance. The more voices while it's being shaped, the better the standard gets.</a:t>
            </a:r>
          </a:p>
          <a:p>
            <a:r>
              <a:t>Not selling OCM. Stewarding it as a multi-vendor standard. Ship the release as one unit. Thank you -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pull only if asked about cluster-side mirroring or 'how do I get a version from one repo into another without running the CLI?'.</a:t>
            </a:r>
          </a:p>
          <a:p>
            <a:r>
              <a:t>A fifth controller, `Replication`, sits alongside the four-card chain - not within it. Where the chain delivers content INTO the cluster, Replication transfers a resolved component version FROM one OCM repository TO another. Same descriptor, same digests, fresh access fields.</a:t>
            </a:r>
          </a:p>
          <a:p>
            <a:r>
              <a:t>References a source `Component` CR and a target `Repository` CR. When the source's resolved version changes, transfers that version with its full reference graph into the target.</a:t>
            </a:r>
          </a:p>
          <a:p>
            <a:r>
              <a:t>Mirrors the behavior of `ocm transfer cv` on the OCM CLI. Records `status.lastTransferredDigest` after each successful run; a later reconciliation seeing the same digest is a no-op.</a:t>
            </a:r>
          </a:p>
          <a:p>
            <a:r>
              <a:t>Use cases: delivery pipelines, promotion between environments, air-gap mirroring kept in-cluster rather than on a workstation.</a:t>
            </a:r>
          </a:p>
          <a:p>
            <a:r>
              <a:t>Not on the main deck because the four-card chain is the load-bearing story for a 30-minute architect talk. This is the answer to a specific question, not part of the arc.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type="title" preserve="1" userDrawn="1">
  <p:cSld name="Hero">
    <p:bg>
      <p:bgPr>
        <a:solidFill>
          <a:srgbClr val="0A1530"/>
        </a:solidFill>
        <a:effectLst/>
      </p:bgPr>
    </p:bg>
    <p:spTree>
      <p:nvGrpSpPr>
        <p:cNvPr id="1" name=""/>
        <p:cNvGrpSpPr/>
        <p:nvPr/>
      </p:nvGrpSpPr>
      <p:grpSpPr>
        <a:xfrm>
          <a:off x="0" y="0"/>
          <a:ext cx="0" cy="0"/>
          <a:chOff x="0" y="0"/>
          <a:chExt cx="0" cy="0"/>
        </a:xfrm>
      </p:grpSpPr>
      <p:sp>
        <p:nvSpPr>
          <p:cNvPr id="10" name="Hero Title Line 1"/>
          <p:cNvSpPr>
            <a:spLocks noGrp="1"/>
          </p:cNvSpPr>
          <p:nvPr>
            <p:ph type="title" idx="1"/>
          </p:nvPr>
        </p:nvSpPr>
        <p:spPr>
          <a:xfrm>
            <a:off x="914400" y="1714500"/>
            <a:ext cx="17373600" cy="1524000"/>
          </a:xfrm>
          <a:prstGeom prst="rect">
            <a:avLst/>
          </a:prstGeom>
        </p:spPr>
        <p:txBody>
          <a:bodyPr wrap="square" rtlCol="0" anchor="t" lIns="0" tIns="0" rIns="0" bIns="0">
            <a:noAutofit/>
          </a:bodyPr>
          <a:lstStyle>
            <a:lvl1pPr marL="0" indent="0" algn="l">
              <a:buNone/>
              <a:defRPr sz="11500" b="1">
                <a:solidFill>
                  <a:srgbClr val="FFFFFF"/>
                </a:solidFill>
                <a:latin typeface="Aptos Display"/>
              </a:defRPr>
            </a:lvl1pPr>
          </a:lstStyle>
          <a:p>
            <a:r>
              <a:rPr lang="en-US"/>
              <a:t>Secure Delivery for</a:t>
            </a:r>
            <a:endParaRPr lang="en-US"/>
          </a:p>
        </p:txBody>
      </p:sp>
      <p:sp>
        <p:nvSpPr>
          <p:cNvPr id="11" name="Hero Title Line 2"/>
          <p:cNvSpPr>
            <a:spLocks noGrp="1"/>
          </p:cNvSpPr>
          <p:nvPr>
            <p:ph type="body" idx="2"/>
          </p:nvPr>
        </p:nvSpPr>
        <p:spPr>
          <a:xfrm>
            <a:off x="914400" y="3286125"/>
            <a:ext cx="17373600" cy="1524000"/>
          </a:xfrm>
          <a:prstGeom prst="rect">
            <a:avLst/>
          </a:prstGeom>
        </p:spPr>
        <p:txBody>
          <a:bodyPr wrap="square" rtlCol="0" anchor="t" lIns="0" tIns="0" rIns="0" bIns="0">
            <a:noAutofit/>
          </a:bodyPr>
          <a:lstStyle>
            <a:lvl1pPr marL="0" indent="0" algn="l">
              <a:buNone/>
              <a:defRPr sz="11500" b="1">
                <a:solidFill>
                  <a:srgbClr val="5CD6FF"/>
                </a:solidFill>
                <a:latin typeface="Aptos Display"/>
              </a:defRPr>
            </a:lvl1pPr>
          </a:lstStyle>
          <a:p>
            <a:r>
              <a:rPr lang="en-US"/>
              <a:t>Sovereign Clouds</a:t>
            </a:r>
            <a:endParaRPr lang="en-US"/>
          </a:p>
        </p:txBody>
      </p:sp>
      <p:sp>
        <p:nvSpPr>
          <p:cNvPr id="12" name="Hero Subtitle"/>
          <p:cNvSpPr>
            <a:spLocks noGrp="1"/>
          </p:cNvSpPr>
          <p:nvPr>
            <p:ph type="body" idx="3"/>
          </p:nvPr>
        </p:nvSpPr>
        <p:spPr>
          <a:xfrm>
            <a:off x="914400" y="5334000"/>
            <a:ext cx="16192500" cy="857250"/>
          </a:xfrm>
          <a:prstGeom prst="rect">
            <a:avLst/>
          </a:prstGeom>
        </p:spPr>
        <p:txBody>
          <a:bodyPr wrap="square" rtlCol="0" anchor="t" lIns="0" tIns="0" rIns="0" bIns="0">
            <a:noAutofit/>
          </a:bodyPr>
          <a:lstStyle>
            <a:lvl1pPr marL="0" indent="0" algn="l">
              <a:lnSpc>
                <a:spcPct val="114999"/>
              </a:lnSpc>
              <a:buNone/>
              <a:defRPr sz="3500">
                <a:solidFill>
                  <a:srgbClr val="5CD6FF"/>
                </a:solidFill>
                <a:latin typeface="Aptos"/>
              </a:defRPr>
            </a:lvl1pPr>
          </a:lstStyle>
          <a:p>
            <a:r>
              <a:rPr lang="en-US"/>
              <a:t>Subtitle — one sentence describing the deck.</a:t>
            </a:r>
            <a:endParaRPr lang="en-US"/>
          </a:p>
        </p:txBody>
      </p:sp>
      <p:sp>
        <p:nvSpPr>
          <p:cNvPr id="13" name="Hero Org Line"/>
          <p:cNvSpPr>
            <a:spLocks noGrp="1"/>
          </p:cNvSpPr>
          <p:nvPr>
            <p:ph type="body" idx="4"/>
          </p:nvPr>
        </p:nvSpPr>
        <p:spPr>
          <a:xfrm>
            <a:off x="914400" y="6572250"/>
            <a:ext cx="16192500" cy="571500"/>
          </a:xfrm>
          <a:prstGeom prst="rect">
            <a:avLst/>
          </a:prstGeom>
        </p:spPr>
        <p:txBody>
          <a:bodyPr wrap="square" rtlCol="0" anchor="t" lIns="0" tIns="0" rIns="0" bIns="0">
            <a:noAutofit/>
          </a:bodyPr>
          <a:lstStyle>
            <a:lvl1pPr marL="0" indent="0" algn="l">
              <a:buNone/>
              <a:defRPr sz="2800">
                <a:solidFill>
                  <a:srgbClr val="FFFFFF"/>
                </a:solidFill>
                <a:latin typeface="Aptos"/>
              </a:defRPr>
            </a:lvl1pPr>
          </a:lstStyle>
          <a:p>
            <a:r>
              <a:rPr lang="en-US"/>
              <a:t>Open Component Model — open source, NeoNephos Foundation.</a:t>
            </a:r>
            <a:endParaRPr lang="en-US"/>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type="obj" preserve="1" userDrawn="1">
  <p:cSld name="CTA">
    <p:bg>
      <p:bgPr>
        <a:solidFill>
          <a:srgbClr val="0A1530"/>
        </a:solidFill>
        <a:effectLst/>
      </p:bgPr>
    </p:bg>
    <p:spTree>
      <p:nvGrpSpPr>
        <p:cNvPr id="1" name=""/>
        <p:cNvGrpSpPr/>
        <p:nvPr/>
      </p:nvGrpSpPr>
      <p:grpSpPr>
        <a:xfrm>
          <a:off x="0" y="0"/>
          <a:ext cx="0" cy="0"/>
          <a:chOff x="0" y="0"/>
          <a:chExt cx="0" cy="0"/>
        </a:xfrm>
      </p:grpSpPr>
      <p:sp>
        <p:nvSpPr>
          <p:cNvPr id="10" name="CTA Title"/>
          <p:cNvSpPr>
            <a:spLocks noGrp="1"/>
          </p:cNvSpPr>
          <p:nvPr>
            <p:ph type="title" idx="1"/>
          </p:nvPr>
        </p:nvSpPr>
        <p:spPr>
          <a:xfrm>
            <a:off x="914400" y="3048000"/>
            <a:ext cx="16192500" cy="952500"/>
          </a:xfrm>
          <a:prstGeom prst="rect">
            <a:avLst/>
          </a:prstGeom>
        </p:spPr>
        <p:txBody>
          <a:bodyPr wrap="square" rtlCol="0" anchor="t" lIns="0" tIns="0" rIns="0" bIns="0"/>
          <a:lstStyle>
            <a:lvl1pPr marL="0" indent="0" algn="l">
              <a:buNone/>
              <a:defRPr sz="6400" b="1">
                <a:solidFill>
                  <a:srgbClr val="FFFFFF"/>
                </a:solidFill>
                <a:latin typeface="Aptos Display"/>
              </a:defRPr>
            </a:lvl1pPr>
          </a:lstStyle>
          <a:p>
            <a:r>
              <a:rPr lang="en-US"/>
              <a:t>Call to action</a:t>
            </a:r>
            <a:endParaRPr lang="en-US"/>
          </a:p>
        </p:txBody>
      </p:sp>
      <p:sp>
        <p:nvSpPr>
          <p:cNvPr id="11" name="CTA Body"/>
          <p:cNvSpPr>
            <a:spLocks noGrp="1"/>
          </p:cNvSpPr>
          <p:nvPr>
            <p:ph type="body" idx="2"/>
          </p:nvPr>
        </p:nvSpPr>
        <p:spPr>
          <a:xfrm>
            <a:off x="914400" y="4381500"/>
            <a:ext cx="16192500" cy="3810000"/>
          </a:xfrm>
          <a:prstGeom prst="rect">
            <a:avLst/>
          </a:prstGeom>
        </p:spPr>
        <p:txBody>
          <a:bodyPr wrap="square" rtlCol="0" anchor="t" lIns="0" tIns="0" rIns="0" bIns="0"/>
          <a:lstStyle>
            <a:lvl1pPr marL="0" indent="0" algn="l">
              <a:buNone/>
              <a:defRPr sz="2500">
                <a:solidFill>
                  <a:srgbClr val="FFFFFF"/>
                </a:solidFill>
                <a:latin typeface="Aptos"/>
              </a:defRPr>
            </a:lvl1pPr>
          </a:lstStyle>
          <a:p>
            <a:r>
              <a:rPr lang="en-US"/>
              <a:t>Three-line CTA bullets go here.</a:t>
            </a:r>
            <a:endParaRPr lang="en-US"/>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type="obj" preserve="1" userDrawn="1">
  <p:cSld name="Content / 3-Colum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Col1 Rule"/>
          <p:cNvSpPr/>
          <p:nvPr/>
        </p:nvSpPr>
        <p:spPr>
          <a:xfrm>
            <a:off x="1143000" y="4953000"/>
            <a:ext cx="4972050" cy="38100"/>
          </a:xfrm>
          <a:prstGeom prst="rect">
            <a:avLst/>
          </a:prstGeom>
          <a:solidFill>
            <a:srgbClr val="0F6BFF"/>
          </a:solidFill>
          <a:ln>
            <a:noFill/>
          </a:ln>
        </p:spPr>
        <p:txBody>
          <a:bodyPr rtlCol="0" anchor="ctr"/>
          <a:lstStyle/>
          <a:p>
            <a:endParaRPr lang="en-US"/>
          </a:p>
        </p:txBody>
      </p:sp>
      <p:sp>
        <p:nvSpPr>
          <p:cNvPr id="13" name="Col1 Header"/>
          <p:cNvSpPr>
            <a:spLocks noGrp="1"/>
          </p:cNvSpPr>
          <p:nvPr>
            <p:ph type="body" idx="10"/>
          </p:nvPr>
        </p:nvSpPr>
        <p:spPr>
          <a:xfrm>
            <a:off x="114300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1 HEADER</a:t>
            </a:r>
            <a:endParaRPr lang="en-US"/>
          </a:p>
        </p:txBody>
      </p:sp>
      <p:sp>
        <p:nvSpPr>
          <p:cNvPr id="14" name="Col1 Body"/>
          <p:cNvSpPr>
            <a:spLocks noGrp="1"/>
          </p:cNvSpPr>
          <p:nvPr>
            <p:ph type="body" idx="11"/>
          </p:nvPr>
        </p:nvSpPr>
        <p:spPr>
          <a:xfrm>
            <a:off x="114300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1 body. Replace with one or two short sentences.</a:t>
            </a:r>
            <a:endParaRPr lang="en-US"/>
          </a:p>
        </p:txBody>
      </p:sp>
      <p:sp>
        <p:nvSpPr>
          <p:cNvPr id="15" name="Col2 Rule"/>
          <p:cNvSpPr/>
          <p:nvPr/>
        </p:nvSpPr>
        <p:spPr>
          <a:xfrm>
            <a:off x="6648450" y="4953000"/>
            <a:ext cx="4972050" cy="38100"/>
          </a:xfrm>
          <a:prstGeom prst="rect">
            <a:avLst/>
          </a:prstGeom>
          <a:solidFill>
            <a:srgbClr val="0F6BFF"/>
          </a:solidFill>
          <a:ln>
            <a:noFill/>
          </a:ln>
        </p:spPr>
        <p:txBody>
          <a:bodyPr rtlCol="0" anchor="ctr"/>
          <a:lstStyle/>
          <a:p>
            <a:endParaRPr lang="en-US"/>
          </a:p>
        </p:txBody>
      </p:sp>
      <p:sp>
        <p:nvSpPr>
          <p:cNvPr id="16" name="Col2 Header"/>
          <p:cNvSpPr>
            <a:spLocks noGrp="1"/>
          </p:cNvSpPr>
          <p:nvPr>
            <p:ph type="body" idx="12"/>
          </p:nvPr>
        </p:nvSpPr>
        <p:spPr>
          <a:xfrm>
            <a:off x="664845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2 HEADER</a:t>
            </a:r>
            <a:endParaRPr lang="en-US"/>
          </a:p>
        </p:txBody>
      </p:sp>
      <p:sp>
        <p:nvSpPr>
          <p:cNvPr id="17" name="Col2 Body"/>
          <p:cNvSpPr>
            <a:spLocks noGrp="1"/>
          </p:cNvSpPr>
          <p:nvPr>
            <p:ph type="body" idx="13"/>
          </p:nvPr>
        </p:nvSpPr>
        <p:spPr>
          <a:xfrm>
            <a:off x="664845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2 body. Replace with one or two short sentences.</a:t>
            </a:r>
            <a:endParaRPr lang="en-US"/>
          </a:p>
        </p:txBody>
      </p:sp>
      <p:sp>
        <p:nvSpPr>
          <p:cNvPr id="18" name="Col3 Rule"/>
          <p:cNvSpPr/>
          <p:nvPr/>
        </p:nvSpPr>
        <p:spPr>
          <a:xfrm>
            <a:off x="12153900" y="4953000"/>
            <a:ext cx="4972050" cy="38100"/>
          </a:xfrm>
          <a:prstGeom prst="rect">
            <a:avLst/>
          </a:prstGeom>
          <a:solidFill>
            <a:srgbClr val="0F6BFF"/>
          </a:solidFill>
          <a:ln>
            <a:noFill/>
          </a:ln>
        </p:spPr>
        <p:txBody>
          <a:bodyPr rtlCol="0" anchor="ctr"/>
          <a:lstStyle/>
          <a:p>
            <a:endParaRPr lang="en-US"/>
          </a:p>
        </p:txBody>
      </p:sp>
      <p:sp>
        <p:nvSpPr>
          <p:cNvPr id="19" name="Col3 Header"/>
          <p:cNvSpPr>
            <a:spLocks noGrp="1"/>
          </p:cNvSpPr>
          <p:nvPr>
            <p:ph type="body" idx="14"/>
          </p:nvPr>
        </p:nvSpPr>
        <p:spPr>
          <a:xfrm>
            <a:off x="1215390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3 HEADER</a:t>
            </a:r>
            <a:endParaRPr lang="en-US"/>
          </a:p>
        </p:txBody>
      </p:sp>
      <p:sp>
        <p:nvSpPr>
          <p:cNvPr id="20" name="Col3 Body"/>
          <p:cNvSpPr>
            <a:spLocks noGrp="1"/>
          </p:cNvSpPr>
          <p:nvPr>
            <p:ph type="body" idx="15"/>
          </p:nvPr>
        </p:nvSpPr>
        <p:spPr>
          <a:xfrm>
            <a:off x="1215390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3 body. Replace with one or two short sentences.</a:t>
            </a:r>
            <a:endParaRPr lang="en-US"/>
          </a:p>
        </p:txBody>
      </p:sp>
      <p:sp>
        <p:nvSpPr>
          <p:cNvPr id="21"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type="obj" preserve="1" userDrawn="1">
  <p:cSld name="Content / 3-Column Tall Title">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28575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Two-line section title goes here.</a:t>
            </a:r>
            <a:endParaRPr lang="en-US"/>
          </a:p>
        </p:txBody>
      </p:sp>
      <p:sp>
        <p:nvSpPr>
          <p:cNvPr id="12" name="Col1 Rule"/>
          <p:cNvSpPr/>
          <p:nvPr/>
        </p:nvSpPr>
        <p:spPr>
          <a:xfrm>
            <a:off x="1143000" y="5905500"/>
            <a:ext cx="4972050" cy="38100"/>
          </a:xfrm>
          <a:prstGeom prst="rect">
            <a:avLst/>
          </a:prstGeom>
          <a:solidFill>
            <a:srgbClr val="0F6BFF"/>
          </a:solidFill>
          <a:ln>
            <a:noFill/>
          </a:ln>
        </p:spPr>
        <p:txBody>
          <a:bodyPr rtlCol="0" anchor="ctr"/>
          <a:lstStyle/>
          <a:p>
            <a:endParaRPr lang="en-US"/>
          </a:p>
        </p:txBody>
      </p:sp>
      <p:sp>
        <p:nvSpPr>
          <p:cNvPr id="13" name="Col1 Header"/>
          <p:cNvSpPr>
            <a:spLocks noGrp="1"/>
          </p:cNvSpPr>
          <p:nvPr>
            <p:ph type="body" idx="10"/>
          </p:nvPr>
        </p:nvSpPr>
        <p:spPr>
          <a:xfrm>
            <a:off x="1143000" y="60579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1 HEADER</a:t>
            </a:r>
            <a:endParaRPr lang="en-US"/>
          </a:p>
        </p:txBody>
      </p:sp>
      <p:sp>
        <p:nvSpPr>
          <p:cNvPr id="14" name="Col1 Body"/>
          <p:cNvSpPr>
            <a:spLocks noGrp="1"/>
          </p:cNvSpPr>
          <p:nvPr>
            <p:ph type="body" idx="11"/>
          </p:nvPr>
        </p:nvSpPr>
        <p:spPr>
          <a:xfrm>
            <a:off x="1143000" y="6705600"/>
            <a:ext cx="4972050" cy="3619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1 body. Replace with one or two short sentences.</a:t>
            </a:r>
            <a:endParaRPr lang="en-US"/>
          </a:p>
        </p:txBody>
      </p:sp>
      <p:sp>
        <p:nvSpPr>
          <p:cNvPr id="15" name="Col2 Rule"/>
          <p:cNvSpPr/>
          <p:nvPr/>
        </p:nvSpPr>
        <p:spPr>
          <a:xfrm>
            <a:off x="6648450" y="5905500"/>
            <a:ext cx="4972050" cy="38100"/>
          </a:xfrm>
          <a:prstGeom prst="rect">
            <a:avLst/>
          </a:prstGeom>
          <a:solidFill>
            <a:srgbClr val="0F6BFF"/>
          </a:solidFill>
          <a:ln>
            <a:noFill/>
          </a:ln>
        </p:spPr>
        <p:txBody>
          <a:bodyPr rtlCol="0" anchor="ctr"/>
          <a:lstStyle/>
          <a:p>
            <a:endParaRPr lang="en-US"/>
          </a:p>
        </p:txBody>
      </p:sp>
      <p:sp>
        <p:nvSpPr>
          <p:cNvPr id="16" name="Col2 Header"/>
          <p:cNvSpPr>
            <a:spLocks noGrp="1"/>
          </p:cNvSpPr>
          <p:nvPr>
            <p:ph type="body" idx="12"/>
          </p:nvPr>
        </p:nvSpPr>
        <p:spPr>
          <a:xfrm>
            <a:off x="6648450" y="60579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2 HEADER</a:t>
            </a:r>
            <a:endParaRPr lang="en-US"/>
          </a:p>
        </p:txBody>
      </p:sp>
      <p:sp>
        <p:nvSpPr>
          <p:cNvPr id="17" name="Col2 Body"/>
          <p:cNvSpPr>
            <a:spLocks noGrp="1"/>
          </p:cNvSpPr>
          <p:nvPr>
            <p:ph type="body" idx="13"/>
          </p:nvPr>
        </p:nvSpPr>
        <p:spPr>
          <a:xfrm>
            <a:off x="6648450" y="6705600"/>
            <a:ext cx="4972050" cy="3619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2 body. Replace with one or two short sentences.</a:t>
            </a:r>
            <a:endParaRPr lang="en-US"/>
          </a:p>
        </p:txBody>
      </p:sp>
      <p:sp>
        <p:nvSpPr>
          <p:cNvPr id="18" name="Col3 Rule"/>
          <p:cNvSpPr/>
          <p:nvPr/>
        </p:nvSpPr>
        <p:spPr>
          <a:xfrm>
            <a:off x="12153900" y="5905500"/>
            <a:ext cx="4972050" cy="38100"/>
          </a:xfrm>
          <a:prstGeom prst="rect">
            <a:avLst/>
          </a:prstGeom>
          <a:solidFill>
            <a:srgbClr val="0F6BFF"/>
          </a:solidFill>
          <a:ln>
            <a:noFill/>
          </a:ln>
        </p:spPr>
        <p:txBody>
          <a:bodyPr rtlCol="0" anchor="ctr"/>
          <a:lstStyle/>
          <a:p>
            <a:endParaRPr lang="en-US"/>
          </a:p>
        </p:txBody>
      </p:sp>
      <p:sp>
        <p:nvSpPr>
          <p:cNvPr id="19" name="Col3 Header"/>
          <p:cNvSpPr>
            <a:spLocks noGrp="1"/>
          </p:cNvSpPr>
          <p:nvPr>
            <p:ph type="body" idx="14"/>
          </p:nvPr>
        </p:nvSpPr>
        <p:spPr>
          <a:xfrm>
            <a:off x="12153900" y="60579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3 HEADER</a:t>
            </a:r>
            <a:endParaRPr lang="en-US"/>
          </a:p>
        </p:txBody>
      </p:sp>
      <p:sp>
        <p:nvSpPr>
          <p:cNvPr id="20" name="Col3 Body"/>
          <p:cNvSpPr>
            <a:spLocks noGrp="1"/>
          </p:cNvSpPr>
          <p:nvPr>
            <p:ph type="body" idx="15"/>
          </p:nvPr>
        </p:nvSpPr>
        <p:spPr>
          <a:xfrm>
            <a:off x="12153900" y="6705600"/>
            <a:ext cx="4972050" cy="3619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3 body. Replace with one or two short sentences.</a:t>
            </a:r>
            <a:endParaRPr lang="en-US"/>
          </a:p>
        </p:txBody>
      </p:sp>
      <p:sp>
        <p:nvSpPr>
          <p:cNvPr id="21"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type="obj" preserve="1" userDrawn="1">
  <p:cSld name="Content / Diagram">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7143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1219200"/>
            <a:ext cx="16002000" cy="762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Diagram"/>
          <p:cNvSpPr>
            <a:spLocks noGrp="1"/>
          </p:cNvSpPr>
          <p:nvPr>
            <p:ph type="pic" idx="10"/>
          </p:nvPr>
        </p:nvSpPr>
        <p:spPr>
          <a:xfrm>
            <a:off x="571500" y="2286000"/>
            <a:ext cx="17145000" cy="7429500"/>
          </a:xfrm>
          <a:prstGeom prst="rect">
            <a:avLst/>
          </a:prstGeom>
        </p:spPr>
        <p:txBody>
          <a:bodyPr rtlCol="0" anchor="ctr"/>
          <a:lstStyle/>
          <a:p>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type="obj" preserve="1" userDrawn="1">
  <p:cSld name="Content / Diagram Compact">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762000"/>
            <a:ext cx="16002000" cy="381000"/>
          </a:xfrm>
          <a:prstGeom prst="rect">
            <a:avLst/>
          </a:prstGeom>
        </p:spPr>
        <p:txBody>
          <a:bodyPr wrap="square" rtlCol="0" anchor="t" lIns="0" tIns="0" rIns="0" bIns="0"/>
          <a:lstStyle>
            <a:lvl1pPr marL="0" indent="0" algn="l">
              <a:buNone/>
              <a:defRPr sz="26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1238250"/>
            <a:ext cx="16002000" cy="952500"/>
          </a:xfrm>
          <a:prstGeom prst="rect">
            <a:avLst/>
          </a:prstGeom>
        </p:spPr>
        <p:txBody>
          <a:bodyPr wrap="square" rtlCol="0" anchor="t" lIns="0" tIns="0" rIns="0" bIns="0"/>
          <a:lstStyle>
            <a:lvl1pPr marL="0" indent="0" algn="l">
              <a:lnSpc>
                <a:spcPct val="90000"/>
              </a:lnSpc>
              <a:buNone/>
              <a:defRPr sz="5600" b="1">
                <a:solidFill>
                  <a:srgbClr val="000000"/>
                </a:solidFill>
                <a:latin typeface="Aptos Display"/>
              </a:defRPr>
            </a:lvl1pPr>
          </a:lstStyle>
          <a:p>
            <a:r>
              <a:rPr lang="en-US"/>
              <a:t>Section title goes here.</a:t>
            </a:r>
            <a:endParaRPr lang="en-US"/>
          </a:p>
        </p:txBody>
      </p:sp>
      <p:sp>
        <p:nvSpPr>
          <p:cNvPr id="12" name="Diagram"/>
          <p:cNvSpPr>
            <a:spLocks noGrp="1"/>
          </p:cNvSpPr>
          <p:nvPr>
            <p:ph type="pic" idx="10"/>
          </p:nvPr>
        </p:nvSpPr>
        <p:spPr>
          <a:xfrm>
            <a:off x="571500" y="2476500"/>
            <a:ext cx="17145000" cy="7239000"/>
          </a:xfrm>
          <a:prstGeom prst="rect">
            <a:avLst/>
          </a:prstGeom>
        </p:spPr>
        <p:txBody>
          <a:bodyPr rtlCol="0" anchor="ctr"/>
          <a:lstStyle/>
          <a:p>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type="obj" preserve="1" userDrawn="1">
  <p:cSld name="Content / Tiles">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Tile1 Bg"/>
          <p:cNvSpPr/>
          <p:nvPr/>
        </p:nvSpPr>
        <p:spPr>
          <a:xfrm>
            <a:off x="1143000" y="4953000"/>
            <a:ext cx="5181600" cy="2190750"/>
          </a:xfrm>
          <a:prstGeom prst="rect">
            <a:avLst/>
          </a:prstGeom>
          <a:solidFill>
            <a:srgbClr val="F3F4F6"/>
          </a:solidFill>
          <a:ln>
            <a:noFill/>
          </a:ln>
        </p:spPr>
        <p:txBody>
          <a:bodyPr rtlCol="0" anchor="ctr"/>
          <a:lstStyle/>
          <a:p>
            <a:endParaRPr lang="en-US"/>
          </a:p>
        </p:txBody>
      </p:sp>
      <p:sp>
        <p:nvSpPr>
          <p:cNvPr id="13" name="Tile1 Rule"/>
          <p:cNvSpPr/>
          <p:nvPr/>
        </p:nvSpPr>
        <p:spPr>
          <a:xfrm>
            <a:off x="1143000" y="4953000"/>
            <a:ext cx="5181600" cy="28575"/>
          </a:xfrm>
          <a:prstGeom prst="rect">
            <a:avLst/>
          </a:prstGeom>
          <a:solidFill>
            <a:srgbClr val="0F6BFF"/>
          </a:solidFill>
          <a:ln>
            <a:noFill/>
          </a:ln>
        </p:spPr>
        <p:txBody>
          <a:bodyPr rtlCol="0" anchor="ctr"/>
          <a:lstStyle/>
          <a:p>
            <a:endParaRPr lang="en-US"/>
          </a:p>
        </p:txBody>
      </p:sp>
      <p:sp>
        <p:nvSpPr>
          <p:cNvPr id="14" name="Tile1 Label"/>
          <p:cNvSpPr>
            <a:spLocks noGrp="1"/>
          </p:cNvSpPr>
          <p:nvPr>
            <p:ph type="body" idx="20"/>
          </p:nvPr>
        </p:nvSpPr>
        <p:spPr>
          <a:xfrm>
            <a:off x="19812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1 label</a:t>
            </a:r>
            <a:endParaRPr lang="en-US"/>
          </a:p>
        </p:txBody>
      </p:sp>
      <p:sp>
        <p:nvSpPr>
          <p:cNvPr id="15" name="Tile1 Body"/>
          <p:cNvSpPr>
            <a:spLocks noGrp="1"/>
          </p:cNvSpPr>
          <p:nvPr>
            <p:ph type="body" idx="21"/>
          </p:nvPr>
        </p:nvSpPr>
        <p:spPr>
          <a:xfrm>
            <a:off x="13716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16" name="Tile2 Bg"/>
          <p:cNvSpPr/>
          <p:nvPr/>
        </p:nvSpPr>
        <p:spPr>
          <a:xfrm>
            <a:off x="6553200" y="4953000"/>
            <a:ext cx="5181600" cy="2190750"/>
          </a:xfrm>
          <a:prstGeom prst="rect">
            <a:avLst/>
          </a:prstGeom>
          <a:solidFill>
            <a:srgbClr val="F3F4F6"/>
          </a:solidFill>
          <a:ln>
            <a:noFill/>
          </a:ln>
        </p:spPr>
        <p:txBody>
          <a:bodyPr rtlCol="0" anchor="ctr"/>
          <a:lstStyle/>
          <a:p>
            <a:endParaRPr lang="en-US"/>
          </a:p>
        </p:txBody>
      </p:sp>
      <p:sp>
        <p:nvSpPr>
          <p:cNvPr id="17" name="Tile2 Rule"/>
          <p:cNvSpPr/>
          <p:nvPr/>
        </p:nvSpPr>
        <p:spPr>
          <a:xfrm>
            <a:off x="6553200" y="4953000"/>
            <a:ext cx="5181600" cy="28575"/>
          </a:xfrm>
          <a:prstGeom prst="rect">
            <a:avLst/>
          </a:prstGeom>
          <a:solidFill>
            <a:srgbClr val="0F6BFF"/>
          </a:solidFill>
          <a:ln>
            <a:noFill/>
          </a:ln>
        </p:spPr>
        <p:txBody>
          <a:bodyPr rtlCol="0" anchor="ctr"/>
          <a:lstStyle/>
          <a:p>
            <a:endParaRPr lang="en-US"/>
          </a:p>
        </p:txBody>
      </p:sp>
      <p:sp>
        <p:nvSpPr>
          <p:cNvPr id="18" name="Tile2 Label"/>
          <p:cNvSpPr>
            <a:spLocks noGrp="1"/>
          </p:cNvSpPr>
          <p:nvPr>
            <p:ph type="body" idx="22"/>
          </p:nvPr>
        </p:nvSpPr>
        <p:spPr>
          <a:xfrm>
            <a:off x="73914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2 label</a:t>
            </a:r>
            <a:endParaRPr lang="en-US"/>
          </a:p>
        </p:txBody>
      </p:sp>
      <p:sp>
        <p:nvSpPr>
          <p:cNvPr id="19" name="Tile2 Body"/>
          <p:cNvSpPr>
            <a:spLocks noGrp="1"/>
          </p:cNvSpPr>
          <p:nvPr>
            <p:ph type="body" idx="23"/>
          </p:nvPr>
        </p:nvSpPr>
        <p:spPr>
          <a:xfrm>
            <a:off x="67818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0" name="Tile3 Bg"/>
          <p:cNvSpPr/>
          <p:nvPr/>
        </p:nvSpPr>
        <p:spPr>
          <a:xfrm>
            <a:off x="11963400" y="4953000"/>
            <a:ext cx="5181600" cy="2190750"/>
          </a:xfrm>
          <a:prstGeom prst="rect">
            <a:avLst/>
          </a:prstGeom>
          <a:solidFill>
            <a:srgbClr val="F3F4F6"/>
          </a:solidFill>
          <a:ln>
            <a:noFill/>
          </a:ln>
        </p:spPr>
        <p:txBody>
          <a:bodyPr rtlCol="0" anchor="ctr"/>
          <a:lstStyle/>
          <a:p>
            <a:endParaRPr lang="en-US"/>
          </a:p>
        </p:txBody>
      </p:sp>
      <p:sp>
        <p:nvSpPr>
          <p:cNvPr id="21" name="Tile3 Rule"/>
          <p:cNvSpPr/>
          <p:nvPr/>
        </p:nvSpPr>
        <p:spPr>
          <a:xfrm>
            <a:off x="11963400" y="4953000"/>
            <a:ext cx="5181600" cy="28575"/>
          </a:xfrm>
          <a:prstGeom prst="rect">
            <a:avLst/>
          </a:prstGeom>
          <a:solidFill>
            <a:srgbClr val="0F6BFF"/>
          </a:solidFill>
          <a:ln>
            <a:noFill/>
          </a:ln>
        </p:spPr>
        <p:txBody>
          <a:bodyPr rtlCol="0" anchor="ctr"/>
          <a:lstStyle/>
          <a:p>
            <a:endParaRPr lang="en-US"/>
          </a:p>
        </p:txBody>
      </p:sp>
      <p:sp>
        <p:nvSpPr>
          <p:cNvPr id="22" name="Tile3 Label"/>
          <p:cNvSpPr>
            <a:spLocks noGrp="1"/>
          </p:cNvSpPr>
          <p:nvPr>
            <p:ph type="body" idx="24"/>
          </p:nvPr>
        </p:nvSpPr>
        <p:spPr>
          <a:xfrm>
            <a:off x="128016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3 label</a:t>
            </a:r>
            <a:endParaRPr lang="en-US"/>
          </a:p>
        </p:txBody>
      </p:sp>
      <p:sp>
        <p:nvSpPr>
          <p:cNvPr id="23" name="Tile3 Body"/>
          <p:cNvSpPr>
            <a:spLocks noGrp="1"/>
          </p:cNvSpPr>
          <p:nvPr>
            <p:ph type="body" idx="25"/>
          </p:nvPr>
        </p:nvSpPr>
        <p:spPr>
          <a:xfrm>
            <a:off x="121920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4" name="Tile4 Bg"/>
          <p:cNvSpPr/>
          <p:nvPr/>
        </p:nvSpPr>
        <p:spPr>
          <a:xfrm>
            <a:off x="1143000" y="7372350"/>
            <a:ext cx="5181600" cy="2190750"/>
          </a:xfrm>
          <a:prstGeom prst="rect">
            <a:avLst/>
          </a:prstGeom>
          <a:solidFill>
            <a:srgbClr val="F3F4F6"/>
          </a:solidFill>
          <a:ln>
            <a:noFill/>
          </a:ln>
        </p:spPr>
        <p:txBody>
          <a:bodyPr rtlCol="0" anchor="ctr"/>
          <a:lstStyle/>
          <a:p>
            <a:endParaRPr lang="en-US"/>
          </a:p>
        </p:txBody>
      </p:sp>
      <p:sp>
        <p:nvSpPr>
          <p:cNvPr id="25" name="Tile4 Rule"/>
          <p:cNvSpPr/>
          <p:nvPr/>
        </p:nvSpPr>
        <p:spPr>
          <a:xfrm>
            <a:off x="1143000" y="7372350"/>
            <a:ext cx="5181600" cy="28575"/>
          </a:xfrm>
          <a:prstGeom prst="rect">
            <a:avLst/>
          </a:prstGeom>
          <a:solidFill>
            <a:srgbClr val="0F6BFF"/>
          </a:solidFill>
          <a:ln>
            <a:noFill/>
          </a:ln>
        </p:spPr>
        <p:txBody>
          <a:bodyPr rtlCol="0" anchor="ctr"/>
          <a:lstStyle/>
          <a:p>
            <a:endParaRPr lang="en-US"/>
          </a:p>
        </p:txBody>
      </p:sp>
      <p:sp>
        <p:nvSpPr>
          <p:cNvPr id="26" name="Tile4 Label"/>
          <p:cNvSpPr>
            <a:spLocks noGrp="1"/>
          </p:cNvSpPr>
          <p:nvPr>
            <p:ph type="body" idx="26"/>
          </p:nvPr>
        </p:nvSpPr>
        <p:spPr>
          <a:xfrm>
            <a:off x="19812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4 label</a:t>
            </a:r>
            <a:endParaRPr lang="en-US"/>
          </a:p>
        </p:txBody>
      </p:sp>
      <p:sp>
        <p:nvSpPr>
          <p:cNvPr id="27" name="Tile4 Body"/>
          <p:cNvSpPr>
            <a:spLocks noGrp="1"/>
          </p:cNvSpPr>
          <p:nvPr>
            <p:ph type="body" idx="27"/>
          </p:nvPr>
        </p:nvSpPr>
        <p:spPr>
          <a:xfrm>
            <a:off x="13716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8" name="Tile5 Bg"/>
          <p:cNvSpPr/>
          <p:nvPr/>
        </p:nvSpPr>
        <p:spPr>
          <a:xfrm>
            <a:off x="6553200" y="7372350"/>
            <a:ext cx="5181600" cy="2190750"/>
          </a:xfrm>
          <a:prstGeom prst="rect">
            <a:avLst/>
          </a:prstGeom>
          <a:solidFill>
            <a:srgbClr val="F3F4F6"/>
          </a:solidFill>
          <a:ln>
            <a:noFill/>
          </a:ln>
        </p:spPr>
        <p:txBody>
          <a:bodyPr rtlCol="0" anchor="ctr"/>
          <a:lstStyle/>
          <a:p>
            <a:endParaRPr lang="en-US"/>
          </a:p>
        </p:txBody>
      </p:sp>
      <p:sp>
        <p:nvSpPr>
          <p:cNvPr id="29" name="Tile5 Rule"/>
          <p:cNvSpPr/>
          <p:nvPr/>
        </p:nvSpPr>
        <p:spPr>
          <a:xfrm>
            <a:off x="6553200" y="7372350"/>
            <a:ext cx="5181600" cy="28575"/>
          </a:xfrm>
          <a:prstGeom prst="rect">
            <a:avLst/>
          </a:prstGeom>
          <a:solidFill>
            <a:srgbClr val="0F6BFF"/>
          </a:solidFill>
          <a:ln>
            <a:noFill/>
          </a:ln>
        </p:spPr>
        <p:txBody>
          <a:bodyPr rtlCol="0" anchor="ctr"/>
          <a:lstStyle/>
          <a:p>
            <a:endParaRPr lang="en-US"/>
          </a:p>
        </p:txBody>
      </p:sp>
      <p:sp>
        <p:nvSpPr>
          <p:cNvPr id="30" name="Tile5 Label"/>
          <p:cNvSpPr>
            <a:spLocks noGrp="1"/>
          </p:cNvSpPr>
          <p:nvPr>
            <p:ph type="body" idx="28"/>
          </p:nvPr>
        </p:nvSpPr>
        <p:spPr>
          <a:xfrm>
            <a:off x="73914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5 label</a:t>
            </a:r>
            <a:endParaRPr lang="en-US"/>
          </a:p>
        </p:txBody>
      </p:sp>
      <p:sp>
        <p:nvSpPr>
          <p:cNvPr id="31" name="Tile5 Body"/>
          <p:cNvSpPr>
            <a:spLocks noGrp="1"/>
          </p:cNvSpPr>
          <p:nvPr>
            <p:ph type="body" idx="29"/>
          </p:nvPr>
        </p:nvSpPr>
        <p:spPr>
          <a:xfrm>
            <a:off x="67818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32" name="Tile6 Bg"/>
          <p:cNvSpPr/>
          <p:nvPr/>
        </p:nvSpPr>
        <p:spPr>
          <a:xfrm>
            <a:off x="11963400" y="7372350"/>
            <a:ext cx="5181600" cy="2190750"/>
          </a:xfrm>
          <a:prstGeom prst="rect">
            <a:avLst/>
          </a:prstGeom>
          <a:solidFill>
            <a:srgbClr val="F3F4F6"/>
          </a:solidFill>
          <a:ln>
            <a:noFill/>
          </a:ln>
        </p:spPr>
        <p:txBody>
          <a:bodyPr rtlCol="0" anchor="ctr"/>
          <a:lstStyle/>
          <a:p>
            <a:endParaRPr lang="en-US"/>
          </a:p>
        </p:txBody>
      </p:sp>
      <p:sp>
        <p:nvSpPr>
          <p:cNvPr id="33" name="Tile6 Rule"/>
          <p:cNvSpPr/>
          <p:nvPr/>
        </p:nvSpPr>
        <p:spPr>
          <a:xfrm>
            <a:off x="11963400" y="7372350"/>
            <a:ext cx="5181600" cy="28575"/>
          </a:xfrm>
          <a:prstGeom prst="rect">
            <a:avLst/>
          </a:prstGeom>
          <a:solidFill>
            <a:srgbClr val="0F6BFF"/>
          </a:solidFill>
          <a:ln>
            <a:noFill/>
          </a:ln>
        </p:spPr>
        <p:txBody>
          <a:bodyPr rtlCol="0" anchor="ctr"/>
          <a:lstStyle/>
          <a:p>
            <a:endParaRPr lang="en-US"/>
          </a:p>
        </p:txBody>
      </p:sp>
      <p:sp>
        <p:nvSpPr>
          <p:cNvPr id="34" name="Tile6 Label"/>
          <p:cNvSpPr>
            <a:spLocks noGrp="1"/>
          </p:cNvSpPr>
          <p:nvPr>
            <p:ph type="body" idx="30"/>
          </p:nvPr>
        </p:nvSpPr>
        <p:spPr>
          <a:xfrm>
            <a:off x="128016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6 label</a:t>
            </a:r>
            <a:endParaRPr lang="en-US"/>
          </a:p>
        </p:txBody>
      </p:sp>
      <p:sp>
        <p:nvSpPr>
          <p:cNvPr id="35" name="Tile6 Body"/>
          <p:cNvSpPr>
            <a:spLocks noGrp="1"/>
          </p:cNvSpPr>
          <p:nvPr>
            <p:ph type="body" idx="31"/>
          </p:nvPr>
        </p:nvSpPr>
        <p:spPr>
          <a:xfrm>
            <a:off x="121920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36"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type="twoObj" preserve="1" userDrawn="1">
  <p:cSld name="Content / 2-Colum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Left Body"/>
          <p:cNvSpPr>
            <a:spLocks noGrp="1"/>
          </p:cNvSpPr>
          <p:nvPr>
            <p:ph type="body" idx="10"/>
          </p:nvPr>
        </p:nvSpPr>
        <p:spPr>
          <a:xfrm>
            <a:off x="1143000" y="4953000"/>
            <a:ext cx="78105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Left column body.</a:t>
            </a:r>
            <a:endParaRPr lang="en-US"/>
          </a:p>
        </p:txBody>
      </p:sp>
      <p:sp>
        <p:nvSpPr>
          <p:cNvPr id="13" name="Right Body"/>
          <p:cNvSpPr>
            <a:spLocks noGrp="1"/>
          </p:cNvSpPr>
          <p:nvPr>
            <p:ph type="body" idx="11"/>
          </p:nvPr>
        </p:nvSpPr>
        <p:spPr>
          <a:xfrm>
            <a:off x="9334500" y="4953000"/>
            <a:ext cx="78105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Right column body.</a:t>
            </a:r>
            <a:endParaRPr lang="en-US"/>
          </a:p>
        </p:txBody>
      </p:sp>
      <p:sp>
        <p:nvSpPr>
          <p:cNvPr id="14"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type="secHead" preserve="1" userDrawn="1">
  <p:cSld name="Section Divider">
    <p:bg>
      <p:bgPr>
        <a:solidFill>
          <a:srgbClr val="0F6BFF"/>
        </a:solidFill>
        <a:effectLst/>
      </p:bgPr>
    </p:bg>
    <p:spTree>
      <p:nvGrpSpPr>
        <p:cNvPr id="1" name=""/>
        <p:cNvGrpSpPr/>
        <p:nvPr/>
      </p:nvGrpSpPr>
      <p:grpSpPr>
        <a:xfrm>
          <a:off x="0" y="0"/>
          <a:ext cx="0" cy="0"/>
          <a:chOff x="0" y="0"/>
          <a:chExt cx="0" cy="0"/>
        </a:xfrm>
      </p:grpSpPr>
      <p:sp>
        <p:nvSpPr>
          <p:cNvPr id="10" name="Section Title"/>
          <p:cNvSpPr>
            <a:spLocks noGrp="1"/>
          </p:cNvSpPr>
          <p:nvPr>
            <p:ph type="title" idx="1"/>
          </p:nvPr>
        </p:nvSpPr>
        <p:spPr>
          <a:xfrm>
            <a:off x="762000" y="4381500"/>
            <a:ext cx="16764000" cy="1905000"/>
          </a:xfrm>
          <a:prstGeom prst="rect">
            <a:avLst/>
          </a:prstGeom>
        </p:spPr>
        <p:txBody>
          <a:bodyPr wrap="square" rtlCol="0" anchor="ctr" lIns="0" tIns="0" rIns="0" bIns="0"/>
          <a:lstStyle>
            <a:lvl1pPr marL="0" indent="0" algn="ctr">
              <a:buNone/>
              <a:defRPr sz="8300" b="1">
                <a:solidFill>
                  <a:srgbClr val="FFFFFF"/>
                </a:solidFill>
                <a:latin typeface="Aptos Display"/>
              </a:defRPr>
            </a:lvl1pPr>
          </a:lstStyle>
          <a:p>
            <a:r>
              <a:rPr lang="en-US"/>
              <a:t>Section</a:t>
            </a:r>
            <a:endParaRPr lang="en-US"/>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type="obj" preserve="1" userDrawn="1">
  <p:cSld name="Plai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Body"/>
          <p:cNvSpPr>
            <a:spLocks noGrp="1"/>
          </p:cNvSpPr>
          <p:nvPr>
            <p:ph type="body" idx="10"/>
          </p:nvPr>
        </p:nvSpPr>
        <p:spPr>
          <a:xfrm>
            <a:off x="1143000" y="5524500"/>
            <a:ext cx="16002000" cy="38100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Body text.</a:t>
            </a:r>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type="obj" preserve="1" userDrawn="1">
  <p:cSld name="Plain / Compact">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Body"/>
          <p:cNvSpPr>
            <a:spLocks noGrp="1"/>
          </p:cNvSpPr>
          <p:nvPr>
            <p:ph type="body" idx="10"/>
          </p:nvPr>
        </p:nvSpPr>
        <p:spPr>
          <a:xfrm>
            <a:off x="1143000" y="4953000"/>
            <a:ext cx="160020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Body text.</a:t>
            </a:r>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pPr algn="l"/>
            <a:r>
              <a:rPr>
                <a:solidFill>
                  <a:srgbClr val="FFFFFF"/>
                </a:solidFill>
              </a:rPr>
              <a:t>You ship pieces.</a:t>
            </a:r>
          </a:p>
        </p:txBody>
      </p:sp>
      <p:sp>
        <p:nvSpPr>
          <p:cNvPr id="3" name="Text Placeholder 2"/>
          <p:cNvSpPr>
            <a:spLocks noGrp="1"/>
          </p:cNvSpPr>
          <p:nvPr>
            <p:ph type="body" idx="2"/>
          </p:nvPr>
        </p:nvSpPr>
        <p:spPr/>
        <p:txBody>
          <a:bodyPr/>
          <a:lstStyle/>
          <a:p>
            <a:pPr algn="l"/>
            <a:r>
              <a:rPr>
                <a:solidFill>
                  <a:srgbClr val="FFFFFF"/>
                </a:solidFill>
              </a:rPr>
              <a:t/>
            </a:r>
            <a:r>
              <a:rPr>
                <a:gradFill flip="none" rotWithShape="1">
                  <a:gsLst>
                    <a:gs pos="0">
                      <a:srgbClr val="FFFFFF"/>
                    </a:gs>
                    <a:gs pos="35000">
                      <a:srgbClr val="5CD6FF"/>
                    </a:gs>
                    <a:gs pos="75000">
                      <a:srgbClr val="0F6BFF"/>
                    </a:gs>
                  </a:gsLst>
                  <a:lin ang="0" scaled="1"/>
                </a:gradFill>
              </a:rPr>
              <a:t>Nothing carries the release.</a:t>
            </a:r>
          </a:p>
        </p:txBody>
      </p:sp>
      <p:sp>
        <p:nvSpPr>
          <p:cNvPr id="4" name="Text Placeholder 3"/>
          <p:cNvSpPr>
            <a:spLocks noGrp="1"/>
          </p:cNvSpPr>
          <p:nvPr>
            <p:ph type="body" idx="3"/>
          </p:nvPr>
        </p:nvSpPr>
        <p:spPr/>
        <p:txBody>
          <a:bodyPr/>
          <a:lstStyle/>
          <a:p>
            <a:r>
              <a:rPr>
                <a:solidFill>
                  <a:srgbClr val="5CD6FF"/>
                </a:solidFill>
              </a:rPr>
              <a:t>You sign the pieces. Nothing signs the release.</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DIAGNOSIS</a:t>
            </a:r>
          </a:p>
        </p:txBody>
      </p:sp>
      <p:sp>
        <p:nvSpPr>
          <p:cNvPr id="3" name="Title 2"/>
          <p:cNvSpPr>
            <a:spLocks noGrp="1"/>
          </p:cNvSpPr>
          <p:nvPr>
            <p:ph type="title" idx="2"/>
          </p:nvPr>
        </p:nvSpPr>
        <p:spPr/>
        <p:txBody>
          <a:bodyPr/>
          <a:lstStyle/>
          <a:p>
            <a:r>
              <a:t>In every existing tool, identity is bound to location.</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b="1">
                <a:solidFill>
                  <a:srgbClr val="0F6BFF"/>
                </a:solidFill>
              </a:rPr>
              <a:t>OCI image</a:t>
            </a:r>
            <a:r>
              <a:rPr>
                <a:solidFill>
                  <a:srgbClr val="000000"/>
                </a:solidFill>
              </a:rPr>
              <a:t> — identified by registry/repo:tag. Mirror it; every downstream reference is invalidated.</a:t>
            </a:r>
          </a:p>
          <a:p>
            <a:pPr>
              <a:spcBef>
                <a:spcPts val="800"/>
              </a:spcBef>
              <a:spcAft>
                <a:spcPts val="800"/>
              </a:spcAft>
            </a:pPr>
            <a:r>
              <a:rPr b="1">
                <a:solidFill>
                  <a:srgbClr val="0F6BFF"/>
                </a:solidFill>
              </a:rPr>
              <a:t>▪  </a:t>
            </a:r>
            <a:r>
              <a:rPr b="1">
                <a:solidFill>
                  <a:srgbClr val="0F6BFF"/>
                </a:solidFill>
              </a:rPr>
              <a:t>Helm chart</a:t>
            </a:r>
            <a:r>
              <a:rPr>
                <a:solidFill>
                  <a:srgbClr val="000000"/>
                </a:solidFill>
              </a:rPr>
              <a:t> — identified by repo URL + name + version. Mirror the repo; pulls fail.</a:t>
            </a:r>
          </a:p>
          <a:p>
            <a:pPr>
              <a:spcBef>
                <a:spcPts val="800"/>
              </a:spcBef>
              <a:spcAft>
                <a:spcPts val="800"/>
              </a:spcAft>
            </a:pPr>
            <a:r>
              <a:rPr b="1">
                <a:solidFill>
                  <a:srgbClr val="0F6BFF"/>
                </a:solidFill>
              </a:rPr>
              <a:t>▪  </a:t>
            </a:r>
            <a:r>
              <a:rPr b="1">
                <a:solidFill>
                  <a:srgbClr val="0F6BFF"/>
                </a:solidFill>
              </a:rPr>
              <a:t>SBOM</a:t>
            </a:r>
            <a:r>
              <a:rPr>
                <a:solidFill>
                  <a:srgbClr val="000000"/>
                </a:solidFill>
              </a:rPr>
              <a:t> — linked to its subject by file path or naming convention. Move the artifact; the link dangles.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HINGE</a:t>
            </a:r>
          </a:p>
        </p:txBody>
      </p:sp>
      <p:sp>
        <p:nvSpPr>
          <p:cNvPr id="3" name="Title 2"/>
          <p:cNvSpPr>
            <a:spLocks noGrp="1"/>
          </p:cNvSpPr>
          <p:nvPr>
            <p:ph type="title" idx="2"/>
          </p:nvPr>
        </p:nvSpPr>
        <p:spPr/>
        <p:txBody>
          <a:bodyPr/>
          <a:lstStyle/>
          <a:p>
            <a:r>
              <a:t>Identity that travels with the artifact.</a:t>
            </a:r>
          </a:p>
        </p:txBody>
      </p:sp>
      <p:sp>
        <p:nvSpPr>
          <p:cNvPr id="4" name="TextBox 3"/>
          <p:cNvSpPr txBox="1"/>
          <p:nvPr/>
        </p:nvSpPr>
        <p:spPr>
          <a:xfrm>
            <a:off x="1143000" y="5143500"/>
            <a:ext cx="8953500" cy="4000500"/>
          </a:xfrm>
          <a:prstGeom prst="rect">
            <a:avLst/>
          </a:prstGeom>
          <a:noFill/>
        </p:spPr>
        <p:txBody>
          <a:bodyPr wrap="square" lIns="0" rIns="0" tIns="0" bIns="0">
            <a:spAutoFit/>
          </a:bodyPr>
          <a:lstStyle/>
          <a:p>
            <a:pPr>
              <a:lnSpc>
                <a:spcPct val="135000"/>
              </a:lnSpc>
              <a:spcBef>
                <a:spcPts val="0"/>
              </a:spcBef>
              <a:spcAft>
                <a:spcPts val="0"/>
              </a:spcAft>
            </a:pPr>
            <a:r>
              <a:rPr sz="2800" b="1">
                <a:solidFill>
                  <a:srgbClr val="0F6BFF"/>
                </a:solidFill>
                <a:latin typeface="Aptos"/>
              </a:rPr>
              <a:t>▪  </a:t>
            </a:r>
            <a:r>
              <a:rPr sz="2800" b="1">
                <a:solidFill>
                  <a:srgbClr val="0F6BFF"/>
                </a:solidFill>
                <a:latin typeface="Aptos"/>
              </a:rPr>
              <a:t>Component identity</a:t>
            </a:r>
            <a:r>
              <a:rPr sz="2800">
                <a:solidFill>
                  <a:srgbClr val="000000"/>
                </a:solidFill>
                <a:latin typeface="Aptos"/>
              </a:rPr>
              <a:t> — name and version of the component. Globally unique. Location-agnostic.</a:t>
            </a:r>
          </a:p>
          <a:p>
            <a:pPr>
              <a:lnSpc>
                <a:spcPct val="135000"/>
              </a:lnSpc>
              <a:spcBef>
                <a:spcPts val="1000"/>
              </a:spcBef>
              <a:spcAft>
                <a:spcPts val="0"/>
              </a:spcAft>
            </a:pPr>
            <a:r>
              <a:rPr sz="2800" b="1">
                <a:solidFill>
                  <a:srgbClr val="0F6BFF"/>
                </a:solidFill>
                <a:latin typeface="Aptos"/>
              </a:rPr>
              <a:t>▪  </a:t>
            </a:r>
            <a:r>
              <a:rPr sz="2800" b="1">
                <a:solidFill>
                  <a:srgbClr val="0F6BFF"/>
                </a:solidFill>
                <a:latin typeface="Aptos"/>
              </a:rPr>
              <a:t>Digest</a:t>
            </a:r>
            <a:r>
              <a:rPr sz="2800">
                <a:solidFill>
                  <a:srgbClr val="000000"/>
                </a:solidFill>
                <a:latin typeface="Aptos"/>
              </a:rPr>
              <a:t> — every resource inside the component carries a content hash. Computed once.</a:t>
            </a:r>
          </a:p>
          <a:p>
            <a:pPr>
              <a:lnSpc>
                <a:spcPct val="135000"/>
              </a:lnSpc>
              <a:spcBef>
                <a:spcPts val="1000"/>
              </a:spcBef>
              <a:spcAft>
                <a:spcPts val="0"/>
              </a:spcAft>
            </a:pPr>
            <a:r>
              <a:rPr sz="2800" b="1">
                <a:solidFill>
                  <a:srgbClr val="0F6BFF"/>
                </a:solidFill>
                <a:latin typeface="Aptos"/>
              </a:rPr>
              <a:t>▪  </a:t>
            </a:r>
            <a:r>
              <a:rPr sz="2800" b="1">
                <a:solidFill>
                  <a:srgbClr val="0F6BFF"/>
                </a:solidFill>
                <a:latin typeface="Aptos"/>
              </a:rPr>
              <a:t>Access</a:t>
            </a:r>
            <a:r>
              <a:rPr sz="2800">
                <a:solidFill>
                  <a:srgbClr val="000000"/>
                </a:solidFill>
                <a:latin typeface="Aptos"/>
              </a:rPr>
              <a:t> — where the resource currently lives. Rewritten on transfer. Digest stays.</a:t>
            </a:r>
          </a:p>
        </p:txBody>
      </p:sp>
      <p:sp>
        <p:nvSpPr>
          <p:cNvPr id="5" name="Rounded Rectangle 4"/>
          <p:cNvSpPr/>
          <p:nvPr/>
        </p:nvSpPr>
        <p:spPr>
          <a:xfrm>
            <a:off x="11144250" y="5143500"/>
            <a:ext cx="5715000" cy="609600"/>
          </a:xfrm>
          <a:prstGeom prst="roundRect">
            <a:avLst/>
          </a:prstGeom>
          <a:solidFill>
            <a:srgbClr val="F3F4F6"/>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80000" rIns="80000" tIns="40000" bIns="40000"/>
          <a:lstStyle/>
          <a:p>
            <a:pPr algn="ctr"/>
            <a:r>
              <a:rPr sz="2000" b="1">
                <a:solidFill>
                  <a:srgbClr val="0F6BFF"/>
                </a:solidFill>
                <a:latin typeface="Consolas"/>
              </a:rPr>
              <a:t>github.com/acme.org/helloworld:1.0.0</a:t>
            </a:r>
          </a:p>
        </p:txBody>
      </p:sp>
      <p:sp>
        <p:nvSpPr>
          <p:cNvPr id="6" name="Can 5"/>
          <p:cNvSpPr/>
          <p:nvPr/>
        </p:nvSpPr>
        <p:spPr>
          <a:xfrm>
            <a:off x="10906125" y="6515100"/>
            <a:ext cx="1524000" cy="1333500"/>
          </a:xfrm>
          <a:prstGeom prst="can">
            <a:avLst/>
          </a:prstGeom>
          <a:solidFill>
            <a:srgbClr val="FFFFFF"/>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40000" rIns="40000" tIns="40000" bIns="40000"/>
          <a:lstStyle/>
          <a:p>
            <a:pPr algn="ctr"/>
            <a:r>
              <a:rPr sz="2000" b="1">
                <a:solidFill>
                  <a:srgbClr val="0F6BFF"/>
                </a:solidFill>
                <a:latin typeface="Aptos"/>
              </a:rPr>
              <a:t>EU reg</a:t>
            </a:r>
          </a:p>
        </p:txBody>
      </p:sp>
      <p:sp>
        <p:nvSpPr>
          <p:cNvPr id="7" name="TextBox 6"/>
          <p:cNvSpPr txBox="1"/>
          <p:nvPr/>
        </p:nvSpPr>
        <p:spPr>
          <a:xfrm>
            <a:off x="10525125" y="8001000"/>
            <a:ext cx="2286000" cy="342900"/>
          </a:xfrm>
          <a:prstGeom prst="rect">
            <a:avLst/>
          </a:prstGeom>
          <a:noFill/>
        </p:spPr>
        <p:txBody>
          <a:bodyPr wrap="square" lIns="0" rIns="0" tIns="0" bIns="0">
            <a:spAutoFit/>
          </a:bodyPr>
          <a:lstStyle/>
          <a:p>
            <a:pPr algn="ctr"/>
            <a:r>
              <a:rPr sz="1800">
                <a:solidFill>
                  <a:srgbClr val="6B7280"/>
                </a:solidFill>
                <a:latin typeface="Consolas"/>
              </a:rPr>
              <a:t>access: ghcr.io/eu/...</a:t>
            </a:r>
          </a:p>
        </p:txBody>
      </p:sp>
      <p:sp>
        <p:nvSpPr>
          <p:cNvPr id="8" name="Can 7"/>
          <p:cNvSpPr/>
          <p:nvPr/>
        </p:nvSpPr>
        <p:spPr>
          <a:xfrm>
            <a:off x="13239750" y="6515100"/>
            <a:ext cx="1524000" cy="1333500"/>
          </a:xfrm>
          <a:prstGeom prst="can">
            <a:avLst/>
          </a:prstGeom>
          <a:solidFill>
            <a:srgbClr val="FFFFFF"/>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40000" rIns="40000" tIns="40000" bIns="40000"/>
          <a:lstStyle/>
          <a:p>
            <a:pPr algn="ctr"/>
            <a:r>
              <a:rPr sz="2000" b="1">
                <a:solidFill>
                  <a:srgbClr val="0F6BFF"/>
                </a:solidFill>
                <a:latin typeface="Aptos"/>
              </a:rPr>
              <a:t>US reg</a:t>
            </a:r>
          </a:p>
        </p:txBody>
      </p:sp>
      <p:sp>
        <p:nvSpPr>
          <p:cNvPr id="9" name="TextBox 8"/>
          <p:cNvSpPr txBox="1"/>
          <p:nvPr/>
        </p:nvSpPr>
        <p:spPr>
          <a:xfrm>
            <a:off x="12858750" y="8001000"/>
            <a:ext cx="2286000" cy="342900"/>
          </a:xfrm>
          <a:prstGeom prst="rect">
            <a:avLst/>
          </a:prstGeom>
          <a:noFill/>
        </p:spPr>
        <p:txBody>
          <a:bodyPr wrap="square" lIns="0" rIns="0" tIns="0" bIns="0">
            <a:spAutoFit/>
          </a:bodyPr>
          <a:lstStyle/>
          <a:p>
            <a:pPr algn="ctr"/>
            <a:r>
              <a:rPr sz="1800">
                <a:solidFill>
                  <a:srgbClr val="6B7280"/>
                </a:solidFill>
                <a:latin typeface="Consolas"/>
              </a:rPr>
              <a:t>access: ghcr.io/us/...</a:t>
            </a:r>
          </a:p>
        </p:txBody>
      </p:sp>
      <p:sp>
        <p:nvSpPr>
          <p:cNvPr id="10" name="Can 9"/>
          <p:cNvSpPr/>
          <p:nvPr/>
        </p:nvSpPr>
        <p:spPr>
          <a:xfrm>
            <a:off x="15573375" y="6515100"/>
            <a:ext cx="1524000" cy="1333500"/>
          </a:xfrm>
          <a:prstGeom prst="can">
            <a:avLst/>
          </a:prstGeom>
          <a:solidFill>
            <a:srgbClr val="FFFFFF"/>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40000" rIns="40000" tIns="40000" bIns="40000"/>
          <a:lstStyle/>
          <a:p>
            <a:pPr algn="ctr"/>
            <a:r>
              <a:rPr sz="2000" b="1">
                <a:solidFill>
                  <a:srgbClr val="0F6BFF"/>
                </a:solidFill>
                <a:latin typeface="Aptos"/>
              </a:rPr>
              <a:t>Air-gap</a:t>
            </a:r>
          </a:p>
        </p:txBody>
      </p:sp>
      <p:sp>
        <p:nvSpPr>
          <p:cNvPr id="11" name="TextBox 10"/>
          <p:cNvSpPr txBox="1"/>
          <p:nvPr/>
        </p:nvSpPr>
        <p:spPr>
          <a:xfrm>
            <a:off x="15192375" y="8001000"/>
            <a:ext cx="2286000" cy="342900"/>
          </a:xfrm>
          <a:prstGeom prst="rect">
            <a:avLst/>
          </a:prstGeom>
          <a:noFill/>
        </p:spPr>
        <p:txBody>
          <a:bodyPr wrap="square" lIns="0" rIns="0" tIns="0" bIns="0">
            <a:spAutoFit/>
          </a:bodyPr>
          <a:lstStyle/>
          <a:p>
            <a:pPr algn="ctr"/>
            <a:r>
              <a:rPr sz="1800">
                <a:solidFill>
                  <a:srgbClr val="6B7280"/>
                </a:solidFill>
                <a:latin typeface="Consolas"/>
              </a:rPr>
              <a:t>access: registry.local/...</a:t>
            </a:r>
          </a:p>
        </p:txBody>
      </p:sp>
      <p:cxnSp>
        <p:nvCxnSpPr>
          <p:cNvPr id="12" name="Connector 11"/>
          <p:cNvCxnSpPr/>
          <p:nvPr/>
        </p:nvCxnSpPr>
        <p:spPr>
          <a:xfrm flipH="1">
            <a:off x="11668125" y="5753100"/>
            <a:ext cx="2333625" cy="76200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001750" y="5753100"/>
            <a:ext cx="0" cy="76200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4001750" y="5753100"/>
            <a:ext cx="2333625" cy="76200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43000" y="9429750"/>
            <a:ext cx="16002000" cy="571500"/>
          </a:xfrm>
          <a:prstGeom prst="rect">
            <a:avLst/>
          </a:prstGeom>
          <a:noFill/>
        </p:spPr>
        <p:txBody>
          <a:bodyPr wrap="square" lIns="0" rIns="0" tIns="0" bIns="0">
            <a:spAutoFit/>
          </a:bodyPr>
          <a:lstStyle/>
          <a:p>
            <a:pPr algn="ctr"/>
            <a:r>
              <a:rPr sz="2400">
                <a:solidFill>
                  <a:srgbClr val="0F6BFF"/>
                </a:solidFill>
                <a:latin typeface="Aptos"/>
              </a:rPr>
              <a:t>Move the artifact. The digest stays. Only the access changes.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SITS</a:t>
            </a:r>
          </a:p>
        </p:txBody>
      </p:sp>
      <p:sp>
        <p:nvSpPr>
          <p:cNvPr id="3" name="Title 2"/>
          <p:cNvSpPr>
            <a:spLocks noGrp="1"/>
          </p:cNvSpPr>
          <p:nvPr>
            <p:ph type="title" idx="2"/>
          </p:nvPr>
        </p:nvSpPr>
        <p:spPr/>
        <p:txBody>
          <a:bodyPr/>
          <a:lstStyle/>
          <a:p>
            <a:r>
              <a:t>Wraps every artifact. Signs the whole release.</a:t>
            </a:r>
          </a:p>
        </p:txBody>
      </p:sp>
      <p:sp>
        <p:nvSpPr>
          <p:cNvPr id="4" name="Text Placeholder 3"/>
          <p:cNvSpPr>
            <a:spLocks noGrp="1"/>
          </p:cNvSpPr>
          <p:nvPr>
            <p:ph type="body" idx="10"/>
          </p:nvPr>
        </p:nvSpPr>
        <p:spPr/>
        <p:txBody>
          <a:bodyPr/>
          <a:lstStyle/>
          <a:p>
            <a:r>
              <a:t>ANY FORMAT</a:t>
            </a:r>
          </a:p>
        </p:txBody>
      </p:sp>
      <p:sp>
        <p:nvSpPr>
          <p:cNvPr id="5" name="Text Placeholder 4"/>
          <p:cNvSpPr>
            <a:spLocks noGrp="1"/>
          </p:cNvSpPr>
          <p:nvPr>
            <p:ph type="body" idx="11"/>
          </p:nvPr>
        </p:nvSpPr>
        <p:spPr/>
        <p:txBody>
          <a:bodyPr/>
          <a:lstStyle/>
          <a:p>
            <a:r>
              <a:t>OCI, Helm, configs, SBOMs, npm, maven, binaries.</a:t>
            </a:r>
          </a:p>
          <a:p>
            <a:r>
              <a:t>Artifact type is free-form; access types are pluggable.</a:t>
            </a:r>
          </a:p>
        </p:txBody>
      </p:sp>
      <p:sp>
        <p:nvSpPr>
          <p:cNvPr id="6" name="Text Placeholder 5"/>
          <p:cNvSpPr>
            <a:spLocks noGrp="1"/>
          </p:cNvSpPr>
          <p:nvPr>
            <p:ph type="body" idx="12"/>
          </p:nvPr>
        </p:nvSpPr>
        <p:spPr/>
        <p:txBody>
          <a:bodyPr/>
          <a:lstStyle/>
          <a:p>
            <a:r>
              <a:t>ANY LOCATION</a:t>
            </a:r>
          </a:p>
        </p:txBody>
      </p:sp>
      <p:sp>
        <p:nvSpPr>
          <p:cNvPr id="7" name="Text Placeholder 6"/>
          <p:cNvSpPr>
            <a:spLocks noGrp="1"/>
          </p:cNvSpPr>
          <p:nvPr>
            <p:ph type="body" idx="13"/>
          </p:nvPr>
        </p:nvSpPr>
        <p:spPr/>
        <p:txBody>
          <a:bodyPr/>
          <a:lstStyle/>
          <a:p>
            <a:r>
              <a:t>Component identity travels.</a:t>
            </a:r>
          </a:p>
          <a:p>
            <a:r>
              <a:t>The component carries its name across registries.</a:t>
            </a:r>
          </a:p>
        </p:txBody>
      </p:sp>
      <p:sp>
        <p:nvSpPr>
          <p:cNvPr id="8" name="Text Placeholder 7"/>
          <p:cNvSpPr>
            <a:spLocks noGrp="1"/>
          </p:cNvSpPr>
          <p:nvPr>
            <p:ph type="body" idx="14"/>
          </p:nvPr>
        </p:nvSpPr>
        <p:spPr/>
        <p:txBody>
          <a:bodyPr/>
          <a:lstStyle/>
          <a:p>
            <a:r>
              <a:t>ONE SIGNATURE</a:t>
            </a:r>
          </a:p>
        </p:txBody>
      </p:sp>
      <p:sp>
        <p:nvSpPr>
          <p:cNvPr id="9" name="Text Placeholder 8"/>
          <p:cNvSpPr>
            <a:spLocks noGrp="1"/>
          </p:cNvSpPr>
          <p:nvPr>
            <p:ph type="body" idx="15"/>
          </p:nvPr>
        </p:nvSpPr>
        <p:spPr/>
        <p:txBody>
          <a:bodyPr/>
          <a:lstStyle/>
          <a:p>
            <a:r>
              <a:t>Covers every digest in the component.</a:t>
            </a:r>
          </a:p>
          <a:p>
            <a:r>
              <a:t>Survives transport.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CONSTRUCTOR</a:t>
            </a:r>
          </a:p>
        </p:txBody>
      </p:sp>
      <p:sp>
        <p:nvSpPr>
          <p:cNvPr id="3" name="Title 2"/>
          <p:cNvSpPr>
            <a:spLocks noGrp="1"/>
          </p:cNvSpPr>
          <p:nvPr>
            <p:ph type="title" idx="2"/>
          </p:nvPr>
        </p:nvSpPr>
        <p:spPr/>
        <p:txBody>
          <a:bodyPr/>
          <a:lstStyle/>
          <a:p>
            <a:r>
              <a:t>What you write.</a:t>
            </a:r>
          </a:p>
        </p:txBody>
      </p:sp>
      <p:sp>
        <p:nvSpPr>
          <p:cNvPr id="4" name="Rounded Rectangle 3"/>
          <p:cNvSpPr/>
          <p:nvPr/>
        </p:nvSpPr>
        <p:spPr>
          <a:xfrm>
            <a:off x="1143000" y="2857500"/>
            <a:ext cx="11239500" cy="59055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600">
                <a:solidFill>
                  <a:srgbClr val="0A3A99"/>
                </a:solidFill>
                <a:latin typeface="Consolas"/>
              </a:rPr>
              <a:t>components:</a:t>
            </a:r>
          </a:p>
          <a:p>
            <a:pPr algn="l">
              <a:lnSpc>
                <a:spcPct val="115000"/>
              </a:lnSpc>
              <a:spcBef>
                <a:spcPts val="0"/>
              </a:spcBef>
              <a:spcAft>
                <a:spcPts val="0"/>
              </a:spcAft>
            </a:pPr>
            <a:r>
              <a:rPr sz="1600">
                <a:solidFill>
                  <a:srgbClr val="000000"/>
                </a:solidFill>
                <a:latin typeface="Consolas"/>
              </a:rPr>
              <a:t>- name: github.com/acme.org/helloworld</a:t>
            </a:r>
          </a:p>
          <a:p>
            <a:pPr algn="l">
              <a:lnSpc>
                <a:spcPct val="115000"/>
              </a:lnSpc>
              <a:spcBef>
                <a:spcPts val="0"/>
              </a:spcBef>
              <a:spcAft>
                <a:spcPts val="0"/>
              </a:spcAft>
            </a:pPr>
            <a:r>
              <a:rPr sz="1600">
                <a:solidFill>
                  <a:srgbClr val="000000"/>
                </a:solidFill>
                <a:latin typeface="Consolas"/>
              </a:rPr>
              <a:t>  version: 1.0.0</a:t>
            </a:r>
          </a:p>
          <a:p>
            <a:pPr algn="l">
              <a:lnSpc>
                <a:spcPct val="115000"/>
              </a:lnSpc>
              <a:spcBef>
                <a:spcPts val="0"/>
              </a:spcBef>
              <a:spcAft>
                <a:spcPts val="0"/>
              </a:spcAft>
            </a:pPr>
            <a:r>
              <a:rPr sz="1600">
                <a:solidFill>
                  <a:srgbClr val="0A3A99"/>
                </a:solidFill>
                <a:latin typeface="Consolas"/>
              </a:rPr>
              <a:t>  provider:</a:t>
            </a:r>
          </a:p>
          <a:p>
            <a:pPr algn="l">
              <a:lnSpc>
                <a:spcPct val="115000"/>
              </a:lnSpc>
              <a:spcBef>
                <a:spcPts val="0"/>
              </a:spcBef>
              <a:spcAft>
                <a:spcPts val="0"/>
              </a:spcAft>
            </a:pPr>
            <a:r>
              <a:rPr sz="1600">
                <a:solidFill>
                  <a:srgbClr val="000000"/>
                </a:solidFill>
                <a:latin typeface="Consolas"/>
              </a:rPr>
              <a:t>    name: acme.org</a:t>
            </a:r>
          </a:p>
          <a:p>
            <a:pPr algn="l">
              <a:lnSpc>
                <a:spcPct val="115000"/>
              </a:lnSpc>
              <a:spcBef>
                <a:spcPts val="0"/>
              </a:spcBef>
              <a:spcAft>
                <a:spcPts val="0"/>
              </a:spcAft>
            </a:pPr>
            <a:r>
              <a:rPr sz="1600">
                <a:solidFill>
                  <a:srgbClr val="0A3A99"/>
                </a:solidFill>
                <a:latin typeface="Consolas"/>
              </a:rPr>
              <a:t>  resources:</a:t>
            </a:r>
          </a:p>
          <a:p>
            <a:pPr algn="l">
              <a:lnSpc>
                <a:spcPct val="115000"/>
              </a:lnSpc>
              <a:spcBef>
                <a:spcPts val="0"/>
              </a:spcBef>
              <a:spcAft>
                <a:spcPts val="0"/>
              </a:spcAft>
            </a:pPr>
            <a:r>
              <a:rPr sz="1600">
                <a:solidFill>
                  <a:srgbClr val="000000"/>
                </a:solidFill>
                <a:latin typeface="Consolas"/>
              </a:rPr>
              <a:t>    - name: mylocalfile</a:t>
            </a:r>
          </a:p>
          <a:p>
            <a:pPr algn="l">
              <a:lnSpc>
                <a:spcPct val="115000"/>
              </a:lnSpc>
              <a:spcBef>
                <a:spcPts val="0"/>
              </a:spcBef>
              <a:spcAft>
                <a:spcPts val="0"/>
              </a:spcAft>
            </a:pPr>
            <a:r>
              <a:rPr sz="1600">
                <a:solidFill>
                  <a:srgbClr val="000000"/>
                </a:solidFill>
                <a:latin typeface="Consolas"/>
              </a:rPr>
              <a:t>      type: blob</a:t>
            </a:r>
          </a:p>
          <a:p>
            <a:pPr algn="l">
              <a:lnSpc>
                <a:spcPct val="115000"/>
              </a:lnSpc>
              <a:spcBef>
                <a:spcPts val="0"/>
              </a:spcBef>
              <a:spcAft>
                <a:spcPts val="0"/>
              </a:spcAft>
            </a:pPr>
            <a:r>
              <a:rPr sz="1600">
                <a:solidFill>
                  <a:srgbClr val="6B7280"/>
                </a:solidFill>
                <a:latin typeface="Consolas"/>
              </a:rPr>
              <a:t>      input:                # Embed by value</a:t>
            </a:r>
          </a:p>
          <a:p>
            <a:pPr algn="l">
              <a:lnSpc>
                <a:spcPct val="115000"/>
              </a:lnSpc>
              <a:spcBef>
                <a:spcPts val="0"/>
              </a:spcBef>
              <a:spcAft>
                <a:spcPts val="0"/>
              </a:spcAft>
            </a:pPr>
            <a:r>
              <a:rPr sz="1600">
                <a:solidFill>
                  <a:srgbClr val="000000"/>
                </a:solidFill>
                <a:latin typeface="Consolas"/>
              </a:rPr>
              <a:t>        type: File/v1</a:t>
            </a:r>
          </a:p>
          <a:p>
            <a:pPr algn="l">
              <a:lnSpc>
                <a:spcPct val="115000"/>
              </a:lnSpc>
              <a:spcBef>
                <a:spcPts val="0"/>
              </a:spcBef>
              <a:spcAft>
                <a:spcPts val="0"/>
              </a:spcAft>
            </a:pPr>
            <a:r>
              <a:rPr sz="1600">
                <a:solidFill>
                  <a:srgbClr val="000000"/>
                </a:solidFill>
                <a:latin typeface="Consolas"/>
              </a:rPr>
              <a:t>        path: ./my-local-resource.txt</a:t>
            </a:r>
          </a:p>
          <a:p>
            <a:pPr algn="l">
              <a:lnSpc>
                <a:spcPct val="115000"/>
              </a:lnSpc>
              <a:spcBef>
                <a:spcPts val="0"/>
              </a:spcBef>
              <a:spcAft>
                <a:spcPts val="0"/>
              </a:spcAft>
            </a:pPr>
            <a:r>
              <a:rPr sz="1600">
                <a:solidFill>
                  <a:srgbClr val="000000"/>
                </a:solidFill>
                <a:latin typeface="Consolas"/>
              </a:rPr>
              <a:t>    - name: image</a:t>
            </a:r>
          </a:p>
          <a:p>
            <a:pPr algn="l">
              <a:lnSpc>
                <a:spcPct val="115000"/>
              </a:lnSpc>
              <a:spcBef>
                <a:spcPts val="0"/>
              </a:spcBef>
              <a:spcAft>
                <a:spcPts val="0"/>
              </a:spcAft>
            </a:pPr>
            <a:r>
              <a:rPr sz="1600">
                <a:solidFill>
                  <a:srgbClr val="000000"/>
                </a:solidFill>
                <a:latin typeface="Consolas"/>
              </a:rPr>
              <a:t>      type: ociImage</a:t>
            </a:r>
          </a:p>
          <a:p>
            <a:pPr algn="l">
              <a:lnSpc>
                <a:spcPct val="115000"/>
              </a:lnSpc>
              <a:spcBef>
                <a:spcPts val="0"/>
              </a:spcBef>
              <a:spcAft>
                <a:spcPts val="0"/>
              </a:spcAft>
            </a:pPr>
            <a:r>
              <a:rPr sz="1600">
                <a:solidFill>
                  <a:srgbClr val="000000"/>
                </a:solidFill>
                <a:latin typeface="Consolas"/>
              </a:rPr>
              <a:t>      version: 1.0.0</a:t>
            </a:r>
          </a:p>
          <a:p>
            <a:pPr algn="l">
              <a:lnSpc>
                <a:spcPct val="115000"/>
              </a:lnSpc>
              <a:spcBef>
                <a:spcPts val="0"/>
              </a:spcBef>
              <a:spcAft>
                <a:spcPts val="0"/>
              </a:spcAft>
            </a:pPr>
            <a:r>
              <a:rPr sz="1600">
                <a:solidFill>
                  <a:srgbClr val="6B7280"/>
                </a:solidFill>
                <a:latin typeface="Consolas"/>
              </a:rPr>
              <a:t>      access:               # Reference external artifact</a:t>
            </a:r>
          </a:p>
          <a:p>
            <a:pPr algn="l">
              <a:lnSpc>
                <a:spcPct val="115000"/>
              </a:lnSpc>
              <a:spcBef>
                <a:spcPts val="0"/>
              </a:spcBef>
              <a:spcAft>
                <a:spcPts val="0"/>
              </a:spcAft>
            </a:pPr>
            <a:r>
              <a:rPr sz="1600">
                <a:solidFill>
                  <a:srgbClr val="000000"/>
                </a:solidFill>
                <a:latin typeface="Consolas"/>
              </a:rPr>
              <a:t>        type: OCIImage/v1</a:t>
            </a:r>
          </a:p>
          <a:p>
            <a:pPr algn="l">
              <a:lnSpc>
                <a:spcPct val="115000"/>
              </a:lnSpc>
              <a:spcBef>
                <a:spcPts val="0"/>
              </a:spcBef>
              <a:spcAft>
                <a:spcPts val="0"/>
              </a:spcAft>
            </a:pPr>
            <a:r>
              <a:rPr sz="1600">
                <a:solidFill>
                  <a:srgbClr val="000000"/>
                </a:solidFill>
                <a:latin typeface="Consolas"/>
              </a:rPr>
              <a:t>        imageReference: ghcr.io/stefanprodan/podinfo:6.9.1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DESCRIPTOR</a:t>
            </a:r>
          </a:p>
        </p:txBody>
      </p:sp>
      <p:sp>
        <p:nvSpPr>
          <p:cNvPr id="3" name="Title 2"/>
          <p:cNvSpPr>
            <a:spLocks noGrp="1"/>
          </p:cNvSpPr>
          <p:nvPr>
            <p:ph type="title" idx="2"/>
          </p:nvPr>
        </p:nvSpPr>
        <p:spPr/>
        <p:txBody>
          <a:bodyPr/>
          <a:lstStyle/>
          <a:p>
            <a:r>
              <a:t>What gets signed and travels.</a:t>
            </a:r>
          </a:p>
        </p:txBody>
      </p:sp>
      <p:sp>
        <p:nvSpPr>
          <p:cNvPr id="4" name="Rounded Rectangle 3"/>
          <p:cNvSpPr/>
          <p:nvPr/>
        </p:nvSpPr>
        <p:spPr>
          <a:xfrm>
            <a:off x="1143000" y="2667000"/>
            <a:ext cx="14287500" cy="6477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400">
                <a:solidFill>
                  <a:srgbClr val="6B7280"/>
                </a:solidFill>
                <a:latin typeface="Consolas"/>
              </a:rPr>
              <a:t>component:                              # (fields trimmed)</a:t>
            </a:r>
          </a:p>
          <a:p>
            <a:pPr algn="l">
              <a:lnSpc>
                <a:spcPct val="115000"/>
              </a:lnSpc>
              <a:spcBef>
                <a:spcPts val="0"/>
              </a:spcBef>
              <a:spcAft>
                <a:spcPts val="0"/>
              </a:spcAft>
            </a:pPr>
            <a:r>
              <a:rPr sz="1400">
                <a:solidFill>
                  <a:srgbClr val="000000"/>
                </a:solidFill>
                <a:latin typeface="Consolas"/>
              </a:rPr>
              <a:t>  name: github.com/acme.org/helloworld</a:t>
            </a:r>
          </a:p>
          <a:p>
            <a:pPr algn="l">
              <a:lnSpc>
                <a:spcPct val="115000"/>
              </a:lnSpc>
              <a:spcBef>
                <a:spcPts val="0"/>
              </a:spcBef>
              <a:spcAft>
                <a:spcPts val="0"/>
              </a:spcAft>
            </a:pPr>
            <a:r>
              <a:rPr sz="1400">
                <a:solidFill>
                  <a:srgbClr val="000000"/>
                </a:solidFill>
                <a:latin typeface="Consolas"/>
              </a:rPr>
              <a:t>  version: 1.0.0</a:t>
            </a:r>
          </a:p>
          <a:p>
            <a:pPr algn="l">
              <a:lnSpc>
                <a:spcPct val="115000"/>
              </a:lnSpc>
              <a:spcBef>
                <a:spcPts val="0"/>
              </a:spcBef>
              <a:spcAft>
                <a:spcPts val="0"/>
              </a:spcAft>
            </a:pPr>
            <a:r>
              <a:rPr sz="1400">
                <a:solidFill>
                  <a:srgbClr val="0A3A99"/>
                </a:solidFill>
                <a:latin typeface="Consolas"/>
              </a:rPr>
              <a:t>  resources:</a:t>
            </a:r>
          </a:p>
          <a:p>
            <a:pPr algn="l">
              <a:lnSpc>
                <a:spcPct val="115000"/>
              </a:lnSpc>
              <a:spcBef>
                <a:spcPts val="0"/>
              </a:spcBef>
              <a:spcAft>
                <a:spcPts val="0"/>
              </a:spcAft>
            </a:pPr>
            <a:r>
              <a:rPr sz="1400">
                <a:solidFill>
                  <a:srgbClr val="000000"/>
                </a:solidFill>
                <a:latin typeface="Consolas"/>
              </a:rPr>
              <a:t>    - name: image</a:t>
            </a:r>
          </a:p>
          <a:p>
            <a:pPr algn="l">
              <a:lnSpc>
                <a:spcPct val="115000"/>
              </a:lnSpc>
              <a:spcBef>
                <a:spcPts val="0"/>
              </a:spcBef>
              <a:spcAft>
                <a:spcPts val="0"/>
              </a:spcAft>
            </a:pPr>
            <a:r>
              <a:rPr sz="1400">
                <a:solidFill>
                  <a:srgbClr val="000000"/>
                </a:solidFill>
                <a:latin typeface="Consolas"/>
              </a:rPr>
              <a:t>      type: ociImage</a:t>
            </a:r>
          </a:p>
          <a:p>
            <a:pPr algn="l">
              <a:lnSpc>
                <a:spcPct val="115000"/>
              </a:lnSpc>
              <a:spcBef>
                <a:spcPts val="0"/>
              </a:spcBef>
              <a:spcAft>
                <a:spcPts val="0"/>
              </a:spcAft>
            </a:pPr>
            <a:r>
              <a:rPr sz="1400">
                <a:solidFill>
                  <a:srgbClr val="6B7280"/>
                </a:solidFill>
                <a:latin typeface="Consolas"/>
              </a:rPr>
              <a:t>      access:                          # excluded — rewritten on transfer</a:t>
            </a:r>
          </a:p>
          <a:p>
            <a:pPr algn="l">
              <a:lnSpc>
                <a:spcPct val="115000"/>
              </a:lnSpc>
              <a:spcBef>
                <a:spcPts val="0"/>
              </a:spcBef>
              <a:spcAft>
                <a:spcPts val="0"/>
              </a:spcAft>
            </a:pPr>
            <a:r>
              <a:rPr sz="1400">
                <a:solidFill>
                  <a:srgbClr val="000000"/>
                </a:solidFill>
                <a:latin typeface="Consolas"/>
              </a:rPr>
              <a:t>        type: OCIImage/v1</a:t>
            </a:r>
          </a:p>
          <a:p>
            <a:pPr algn="l">
              <a:lnSpc>
                <a:spcPct val="115000"/>
              </a:lnSpc>
              <a:spcBef>
                <a:spcPts val="0"/>
              </a:spcBef>
              <a:spcAft>
                <a:spcPts val="0"/>
              </a:spcAft>
            </a:pPr>
            <a:r>
              <a:rPr sz="1400">
                <a:solidFill>
                  <a:srgbClr val="000000"/>
                </a:solidFill>
                <a:latin typeface="Consolas"/>
              </a:rPr>
              <a:t>        imageReference: ghcr.io/.../podinfo@sha256:8fa569...</a:t>
            </a:r>
          </a:p>
          <a:p>
            <a:pPr algn="l">
              <a:lnSpc>
                <a:spcPct val="115000"/>
              </a:lnSpc>
              <a:spcBef>
                <a:spcPts val="0"/>
              </a:spcBef>
              <a:spcAft>
                <a:spcPts val="0"/>
              </a:spcAft>
            </a:pPr>
            <a:r>
              <a:rPr sz="1400">
                <a:solidFill>
                  <a:srgbClr val="000000"/>
                </a:solidFill>
                <a:latin typeface="Consolas"/>
              </a:rPr>
              <a:t> </a:t>
            </a:r>
          </a:p>
          <a:p>
            <a:pPr algn="l">
              <a:lnSpc>
                <a:spcPct val="115000"/>
              </a:lnSpc>
              <a:spcBef>
                <a:spcPts val="0"/>
              </a:spcBef>
              <a:spcAft>
                <a:spcPts val="0"/>
              </a:spcAft>
            </a:pPr>
            <a:r>
              <a:rPr sz="1400">
                <a:solidFill>
                  <a:srgbClr val="6B7280"/>
                </a:solidFill>
                <a:latin typeface="Consolas"/>
              </a:rPr>
              <a:t>      digest:                          # content identity — input to descriptor hash</a:t>
            </a:r>
          </a:p>
          <a:p>
            <a:pPr algn="l">
              <a:lnSpc>
                <a:spcPct val="115000"/>
              </a:lnSpc>
              <a:spcBef>
                <a:spcPts val="0"/>
              </a:spcBef>
              <a:spcAft>
                <a:spcPts val="0"/>
              </a:spcAft>
            </a:pPr>
            <a:r>
              <a:rPr sz="1400">
                <a:solidFill>
                  <a:srgbClr val="0F6BFF"/>
                </a:solidFill>
                <a:latin typeface="Consolas"/>
              </a:rPr>
              <a:t>        hashAlgorithm: SHA-256</a:t>
            </a:r>
          </a:p>
          <a:p>
            <a:pPr algn="l">
              <a:lnSpc>
                <a:spcPct val="115000"/>
              </a:lnSpc>
              <a:spcBef>
                <a:spcPts val="0"/>
              </a:spcBef>
              <a:spcAft>
                <a:spcPts val="0"/>
              </a:spcAft>
            </a:pPr>
            <a:r>
              <a:rPr sz="1400">
                <a:solidFill>
                  <a:srgbClr val="0F6BFF"/>
                </a:solidFill>
                <a:latin typeface="Consolas"/>
              </a:rPr>
              <a:t>        value: 262578cde928d5c9eba3bce0...</a:t>
            </a:r>
          </a:p>
          <a:p>
            <a:pPr algn="l">
              <a:lnSpc>
                <a:spcPct val="115000"/>
              </a:lnSpc>
              <a:spcBef>
                <a:spcPts val="0"/>
              </a:spcBef>
              <a:spcAft>
                <a:spcPts val="0"/>
              </a:spcAft>
            </a:pPr>
            <a:r>
              <a:rPr sz="1400">
                <a:solidFill>
                  <a:srgbClr val="000000"/>
                </a:solidFill>
                <a:latin typeface="Consolas"/>
              </a:rPr>
              <a:t> </a:t>
            </a:r>
          </a:p>
          <a:p>
            <a:pPr algn="l">
              <a:lnSpc>
                <a:spcPct val="115000"/>
              </a:lnSpc>
              <a:spcBef>
                <a:spcPts val="0"/>
              </a:spcBef>
              <a:spcAft>
                <a:spcPts val="0"/>
              </a:spcAft>
            </a:pPr>
            <a:r>
              <a:rPr sz="1400">
                <a:solidFill>
                  <a:srgbClr val="6B7280"/>
                </a:solidFill>
                <a:latin typeface="Consolas"/>
              </a:rPr>
              <a:t>signatures:                            # one hash over the canonicalized descriptor</a:t>
            </a:r>
          </a:p>
          <a:p>
            <a:pPr algn="l">
              <a:lnSpc>
                <a:spcPct val="115000"/>
              </a:lnSpc>
              <a:spcBef>
                <a:spcPts val="0"/>
              </a:spcBef>
              <a:spcAft>
                <a:spcPts val="0"/>
              </a:spcAft>
            </a:pPr>
            <a:r>
              <a:rPr sz="1400">
                <a:solidFill>
                  <a:srgbClr val="0F6BFF"/>
                </a:solidFill>
                <a:latin typeface="Consolas"/>
              </a:rPr>
              <a:t>  - name: acme-release-key</a:t>
            </a:r>
          </a:p>
          <a:p>
            <a:pPr algn="l">
              <a:lnSpc>
                <a:spcPct val="115000"/>
              </a:lnSpc>
              <a:spcBef>
                <a:spcPts val="0"/>
              </a:spcBef>
              <a:spcAft>
                <a:spcPts val="0"/>
              </a:spcAft>
            </a:pPr>
            <a:r>
              <a:rPr sz="1400">
                <a:solidFill>
                  <a:srgbClr val="6B7280"/>
                </a:solidFill>
                <a:latin typeface="Consolas"/>
              </a:rPr>
              <a:t>    digest:                            # of the descriptor</a:t>
            </a:r>
          </a:p>
          <a:p>
            <a:pPr algn="l">
              <a:lnSpc>
                <a:spcPct val="115000"/>
              </a:lnSpc>
              <a:spcBef>
                <a:spcPts val="0"/>
              </a:spcBef>
              <a:spcAft>
                <a:spcPts val="0"/>
              </a:spcAft>
            </a:pPr>
            <a:r>
              <a:rPr sz="1400">
                <a:solidFill>
                  <a:srgbClr val="0F6BFF"/>
                </a:solidFill>
                <a:latin typeface="Consolas"/>
              </a:rPr>
              <a:t>      hashAlgorithm: SHA-256</a:t>
            </a:r>
          </a:p>
          <a:p>
            <a:pPr algn="l">
              <a:lnSpc>
                <a:spcPct val="115000"/>
              </a:lnSpc>
              <a:spcBef>
                <a:spcPts val="0"/>
              </a:spcBef>
              <a:spcAft>
                <a:spcPts val="0"/>
              </a:spcAft>
            </a:pPr>
            <a:r>
              <a:rPr sz="1400">
                <a:solidFill>
                  <a:srgbClr val="0F6BFF"/>
                </a:solidFill>
                <a:latin typeface="Consolas"/>
              </a:rPr>
              <a:t>      value: a4b1c2d3e4f5...</a:t>
            </a:r>
          </a:p>
          <a:p>
            <a:pPr algn="l">
              <a:lnSpc>
                <a:spcPct val="115000"/>
              </a:lnSpc>
              <a:spcBef>
                <a:spcPts val="0"/>
              </a:spcBef>
              <a:spcAft>
                <a:spcPts val="0"/>
              </a:spcAft>
            </a:pPr>
            <a:r>
              <a:rPr sz="1400">
                <a:solidFill>
                  <a:srgbClr val="0A3A99"/>
                </a:solidFill>
                <a:latin typeface="Consolas"/>
              </a:rPr>
              <a:t>    signature:</a:t>
            </a:r>
          </a:p>
          <a:p>
            <a:pPr algn="l">
              <a:lnSpc>
                <a:spcPct val="115000"/>
              </a:lnSpc>
              <a:spcBef>
                <a:spcPts val="0"/>
              </a:spcBef>
              <a:spcAft>
                <a:spcPts val="0"/>
              </a:spcAft>
            </a:pPr>
            <a:r>
              <a:rPr sz="1400">
                <a:solidFill>
                  <a:srgbClr val="0F6BFF"/>
                </a:solidFill>
                <a:latin typeface="Consolas"/>
              </a:rPr>
              <a:t>      algorithm: RSASSA-PSS</a:t>
            </a:r>
          </a:p>
          <a:p>
            <a:pPr algn="l">
              <a:lnSpc>
                <a:spcPct val="115000"/>
              </a:lnSpc>
              <a:spcBef>
                <a:spcPts val="0"/>
              </a:spcBef>
              <a:spcAft>
                <a:spcPts val="0"/>
              </a:spcAft>
            </a:pPr>
            <a:r>
              <a:rPr sz="1400">
                <a:solidFill>
                  <a:srgbClr val="0F6BFF"/>
                </a:solidFill>
                <a:latin typeface="Consolas"/>
              </a:rPr>
              <a:t>      value: &lt;hex-encoded signature&gt;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FOUR MOVES</a:t>
            </a:r>
          </a:p>
        </p:txBody>
      </p:sp>
      <p:sp>
        <p:nvSpPr>
          <p:cNvPr id="3" name="Title 2"/>
          <p:cNvSpPr>
            <a:spLocks noGrp="1"/>
          </p:cNvSpPr>
          <p:nvPr>
            <p:ph type="title" idx="2"/>
          </p:nvPr>
        </p:nvSpPr>
        <p:spPr/>
        <p:txBody>
          <a:bodyPr/>
          <a:lstStyle/>
          <a:p>
            <a:r>
              <a:t>Pack · Sign · Transport · Deploy.</a:t>
            </a:r>
          </a:p>
        </p:txBody>
      </p:sp>
      <p:sp>
        <p:nvSpPr>
          <p:cNvPr id="4" name="Picture Placeholder 3"/>
          <p:cNvSpPr>
            <a:spLocks noGrp="1"/>
          </p:cNvSpPr>
          <p:nvPr>
            <p:ph type="pic" idx="10"/>
          </p:nvPr>
        </p:nvSpPr>
        <p:spPr/>
      </p:sp>
      <p:sp>
        <p:nvSpPr>
          <p:cNvPr id="5" name="Rounded Rectangle 4"/>
          <p:cNvSpPr/>
          <p:nvPr/>
        </p:nvSpPr>
        <p:spPr>
          <a:xfrm>
            <a:off x="660796"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796"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ckage_192_0F6BFF_sw1.png"/>
          <p:cNvPicPr>
            <a:picLocks noChangeAspect="1"/>
          </p:cNvPicPr>
          <p:nvPr/>
        </p:nvPicPr>
        <p:blipFill>
          <a:blip r:embed="rId2"/>
          <a:stretch>
            <a:fillRect/>
          </a:stretch>
        </p:blipFill>
        <p:spPr>
          <a:xfrm>
            <a:off x="946546" y="4536281"/>
            <a:ext cx="535781" cy="535781"/>
          </a:xfrm>
          <a:prstGeom prst="rect">
            <a:avLst/>
          </a:prstGeom>
        </p:spPr>
      </p:pic>
      <p:sp>
        <p:nvSpPr>
          <p:cNvPr id="8" name="TextBox 7"/>
          <p:cNvSpPr txBox="1"/>
          <p:nvPr/>
        </p:nvSpPr>
        <p:spPr>
          <a:xfrm>
            <a:off x="946546" y="5429250"/>
            <a:ext cx="2643187" cy="392906"/>
          </a:xfrm>
          <a:prstGeom prst="rect">
            <a:avLst/>
          </a:prstGeom>
          <a:noFill/>
        </p:spPr>
        <p:txBody>
          <a:bodyPr wrap="square" lIns="0" rIns="0" tIns="0" bIns="0" anchor="ctr">
            <a:spAutoFit/>
          </a:bodyPr>
          <a:lstStyle/>
          <a:p>
            <a:r>
              <a:rPr sz="3000" b="1" i="0">
                <a:solidFill>
                  <a:srgbClr val="0A3A99"/>
                </a:solidFill>
                <a:latin typeface="Aptos"/>
              </a:rPr>
              <a:t>PACK</a:t>
            </a:r>
          </a:p>
        </p:txBody>
      </p:sp>
      <p:sp>
        <p:nvSpPr>
          <p:cNvPr id="9" name="TextBox 8"/>
          <p:cNvSpPr txBox="1"/>
          <p:nvPr/>
        </p:nvSpPr>
        <p:spPr>
          <a:xfrm>
            <a:off x="946546"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Bundle your software</a:t>
            </a:r>
          </a:p>
          <a:p>
            <a:pPr>
              <a:lnSpc>
                <a:spcPct val="125000"/>
              </a:lnSpc>
            </a:pPr>
            <a:r>
              <a:rPr sz="2200" b="0" i="0">
                <a:solidFill>
                  <a:srgbClr val="333333"/>
                </a:solidFill>
                <a:latin typeface="Aptos"/>
              </a:rPr>
              <a:t>One source of truth.</a:t>
            </a:r>
          </a:p>
        </p:txBody>
      </p:sp>
      <p:sp>
        <p:nvSpPr>
          <p:cNvPr id="10" name="Rounded Rectangle 9"/>
          <p:cNvSpPr/>
          <p:nvPr/>
        </p:nvSpPr>
        <p:spPr>
          <a:xfrm>
            <a:off x="4321968"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1968"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check_192_0F6BFF_sw1.png"/>
          <p:cNvPicPr>
            <a:picLocks noChangeAspect="1"/>
          </p:cNvPicPr>
          <p:nvPr/>
        </p:nvPicPr>
        <p:blipFill>
          <a:blip r:embed="rId3"/>
          <a:stretch>
            <a:fillRect/>
          </a:stretch>
        </p:blipFill>
        <p:spPr>
          <a:xfrm>
            <a:off x="4607718" y="4536281"/>
            <a:ext cx="535781" cy="535781"/>
          </a:xfrm>
          <a:prstGeom prst="rect">
            <a:avLst/>
          </a:prstGeom>
        </p:spPr>
      </p:pic>
      <p:sp>
        <p:nvSpPr>
          <p:cNvPr id="13" name="TextBox 12"/>
          <p:cNvSpPr txBox="1"/>
          <p:nvPr/>
        </p:nvSpPr>
        <p:spPr>
          <a:xfrm>
            <a:off x="4607718" y="5429250"/>
            <a:ext cx="2643187" cy="392906"/>
          </a:xfrm>
          <a:prstGeom prst="rect">
            <a:avLst/>
          </a:prstGeom>
          <a:noFill/>
        </p:spPr>
        <p:txBody>
          <a:bodyPr wrap="square" lIns="0" rIns="0" tIns="0" bIns="0" anchor="ctr">
            <a:spAutoFit/>
          </a:bodyPr>
          <a:lstStyle/>
          <a:p>
            <a:r>
              <a:rPr sz="3000" b="1" i="0">
                <a:solidFill>
                  <a:srgbClr val="0A3A99"/>
                </a:solidFill>
                <a:latin typeface="Aptos"/>
              </a:rPr>
              <a:t>SIGN</a:t>
            </a:r>
          </a:p>
        </p:txBody>
      </p:sp>
      <p:sp>
        <p:nvSpPr>
          <p:cNvPr id="14" name="TextBox 13"/>
          <p:cNvSpPr txBox="1"/>
          <p:nvPr/>
        </p:nvSpPr>
        <p:spPr>
          <a:xfrm>
            <a:off x="4607718"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One signature covers</a:t>
            </a:r>
          </a:p>
          <a:p>
            <a:pPr>
              <a:lnSpc>
                <a:spcPct val="125000"/>
              </a:lnSpc>
            </a:pPr>
            <a:r>
              <a:rPr sz="2200" b="0" i="0">
                <a:solidFill>
                  <a:srgbClr val="333333"/>
                </a:solidFill>
                <a:latin typeface="Aptos"/>
              </a:rPr>
              <a:t>all artifacts.</a:t>
            </a:r>
          </a:p>
        </p:txBody>
      </p:sp>
      <p:sp>
        <p:nvSpPr>
          <p:cNvPr id="15" name="Rounded Rectangle 14"/>
          <p:cNvSpPr/>
          <p:nvPr/>
        </p:nvSpPr>
        <p:spPr>
          <a:xfrm>
            <a:off x="7983140"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83140"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ld_192_0F6BFF_sw1.png"/>
          <p:cNvPicPr>
            <a:picLocks noChangeAspect="1"/>
          </p:cNvPicPr>
          <p:nvPr/>
        </p:nvPicPr>
        <p:blipFill>
          <a:blip r:embed="rId4"/>
          <a:stretch>
            <a:fillRect/>
          </a:stretch>
        </p:blipFill>
        <p:spPr>
          <a:xfrm>
            <a:off x="8268890" y="4536281"/>
            <a:ext cx="535781" cy="535781"/>
          </a:xfrm>
          <a:prstGeom prst="rect">
            <a:avLst/>
          </a:prstGeom>
        </p:spPr>
      </p:pic>
      <p:sp>
        <p:nvSpPr>
          <p:cNvPr id="18" name="TextBox 17"/>
          <p:cNvSpPr txBox="1"/>
          <p:nvPr/>
        </p:nvSpPr>
        <p:spPr>
          <a:xfrm>
            <a:off x="8268890" y="5429250"/>
            <a:ext cx="2643187" cy="392906"/>
          </a:xfrm>
          <a:prstGeom prst="rect">
            <a:avLst/>
          </a:prstGeom>
          <a:noFill/>
        </p:spPr>
        <p:txBody>
          <a:bodyPr wrap="square" lIns="0" rIns="0" tIns="0" bIns="0" anchor="ctr">
            <a:spAutoFit/>
          </a:bodyPr>
          <a:lstStyle/>
          <a:p>
            <a:r>
              <a:rPr sz="3000" b="1" i="0">
                <a:solidFill>
                  <a:srgbClr val="0A3A99"/>
                </a:solidFill>
                <a:latin typeface="Aptos"/>
              </a:rPr>
              <a:t>TRANSPORT</a:t>
            </a:r>
          </a:p>
        </p:txBody>
      </p:sp>
      <p:sp>
        <p:nvSpPr>
          <p:cNvPr id="19" name="TextBox 18"/>
          <p:cNvSpPr txBox="1"/>
          <p:nvPr/>
        </p:nvSpPr>
        <p:spPr>
          <a:xfrm>
            <a:off x="8268890"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Across any boundary.</a:t>
            </a:r>
          </a:p>
          <a:p>
            <a:pPr>
              <a:lnSpc>
                <a:spcPct val="125000"/>
              </a:lnSpc>
            </a:pPr>
            <a:r>
              <a:rPr sz="2200" b="0" i="0">
                <a:solidFill>
                  <a:srgbClr val="333333"/>
                </a:solidFill>
                <a:latin typeface="Aptos"/>
              </a:rPr>
              <a:t>Even air-gapped.</a:t>
            </a:r>
          </a:p>
        </p:txBody>
      </p:sp>
      <p:sp>
        <p:nvSpPr>
          <p:cNvPr id="20" name="Rounded Rectangle 19"/>
          <p:cNvSpPr/>
          <p:nvPr/>
        </p:nvSpPr>
        <p:spPr>
          <a:xfrm>
            <a:off x="11644312"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644312"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cket_192_0F6BFF_sw1.png"/>
          <p:cNvPicPr>
            <a:picLocks noChangeAspect="1"/>
          </p:cNvPicPr>
          <p:nvPr/>
        </p:nvPicPr>
        <p:blipFill>
          <a:blip r:embed="rId5"/>
          <a:stretch>
            <a:fillRect/>
          </a:stretch>
        </p:blipFill>
        <p:spPr>
          <a:xfrm>
            <a:off x="11930062" y="4536281"/>
            <a:ext cx="535781" cy="535781"/>
          </a:xfrm>
          <a:prstGeom prst="rect">
            <a:avLst/>
          </a:prstGeom>
        </p:spPr>
      </p:pic>
      <p:sp>
        <p:nvSpPr>
          <p:cNvPr id="23" name="TextBox 22"/>
          <p:cNvSpPr txBox="1"/>
          <p:nvPr/>
        </p:nvSpPr>
        <p:spPr>
          <a:xfrm>
            <a:off x="11930062" y="5429250"/>
            <a:ext cx="2643187" cy="392906"/>
          </a:xfrm>
          <a:prstGeom prst="rect">
            <a:avLst/>
          </a:prstGeom>
          <a:noFill/>
        </p:spPr>
        <p:txBody>
          <a:bodyPr wrap="square" lIns="0" rIns="0" tIns="0" bIns="0" anchor="ctr">
            <a:spAutoFit/>
          </a:bodyPr>
          <a:lstStyle/>
          <a:p>
            <a:r>
              <a:rPr sz="3000" b="1" i="0">
                <a:solidFill>
                  <a:srgbClr val="0A3A99"/>
                </a:solidFill>
                <a:latin typeface="Aptos"/>
              </a:rPr>
              <a:t>DEPLOY</a:t>
            </a:r>
          </a:p>
        </p:txBody>
      </p:sp>
      <p:sp>
        <p:nvSpPr>
          <p:cNvPr id="24" name="TextBox 23"/>
          <p:cNvSpPr txBox="1"/>
          <p:nvPr/>
        </p:nvSpPr>
        <p:spPr>
          <a:xfrm>
            <a:off x="11930062"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Bring your own GitOps.</a:t>
            </a:r>
          </a:p>
          <a:p>
            <a:pPr>
              <a:lnSpc>
                <a:spcPct val="125000"/>
              </a:lnSpc>
            </a:pPr>
            <a:r>
              <a:rPr sz="2200" b="0" i="0">
                <a:solidFill>
                  <a:srgbClr val="333333"/>
                </a:solidFill>
                <a:latin typeface="Aptos"/>
              </a:rPr>
              <a:t>Use OCM's K8s Controllers</a:t>
            </a:r>
          </a:p>
        </p:txBody>
      </p:sp>
      <p:sp>
        <p:nvSpPr>
          <p:cNvPr id="25" name="Rectangle 24"/>
          <p:cNvSpPr/>
          <p:nvPr/>
        </p:nvSpPr>
        <p:spPr>
          <a:xfrm>
            <a:off x="3964781" y="5990034"/>
            <a:ext cx="134540" cy="21431"/>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4089796" y="5956101"/>
            <a:ext cx="107157" cy="89297"/>
          </a:xfrm>
          <a:custGeom>
            <a:avLst/>
            <a:gdLst/>
            <a:ahLst/>
            <a:cxnLst/>
            <a:rect l="l" t="t" r="r" b="b"/>
            <a:pathLst>
              <a:path w="107157" h="89297">
                <a:moveTo>
                  <a:pt x="0" y="44649"/>
                </a:moveTo>
                <a:lnTo>
                  <a:pt x="107157" y="0"/>
                </a:lnTo>
                <a:lnTo>
                  <a:pt x="107157" y="8929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625953" y="5990034"/>
            <a:ext cx="134540" cy="21431"/>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7750968" y="5956101"/>
            <a:ext cx="107157" cy="89297"/>
          </a:xfrm>
          <a:custGeom>
            <a:avLst/>
            <a:gdLst/>
            <a:ahLst/>
            <a:cxnLst/>
            <a:rect l="l" t="t" r="r" b="b"/>
            <a:pathLst>
              <a:path w="107157" h="89297">
                <a:moveTo>
                  <a:pt x="0" y="44649"/>
                </a:moveTo>
                <a:lnTo>
                  <a:pt x="107157" y="0"/>
                </a:lnTo>
                <a:lnTo>
                  <a:pt x="107157" y="8929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287125" y="5990034"/>
            <a:ext cx="134540" cy="21431"/>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11412140" y="5956101"/>
            <a:ext cx="107156" cy="89297"/>
          </a:xfrm>
          <a:custGeom>
            <a:avLst/>
            <a:gdLst/>
            <a:ahLst/>
            <a:cxnLst/>
            <a:rect l="l" t="t" r="r" b="b"/>
            <a:pathLst>
              <a:path w="107156" h="89297">
                <a:moveTo>
                  <a:pt x="0" y="44649"/>
                </a:moveTo>
                <a:lnTo>
                  <a:pt x="107156" y="0"/>
                </a:lnTo>
                <a:lnTo>
                  <a:pt x="107156" y="8929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948296" y="5987891"/>
            <a:ext cx="330993" cy="25717"/>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15269765" y="5947171"/>
            <a:ext cx="125016" cy="107157"/>
          </a:xfrm>
          <a:custGeom>
            <a:avLst/>
            <a:gdLst/>
            <a:ahLst/>
            <a:cxnLst/>
            <a:rect l="l" t="t" r="r" b="b"/>
            <a:pathLst>
              <a:path w="125016" h="107157">
                <a:moveTo>
                  <a:pt x="0" y="53579"/>
                </a:moveTo>
                <a:lnTo>
                  <a:pt x="125016" y="0"/>
                </a:lnTo>
                <a:lnTo>
                  <a:pt x="125016" y="10715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15591234" y="4625578"/>
            <a:ext cx="1946671" cy="1107281"/>
          </a:xfrm>
          <a:custGeom>
            <a:avLst/>
            <a:gdLst/>
            <a:ahLst/>
            <a:cxnLst/>
            <a:rect l="l" t="t" r="r" b="b"/>
            <a:pathLst>
              <a:path w="1946671" h="1107281">
                <a:moveTo>
                  <a:pt x="464343" y="1107281"/>
                </a:moveTo>
                <a:cubicBezTo>
                  <a:pt x="214312" y="1107281"/>
                  <a:pt x="0" y="928687"/>
                  <a:pt x="0" y="660796"/>
                </a:cubicBezTo>
                <a:cubicBezTo>
                  <a:pt x="0" y="428625"/>
                  <a:pt x="196453" y="232171"/>
                  <a:pt x="446484" y="267890"/>
                </a:cubicBezTo>
                <a:cubicBezTo>
                  <a:pt x="535781" y="71437"/>
                  <a:pt x="785812" y="0"/>
                  <a:pt x="964406" y="142875"/>
                </a:cubicBezTo>
                <a:cubicBezTo>
                  <a:pt x="1143000" y="0"/>
                  <a:pt x="1410890" y="71437"/>
                  <a:pt x="1518046" y="285750"/>
                </a:cubicBezTo>
                <a:cubicBezTo>
                  <a:pt x="1750218" y="267890"/>
                  <a:pt x="1946671" y="446484"/>
                  <a:pt x="1946671" y="660796"/>
                </a:cubicBezTo>
                <a:cubicBezTo>
                  <a:pt x="1946671" y="910828"/>
                  <a:pt x="1732359" y="1107281"/>
                  <a:pt x="1518046" y="1107281"/>
                </a:cubicBez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ock_192_FFFFFF_sw1.png"/>
          <p:cNvPicPr>
            <a:picLocks noChangeAspect="1"/>
          </p:cNvPicPr>
          <p:nvPr/>
        </p:nvPicPr>
        <p:blipFill>
          <a:blip r:embed="rId6"/>
          <a:stretch>
            <a:fillRect/>
          </a:stretch>
        </p:blipFill>
        <p:spPr>
          <a:xfrm>
            <a:off x="16314539" y="4920257"/>
            <a:ext cx="500062" cy="500062"/>
          </a:xfrm>
          <a:prstGeom prst="rect">
            <a:avLst/>
          </a:prstGeom>
        </p:spPr>
      </p:pic>
      <p:sp>
        <p:nvSpPr>
          <p:cNvPr id="35" name="TextBox 34"/>
          <p:cNvSpPr txBox="1"/>
          <p:nvPr/>
        </p:nvSpPr>
        <p:spPr>
          <a:xfrm>
            <a:off x="15341203" y="6072187"/>
            <a:ext cx="2500312" cy="714375"/>
          </a:xfrm>
          <a:prstGeom prst="rect">
            <a:avLst/>
          </a:prstGeom>
          <a:noFill/>
        </p:spPr>
        <p:txBody>
          <a:bodyPr wrap="square" lIns="0" rIns="0" tIns="0" bIns="0">
            <a:spAutoFit/>
          </a:bodyPr>
          <a:lstStyle/>
          <a:p>
            <a:pPr algn="ctr"/>
            <a:r>
              <a:rPr sz="3000" b="1" i="0">
                <a:solidFill>
                  <a:srgbClr val="0A3A99"/>
                </a:solidFill>
                <a:latin typeface="Aptos"/>
              </a:rPr>
              <a:t>SOVEREIGN</a:t>
            </a:r>
          </a:p>
          <a:p>
            <a:pPr algn="ctr"/>
            <a:r>
              <a:rPr sz="3000" b="1" i="0">
                <a:solidFill>
                  <a:srgbClr val="0A3A99"/>
                </a:solidFill>
                <a:latin typeface="Aptos"/>
              </a:rPr>
              <a:t>CLOUD</a:t>
            </a:r>
          </a:p>
        </p:txBody>
      </p:sp>
      <p:sp>
        <p:nvSpPr>
          <p:cNvPr id="36" name="TextBox 35"/>
          <p:cNvSpPr txBox="1"/>
          <p:nvPr/>
        </p:nvSpPr>
        <p:spPr>
          <a:xfrm>
            <a:off x="15073312" y="6750843"/>
            <a:ext cx="3036093" cy="803671"/>
          </a:xfrm>
          <a:prstGeom prst="rect">
            <a:avLst/>
          </a:prstGeom>
          <a:noFill/>
        </p:spPr>
        <p:txBody>
          <a:bodyPr wrap="square" lIns="0" rIns="0" tIns="0" bIns="0">
            <a:spAutoFit/>
          </a:bodyPr>
          <a:lstStyle/>
          <a:p>
            <a:pPr algn="ctr">
              <a:lnSpc>
                <a:spcPct val="125000"/>
              </a:lnSpc>
            </a:pPr>
            <a:r>
              <a:rPr sz="2200" b="0" i="0">
                <a:solidFill>
                  <a:srgbClr val="333333"/>
                </a:solidFill>
                <a:latin typeface="Aptos"/>
              </a:rPr>
              <a:t>Verify at destination.</a:t>
            </a:r>
          </a:p>
          <a:p>
            <a:pPr algn="ctr">
              <a:lnSpc>
                <a:spcPct val="125000"/>
              </a:lnSpc>
            </a:pPr>
            <a:r>
              <a:rPr sz="2200" b="0" i="0">
                <a:solidFill>
                  <a:srgbClr val="333333"/>
                </a:solidFill>
                <a:latin typeface="Aptos"/>
              </a:rPr>
              <a:t>No callback upstream.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COMPOSE</a:t>
            </a:r>
          </a:p>
        </p:txBody>
      </p:sp>
      <p:sp>
        <p:nvSpPr>
          <p:cNvPr id="3" name="Title 2"/>
          <p:cNvSpPr>
            <a:spLocks noGrp="1"/>
          </p:cNvSpPr>
          <p:nvPr>
            <p:ph type="title" idx="2"/>
          </p:nvPr>
        </p:nvSpPr>
        <p:spPr/>
        <p:txBody>
          <a:bodyPr/>
          <a:lstStyle/>
          <a:p>
            <a:r>
              <a:t>Service carries resources. Product carries references.</a:t>
            </a:r>
          </a:p>
        </p:txBody>
      </p:sp>
      <p:sp>
        <p:nvSpPr>
          <p:cNvPr id="4" name="TextBox 3"/>
          <p:cNvSpPr txBox="1"/>
          <p:nvPr/>
        </p:nvSpPr>
        <p:spPr>
          <a:xfrm>
            <a:off x="1143000" y="2667000"/>
            <a:ext cx="16002000" cy="857250"/>
          </a:xfrm>
          <a:prstGeom prst="rect">
            <a:avLst/>
          </a:prstGeom>
          <a:noFill/>
        </p:spPr>
        <p:txBody>
          <a:bodyPr wrap="square" lIns="0" rIns="0" tIns="0" bIns="0">
            <a:spAutoFit/>
          </a:bodyPr>
          <a:lstStyle/>
          <a:p>
            <a:pPr algn="l">
              <a:lnSpc>
                <a:spcPct val="130000"/>
              </a:lnSpc>
            </a:pPr>
            <a:r>
              <a:rPr sz="2200" b="1">
                <a:solidFill>
                  <a:srgbClr val="0F6BFF"/>
                </a:solidFill>
                <a:latin typeface="Aptos"/>
              </a:rPr>
              <a:t>Service components </a:t>
            </a:r>
            <a:r>
              <a:rPr sz="2200">
                <a:solidFill>
                  <a:srgbClr val="000000"/>
                </a:solidFill>
                <a:latin typeface="Aptos"/>
              </a:rPr>
              <a:t>carry resources — images, charts, configs, SBOMs, …
</a:t>
            </a:r>
            <a:r>
              <a:rPr sz="2200" b="1">
                <a:solidFill>
                  <a:srgbClr val="0F6BFF"/>
                </a:solidFill>
                <a:latin typeface="Aptos"/>
              </a:rPr>
              <a:t>A product component </a:t>
            </a:r>
            <a:r>
              <a:rPr sz="2200">
                <a:solidFill>
                  <a:srgbClr val="000000"/>
                </a:solidFill>
                <a:latin typeface="Aptos"/>
              </a:rPr>
              <a:t>composes other components.</a:t>
            </a:r>
            <a:r>
              <a:rPr sz="2200">
                <a:solidFill>
                  <a:srgbClr val="000000"/>
                </a:solidFill>
                <a:latin typeface="Aptos"/>
              </a:rPr>
              <a:t> One release unit, transferable, signable end-to-end.</a:t>
            </a:r>
          </a:p>
        </p:txBody>
      </p:sp>
      <p:sp>
        <p:nvSpPr>
          <p:cNvPr id="5" name="Rounded Rectangle 4"/>
          <p:cNvSpPr/>
          <p:nvPr/>
        </p:nvSpPr>
        <p:spPr>
          <a:xfrm>
            <a:off x="1143000" y="4381500"/>
            <a:ext cx="7239000" cy="5334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components:</a:t>
            </a:r>
          </a:p>
          <a:p>
            <a:pPr algn="l">
              <a:lnSpc>
                <a:spcPct val="115000"/>
              </a:lnSpc>
              <a:spcBef>
                <a:spcPts val="0"/>
              </a:spcBef>
              <a:spcAft>
                <a:spcPts val="0"/>
              </a:spcAft>
            </a:pPr>
            <a:r>
              <a:rPr sz="1700">
                <a:solidFill>
                  <a:srgbClr val="000000"/>
                </a:solidFill>
                <a:latin typeface="Consolas"/>
              </a:rPr>
              <a:t>  - name: acme.org/sovereign/notes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resources:</a:t>
            </a:r>
          </a:p>
          <a:p>
            <a:pPr algn="l">
              <a:lnSpc>
                <a:spcPct val="115000"/>
              </a:lnSpc>
              <a:spcBef>
                <a:spcPts val="0"/>
              </a:spcBef>
              <a:spcAft>
                <a:spcPts val="0"/>
              </a:spcAft>
            </a:pPr>
            <a:r>
              <a:rPr sz="1700">
                <a:solidFill>
                  <a:srgbClr val="000000"/>
                </a:solidFill>
                <a:latin typeface="Consolas"/>
              </a:rPr>
              <a:t>      - name: image       # OCI image</a:t>
            </a:r>
          </a:p>
          <a:p>
            <a:pPr algn="l">
              <a:lnSpc>
                <a:spcPct val="115000"/>
              </a:lnSpc>
              <a:spcBef>
                <a:spcPts val="0"/>
              </a:spcBef>
              <a:spcAft>
                <a:spcPts val="0"/>
              </a:spcAft>
            </a:pPr>
            <a:r>
              <a:rPr sz="1700">
                <a:solidFill>
                  <a:srgbClr val="6B7280"/>
                </a:solidFill>
                <a:latin typeface="Consolas"/>
              </a:rPr>
              <a:t>        # type, input/access, digest trimmed</a:t>
            </a:r>
          </a:p>
          <a:p>
            <a:pPr algn="l">
              <a:lnSpc>
                <a:spcPct val="115000"/>
              </a:lnSpc>
              <a:spcBef>
                <a:spcPts val="0"/>
              </a:spcBef>
              <a:spcAft>
                <a:spcPts val="0"/>
              </a:spcAft>
            </a:pPr>
            <a:r>
              <a:rPr sz="1700">
                <a:solidFill>
                  <a:srgbClr val="000000"/>
                </a:solidFill>
                <a:latin typeface="Consolas"/>
              </a:rPr>
              <a:t>      - name: chart       # Helm chart</a:t>
            </a:r>
          </a:p>
          <a:p>
            <a:pPr algn="l">
              <a:lnSpc>
                <a:spcPct val="115000"/>
              </a:lnSpc>
              <a:spcBef>
                <a:spcPts val="0"/>
              </a:spcBef>
              <a:spcAft>
                <a:spcPts val="0"/>
              </a:spcAft>
            </a:pPr>
            <a:r>
              <a:rPr sz="1700">
                <a:solidFill>
                  <a:srgbClr val="6B7280"/>
                </a:solidFill>
                <a:latin typeface="Consolas"/>
              </a:rPr>
              <a:t>        ...</a:t>
            </a:r>
          </a:p>
          <a:p>
            <a:pPr algn="l">
              <a:lnSpc>
                <a:spcPct val="115000"/>
              </a:lnSpc>
              <a:spcBef>
                <a:spcPts val="0"/>
              </a:spcBef>
              <a:spcAft>
                <a:spcPts val="0"/>
              </a:spcAft>
            </a:pPr>
            <a:r>
              <a:rPr sz="1700">
                <a:solidFill>
                  <a:srgbClr val="000000"/>
                </a:solidFill>
                <a:latin typeface="Consolas"/>
              </a:rPr>
              <a:t>  - 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resources:</a:t>
            </a:r>
          </a:p>
          <a:p>
            <a:pPr algn="l">
              <a:lnSpc>
                <a:spcPct val="115000"/>
              </a:lnSpc>
              <a:spcBef>
                <a:spcPts val="0"/>
              </a:spcBef>
              <a:spcAft>
                <a:spcPts val="0"/>
              </a:spcAft>
            </a:pPr>
            <a:r>
              <a:rPr sz="1700">
                <a:solidFill>
                  <a:srgbClr val="000000"/>
                </a:solidFill>
                <a:latin typeface="Consolas"/>
              </a:rPr>
              <a:t>      - name: image       # OCI image</a:t>
            </a:r>
          </a:p>
          <a:p>
            <a:pPr algn="l">
              <a:lnSpc>
                <a:spcPct val="115000"/>
              </a:lnSpc>
              <a:spcBef>
                <a:spcPts val="0"/>
              </a:spcBef>
              <a:spcAft>
                <a:spcPts val="0"/>
              </a:spcAft>
            </a:pPr>
            <a:r>
              <a:rPr sz="1700">
                <a:solidFill>
                  <a:srgbClr val="6B7280"/>
                </a:solidFill>
                <a:latin typeface="Consolas"/>
              </a:rPr>
              <a:t>        ...</a:t>
            </a:r>
          </a:p>
          <a:p>
            <a:pPr algn="l">
              <a:lnSpc>
                <a:spcPct val="115000"/>
              </a:lnSpc>
              <a:spcBef>
                <a:spcPts val="0"/>
              </a:spcBef>
              <a:spcAft>
                <a:spcPts val="0"/>
              </a:spcAft>
            </a:pPr>
            <a:r>
              <a:rPr sz="1700">
                <a:solidFill>
                  <a:srgbClr val="000000"/>
                </a:solidFill>
                <a:latin typeface="Consolas"/>
              </a:rPr>
              <a:t>      - name: chart       # Helm chart</a:t>
            </a:r>
          </a:p>
          <a:p>
            <a:pPr algn="l">
              <a:lnSpc>
                <a:spcPct val="115000"/>
              </a:lnSpc>
              <a:spcBef>
                <a:spcPts val="0"/>
              </a:spcBef>
              <a:spcAft>
                <a:spcPts val="0"/>
              </a:spcAft>
            </a:pPr>
            <a:r>
              <a:rPr sz="1700">
                <a:solidFill>
                  <a:srgbClr val="6B7280"/>
                </a:solidFill>
                <a:latin typeface="Consolas"/>
              </a:rPr>
              <a:t>        ...</a:t>
            </a:r>
          </a:p>
          <a:p>
            <a:pPr algn="l">
              <a:lnSpc>
                <a:spcPct val="115000"/>
              </a:lnSpc>
              <a:spcBef>
                <a:spcPts val="0"/>
              </a:spcBef>
              <a:spcAft>
                <a:spcPts val="0"/>
              </a:spcAft>
            </a:pPr>
            <a:r>
              <a:rPr sz="1700">
                <a:solidFill>
                  <a:srgbClr val="6B7280"/>
                </a:solidFill>
                <a:latin typeface="Consolas"/>
              </a:rPr>
              <a:t># product references both, by name and version</a:t>
            </a:r>
          </a:p>
        </p:txBody>
      </p:sp>
      <p:sp>
        <p:nvSpPr>
          <p:cNvPr id="6" name="Rounded Rectangle 5"/>
          <p:cNvSpPr/>
          <p:nvPr/>
        </p:nvSpPr>
        <p:spPr>
          <a:xfrm>
            <a:off x="9906000" y="4381500"/>
            <a:ext cx="7239000" cy="5334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components:</a:t>
            </a:r>
          </a:p>
          <a:p>
            <a:pPr algn="l">
              <a:lnSpc>
                <a:spcPct val="115000"/>
              </a:lnSpc>
              <a:spcBef>
                <a:spcPts val="0"/>
              </a:spcBef>
              <a:spcAft>
                <a:spcPts val="0"/>
              </a:spcAft>
            </a:pPr>
            <a:r>
              <a:rPr sz="1700">
                <a:solidFill>
                  <a:srgbClr val="000000"/>
                </a:solidFill>
                <a:latin typeface="Consolas"/>
              </a:rPr>
              <a:t>  - name: acme.org/sovereign/product</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componentReferences:</a:t>
            </a:r>
          </a:p>
          <a:p>
            <a:pPr algn="l">
              <a:lnSpc>
                <a:spcPct val="115000"/>
              </a:lnSpc>
              <a:spcBef>
                <a:spcPts val="0"/>
              </a:spcBef>
              <a:spcAft>
                <a:spcPts val="0"/>
              </a:spcAft>
            </a:pPr>
            <a:r>
              <a:rPr sz="1700">
                <a:solidFill>
                  <a:srgbClr val="000000"/>
                </a:solidFill>
                <a:latin typeface="Consolas"/>
              </a:rPr>
              <a:t>      - name: notes</a:t>
            </a:r>
          </a:p>
          <a:p>
            <a:pPr algn="l">
              <a:lnSpc>
                <a:spcPct val="115000"/>
              </a:lnSpc>
              <a:spcBef>
                <a:spcPts val="0"/>
              </a:spcBef>
              <a:spcAft>
                <a:spcPts val="0"/>
              </a:spcAft>
            </a:pPr>
            <a:r>
              <a:rPr sz="1700">
                <a:solidFill>
                  <a:srgbClr val="000000"/>
                </a:solidFill>
                <a:latin typeface="Consolas"/>
              </a:rPr>
              <a:t>        componentName: acme.org/sovereign/notes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00000"/>
                </a:solidFill>
                <a:latin typeface="Consolas"/>
              </a:rPr>
              <a:t>      - name: postgres</a:t>
            </a:r>
          </a:p>
          <a:p>
            <a:pPr algn="l">
              <a:lnSpc>
                <a:spcPct val="115000"/>
              </a:lnSpc>
              <a:spcBef>
                <a:spcPts val="0"/>
              </a:spcBef>
              <a:spcAft>
                <a:spcPts val="0"/>
              </a:spcAft>
            </a:pPr>
            <a:r>
              <a:rPr sz="1700">
                <a:solidFill>
                  <a:srgbClr val="000000"/>
                </a:solidFill>
                <a:latin typeface="Consolas"/>
              </a:rPr>
              <a:t>        componentName: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no resources of its own — pure composition</a:t>
            </a:r>
          </a:p>
        </p:txBody>
      </p:sp>
      <p:sp>
        <p:nvSpPr>
          <p:cNvPr id="7" name="TextBox 6"/>
          <p:cNvSpPr txBox="1"/>
          <p:nvPr/>
        </p:nvSpPr>
        <p:spPr>
          <a:xfrm>
            <a:off x="1143000" y="3905250"/>
            <a:ext cx="7239000" cy="342900"/>
          </a:xfrm>
          <a:prstGeom prst="rect">
            <a:avLst/>
          </a:prstGeom>
          <a:noFill/>
        </p:spPr>
        <p:txBody>
          <a:bodyPr wrap="square" lIns="0" rIns="0" tIns="0" bIns="0">
            <a:spAutoFit/>
          </a:bodyPr>
          <a:lstStyle/>
          <a:p>
            <a:pPr algn="l"/>
            <a:r>
              <a:rPr sz="2200" b="1">
                <a:solidFill>
                  <a:srgbClr val="6B7280"/>
                </a:solidFill>
                <a:latin typeface="Aptos"/>
              </a:rPr>
              <a:t>SERVICE</a:t>
            </a:r>
          </a:p>
        </p:txBody>
      </p:sp>
      <p:sp>
        <p:nvSpPr>
          <p:cNvPr id="8" name="TextBox 7"/>
          <p:cNvSpPr txBox="1"/>
          <p:nvPr/>
        </p:nvSpPr>
        <p:spPr>
          <a:xfrm>
            <a:off x="9906000" y="3905250"/>
            <a:ext cx="7239000" cy="342900"/>
          </a:xfrm>
          <a:prstGeom prst="rect">
            <a:avLst/>
          </a:prstGeom>
          <a:noFill/>
        </p:spPr>
        <p:txBody>
          <a:bodyPr wrap="square" lIns="0" rIns="0" tIns="0" bIns="0">
            <a:spAutoFit/>
          </a:bodyPr>
          <a:lstStyle/>
          <a:p>
            <a:pPr algn="l"/>
            <a:r>
              <a:rPr sz="2200" b="1">
                <a:solidFill>
                  <a:srgbClr val="0F6BFF"/>
                </a:solidFill>
                <a:latin typeface="Aptos"/>
              </a:rPr>
              <a:t>PRODUCT</a:t>
            </a:r>
          </a:p>
        </p:txBody>
      </p:sp>
      <p:sp>
        <p:nvSpPr>
          <p:cNvPr id="9" name="Right Arrow 8"/>
          <p:cNvSpPr/>
          <p:nvPr/>
        </p:nvSpPr>
        <p:spPr>
          <a:xfrm>
            <a:off x="8667750" y="6667500"/>
            <a:ext cx="952500" cy="762000"/>
          </a:xfrm>
          <a:prstGeom prst="rightArrow">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SIGN</a:t>
            </a:r>
          </a:p>
        </p:txBody>
      </p:sp>
      <p:sp>
        <p:nvSpPr>
          <p:cNvPr id="3" name="Title 2"/>
          <p:cNvSpPr>
            <a:spLocks noGrp="1"/>
          </p:cNvSpPr>
          <p:nvPr>
            <p:ph type="title" idx="2"/>
          </p:nvPr>
        </p:nvSpPr>
        <p:spPr/>
        <p:txBody>
          <a:bodyPr/>
          <a:lstStyle/>
          <a:p>
            <a:r>
              <a:t>Same signed object. Three signing options.</a:t>
            </a:r>
          </a:p>
        </p:txBody>
      </p:sp>
      <p:sp>
        <p:nvSpPr>
          <p:cNvPr id="4" name="Text Placeholder 3"/>
          <p:cNvSpPr>
            <a:spLocks noGrp="1"/>
          </p:cNvSpPr>
          <p:nvPr>
            <p:ph type="body" idx="10"/>
          </p:nvPr>
        </p:nvSpPr>
        <p:spPr/>
        <p:txBody>
          <a:bodyPr/>
          <a:lstStyle/>
          <a:p>
            <a:r>
              <a:t>RSA</a:t>
            </a:r>
          </a:p>
        </p:txBody>
      </p:sp>
      <p:sp>
        <p:nvSpPr>
          <p:cNvPr id="5" name="Text Placeholder 4"/>
          <p:cNvSpPr>
            <a:spLocks noGrp="1"/>
          </p:cNvSpPr>
          <p:nvPr>
            <p:ph type="body" idx="11"/>
          </p:nvPr>
        </p:nvSpPr>
        <p:spPr/>
        <p:txBody>
          <a:bodyPr/>
          <a:lstStyle/>
          <a:p>
            <a:r>
              <a:t>Bare public-key pinning.</a:t>
            </a:r>
          </a:p>
          <a:p>
            <a:r>
              <a:t>If you already rotate a signing key.</a:t>
            </a:r>
          </a:p>
        </p:txBody>
      </p:sp>
      <p:sp>
        <p:nvSpPr>
          <p:cNvPr id="6" name="Text Placeholder 5"/>
          <p:cNvSpPr>
            <a:spLocks noGrp="1"/>
          </p:cNvSpPr>
          <p:nvPr>
            <p:ph type="body" idx="12"/>
          </p:nvPr>
        </p:nvSpPr>
        <p:spPr/>
        <p:txBody>
          <a:bodyPr/>
          <a:lstStyle/>
          <a:p>
            <a:r>
              <a:t>GPG</a:t>
            </a:r>
          </a:p>
        </p:txBody>
      </p:sp>
      <p:sp>
        <p:nvSpPr>
          <p:cNvPr id="7" name="Text Placeholder 6"/>
          <p:cNvSpPr>
            <a:spLocks noGrp="1"/>
          </p:cNvSpPr>
          <p:nvPr>
            <p:ph type="body" idx="13"/>
          </p:nvPr>
        </p:nvSpPr>
        <p:spPr/>
        <p:txBody>
          <a:bodyPr/>
          <a:lstStyle/>
          <a:p>
            <a:r>
              <a:t>OpenPGP keys, ASCII-armored.</a:t>
            </a:r>
          </a:p>
          <a:p>
            <a:r>
              <a:t>If your team runs a keyring.</a:t>
            </a:r>
          </a:p>
        </p:txBody>
      </p:sp>
      <p:sp>
        <p:nvSpPr>
          <p:cNvPr id="8" name="Text Placeholder 7"/>
          <p:cNvSpPr>
            <a:spLocks noGrp="1"/>
          </p:cNvSpPr>
          <p:nvPr>
            <p:ph type="body" idx="14"/>
          </p:nvPr>
        </p:nvSpPr>
        <p:spPr/>
        <p:txBody>
          <a:bodyPr/>
          <a:lstStyle/>
          <a:p>
            <a:r>
              <a:t>SIGSTORE</a:t>
            </a:r>
          </a:p>
        </p:txBody>
      </p:sp>
      <p:sp>
        <p:nvSpPr>
          <p:cNvPr id="9" name="Text Placeholder 8"/>
          <p:cNvSpPr>
            <a:spLocks noGrp="1"/>
          </p:cNvSpPr>
          <p:nvPr>
            <p:ph type="body" idx="15"/>
          </p:nvPr>
        </p:nvSpPr>
        <p:spPr/>
        <p:txBody>
          <a:bodyPr/>
          <a:lstStyle/>
          <a:p>
            <a:r>
              <a:t>Keyless via OIDC + Rekor.</a:t>
            </a:r>
          </a:p>
          <a:p>
            <a:r>
              <a:t>If you already trust your identity provider.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TRANSPORT</a:t>
            </a:r>
          </a:p>
        </p:txBody>
      </p:sp>
      <p:sp>
        <p:nvSpPr>
          <p:cNvPr id="3" name="Title 2"/>
          <p:cNvSpPr>
            <a:spLocks noGrp="1"/>
          </p:cNvSpPr>
          <p:nvPr>
            <p:ph type="title" idx="2"/>
          </p:nvPr>
        </p:nvSpPr>
        <p:spPr/>
        <p:txBody>
          <a:bodyPr/>
          <a:lstStyle/>
          <a:p>
            <a:r>
              <a:t>Three patterns. One command.</a:t>
            </a:r>
          </a:p>
        </p:txBody>
      </p:sp>
      <p:sp>
        <p:nvSpPr>
          <p:cNvPr id="4" name="Text Placeholder 3"/>
          <p:cNvSpPr>
            <a:spLocks noGrp="1"/>
          </p:cNvSpPr>
          <p:nvPr>
            <p:ph type="body" idx="10"/>
          </p:nvPr>
        </p:nvSpPr>
        <p:spPr/>
        <p:txBody>
          <a:bodyPr/>
          <a:lstStyle/>
          <a:p>
            <a:r>
              <a:t>REGISTRY → REGISTRY</a:t>
            </a:r>
          </a:p>
        </p:txBody>
      </p:sp>
      <p:sp>
        <p:nvSpPr>
          <p:cNvPr id="5" name="Text Placeholder 4"/>
          <p:cNvSpPr>
            <a:spLocks noGrp="1"/>
          </p:cNvSpPr>
          <p:nvPr>
            <p:ph type="body" idx="11"/>
          </p:nvPr>
        </p:nvSpPr>
        <p:spPr/>
        <p:txBody>
          <a:bodyPr/>
          <a:lstStyle/>
          <a:p>
            <a:r>
              <a:t>Promote across stages.</a:t>
            </a:r>
          </a:p>
          <a:p>
            <a:r>
              <a:t>Source registry to target registry.</a:t>
            </a:r>
          </a:p>
        </p:txBody>
      </p:sp>
      <p:sp>
        <p:nvSpPr>
          <p:cNvPr id="6" name="Text Placeholder 5"/>
          <p:cNvSpPr>
            <a:spLocks noGrp="1"/>
          </p:cNvSpPr>
          <p:nvPr>
            <p:ph type="body" idx="12"/>
          </p:nvPr>
        </p:nvSpPr>
        <p:spPr/>
        <p:txBody>
          <a:bodyPr/>
          <a:lstStyle/>
          <a:p>
            <a:r>
              <a:t>REGISTRY → CTF</a:t>
            </a:r>
          </a:p>
        </p:txBody>
      </p:sp>
      <p:sp>
        <p:nvSpPr>
          <p:cNvPr id="7" name="Text Placeholder 6"/>
          <p:cNvSpPr>
            <a:spLocks noGrp="1"/>
          </p:cNvSpPr>
          <p:nvPr>
            <p:ph type="body" idx="13"/>
          </p:nvPr>
        </p:nvSpPr>
        <p:spPr/>
        <p:txBody>
          <a:bodyPr/>
          <a:lstStyle/>
          <a:p>
            <a:r>
              <a:t>Export to a local archive.</a:t>
            </a:r>
          </a:p>
          <a:p>
            <a:r>
              <a:t>Hand-carry across the boundary.</a:t>
            </a:r>
          </a:p>
        </p:txBody>
      </p:sp>
      <p:sp>
        <p:nvSpPr>
          <p:cNvPr id="8" name="Text Placeholder 7"/>
          <p:cNvSpPr>
            <a:spLocks noGrp="1"/>
          </p:cNvSpPr>
          <p:nvPr>
            <p:ph type="body" idx="14"/>
          </p:nvPr>
        </p:nvSpPr>
        <p:spPr/>
        <p:txBody>
          <a:bodyPr/>
          <a:lstStyle/>
          <a:p>
            <a:r>
              <a:t>CTF → REGISTRY</a:t>
            </a:r>
          </a:p>
        </p:txBody>
      </p:sp>
      <p:sp>
        <p:nvSpPr>
          <p:cNvPr id="9" name="Text Placeholder 8"/>
          <p:cNvSpPr>
            <a:spLocks noGrp="1"/>
          </p:cNvSpPr>
          <p:nvPr>
            <p:ph type="body" idx="15"/>
          </p:nvPr>
        </p:nvSpPr>
        <p:spPr/>
        <p:txBody>
          <a:bodyPr/>
          <a:lstStyle/>
          <a:p>
            <a:r>
              <a:t>Air-gap import.</a:t>
            </a:r>
          </a:p>
          <a:p>
            <a:r>
              <a:t>Verify on arrival. No callback to source.</a:t>
            </a:r>
          </a:p>
        </p:txBody>
      </p:sp>
      <p:sp>
        <p:nvSpPr>
          <p:cNvPr id="10" name="TextBox 9"/>
          <p:cNvSpPr txBox="1"/>
          <p:nvPr/>
        </p:nvSpPr>
        <p:spPr>
          <a:xfrm>
            <a:off x="1143000" y="9334500"/>
            <a:ext cx="16002000" cy="571500"/>
          </a:xfrm>
          <a:prstGeom prst="rect">
            <a:avLst/>
          </a:prstGeom>
          <a:noFill/>
        </p:spPr>
        <p:txBody>
          <a:bodyPr wrap="square" lIns="0" rIns="0" tIns="0" bIns="0">
            <a:spAutoFit/>
          </a:bodyPr>
          <a:lstStyle/>
          <a:p>
            <a:pPr algn="l"/>
            <a:r>
              <a:rPr sz="2000">
                <a:solidFill>
                  <a:srgbClr val="6B7280"/>
                </a:solidFill>
                <a:latin typeface="Aptos"/>
              </a:rPr>
              <a:t>CTF = Common Transport Format — a filesystem-based OCM repository, portable via any transfer mechanism.</a:t>
            </a:r>
          </a:p>
        </p:txBody>
      </p:sp>
      <p:sp>
        <p:nvSpPr>
          <p:cNvPr id="11" name="TextBox 10"/>
          <p:cNvSpPr txBox="1"/>
          <p:nvPr/>
        </p:nvSpPr>
        <p:spPr>
          <a:xfrm>
            <a:off x="12573000" y="4953000"/>
            <a:ext cx="3048000" cy="381000"/>
          </a:xfrm>
          <a:prstGeom prst="rect">
            <a:avLst/>
          </a:prstGeom>
          <a:noFill/>
        </p:spPr>
        <p:txBody>
          <a:bodyPr wrap="square" lIns="0" rIns="0" tIns="0" bIns="0">
            <a:spAutoFit/>
          </a:bodyPr>
          <a:lstStyle/>
          <a:p>
            <a:pPr algn="ctr"/>
            <a:r>
              <a:rPr sz="2200" b="1">
                <a:solidFill>
                  <a:srgbClr val="0F6BFF"/>
                </a:solidFill>
                <a:latin typeface="Aptos"/>
              </a:rPr>
              <a:t>AIR-GAP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DEPLOY</a:t>
            </a:r>
          </a:p>
        </p:txBody>
      </p:sp>
      <p:sp>
        <p:nvSpPr>
          <p:cNvPr id="3" name="Title 2"/>
          <p:cNvSpPr>
            <a:spLocks noGrp="1"/>
          </p:cNvSpPr>
          <p:nvPr>
            <p:ph type="title" idx="2"/>
          </p:nvPr>
        </p:nvSpPr>
        <p:spPr/>
        <p:txBody>
          <a:bodyPr/>
          <a:lstStyle/>
          <a:p>
            <a:r>
              <a:t>OCM controllers verify and apply.</a:t>
            </a:r>
          </a:p>
        </p:txBody>
      </p:sp>
      <p:sp>
        <p:nvSpPr>
          <p:cNvPr id="4" name="Rounded Rectangle 3"/>
          <p:cNvSpPr/>
          <p:nvPr/>
        </p:nvSpPr>
        <p:spPr>
          <a:xfrm>
            <a:off x="1181100"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81100"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66850" y="5543550"/>
            <a:ext cx="2867025" cy="476250"/>
          </a:xfrm>
          <a:prstGeom prst="rect">
            <a:avLst/>
          </a:prstGeom>
          <a:noFill/>
        </p:spPr>
        <p:txBody>
          <a:bodyPr wrap="square" lIns="0" rIns="0" tIns="0" bIns="0">
            <a:spAutoFit/>
          </a:bodyPr>
          <a:lstStyle/>
          <a:p>
            <a:pPr algn="l"/>
            <a:r>
              <a:rPr sz="3000" b="1">
                <a:solidFill>
                  <a:srgbClr val="0A3A99"/>
                </a:solidFill>
                <a:latin typeface="Aptos"/>
              </a:rPr>
              <a:t>REPOSITORY</a:t>
            </a:r>
          </a:p>
        </p:txBody>
      </p:sp>
      <p:sp>
        <p:nvSpPr>
          <p:cNvPr id="7" name="TextBox 6"/>
          <p:cNvSpPr txBox="1"/>
          <p:nvPr/>
        </p:nvSpPr>
        <p:spPr>
          <a:xfrm>
            <a:off x="1466850"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Where component versions live.</a:t>
            </a:r>
          </a:p>
        </p:txBody>
      </p:sp>
      <p:sp>
        <p:nvSpPr>
          <p:cNvPr id="8" name="Rectangle 7"/>
          <p:cNvSpPr/>
          <p:nvPr/>
        </p:nvSpPr>
        <p:spPr>
          <a:xfrm>
            <a:off x="4714875" y="6392227"/>
            <a:ext cx="390525" cy="1714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5095875" y="6334125"/>
            <a:ext cx="152400" cy="133350"/>
          </a:xfrm>
          <a:custGeom>
            <a:avLst/>
            <a:gdLst/>
            <a:ahLst/>
            <a:cxnLst/>
            <a:rect l="l" t="t" r="r" b="b"/>
            <a:pathLst>
              <a:path w="152400" h="133350">
                <a:moveTo>
                  <a:pt x="0" y="66675"/>
                </a:moveTo>
                <a:lnTo>
                  <a:pt x="152400" y="0"/>
                </a:lnTo>
                <a:lnTo>
                  <a:pt x="152400" y="133350"/>
                </a:ln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343525"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43525"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9275" y="5543550"/>
            <a:ext cx="2867025" cy="476250"/>
          </a:xfrm>
          <a:prstGeom prst="rect">
            <a:avLst/>
          </a:prstGeom>
          <a:noFill/>
        </p:spPr>
        <p:txBody>
          <a:bodyPr wrap="square" lIns="0" rIns="0" tIns="0" bIns="0">
            <a:spAutoFit/>
          </a:bodyPr>
          <a:lstStyle/>
          <a:p>
            <a:pPr algn="l"/>
            <a:r>
              <a:rPr sz="3000" b="1">
                <a:solidFill>
                  <a:srgbClr val="0A3A99"/>
                </a:solidFill>
                <a:latin typeface="Aptos"/>
              </a:rPr>
              <a:t>COMPONENT</a:t>
            </a:r>
          </a:p>
        </p:txBody>
      </p:sp>
      <p:sp>
        <p:nvSpPr>
          <p:cNvPr id="13" name="TextBox 12"/>
          <p:cNvSpPr txBox="1"/>
          <p:nvPr/>
        </p:nvSpPr>
        <p:spPr>
          <a:xfrm>
            <a:off x="5629275"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Pulls one version.</a:t>
            </a:r>
          </a:p>
          <a:p>
            <a:pPr algn="l">
              <a:lnSpc>
                <a:spcPct val="125000"/>
              </a:lnSpc>
            </a:pPr>
            <a:r>
              <a:rPr sz="2200" b="1">
                <a:solidFill>
                  <a:srgbClr val="333333"/>
                </a:solidFill>
                <a:latin typeface="Aptos"/>
              </a:rPr>
              <a:t>Verifies its signature.</a:t>
            </a:r>
          </a:p>
        </p:txBody>
      </p:sp>
      <p:sp>
        <p:nvSpPr>
          <p:cNvPr id="14" name="Rectangle 13"/>
          <p:cNvSpPr/>
          <p:nvPr/>
        </p:nvSpPr>
        <p:spPr>
          <a:xfrm>
            <a:off x="8877300" y="6392227"/>
            <a:ext cx="390525" cy="1714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9258300" y="6334125"/>
            <a:ext cx="152400" cy="133350"/>
          </a:xfrm>
          <a:custGeom>
            <a:avLst/>
            <a:gdLst/>
            <a:ahLst/>
            <a:cxnLst/>
            <a:rect l="l" t="t" r="r" b="b"/>
            <a:pathLst>
              <a:path w="152400" h="133350">
                <a:moveTo>
                  <a:pt x="0" y="66675"/>
                </a:moveTo>
                <a:lnTo>
                  <a:pt x="152400" y="0"/>
                </a:lnTo>
                <a:lnTo>
                  <a:pt x="152400" y="133350"/>
                </a:ln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05950"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505950"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91700" y="5543550"/>
            <a:ext cx="2867025" cy="476250"/>
          </a:xfrm>
          <a:prstGeom prst="rect">
            <a:avLst/>
          </a:prstGeom>
          <a:noFill/>
        </p:spPr>
        <p:txBody>
          <a:bodyPr wrap="square" lIns="0" rIns="0" tIns="0" bIns="0">
            <a:spAutoFit/>
          </a:bodyPr>
          <a:lstStyle/>
          <a:p>
            <a:pPr algn="l"/>
            <a:r>
              <a:rPr sz="3000" b="1">
                <a:solidFill>
                  <a:srgbClr val="0A3A99"/>
                </a:solidFill>
                <a:latin typeface="Aptos"/>
              </a:rPr>
              <a:t>RESOURCE</a:t>
            </a:r>
          </a:p>
        </p:txBody>
      </p:sp>
      <p:sp>
        <p:nvSpPr>
          <p:cNvPr id="19" name="TextBox 18"/>
          <p:cNvSpPr txBox="1"/>
          <p:nvPr/>
        </p:nvSpPr>
        <p:spPr>
          <a:xfrm>
            <a:off x="9791700"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One artifact, by digest.</a:t>
            </a:r>
          </a:p>
        </p:txBody>
      </p:sp>
      <p:sp>
        <p:nvSpPr>
          <p:cNvPr id="20" name="Rectangle 19"/>
          <p:cNvSpPr/>
          <p:nvPr/>
        </p:nvSpPr>
        <p:spPr>
          <a:xfrm>
            <a:off x="13039725" y="6392227"/>
            <a:ext cx="390525" cy="1714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13420725" y="6334125"/>
            <a:ext cx="152400" cy="133350"/>
          </a:xfrm>
          <a:custGeom>
            <a:avLst/>
            <a:gdLst/>
            <a:ahLst/>
            <a:cxnLst/>
            <a:rect l="l" t="t" r="r" b="b"/>
            <a:pathLst>
              <a:path w="152400" h="133350">
                <a:moveTo>
                  <a:pt x="0" y="66675"/>
                </a:moveTo>
                <a:lnTo>
                  <a:pt x="152400" y="0"/>
                </a:lnTo>
                <a:lnTo>
                  <a:pt x="152400" y="133350"/>
                </a:ln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3668375"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668375"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954125" y="5543550"/>
            <a:ext cx="2867025" cy="476250"/>
          </a:xfrm>
          <a:prstGeom prst="rect">
            <a:avLst/>
          </a:prstGeom>
          <a:noFill/>
        </p:spPr>
        <p:txBody>
          <a:bodyPr wrap="square" lIns="0" rIns="0" tIns="0" bIns="0">
            <a:spAutoFit/>
          </a:bodyPr>
          <a:lstStyle/>
          <a:p>
            <a:pPr algn="l"/>
            <a:r>
              <a:rPr sz="3000" b="1">
                <a:solidFill>
                  <a:srgbClr val="0A3A99"/>
                </a:solidFill>
                <a:latin typeface="Aptos"/>
              </a:rPr>
              <a:t>DEPLOYER</a:t>
            </a:r>
          </a:p>
        </p:txBody>
      </p:sp>
      <p:sp>
        <p:nvSpPr>
          <p:cNvPr id="25" name="TextBox 24"/>
          <p:cNvSpPr txBox="1"/>
          <p:nvPr/>
        </p:nvSpPr>
        <p:spPr>
          <a:xfrm>
            <a:off x="13954125"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Applies it to the cluster.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DAY 2</a:t>
            </a:r>
          </a:p>
        </p:txBody>
      </p:sp>
      <p:sp>
        <p:nvSpPr>
          <p:cNvPr id="3" name="Title 2"/>
          <p:cNvSpPr>
            <a:spLocks noGrp="1"/>
          </p:cNvSpPr>
          <p:nvPr>
            <p:ph type="title" idx="2"/>
          </p:nvPr>
        </p:nvSpPr>
        <p:spPr/>
        <p:txBody>
          <a:bodyPr/>
          <a:lstStyle/>
          <a:p>
            <a:r>
              <a:t>Bump the product version.</a:t>
            </a:r>
          </a:p>
          <a:p>
            <a:r>
              <a:t>Everything follows.</a:t>
            </a:r>
          </a:p>
        </p:txBody>
      </p:sp>
      <p:sp>
        <p:nvSpPr>
          <p:cNvPr id="4" name="Rounded Rectangle 3"/>
          <p:cNvSpPr/>
          <p:nvPr/>
        </p:nvSpPr>
        <p:spPr>
          <a:xfrm>
            <a:off x="1333500" y="3524250"/>
            <a:ext cx="7048500" cy="5715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a:t>
            </a:r>
          </a:p>
          <a:p>
            <a:pPr algn="l">
              <a:lnSpc>
                <a:spcPct val="115000"/>
              </a:lnSpc>
              <a:spcBef>
                <a:spcPts val="0"/>
              </a:spcBef>
              <a:spcAft>
                <a:spcPts val="0"/>
              </a:spcAft>
            </a:pPr>
            <a:r>
              <a:rPr sz="1700">
                <a:solidFill>
                  <a:srgbClr val="000000"/>
                </a:solidFill>
                <a:latin typeface="Consolas"/>
              </a:rPr>
              <a:t>  name: acme.org/sovereign/product</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componentReferences:</a:t>
            </a:r>
          </a:p>
          <a:p>
            <a:pPr algn="l">
              <a:lnSpc>
                <a:spcPct val="115000"/>
              </a:lnSpc>
              <a:spcBef>
                <a:spcPts val="0"/>
              </a:spcBef>
              <a:spcAft>
                <a:spcPts val="0"/>
              </a:spcAft>
            </a:pPr>
            <a:r>
              <a:rPr sz="1700">
                <a:solidFill>
                  <a:srgbClr val="000000"/>
                </a:solidFill>
                <a:latin typeface="Consolas"/>
              </a:rPr>
              <a:t>    - name: notes</a:t>
            </a:r>
          </a:p>
          <a:p>
            <a:pPr algn="l">
              <a:lnSpc>
                <a:spcPct val="115000"/>
              </a:lnSpc>
              <a:spcBef>
                <a:spcPts val="0"/>
              </a:spcBef>
              <a:spcAft>
                <a:spcPts val="0"/>
              </a:spcAft>
            </a:pPr>
            <a:r>
              <a:rPr sz="1700">
                <a:solidFill>
                  <a:srgbClr val="000000"/>
                </a:solidFill>
                <a:latin typeface="Consolas"/>
              </a:rPr>
              <a:t>      componentName: acme.org/sovereign/notes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digest:                                               # of the child descriptor</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00000"/>
                </a:solidFill>
                <a:latin typeface="Consolas"/>
              </a:rPr>
              <a:t>        value: 7a1b2c3d4e...</a:t>
            </a:r>
          </a:p>
          <a:p>
            <a:pPr algn="l">
              <a:lnSpc>
                <a:spcPct val="115000"/>
              </a:lnSpc>
              <a:spcBef>
                <a:spcPts val="0"/>
              </a:spcBef>
              <a:spcAft>
                <a:spcPts val="0"/>
              </a:spcAft>
            </a:pPr>
            <a:r>
              <a:rPr sz="1700">
                <a:solidFill>
                  <a:srgbClr val="000000"/>
                </a:solidFill>
                <a:latin typeface="Consolas"/>
              </a:rPr>
              <a:t>    - name: postgres</a:t>
            </a:r>
          </a:p>
          <a:p>
            <a:pPr algn="l">
              <a:lnSpc>
                <a:spcPct val="115000"/>
              </a:lnSpc>
              <a:spcBef>
                <a:spcPts val="0"/>
              </a:spcBef>
              <a:spcAft>
                <a:spcPts val="0"/>
              </a:spcAft>
            </a:pPr>
            <a:r>
              <a:rPr sz="1700">
                <a:solidFill>
                  <a:srgbClr val="000000"/>
                </a:solidFill>
                <a:latin typeface="Consolas"/>
              </a:rPr>
              <a:t>      componentName: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digest:</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00000"/>
                </a:solidFill>
                <a:latin typeface="Consolas"/>
              </a:rPr>
              <a:t>        value: f5e4d3c2b1...</a:t>
            </a:r>
          </a:p>
          <a:p>
            <a:pPr algn="l">
              <a:lnSpc>
                <a:spcPct val="115000"/>
              </a:lnSpc>
              <a:spcBef>
                <a:spcPts val="0"/>
              </a:spcBef>
              <a:spcAft>
                <a:spcPts val="0"/>
              </a:spcAft>
            </a:pPr>
            <a:r>
              <a:rPr sz="1700">
                <a:solidFill>
                  <a:srgbClr val="0A3A99"/>
                </a:solidFill>
                <a:latin typeface="Consolas"/>
              </a:rPr>
              <a:t>signatures:</a:t>
            </a:r>
          </a:p>
          <a:p>
            <a:pPr algn="l">
              <a:lnSpc>
                <a:spcPct val="115000"/>
              </a:lnSpc>
              <a:spcBef>
                <a:spcPts val="0"/>
              </a:spcBef>
              <a:spcAft>
                <a:spcPts val="0"/>
              </a:spcAft>
            </a:pPr>
            <a:r>
              <a:rPr sz="1700">
                <a:solidFill>
                  <a:srgbClr val="000000"/>
                </a:solidFill>
                <a:latin typeface="Consolas"/>
              </a:rPr>
              <a:t>  - name: acme-release-key</a:t>
            </a:r>
          </a:p>
          <a:p>
            <a:pPr algn="l">
              <a:lnSpc>
                <a:spcPct val="115000"/>
              </a:lnSpc>
              <a:spcBef>
                <a:spcPts val="0"/>
              </a:spcBef>
              <a:spcAft>
                <a:spcPts val="0"/>
              </a:spcAft>
            </a:pPr>
            <a:r>
              <a:rPr sz="1700">
                <a:solidFill>
                  <a:srgbClr val="0A3A99"/>
                </a:solidFill>
                <a:latin typeface="Consolas"/>
              </a:rPr>
              <a:t>    signature:</a:t>
            </a:r>
          </a:p>
          <a:p>
            <a:pPr algn="l">
              <a:lnSpc>
                <a:spcPct val="115000"/>
              </a:lnSpc>
              <a:spcBef>
                <a:spcPts val="0"/>
              </a:spcBef>
              <a:spcAft>
                <a:spcPts val="0"/>
              </a:spcAft>
            </a:pPr>
            <a:r>
              <a:rPr sz="1700">
                <a:solidFill>
                  <a:srgbClr val="000000"/>
                </a:solidFill>
                <a:latin typeface="Consolas"/>
              </a:rPr>
              <a:t>      algorithm: RSASSA-PSS</a:t>
            </a:r>
          </a:p>
          <a:p>
            <a:pPr algn="l">
              <a:lnSpc>
                <a:spcPct val="115000"/>
              </a:lnSpc>
              <a:spcBef>
                <a:spcPts val="0"/>
              </a:spcBef>
              <a:spcAft>
                <a:spcPts val="0"/>
              </a:spcAft>
            </a:pPr>
            <a:r>
              <a:rPr sz="1700">
                <a:solidFill>
                  <a:srgbClr val="000000"/>
                </a:solidFill>
                <a:latin typeface="Consolas"/>
              </a:rPr>
              <a:t>      value: a4b1c2d3e5f6789abc012345def04691...</a:t>
            </a:r>
          </a:p>
        </p:txBody>
      </p:sp>
      <p:sp>
        <p:nvSpPr>
          <p:cNvPr id="5" name="Rounded Rectangle 4"/>
          <p:cNvSpPr/>
          <p:nvPr/>
        </p:nvSpPr>
        <p:spPr>
          <a:xfrm>
            <a:off x="9906000" y="3524250"/>
            <a:ext cx="7048500" cy="5715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a:t>
            </a:r>
          </a:p>
          <a:p>
            <a:pPr algn="l">
              <a:lnSpc>
                <a:spcPct val="115000"/>
              </a:lnSpc>
              <a:spcBef>
                <a:spcPts val="0"/>
              </a:spcBef>
              <a:spcAft>
                <a:spcPts val="0"/>
              </a:spcAft>
            </a:pPr>
            <a:r>
              <a:rPr sz="1700">
                <a:solidFill>
                  <a:srgbClr val="000000"/>
                </a:solidFill>
                <a:latin typeface="Consolas"/>
              </a:rPr>
              <a:t>  name: acme.org/sovereign/product</a:t>
            </a:r>
          </a:p>
          <a:p>
            <a:pPr algn="l">
              <a:lnSpc>
                <a:spcPct val="115000"/>
              </a:lnSpc>
              <a:spcBef>
                <a:spcPts val="0"/>
              </a:spcBef>
              <a:spcAft>
                <a:spcPts val="0"/>
              </a:spcAft>
            </a:pPr>
            <a:r>
              <a:rPr sz="1700">
                <a:solidFill>
                  <a:srgbClr val="0F6BFF"/>
                </a:solidFill>
                <a:latin typeface="Consolas"/>
              </a:rPr>
              <a:t>  version: 1.1.0</a:t>
            </a:r>
          </a:p>
          <a:p>
            <a:pPr algn="l">
              <a:lnSpc>
                <a:spcPct val="115000"/>
              </a:lnSpc>
              <a:spcBef>
                <a:spcPts val="0"/>
              </a:spcBef>
              <a:spcAft>
                <a:spcPts val="0"/>
              </a:spcAft>
            </a:pPr>
            <a:r>
              <a:rPr sz="1700">
                <a:solidFill>
                  <a:srgbClr val="0A3A99"/>
                </a:solidFill>
                <a:latin typeface="Consolas"/>
              </a:rPr>
              <a:t>  componentReferences:</a:t>
            </a:r>
          </a:p>
          <a:p>
            <a:pPr algn="l">
              <a:lnSpc>
                <a:spcPct val="115000"/>
              </a:lnSpc>
              <a:spcBef>
                <a:spcPts val="0"/>
              </a:spcBef>
              <a:spcAft>
                <a:spcPts val="0"/>
              </a:spcAft>
            </a:pPr>
            <a:r>
              <a:rPr sz="1700">
                <a:solidFill>
                  <a:srgbClr val="000000"/>
                </a:solidFill>
                <a:latin typeface="Consolas"/>
              </a:rPr>
              <a:t>    - name: notes</a:t>
            </a:r>
          </a:p>
          <a:p>
            <a:pPr algn="l">
              <a:lnSpc>
                <a:spcPct val="115000"/>
              </a:lnSpc>
              <a:spcBef>
                <a:spcPts val="0"/>
              </a:spcBef>
              <a:spcAft>
                <a:spcPts val="0"/>
              </a:spcAft>
            </a:pPr>
            <a:r>
              <a:rPr sz="1700">
                <a:solidFill>
                  <a:srgbClr val="000000"/>
                </a:solidFill>
                <a:latin typeface="Consolas"/>
              </a:rPr>
              <a:t>      componentName: acme.org/sovereign/notes</a:t>
            </a:r>
          </a:p>
          <a:p>
            <a:pPr algn="l">
              <a:lnSpc>
                <a:spcPct val="115000"/>
              </a:lnSpc>
              <a:spcBef>
                <a:spcPts val="0"/>
              </a:spcBef>
              <a:spcAft>
                <a:spcPts val="0"/>
              </a:spcAft>
            </a:pPr>
            <a:r>
              <a:rPr sz="1700">
                <a:solidFill>
                  <a:srgbClr val="0F6BFF"/>
                </a:solidFill>
                <a:latin typeface="Consolas"/>
              </a:rPr>
              <a:t>      version: 1.1.0</a:t>
            </a:r>
          </a:p>
          <a:p>
            <a:pPr algn="l">
              <a:lnSpc>
                <a:spcPct val="115000"/>
              </a:lnSpc>
              <a:spcBef>
                <a:spcPts val="0"/>
              </a:spcBef>
              <a:spcAft>
                <a:spcPts val="0"/>
              </a:spcAft>
            </a:pPr>
            <a:r>
              <a:rPr sz="1700">
                <a:solidFill>
                  <a:srgbClr val="6B7280"/>
                </a:solidFill>
                <a:latin typeface="Consolas"/>
              </a:rPr>
              <a:t>      digest:                                               # of the child descriptor</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F6BFF"/>
                </a:solidFill>
                <a:latin typeface="Consolas"/>
              </a:rPr>
              <a:t>        value: 9b8a7c6d5e...</a:t>
            </a:r>
          </a:p>
          <a:p>
            <a:pPr algn="l">
              <a:lnSpc>
                <a:spcPct val="115000"/>
              </a:lnSpc>
              <a:spcBef>
                <a:spcPts val="0"/>
              </a:spcBef>
              <a:spcAft>
                <a:spcPts val="0"/>
              </a:spcAft>
            </a:pPr>
            <a:r>
              <a:rPr sz="1700">
                <a:solidFill>
                  <a:srgbClr val="000000"/>
                </a:solidFill>
                <a:latin typeface="Consolas"/>
              </a:rPr>
              <a:t>    - name: postgres</a:t>
            </a:r>
          </a:p>
          <a:p>
            <a:pPr algn="l">
              <a:lnSpc>
                <a:spcPct val="115000"/>
              </a:lnSpc>
              <a:spcBef>
                <a:spcPts val="0"/>
              </a:spcBef>
              <a:spcAft>
                <a:spcPts val="0"/>
              </a:spcAft>
            </a:pPr>
            <a:r>
              <a:rPr sz="1700">
                <a:solidFill>
                  <a:srgbClr val="000000"/>
                </a:solidFill>
                <a:latin typeface="Consolas"/>
              </a:rPr>
              <a:t>      componentName: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digest:</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00000"/>
                </a:solidFill>
                <a:latin typeface="Consolas"/>
              </a:rPr>
              <a:t>        value: f5e4d3c2b1...</a:t>
            </a:r>
          </a:p>
          <a:p>
            <a:pPr algn="l">
              <a:lnSpc>
                <a:spcPct val="115000"/>
              </a:lnSpc>
              <a:spcBef>
                <a:spcPts val="0"/>
              </a:spcBef>
              <a:spcAft>
                <a:spcPts val="0"/>
              </a:spcAft>
            </a:pPr>
            <a:r>
              <a:rPr sz="1700">
                <a:solidFill>
                  <a:srgbClr val="0A3A99"/>
                </a:solidFill>
                <a:latin typeface="Consolas"/>
              </a:rPr>
              <a:t>signatures:</a:t>
            </a:r>
          </a:p>
          <a:p>
            <a:pPr algn="l">
              <a:lnSpc>
                <a:spcPct val="115000"/>
              </a:lnSpc>
              <a:spcBef>
                <a:spcPts val="0"/>
              </a:spcBef>
              <a:spcAft>
                <a:spcPts val="0"/>
              </a:spcAft>
            </a:pPr>
            <a:r>
              <a:rPr sz="1700">
                <a:solidFill>
                  <a:srgbClr val="000000"/>
                </a:solidFill>
                <a:latin typeface="Consolas"/>
              </a:rPr>
              <a:t>  - name: acme-release-key</a:t>
            </a:r>
          </a:p>
          <a:p>
            <a:pPr algn="l">
              <a:lnSpc>
                <a:spcPct val="115000"/>
              </a:lnSpc>
              <a:spcBef>
                <a:spcPts val="0"/>
              </a:spcBef>
              <a:spcAft>
                <a:spcPts val="0"/>
              </a:spcAft>
            </a:pPr>
            <a:r>
              <a:rPr sz="1700">
                <a:solidFill>
                  <a:srgbClr val="0A3A99"/>
                </a:solidFill>
                <a:latin typeface="Consolas"/>
              </a:rPr>
              <a:t>    signature:</a:t>
            </a:r>
          </a:p>
          <a:p>
            <a:pPr algn="l">
              <a:lnSpc>
                <a:spcPct val="115000"/>
              </a:lnSpc>
              <a:spcBef>
                <a:spcPts val="0"/>
              </a:spcBef>
              <a:spcAft>
                <a:spcPts val="0"/>
              </a:spcAft>
            </a:pPr>
            <a:r>
              <a:rPr sz="1700">
                <a:solidFill>
                  <a:srgbClr val="000000"/>
                </a:solidFill>
                <a:latin typeface="Consolas"/>
              </a:rPr>
              <a:t>      algorithm: RSASSA-PSS</a:t>
            </a:r>
          </a:p>
          <a:p>
            <a:pPr algn="l">
              <a:lnSpc>
                <a:spcPct val="115000"/>
              </a:lnSpc>
              <a:spcBef>
                <a:spcPts val="0"/>
              </a:spcBef>
              <a:spcAft>
                <a:spcPts val="0"/>
              </a:spcAft>
            </a:pPr>
            <a:r>
              <a:rPr sz="1700">
                <a:solidFill>
                  <a:srgbClr val="0F6BFF"/>
                </a:solidFill>
                <a:latin typeface="Consolas"/>
              </a:rPr>
              <a:t>      value: 9c2af18b3e7d52914a8c6b0f1d2e8f37...</a:t>
            </a:r>
          </a:p>
        </p:txBody>
      </p:sp>
      <p:sp>
        <p:nvSpPr>
          <p:cNvPr id="6" name="Right Arrow 5"/>
          <p:cNvSpPr/>
          <p:nvPr/>
        </p:nvSpPr>
        <p:spPr>
          <a:xfrm>
            <a:off x="8572500" y="5905500"/>
            <a:ext cx="1143000" cy="952500"/>
          </a:xfrm>
          <a:prstGeom prst="rightArrow">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86750" y="5334000"/>
            <a:ext cx="1714500" cy="476250"/>
          </a:xfrm>
          <a:prstGeom prst="rect">
            <a:avLst/>
          </a:prstGeom>
          <a:noFill/>
        </p:spPr>
        <p:txBody>
          <a:bodyPr wrap="square" lIns="0" rIns="0" tIns="0" bIns="0">
            <a:spAutoFit/>
          </a:bodyPr>
          <a:lstStyle/>
          <a:p>
            <a:pPr algn="ctr"/>
            <a:r>
              <a:rPr sz="2000" b="1">
                <a:solidFill>
                  <a:srgbClr val="0F6BFF"/>
                </a:solidFill>
                <a:latin typeface="Aptos"/>
              </a:rPr>
              <a:t>bump version</a:t>
            </a:r>
          </a:p>
        </p:txBody>
      </p:sp>
      <p:sp>
        <p:nvSpPr>
          <p:cNvPr id="8" name="TextBox 7"/>
          <p:cNvSpPr txBox="1"/>
          <p:nvPr/>
        </p:nvSpPr>
        <p:spPr>
          <a:xfrm>
            <a:off x="1143000" y="9382125"/>
            <a:ext cx="16002000" cy="571500"/>
          </a:xfrm>
          <a:prstGeom prst="rect">
            <a:avLst/>
          </a:prstGeom>
          <a:noFill/>
        </p:spPr>
        <p:txBody>
          <a:bodyPr wrap="square" lIns="0" rIns="0" tIns="0" bIns="0">
            <a:spAutoFit/>
          </a:bodyPr>
          <a:lstStyle/>
          <a:p>
            <a:pPr algn="ctr"/>
            <a:r>
              <a:rPr sz="2400">
                <a:solidFill>
                  <a:srgbClr val="0F6BFF"/>
                </a:solidFill>
                <a:latin typeface="Aptos"/>
              </a:rPr>
              <a:t>Every digest pinned by the signature. The cluster cannot drift.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ADOPTION</a:t>
            </a:r>
          </a:p>
        </p:txBody>
      </p:sp>
      <p:sp>
        <p:nvSpPr>
          <p:cNvPr id="3" name="Title 2"/>
          <p:cNvSpPr>
            <a:spLocks noGrp="1"/>
          </p:cNvSpPr>
          <p:nvPr>
            <p:ph type="title" idx="2"/>
          </p:nvPr>
        </p:nvSpPr>
        <p:spPr/>
        <p:txBody>
          <a:bodyPr/>
          <a:lstStyle/>
          <a:p>
            <a:r>
              <a:t>Two paths to a first OCM component.</a:t>
            </a:r>
          </a:p>
        </p:txBody>
      </p:sp>
      <p:sp>
        <p:nvSpPr>
          <p:cNvPr id="4" name="TextBox 3"/>
          <p:cNvSpPr txBox="1"/>
          <p:nvPr/>
        </p:nvSpPr>
        <p:spPr>
          <a:xfrm>
            <a:off x="952500" y="4762500"/>
            <a:ext cx="7810500" cy="533400"/>
          </a:xfrm>
          <a:prstGeom prst="rect">
            <a:avLst/>
          </a:prstGeom>
          <a:noFill/>
        </p:spPr>
        <p:txBody>
          <a:bodyPr wrap="square" lIns="0" rIns="0" tIns="0" bIns="0">
            <a:spAutoFit/>
          </a:bodyPr>
          <a:lstStyle/>
          <a:p>
            <a:pPr algn="l"/>
            <a:r>
              <a:rPr sz="2200" b="1">
                <a:solidFill>
                  <a:srgbClr val="0F6BFF"/>
                </a:solidFill>
                <a:latin typeface="Aptos"/>
              </a:rPr>
              <a:t>FROM ZERO — CLI</a:t>
            </a:r>
          </a:p>
        </p:txBody>
      </p:sp>
      <p:cxnSp>
        <p:nvCxnSpPr>
          <p:cNvPr id="5" name="Connector 4"/>
          <p:cNvCxnSpPr/>
          <p:nvPr/>
        </p:nvCxnSpPr>
        <p:spPr>
          <a:xfrm>
            <a:off x="952500" y="5295900"/>
            <a:ext cx="7810500" cy="0"/>
          </a:xfrm>
          <a:prstGeom prst="line">
            <a:avLst/>
          </a:prstGeom>
          <a:ln w="15875">
            <a:solidFill>
              <a:srgbClr val="0F6BF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52500" y="5448300"/>
            <a:ext cx="7810500" cy="2933700"/>
          </a:xfrm>
          <a:prstGeom prst="rect">
            <a:avLst/>
          </a:prstGeom>
          <a:noFill/>
        </p:spPr>
        <p:txBody>
          <a:bodyPr wrap="square" lIns="0" rIns="0" tIns="0" bIns="0">
            <a:spAutoFit/>
          </a:bodyPr>
          <a:lstStyle/>
          <a:p>
            <a:pPr algn="l">
              <a:spcBef>
                <a:spcPts val="0"/>
              </a:spcBef>
            </a:pPr>
            <a:r>
              <a:rPr sz="2200">
                <a:solidFill>
                  <a:srgbClr val="000000"/>
                </a:solidFill>
                <a:latin typeface="Aptos"/>
              </a:rPr>
              <a:t>Pack one component. Sign it.</a:t>
            </a:r>
          </a:p>
          <a:p>
            <a:pPr algn="l">
              <a:spcBef>
                <a:spcPts val="1000"/>
              </a:spcBef>
            </a:pPr>
            <a:r>
              <a:rPr sz="2200">
                <a:solidFill>
                  <a:srgbClr val="000000"/>
                </a:solidFill>
                <a:latin typeface="Aptos"/>
              </a:rPr>
              <a:t>Air-gap CTF round-trip.</a:t>
            </a:r>
          </a:p>
          <a:p>
            <a:pPr algn="l">
              <a:spcBef>
                <a:spcPts val="1000"/>
              </a:spcBef>
            </a:pPr>
            <a:r>
              <a:rPr sz="2200">
                <a:solidFill>
                  <a:srgbClr val="000000"/>
                </a:solidFill>
                <a:latin typeface="Aptos"/>
              </a:rPr>
              <a:t>Verify on the other side.</a:t>
            </a:r>
          </a:p>
          <a:p>
            <a:pPr algn="l">
              <a:spcBef>
                <a:spcPts val="1000"/>
              </a:spcBef>
            </a:pPr>
            <a:r>
              <a:rPr sz="2200">
                <a:solidFill>
                  <a:srgbClr val="000000"/>
                </a:solidFill>
                <a:latin typeface="Aptos"/>
              </a:rPr>
              <a:t>Thirty minutes on a laptop.</a:t>
            </a:r>
          </a:p>
        </p:txBody>
      </p:sp>
      <p:sp>
        <p:nvSpPr>
          <p:cNvPr id="7" name="TextBox 6"/>
          <p:cNvSpPr txBox="1"/>
          <p:nvPr/>
        </p:nvSpPr>
        <p:spPr>
          <a:xfrm>
            <a:off x="9525000" y="4762500"/>
            <a:ext cx="7810500" cy="533400"/>
          </a:xfrm>
          <a:prstGeom prst="rect">
            <a:avLst/>
          </a:prstGeom>
          <a:noFill/>
        </p:spPr>
        <p:txBody>
          <a:bodyPr wrap="square" lIns="0" rIns="0" tIns="0" bIns="0">
            <a:spAutoFit/>
          </a:bodyPr>
          <a:lstStyle/>
          <a:p>
            <a:pPr algn="l"/>
            <a:r>
              <a:rPr sz="2200" b="1">
                <a:solidFill>
                  <a:srgbClr val="0F6BFF"/>
                </a:solidFill>
                <a:latin typeface="Aptos"/>
              </a:rPr>
              <a:t>ON YOUR CLUSTER — CONTROLLERS</a:t>
            </a:r>
          </a:p>
        </p:txBody>
      </p:sp>
      <p:cxnSp>
        <p:nvCxnSpPr>
          <p:cNvPr id="8" name="Connector 7"/>
          <p:cNvCxnSpPr/>
          <p:nvPr/>
        </p:nvCxnSpPr>
        <p:spPr>
          <a:xfrm>
            <a:off x="9525000" y="5295900"/>
            <a:ext cx="7810500" cy="0"/>
          </a:xfrm>
          <a:prstGeom prst="line">
            <a:avLst/>
          </a:prstGeom>
          <a:ln w="15875">
            <a:solidFill>
              <a:srgbClr val="0F6B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525000" y="5448300"/>
            <a:ext cx="7810500" cy="2933700"/>
          </a:xfrm>
          <a:prstGeom prst="rect">
            <a:avLst/>
          </a:prstGeom>
          <a:noFill/>
        </p:spPr>
        <p:txBody>
          <a:bodyPr wrap="square" lIns="0" rIns="0" tIns="0" bIns="0">
            <a:spAutoFit/>
          </a:bodyPr>
          <a:lstStyle/>
          <a:p>
            <a:pPr algn="l">
              <a:spcBef>
                <a:spcPts val="0"/>
              </a:spcBef>
            </a:pPr>
            <a:r>
              <a:rPr sz="2200">
                <a:solidFill>
                  <a:srgbClr val="000000"/>
                </a:solidFill>
                <a:latin typeface="Aptos"/>
              </a:rPr>
              <a:t>Helm-install the OCM controllers.</a:t>
            </a:r>
          </a:p>
          <a:p>
            <a:pPr algn="l">
              <a:spcBef>
                <a:spcPts val="1000"/>
              </a:spcBef>
            </a:pPr>
            <a:r>
              <a:rPr sz="2200">
                <a:solidFill>
                  <a:srgbClr val="000000"/>
                </a:solidFill>
                <a:latin typeface="Aptos"/>
              </a:rPr>
              <a:t>Point them at your registry.</a:t>
            </a:r>
          </a:p>
          <a:p>
            <a:pPr algn="l">
              <a:spcBef>
                <a:spcPts val="1000"/>
              </a:spcBef>
            </a:pPr>
            <a:r>
              <a:rPr sz="2200">
                <a:solidFill>
                  <a:srgbClr val="000000"/>
                </a:solidFill>
                <a:latin typeface="Aptos"/>
              </a:rPr>
              <a:t>Deploy a component.</a:t>
            </a:r>
          </a:p>
          <a:p>
            <a:pPr algn="l">
              <a:spcBef>
                <a:spcPts val="1000"/>
              </a:spcBef>
            </a:pPr>
            <a:r>
              <a:rPr sz="2200">
                <a:solidFill>
                  <a:srgbClr val="000000"/>
                </a:solidFill>
                <a:latin typeface="Aptos"/>
              </a:rPr>
              <a:t>Thirty minutes on any cluster.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WHAT'S SHARP</a:t>
            </a:r>
          </a:p>
        </p:txBody>
      </p:sp>
      <p:sp>
        <p:nvSpPr>
          <p:cNvPr id="3" name="Title 2"/>
          <p:cNvSpPr>
            <a:spLocks noGrp="1"/>
          </p:cNvSpPr>
          <p:nvPr>
            <p:ph type="title" idx="2"/>
          </p:nvPr>
        </p:nvSpPr>
        <p:spPr/>
        <p:txBody>
          <a:bodyPr/>
          <a:lstStyle/>
          <a:p>
            <a:r>
              <a:t>Three honest edges.</a:t>
            </a:r>
          </a:p>
        </p:txBody>
      </p:sp>
      <p:sp>
        <p:nvSpPr>
          <p:cNvPr id="4" name="Text Placeholder 3"/>
          <p:cNvSpPr>
            <a:spLocks noGrp="1"/>
          </p:cNvSpPr>
          <p:nvPr>
            <p:ph type="body" idx="10"/>
          </p:nvPr>
        </p:nvSpPr>
        <p:spPr/>
        <p:txBody>
          <a:bodyPr/>
          <a:lstStyle/>
          <a:p>
            <a:pPr>
              <a:spcBef>
                <a:spcPts val="800"/>
              </a:spcBef>
              <a:spcAft>
                <a:spcPts val="800"/>
              </a:spcAft>
            </a:pPr>
            <a:r>
              <a:rPr b="1" sz="2600">
                <a:solidFill>
                  <a:srgbClr val="0F6BFF"/>
                </a:solidFill>
              </a:rPr>
              <a:t>▪  </a:t>
            </a:r>
            <a:r>
              <a:rPr b="1" sz="2600">
                <a:solidFill>
                  <a:srgbClr val="0F6BFF"/>
                </a:solidFill>
              </a:rPr>
              <a:t>Transfer defaults</a:t>
            </a:r>
            <a:r>
              <a:rPr sz="2600">
                <a:solidFill>
                  <a:srgbClr val="000000"/>
                </a:solidFill>
              </a:rPr>
              <a:t> — copies only the descriptor. For air-gap, pass --copy-resources so the bytes travel too.</a:t>
            </a:r>
          </a:p>
          <a:p>
            <a:pPr>
              <a:spcBef>
                <a:spcPts val="800"/>
              </a:spcBef>
              <a:spcAft>
                <a:spcPts val="800"/>
              </a:spcAft>
            </a:pPr>
            <a:r>
              <a:rPr b="1" sz="2600">
                <a:solidFill>
                  <a:srgbClr val="0F6BFF"/>
                </a:solidFill>
              </a:rPr>
              <a:t>▪  </a:t>
            </a:r>
            <a:r>
              <a:rPr b="1" sz="2600">
                <a:solidFill>
                  <a:srgbClr val="0F6BFF"/>
                </a:solidFill>
              </a:rPr>
              <a:t>Controllers are v1alpha1</a:t>
            </a:r>
            <a:r>
              <a:rPr sz="2600">
                <a:solidFill>
                  <a:srgbClr val="000000"/>
                </a:solidFill>
              </a:rPr>
              <a:t> — the CRD surface can move. Pin to specific release tags in your platform installs.</a:t>
            </a:r>
          </a:p>
          <a:p>
            <a:pPr>
              <a:spcBef>
                <a:spcPts val="800"/>
              </a:spcBef>
              <a:spcAft>
                <a:spcPts val="800"/>
              </a:spcAft>
            </a:pPr>
            <a:r>
              <a:rPr b="1" sz="2600">
                <a:solidFill>
                  <a:srgbClr val="0F6BFF"/>
                </a:solidFill>
              </a:rPr>
              <a:t>▪  </a:t>
            </a:r>
            <a:r>
              <a:rPr b="1" sz="2600">
                <a:solidFill>
                  <a:srgbClr val="0F6BFF"/>
                </a:solidFill>
              </a:rPr>
              <a:t>Helm-deploy adds kro + Flux</a:t>
            </a:r>
            <a:r>
              <a:rPr sz="2600">
                <a:solidFill>
                  <a:srgbClr val="000000"/>
                </a:solidFill>
              </a:rPr>
              <a:t> — the OCM controllers don't ship them. Bring your existing GitOps engine.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Ship the release as one unit.</a:t>
            </a:r>
          </a:p>
        </p:txBody>
      </p:sp>
      <p:sp>
        <p:nvSpPr>
          <p:cNvPr id="3" name="Text Placeholder 2"/>
          <p:cNvSpPr>
            <a:spLocks noGrp="1"/>
          </p:cNvSpPr>
          <p:nvPr>
            <p:ph type="body" idx="2"/>
          </p:nvPr>
        </p:nvSpPr>
        <p:spPr/>
        <p:txBody>
          <a:bodyPr/>
          <a:lstStyle/>
          <a:p>
            <a:r>
              <a:rPr b="1">
                <a:solidFill>
                  <a:srgbClr val="5CD6FF"/>
                </a:solidFill>
              </a:rPr>
              <a:t>Evaluate</a:t>
            </a:r>
            <a:r>
              <a:rPr>
                <a:solidFill>
                  <a:srgbClr val="FFFFFF"/>
                </a:solidFill>
              </a:rPr>
              <a:t> — ocm.software · run conformance/scenarios/sovereign</a:t>
            </a:r>
          </a:p>
          <a:p>
            <a:r>
              <a:rPr b="1">
                <a:solidFill>
                  <a:srgbClr val="5CD6FF"/>
                </a:solidFill>
              </a:rPr>
              <a:t>Pilot</a:t>
            </a:r>
            <a:r>
              <a:rPr>
                <a:solidFill>
                  <a:srgbClr val="FFFFFF"/>
                </a:solidFill>
              </a:rPr>
              <a:t> — github.com/open-component-model · one product, one team</a:t>
            </a:r>
          </a:p>
          <a:p>
            <a:r>
              <a:rPr b="1">
                <a:solidFill>
                  <a:srgbClr val="5CD6FF"/>
                </a:solidFill>
              </a:rPr>
              <a:t>Engage</a:t>
            </a:r>
            <a:r>
              <a:rPr>
                <a:solidFill>
                  <a:srgbClr val="FFFFFF"/>
                </a:solidFill>
              </a:rPr>
              <a:t> — community channels on the website · NeoNephos Foundation</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APPENDIX · REPLICATION</a:t>
            </a:r>
          </a:p>
        </p:txBody>
      </p:sp>
      <p:sp>
        <p:nvSpPr>
          <p:cNvPr id="3" name="Title 2"/>
          <p:cNvSpPr>
            <a:spLocks noGrp="1"/>
          </p:cNvSpPr>
          <p:nvPr>
            <p:ph type="title" idx="2"/>
          </p:nvPr>
        </p:nvSpPr>
        <p:spPr/>
        <p:txBody>
          <a:bodyPr/>
          <a:lstStyle/>
          <a:p>
            <a:r>
              <a:t>Alongside the chain. Not within it.</a:t>
            </a:r>
          </a:p>
        </p:txBody>
      </p:sp>
      <p:sp>
        <p:nvSpPr>
          <p:cNvPr id="4" name="Rounded Rectangle 3"/>
          <p:cNvSpPr/>
          <p:nvPr/>
        </p:nvSpPr>
        <p:spPr>
          <a:xfrm>
            <a:off x="200025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0025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28850" y="5257800"/>
            <a:ext cx="2686050" cy="476250"/>
          </a:xfrm>
          <a:prstGeom prst="rect">
            <a:avLst/>
          </a:prstGeom>
          <a:noFill/>
        </p:spPr>
        <p:txBody>
          <a:bodyPr wrap="square" lIns="0" rIns="0" tIns="0" bIns="0">
            <a:spAutoFit/>
          </a:bodyPr>
          <a:lstStyle/>
          <a:p>
            <a:pPr algn="l"/>
            <a:r>
              <a:rPr sz="2200" b="1">
                <a:solidFill>
                  <a:srgbClr val="6B7280"/>
                </a:solidFill>
                <a:latin typeface="Aptos"/>
              </a:rPr>
              <a:t>REPOSITORY</a:t>
            </a:r>
          </a:p>
        </p:txBody>
      </p:sp>
      <p:sp>
        <p:nvSpPr>
          <p:cNvPr id="7" name="TextBox 6"/>
          <p:cNvSpPr txBox="1"/>
          <p:nvPr/>
        </p:nvSpPr>
        <p:spPr>
          <a:xfrm>
            <a:off x="222885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Where component versions live.</a:t>
            </a:r>
          </a:p>
        </p:txBody>
      </p:sp>
      <p:sp>
        <p:nvSpPr>
          <p:cNvPr id="8" name="Rectangle 7"/>
          <p:cNvSpPr/>
          <p:nvPr/>
        </p:nvSpPr>
        <p:spPr>
          <a:xfrm>
            <a:off x="5238750" y="5897784"/>
            <a:ext cx="238125" cy="1543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5467350" y="5838825"/>
            <a:ext cx="152400" cy="133350"/>
          </a:xfrm>
          <a:custGeom>
            <a:avLst/>
            <a:gdLst/>
            <a:ahLst/>
            <a:cxnLst/>
            <a:rect l="l" t="t" r="r" b="b"/>
            <a:pathLst>
              <a:path w="152400" h="133350">
                <a:moveTo>
                  <a:pt x="0" y="66675"/>
                </a:moveTo>
                <a:lnTo>
                  <a:pt x="152400" y="0"/>
                </a:lnTo>
                <a:lnTo>
                  <a:pt x="152400" y="133350"/>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71500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0" y="5257800"/>
            <a:ext cx="2686050" cy="476250"/>
          </a:xfrm>
          <a:prstGeom prst="rect">
            <a:avLst/>
          </a:prstGeom>
          <a:noFill/>
        </p:spPr>
        <p:txBody>
          <a:bodyPr wrap="square" lIns="0" rIns="0" tIns="0" bIns="0">
            <a:spAutoFit/>
          </a:bodyPr>
          <a:lstStyle/>
          <a:p>
            <a:pPr algn="l"/>
            <a:r>
              <a:rPr sz="2200" b="1">
                <a:solidFill>
                  <a:srgbClr val="6B7280"/>
                </a:solidFill>
                <a:latin typeface="Aptos"/>
              </a:rPr>
              <a:t>COMPONENT</a:t>
            </a:r>
          </a:p>
        </p:txBody>
      </p:sp>
      <p:sp>
        <p:nvSpPr>
          <p:cNvPr id="13" name="TextBox 12"/>
          <p:cNvSpPr txBox="1"/>
          <p:nvPr/>
        </p:nvSpPr>
        <p:spPr>
          <a:xfrm>
            <a:off x="594360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Pulls + verifies.</a:t>
            </a:r>
          </a:p>
        </p:txBody>
      </p:sp>
      <p:sp>
        <p:nvSpPr>
          <p:cNvPr id="14" name="Rectangle 13"/>
          <p:cNvSpPr/>
          <p:nvPr/>
        </p:nvSpPr>
        <p:spPr>
          <a:xfrm>
            <a:off x="8953500" y="5897784"/>
            <a:ext cx="238125" cy="1543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9182100" y="5838825"/>
            <a:ext cx="152400" cy="133350"/>
          </a:xfrm>
          <a:custGeom>
            <a:avLst/>
            <a:gdLst/>
            <a:ahLst/>
            <a:cxnLst/>
            <a:rect l="l" t="t" r="r" b="b"/>
            <a:pathLst>
              <a:path w="152400" h="133350">
                <a:moveTo>
                  <a:pt x="0" y="66675"/>
                </a:moveTo>
                <a:lnTo>
                  <a:pt x="152400" y="0"/>
                </a:lnTo>
                <a:lnTo>
                  <a:pt x="152400" y="133350"/>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42975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2975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58350" y="5257800"/>
            <a:ext cx="2686050" cy="476250"/>
          </a:xfrm>
          <a:prstGeom prst="rect">
            <a:avLst/>
          </a:prstGeom>
          <a:noFill/>
        </p:spPr>
        <p:txBody>
          <a:bodyPr wrap="square" lIns="0" rIns="0" tIns="0" bIns="0">
            <a:spAutoFit/>
          </a:bodyPr>
          <a:lstStyle/>
          <a:p>
            <a:pPr algn="l"/>
            <a:r>
              <a:rPr sz="2200" b="1">
                <a:solidFill>
                  <a:srgbClr val="6B7280"/>
                </a:solidFill>
                <a:latin typeface="Aptos"/>
              </a:rPr>
              <a:t>RESOURCE</a:t>
            </a:r>
          </a:p>
        </p:txBody>
      </p:sp>
      <p:sp>
        <p:nvSpPr>
          <p:cNvPr id="19" name="TextBox 18"/>
          <p:cNvSpPr txBox="1"/>
          <p:nvPr/>
        </p:nvSpPr>
        <p:spPr>
          <a:xfrm>
            <a:off x="965835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One artifact, by digest.</a:t>
            </a:r>
          </a:p>
        </p:txBody>
      </p:sp>
      <p:sp>
        <p:nvSpPr>
          <p:cNvPr id="20" name="Rectangle 19"/>
          <p:cNvSpPr/>
          <p:nvPr/>
        </p:nvSpPr>
        <p:spPr>
          <a:xfrm>
            <a:off x="12668250" y="5897784"/>
            <a:ext cx="238125" cy="1543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12896850" y="5838825"/>
            <a:ext cx="152400" cy="133350"/>
          </a:xfrm>
          <a:custGeom>
            <a:avLst/>
            <a:gdLst/>
            <a:ahLst/>
            <a:cxnLst/>
            <a:rect l="l" t="t" r="r" b="b"/>
            <a:pathLst>
              <a:path w="152400" h="133350">
                <a:moveTo>
                  <a:pt x="0" y="66675"/>
                </a:moveTo>
                <a:lnTo>
                  <a:pt x="152400" y="0"/>
                </a:lnTo>
                <a:lnTo>
                  <a:pt x="152400" y="133350"/>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314450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14450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373100" y="5257800"/>
            <a:ext cx="2686050" cy="476250"/>
          </a:xfrm>
          <a:prstGeom prst="rect">
            <a:avLst/>
          </a:prstGeom>
          <a:noFill/>
        </p:spPr>
        <p:txBody>
          <a:bodyPr wrap="square" lIns="0" rIns="0" tIns="0" bIns="0">
            <a:spAutoFit/>
          </a:bodyPr>
          <a:lstStyle/>
          <a:p>
            <a:pPr algn="l"/>
            <a:r>
              <a:rPr sz="2200" b="1">
                <a:solidFill>
                  <a:srgbClr val="6B7280"/>
                </a:solidFill>
                <a:latin typeface="Aptos"/>
              </a:rPr>
              <a:t>DEPLOYER</a:t>
            </a:r>
          </a:p>
        </p:txBody>
      </p:sp>
      <p:sp>
        <p:nvSpPr>
          <p:cNvPr id="25" name="TextBox 24"/>
          <p:cNvSpPr txBox="1"/>
          <p:nvPr/>
        </p:nvSpPr>
        <p:spPr>
          <a:xfrm>
            <a:off x="1337310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Applies it to the cluster.</a:t>
            </a:r>
          </a:p>
        </p:txBody>
      </p:sp>
      <p:sp>
        <p:nvSpPr>
          <p:cNvPr id="26" name="Rounded Rectangle 25"/>
          <p:cNvSpPr/>
          <p:nvPr/>
        </p:nvSpPr>
        <p:spPr>
          <a:xfrm>
            <a:off x="5810250" y="7429500"/>
            <a:ext cx="6667500" cy="2476500"/>
          </a:xfrm>
          <a:prstGeom prst="roundRect">
            <a:avLst>
              <a:gd name="adj" fmla="val 5384"/>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10250" y="7429500"/>
            <a:ext cx="6667500"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96000" y="7829550"/>
            <a:ext cx="6096000" cy="476250"/>
          </a:xfrm>
          <a:prstGeom prst="rect">
            <a:avLst/>
          </a:prstGeom>
          <a:noFill/>
        </p:spPr>
        <p:txBody>
          <a:bodyPr wrap="square" lIns="0" rIns="0" tIns="0" bIns="0">
            <a:spAutoFit/>
          </a:bodyPr>
          <a:lstStyle/>
          <a:p>
            <a:pPr algn="l"/>
            <a:r>
              <a:rPr sz="3000" b="1">
                <a:solidFill>
                  <a:srgbClr val="0A3A99"/>
                </a:solidFill>
                <a:latin typeface="Aptos"/>
              </a:rPr>
              <a:t>REPLICATION</a:t>
            </a:r>
          </a:p>
        </p:txBody>
      </p:sp>
      <p:sp>
        <p:nvSpPr>
          <p:cNvPr id="29" name="TextBox 28"/>
          <p:cNvSpPr txBox="1"/>
          <p:nvPr/>
        </p:nvSpPr>
        <p:spPr>
          <a:xfrm>
            <a:off x="6096000" y="8477250"/>
            <a:ext cx="6096000" cy="1238250"/>
          </a:xfrm>
          <a:prstGeom prst="rect">
            <a:avLst/>
          </a:prstGeom>
          <a:noFill/>
        </p:spPr>
        <p:txBody>
          <a:bodyPr wrap="square" lIns="0" rIns="0" tIns="0" bIns="0">
            <a:spAutoFit/>
          </a:bodyPr>
          <a:lstStyle/>
          <a:p>
            <a:pPr algn="l">
              <a:lnSpc>
                <a:spcPct val="125000"/>
              </a:lnSpc>
            </a:pPr>
            <a:r>
              <a:rPr sz="2200">
                <a:solidFill>
                  <a:srgbClr val="333333"/>
                </a:solidFill>
                <a:latin typeface="Aptos"/>
              </a:rPr>
              <a:t>Transfers a resolved component version from one OCM repository to another.</a:t>
            </a:r>
          </a:p>
          <a:p>
            <a:pPr algn="l">
              <a:lnSpc>
                <a:spcPct val="125000"/>
              </a:lnSpc>
            </a:pPr>
            <a:r>
              <a:rPr sz="2200">
                <a:solidFill>
                  <a:srgbClr val="333333"/>
                </a:solidFill>
                <a:latin typeface="Aptos"/>
              </a:rPr>
              <a:t>Records status.lastTransferredDigest. Same digest → no-op.</a:t>
            </a:r>
          </a:p>
        </p:txBody>
      </p:sp>
      <p:sp>
        <p:nvSpPr>
          <p:cNvPr id="30" name="TextBox 29"/>
          <p:cNvSpPr txBox="1"/>
          <p:nvPr/>
        </p:nvSpPr>
        <p:spPr>
          <a:xfrm>
            <a:off x="1143000" y="9620250"/>
            <a:ext cx="16002000" cy="476250"/>
          </a:xfrm>
          <a:prstGeom prst="rect">
            <a:avLst/>
          </a:prstGeom>
          <a:noFill/>
        </p:spPr>
        <p:txBody>
          <a:bodyPr wrap="square" lIns="0" rIns="0" tIns="0" bIns="0">
            <a:spAutoFit/>
          </a:bodyPr>
          <a:lstStyle/>
          <a:p>
            <a:pPr algn="ctr"/>
            <a:r>
              <a:rPr sz="2000">
                <a:solidFill>
                  <a:srgbClr val="0A3A99"/>
                </a:solidFill>
                <a:latin typeface="Aptos"/>
              </a:rPr>
              <a:t>Controller-shaped equivalent of the OCM CLI's `ocm transfer cv` — point it at a source `Component` and a target `Repository`, and it keeps them in sync.</a:t>
            </a:r>
          </a:p>
        </p:txBody>
      </p:sp>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Display"/>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