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observation, not the product.</a:t>
            </a:r>
          </a:p>
          <a:p>
            <a:r>
              <a:t>Any release in the last six months: images, charts, configs, SBOMs — each named differently, each signed differently, if at all.</a:t>
            </a:r>
          </a:p>
          <a:p>
            <a:r>
              <a:t>You shipped pieces. Nothing carried the release.</a:t>
            </a:r>
          </a:p>
          <a:p>
            <a:r>
              <a:t>That is the gap to close in the next thirty minutes.</a:t>
            </a:r>
          </a:p>
          <a:p>
            <a:r>
              <a:t>No brand pitch yet — the deck does that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the existing toolbox does not compose. Three artifact types, three identity shapes:</a:t>
            </a:r>
          </a:p>
          <a:p>
            <a:r>
              <a:t>• OCI image — `repo:tag` or `repo@sha256:…`. Mirror it, every downstream reference must be rewritten.</a:t>
            </a:r>
          </a:p>
          <a:p>
            <a:r>
              <a:t>• Helm chart — repo URL + chart name + version. Move the repo, every `helm install` breaks.</a:t>
            </a:r>
          </a:p>
          <a:p>
            <a:r>
              <a:t>• SBOM — no stable identifier of its own. Tied by filename or referrer; repackage and it dangles.</a:t>
            </a:r>
          </a:p>
          <a:p>
            <a:r>
              <a:t>Calibration for cosign shops: keep signing each piece. What is missing is a name for the release as one unit, signable, verifiable in a sovereign zone with no callback.</a:t>
            </a:r>
          </a:p>
          <a:p>
            <a:r>
              <a:t>Diagnosis: identity is bound to location.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conceptual fulcrum. Let it breathe. OCM separates three things the existing tools fuse:</a:t>
            </a:r>
          </a:p>
          <a:p>
            <a:r>
              <a:t>• Coordinates — DNS-style name plus SemVer. Globally unique, location-agnostic. No registry in the name.</a:t>
            </a:r>
          </a:p>
          <a:p>
            <a:r>
              <a:t>• Digest — SHA-256 over each resource. Computed at pack time. This is what we sign.</a:t>
            </a:r>
          </a:p>
          <a:p>
            <a:r>
              <a:t>• Access — type plus fetch fields (`OCIImage/v1`, `LocalBlob/v1`, `S3/v1`). Where the bytes currently live.</a:t>
            </a:r>
          </a:p>
          <a:p>
            <a:r>
              <a:t>Promote EU → US → air-gapped CTF: coordinate stays, digest stays, only access is rewritten. Signature still verifies — anywhere.</a:t>
            </a:r>
          </a:p>
          <a:p>
            <a:r>
              <a:t>Move the artifact. The digest stays. Only the access changes. That is the whole trick.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jobs: pre-empt 'what does this replace?' and define the noun the rest of the deck rests on.</a:t>
            </a:r>
          </a:p>
          <a:p>
            <a:r>
              <a:t>OCM is not a replacement for OCI, Helm, or your SBOM tooling. It composes around them and adds one new thing — the component.</a:t>
            </a:r>
          </a:p>
          <a:p>
            <a:r>
              <a:t>• Any format — Helm stays Helm, OCI stays OCI, SBOM stays SPDX/CycloneDX. Each becomes a resource inside the component.</a:t>
            </a:r>
          </a:p>
          <a:p>
            <a:r>
              <a:t>• Any location — name and version do not encode a registry. Move it; the name stays.</a:t>
            </a:r>
          </a:p>
          <a:p>
            <a:r>
              <a:t>• One signature — covers every digest in the component. The whole release is one signed unit.</a:t>
            </a:r>
          </a:p>
          <a:p>
            <a:r>
              <a:t>A component is the unit you sign, transport, and deploy. Hold the noun.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YAML the audience sees. Walk it like you would for a colleague — eighteen lines, hand-written.</a:t>
            </a:r>
          </a:p>
          <a:p>
            <a:r>
              <a:t>• `components` — list, usually one. Name is DNS-style; version is SemVer.</a:t>
            </a:r>
          </a:p>
          <a:p>
            <a:r>
              <a:t>• `provider` — metadata, required.</a:t>
            </a:r>
          </a:p>
          <a:p>
            <a:r>
              <a:t>• `resources` — every artifact in the release. Two ways in:</a:t>
            </a:r>
          </a:p>
          <a:p>
            <a:r>
              <a:t>  ▪ `input:` — by value. Constructor reads the file at pack time, embeds the bytes. Travels in the archive.</a:t>
            </a:r>
          </a:p>
          <a:p>
            <a:r>
              <a:t>  ▪ `access:` — by reference. Records a pointer (e.g. `ghcr.io/.../podinfo:6.9.1`), resolves digest now, copies bytes later.</a:t>
            </a:r>
          </a:p>
          <a:p>
            <a:r>
              <a:t>Local files and configs tend to be input; big images tend to be access. Mix freely.</a:t>
            </a:r>
          </a:p>
          <a:p>
            <a:r>
              <a:t>CLI if asked: `ocm add cv` against this file, default output a CTF archive.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Clarify first: this is generated by `ocm add cv`. You do not hand-edit it. This is what travels.</a:t>
            </a:r>
          </a:p>
          <a:p>
            <a:r>
              <a:t>We show one resource — the image — to keep focus on the mechanism. Real components carry many resources and may reference other components; the '...' line stands in for that.</a:t>
            </a:r>
          </a:p>
          <a:p>
            <a:r>
              <a:t>• `access` — `OCIImage/v1` with the imageReference pinned to a digest. Kills the repoint-the-tag attack class. Excluded from the canonical form on purpose — transport rewrites it.</a:t>
            </a:r>
          </a:p>
          <a:p>
            <a:r>
              <a:t>• `digest` — SHA-256 over the resource bytes. Computed at pack time. Input to the descriptor hash.</a:t>
            </a:r>
          </a:p>
          <a:p>
            <a:r>
              <a:t>• `signatures:` — list. Each entry signs ONE hash: the SHA-256 of the canonicalized descriptor. That single hash covers every resource digest. Multiple signatures allowed — dual-sign RSA + Sigstore, verifiers pick.</a:t>
            </a:r>
          </a:p>
          <a:p>
            <a:r>
              <a:t>Three things to land. Signed: the descriptor hash — so one signature covers every artifact in the component. Not signed: the access fields — so transport can rewrite them freely. The signature still verifies, anywhere.</a:t>
            </a:r>
          </a:p>
          <a:p>
            <a:r>
              <a:t>Sign the descriptor hash, not the access. Seven words; whole transport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the primitive, then frame the next four slides.</a:t>
            </a:r>
          </a:p>
          <a:p>
            <a:r>
              <a:t>The signed descriptor is itself an OCI artifact — media type `application/vnd.ocm.software.component-descriptor.v2`. Lives in your registry next to the images. No new infrastructure.</a:t>
            </a:r>
          </a:p>
          <a:p>
            <a:r>
              <a:t>Four verbs, same flow, every component:</a:t>
            </a:r>
          </a:p>
          <a:p>
            <a:r>
              <a:t>• Pack — bundle once, name once.</a:t>
            </a:r>
          </a:p>
          <a:p>
            <a:r>
              <a:t>• Sign — one signature covers every digest.</a:t>
            </a:r>
          </a:p>
          <a:p>
            <a:r>
              <a:t>• Transport — registry ↔ registry ↔ tarball. Signature survives every hop.</a:t>
            </a:r>
          </a:p>
          <a:p>
            <a:r>
              <a:t>• Deploy — controller verifies, resolves digests, applies. No callback upstream.</a:t>
            </a:r>
          </a:p>
          <a:p>
            <a:r>
              <a:t>Sovereign cloud, air-gap, customer cluster. Next four slides are the mechanics.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Composition is the architectural fact that makes day-2 work.</a:t>
            </a:r>
          </a:p>
          <a:p>
            <a:r>
              <a:t>• Leaf components carry resources — images, charts, configs, SBOMs. Walk the LEFT box: `acme.org/sovereign/notes` and `acme.org/sovereign/postgres`, each with image + chart + `...` (real components carry more — configs, SBOMs — the `...` stands for that).</a:t>
            </a:r>
          </a:p>
          <a:p>
            <a:r>
              <a:t>• A product or release component composes leaves via `componentReferences:` — name + version, no resources of its own. Walk the RIGHT box: `acme.org/sovereign/product` references both notes and postgres by name and version. Nothing else.</a:t>
            </a:r>
          </a:p>
          <a:p>
            <a:r>
              <a:t>• Each leaf is independently versioned, signed, transferable. The product is a small descriptor that points at them.</a:t>
            </a:r>
          </a:p>
          <a:p>
            <a:r>
              <a:t>Real releases are not one big component — they are one product component referencing several leaves. This is the shape day-2 (slide 12) operates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Signature shape is separated from trust model. Descriptor signed one canonical way; how you prove the key is what varies. All three trust models are GA today:</a:t>
            </a:r>
          </a:p>
          <a:p>
            <a:r>
              <a:t>• RSA / RSASSA-PSS — fits orgs with PKI, Vault, HSMs.</a:t>
            </a:r>
          </a:p>
          <a:p>
            <a:r>
              <a:t>• GPG — fits OSS maintainers and orgs already running web-of-trust keyrings.</a:t>
            </a:r>
          </a:p>
          <a:p>
            <a:r>
              <a:t>• Sigstore — keyless via OIDC + Rekor transparency log; fits CI like GitHub Actions with no long-lived keys.</a:t>
            </a:r>
          </a:p>
          <a:p>
            <a:r>
              <a:t>Three things to land. Same signature shape covers the canonical descriptor. Verifiers can require multiple in parallel — RSA from release team and Sigstore from CI. Pick what your org already runs.</a:t>
            </a:r>
          </a:p>
          <a:p>
            <a:r>
              <a:t>CLI: `ocm sign cv ./archive//github.com/acme/widget:v1.4.2 --signature acme-release-key --private-key ./release-key.pem`. Idempotent.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mechanic, three patterns — covers every delivery topology you will see.</a:t>
            </a:r>
          </a:p>
          <a:p>
            <a:r>
              <a:t>• Registry → Registry — promotion across dev/staging/prod, or cross-cloud GHCR → ECR. Same digests, every access rewritten.</a:t>
            </a:r>
          </a:p>
          <a:p>
            <a:r>
              <a:t>• Registry → CTF — Common Transport Format. A local archive of blobs + index. Hand-carry across the boundary.</a:t>
            </a:r>
          </a:p>
          <a:p>
            <a:r>
              <a:t>• CTF → Registry — the air-gap import. Archive arrives, `ocm transfer` uploads, access rewrites to local registry, signature verifies locally. No traffic to source.</a:t>
            </a:r>
          </a:p>
          <a:p>
            <a:r>
              <a:t>Same command in all three: `ocm transfer cv &lt;src&gt; &lt;dst&gt;` or `ocm transfer ctf &lt;src&gt; &lt;dst&gt;`. Access changes; digests do not. Signature covers digests, so it survives every hop. Verification is purely local at the destination — that is the air-gap property.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OCM controllers verify and apply the component. One mirrors.</a:t>
            </a:r>
          </a:p>
          <a:p>
            <a:r>
              <a:t>• Repository — names where component versions live. OCI registry, mounted CTF, S3, local FS.</a:t>
            </a:r>
          </a:p>
          <a:p>
            <a:r>
              <a:t>• Component — names a specific component version. Pulls the descriptor and verifies its signature.</a:t>
            </a:r>
          </a:p>
          <a:p>
            <a:r>
              <a:t>• Resource — picks one artifact from the verified component, by digest: Helm chart, OCI image, raw manifest, blob.</a:t>
            </a:r>
          </a:p>
          <a:p>
            <a:r>
              <a:t>• Deployer — applies the resource to the cluster. Built-in for raw manifests; Flux for HelmRelease; Argo for Application.</a:t>
            </a:r>
          </a:p>
          <a:p>
            <a:r>
              <a:t>Then point at the offset card below the chain: Replication. Sits ALONGSIDE the chain, not within it. References a source `Component` and a target `Repository`; when the source's resolved version changes, transfers that version with its full reference graph into the target. Equivalent of `ocm transfer` as a controller. Records `status.lastTransferredDigest`; same digest = no-op. Fits delivery pipelines, promotion between environments, air-gap mirroring.</a:t>
            </a:r>
          </a:p>
          <a:p>
            <a:r>
              <a:t>Anti-lock-in answer: the Deployer tier is pluggable — built-in, Flux, or Argo. Slide 14 flags the only real sharp edges that remain.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Composition was just defined on slide 8. This slide does ONE job: the day-2 mechanic.</a:t>
            </a:r>
          </a:p>
          <a:p>
            <a:r>
              <a:t>The product is `acme.org/sovereign/product`. Day 1 references notes 1.0.0 and postgres 1.0.0. The notes team ships a patch — 1.0.0 → 1.1.0. The platform team raises the product to 1.1.0 and updates the notes reference. Postgres stays.</a:t>
            </a:r>
          </a:p>
          <a:p>
            <a:r>
              <a:t>Commit. The controller pulls the new product descriptor, verifies the signature, resolves new digests for the notes artifacts. Notes rolls forward; postgres is untouched.</a:t>
            </a:r>
          </a:p>
          <a:p>
            <a:r>
              <a:t>Differentiator for the security architect: every digest in 1.1.0 is pinned by the signature. Verified before the cluster is touched. `helm upgrade` cannot promise that.</a:t>
            </a:r>
          </a:p>
          <a:p>
            <a:r>
              <a:t>Bump the product. The references follow.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paths to a first OCM component. Both tested in conformance on every release. Both fit an afternoon on a laptop.</a:t>
            </a:r>
          </a:p>
          <a:p>
            <a:r>
              <a:t>• From zero — CLI. No cluster needed. Install CLI. Take one component you already ship. Write the constructor. Pack. Sign with RSA. Export as CTF. Carry to a second machine. Import. Verify. Round trip in 30 minutes. Recommend this first.</a:t>
            </a:r>
          </a:p>
          <a:p>
            <a:r>
              <a:t>• On your cluster — controllers. Four K8s deployments, helm-install on any cluster. Point at your registry. Apply a Component resource — verified and reconciling.</a:t>
            </a:r>
          </a:p>
          <a:p>
            <a:r>
              <a:t>Both paths coexist with what you already run — cosign, Argo, Flux, Kyverno. OCM signs the descriptor; your existing controls stay in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slide that earns trust. Deliver straight; do not soften.</a:t>
            </a:r>
          </a:p>
          <a:p>
            <a:r>
              <a:t>• Transfer defaults — copies only the descriptor. For air-gap, pass --copy-resources so the bytes travel too.</a:t>
            </a:r>
          </a:p>
          <a:p>
            <a:r>
              <a:t>• Controllers v1alpha1 — CRD shapes for Repository/Component/Resource/Deployer are stabilising but still v1alpha1. Pin minor versions in your platform install.</a:t>
            </a:r>
          </a:p>
          <a:p>
            <a:r>
              <a:t>Honest now beats apologetic later. If any edge is a deal-breaker, tell us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ask. Three doors.</a:t>
            </a:r>
          </a:p>
          <a:p>
            <a:r>
              <a:t>• Try it — `ocm.software`. Install the CLI, walk the getting-started, pack one of your own. You will know within an afternoon if OCM fits.</a:t>
            </a:r>
          </a:p>
          <a:p>
            <a:r>
              <a:t>• Build with us — `github.com/open-component-model`. Spec, implementation, conformance suite, roadmap. All in the open. File issues; tell us what you build on top.</a:t>
            </a:r>
          </a:p>
          <a:p>
            <a:r>
              <a:t>• Talk to us — `#open-component-model` on the CNCF Slack. Maintainers, customers, foundation governance.</a:t>
            </a:r>
          </a:p>
          <a:p>
            <a:r>
              <a:t>Not selling OCM. Stewarding a standard under NeoNephos Foundation governance. The more voices while it is being shaped, the better the standard gets.</a:t>
            </a:r>
          </a:p>
          <a:p>
            <a:r>
              <a:t>Ship the release as one unit. Thank you —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title" preserve="1" userDrawn="1">
  <p:cSld name="Hero">
    <p:bg>
      <p:bgPr>
        <a:solidFill>
          <a:srgbClr val="0A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ro Title Line 1"/>
          <p:cNvSpPr>
            <a:spLocks noGrp="1"/>
          </p:cNvSpPr>
          <p:nvPr>
            <p:ph type="title" idx="1"/>
          </p:nvPr>
        </p:nvSpPr>
        <p:spPr>
          <a:xfrm>
            <a:off x="914400" y="1714500"/>
            <a:ext cx="17373600" cy="1524000"/>
          </a:xfrm>
          <a:prstGeom prst="rect">
            <a:avLst/>
          </a:prstGeom>
        </p:spPr>
        <p:txBody>
          <a:bodyPr wrap="square" rtlCol="0" anchor="t" lIns="0" tIns="0" rIns="0" bIns="0">
            <a:noAutofit/>
          </a:bodyPr>
          <a:lstStyle>
            <a:lvl1pPr marL="0" indent="0" algn="l">
              <a:buNone/>
              <a:defRPr sz="11500" b="1">
                <a:solidFill>
                  <a:srgbClr val="FFFFFF"/>
                </a:solidFill>
                <a:latin typeface="Aptos Display"/>
              </a:defRPr>
            </a:lvl1pPr>
          </a:lstStyle>
          <a:p>
            <a:r>
              <a:rPr lang="en-US"/>
              <a:t>Secure Delivery for</a:t>
            </a:r>
            <a:endParaRPr lang="en-US"/>
          </a:p>
        </p:txBody>
      </p:sp>
      <p:sp>
        <p:nvSpPr>
          <p:cNvPr id="11" name="Hero Title Line 2"/>
          <p:cNvSpPr>
            <a:spLocks noGrp="1"/>
          </p:cNvSpPr>
          <p:nvPr>
            <p:ph type="body" idx="2"/>
          </p:nvPr>
        </p:nvSpPr>
        <p:spPr>
          <a:xfrm>
            <a:off x="914400" y="3286125"/>
            <a:ext cx="17373600" cy="1524000"/>
          </a:xfrm>
          <a:prstGeom prst="rect">
            <a:avLst/>
          </a:prstGeom>
        </p:spPr>
        <p:txBody>
          <a:bodyPr wrap="square" rtlCol="0" anchor="t" lIns="0" tIns="0" rIns="0" bIns="0">
            <a:noAutofit/>
          </a:bodyPr>
          <a:lstStyle>
            <a:lvl1pPr marL="0" indent="0" algn="l">
              <a:buNone/>
              <a:defRPr sz="11500" b="1">
                <a:solidFill>
                  <a:srgbClr val="5CD6FF"/>
                </a:solidFill>
                <a:latin typeface="Aptos Display"/>
              </a:defRPr>
            </a:lvl1pPr>
          </a:lstStyle>
          <a:p>
            <a:r>
              <a:rPr lang="en-US"/>
              <a:t>Sovereign Clouds</a:t>
            </a:r>
            <a:endParaRPr lang="en-US"/>
          </a:p>
        </p:txBody>
      </p:sp>
      <p:sp>
        <p:nvSpPr>
          <p:cNvPr id="12" name="Hero Subtitle"/>
          <p:cNvSpPr>
            <a:spLocks noGrp="1"/>
          </p:cNvSpPr>
          <p:nvPr>
            <p:ph type="body" idx="3"/>
          </p:nvPr>
        </p:nvSpPr>
        <p:spPr>
          <a:xfrm>
            <a:off x="914400" y="5334000"/>
            <a:ext cx="16192500" cy="857250"/>
          </a:xfrm>
          <a:prstGeom prst="rect">
            <a:avLst/>
          </a:prstGeom>
        </p:spPr>
        <p:txBody>
          <a:bodyPr wrap="square" rtlCol="0" anchor="t" lIns="0" tIns="0" rIns="0" bIns="0">
            <a:noAutofit/>
          </a:bodyPr>
          <a:lstStyle>
            <a:lvl1pPr marL="0" indent="0" algn="l">
              <a:lnSpc>
                <a:spcPct val="114999"/>
              </a:lnSpc>
              <a:buNone/>
              <a:defRPr sz="3500">
                <a:solidFill>
                  <a:srgbClr val="5CD6FF"/>
                </a:solidFill>
                <a:latin typeface="Aptos"/>
              </a:defRPr>
            </a:lvl1pPr>
          </a:lstStyle>
          <a:p>
            <a:r>
              <a:rPr lang="en-US"/>
              <a:t>Subtitle — one sentence describing the deck.</a:t>
            </a:r>
            <a:endParaRPr lang="en-US"/>
          </a:p>
        </p:txBody>
      </p:sp>
      <p:sp>
        <p:nvSpPr>
          <p:cNvPr id="13" name="Hero Org Line"/>
          <p:cNvSpPr>
            <a:spLocks noGrp="1"/>
          </p:cNvSpPr>
          <p:nvPr>
            <p:ph type="body" idx="4"/>
          </p:nvPr>
        </p:nvSpPr>
        <p:spPr>
          <a:xfrm>
            <a:off x="914400" y="6572250"/>
            <a:ext cx="16192500" cy="571500"/>
          </a:xfrm>
          <a:prstGeom prst="rect">
            <a:avLst/>
          </a:prstGeom>
        </p:spPr>
        <p:txBody>
          <a:bodyPr wrap="square" rtlCol="0" anchor="t" lIns="0" tIns="0" rIns="0" bIns="0">
            <a:noAutofit/>
          </a:bodyPr>
          <a:lstStyle>
            <a:lvl1pPr marL="0" indent="0" algn="l">
              <a:buNone/>
              <a:defRPr sz="2800">
                <a:solidFill>
                  <a:srgbClr val="FFFFFF"/>
                </a:solidFill>
                <a:latin typeface="Aptos"/>
              </a:defRPr>
            </a:lvl1pPr>
          </a:lstStyle>
          <a:p>
            <a:r>
              <a:rPr lang="en-US"/>
              <a:t>Open Component Model — open source, NeoNephos Foundation.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 userDrawn="1">
  <p:cSld name="CTA">
    <p:bg>
      <p:bgPr>
        <a:solidFill>
          <a:srgbClr val="0A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TA Title"/>
          <p:cNvSpPr>
            <a:spLocks noGrp="1"/>
          </p:cNvSpPr>
          <p:nvPr>
            <p:ph type="title" idx="1"/>
          </p:nvPr>
        </p:nvSpPr>
        <p:spPr>
          <a:xfrm>
            <a:off x="914400" y="3048000"/>
            <a:ext cx="16192500" cy="952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6400" b="1">
                <a:solidFill>
                  <a:srgbClr val="FFFFFF"/>
                </a:solidFill>
                <a:latin typeface="Aptos Display"/>
              </a:defRPr>
            </a:lvl1pPr>
          </a:lstStyle>
          <a:p>
            <a:r>
              <a:rPr lang="en-US"/>
              <a:t>Call to action</a:t>
            </a:r>
            <a:endParaRPr lang="en-US"/>
          </a:p>
        </p:txBody>
      </p:sp>
      <p:sp>
        <p:nvSpPr>
          <p:cNvPr id="11" name="CTA Body"/>
          <p:cNvSpPr>
            <a:spLocks noGrp="1"/>
          </p:cNvSpPr>
          <p:nvPr>
            <p:ph type="body" idx="2"/>
          </p:nvPr>
        </p:nvSpPr>
        <p:spPr>
          <a:xfrm>
            <a:off x="914400" y="4381500"/>
            <a:ext cx="16192500" cy="38100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500">
                <a:solidFill>
                  <a:srgbClr val="FFFFFF"/>
                </a:solidFill>
                <a:latin typeface="Aptos"/>
              </a:defRPr>
            </a:lvl1pPr>
          </a:lstStyle>
          <a:p>
            <a:r>
              <a:rPr lang="en-US"/>
              <a:t>Three-line CTA bullets go here.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 userDrawn="1">
  <p:cSld name="Content /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"/>
          </p:nvPr>
        </p:nvSpPr>
        <p:spPr>
          <a:xfrm>
            <a:off x="1143000" y="2428875"/>
            <a:ext cx="16002000" cy="4572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3200" b="1" cap="all" spc="14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EYEBROW</a:t>
            </a:r>
            <a:endParaRPr lang="en-US"/>
          </a:p>
        </p:txBody>
      </p:sp>
      <p:sp>
        <p:nvSpPr>
          <p:cNvPr id="11" name="Title"/>
          <p:cNvSpPr>
            <a:spLocks noGrp="1"/>
          </p:cNvSpPr>
          <p:nvPr>
            <p:ph type="title" idx="2"/>
          </p:nvPr>
        </p:nvSpPr>
        <p:spPr>
          <a:xfrm>
            <a:off x="1143000" y="2933700"/>
            <a:ext cx="16002000" cy="19050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lnSpc>
                <a:spcPct val="90000"/>
              </a:lnSpc>
              <a:buNone/>
              <a:defRPr sz="7400" b="1">
                <a:solidFill>
                  <a:srgbClr val="000000"/>
                </a:solidFill>
                <a:latin typeface="Aptos Display"/>
              </a:defRPr>
            </a:lvl1pPr>
          </a:lstStyle>
          <a:p>
            <a:r>
              <a:rPr lang="en-US"/>
              <a:t>Section title goes here.</a:t>
            </a:r>
            <a:endParaRPr lang="en-US"/>
          </a:p>
        </p:txBody>
      </p:sp>
      <p:sp>
        <p:nvSpPr>
          <p:cNvPr id="12" name="Col1 Rule"/>
          <p:cNvSpPr/>
          <p:nvPr/>
        </p:nvSpPr>
        <p:spPr>
          <a:xfrm>
            <a:off x="1143000" y="4953000"/>
            <a:ext cx="4972050" cy="38100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Col1 Header"/>
          <p:cNvSpPr>
            <a:spLocks noGrp="1"/>
          </p:cNvSpPr>
          <p:nvPr>
            <p:ph type="body" idx="10"/>
          </p:nvPr>
        </p:nvSpPr>
        <p:spPr>
          <a:xfrm>
            <a:off x="1143000" y="5105400"/>
            <a:ext cx="4972050" cy="533400"/>
          </a:xfrm>
          <a:prstGeom prst="rect">
            <a:avLst/>
          </a:prstGeom>
        </p:spPr>
        <p:txBody>
          <a:bodyPr wrap="square" rtlCol="0" anchor="t" lIns="0" tIns="0" rIns="0" bIns="0">
            <a:noAutofit/>
          </a:bodyPr>
          <a:lstStyle>
            <a:lvl1pPr marL="0" indent="0" algn="l">
              <a:buNone/>
              <a:defRPr sz="2300" b="1" cap="all" spc="13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COLUMN 1 HEADER</a:t>
            </a:r>
            <a:endParaRPr lang="en-US"/>
          </a:p>
        </p:txBody>
      </p:sp>
      <p:sp>
        <p:nvSpPr>
          <p:cNvPr id="14" name="Col1 Body"/>
          <p:cNvSpPr>
            <a:spLocks noGrp="1"/>
          </p:cNvSpPr>
          <p:nvPr>
            <p:ph type="body" idx="11"/>
          </p:nvPr>
        </p:nvSpPr>
        <p:spPr>
          <a:xfrm>
            <a:off x="1143000" y="5753100"/>
            <a:ext cx="4972050" cy="4381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Column 1 body. Replace with one or two short sentences.</a:t>
            </a:r>
            <a:endParaRPr lang="en-US"/>
          </a:p>
        </p:txBody>
      </p:sp>
      <p:sp>
        <p:nvSpPr>
          <p:cNvPr id="15" name="Col2 Rule"/>
          <p:cNvSpPr/>
          <p:nvPr/>
        </p:nvSpPr>
        <p:spPr>
          <a:xfrm>
            <a:off x="6648450" y="4953000"/>
            <a:ext cx="4972050" cy="38100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Col2 Header"/>
          <p:cNvSpPr>
            <a:spLocks noGrp="1"/>
          </p:cNvSpPr>
          <p:nvPr>
            <p:ph type="body" idx="12"/>
          </p:nvPr>
        </p:nvSpPr>
        <p:spPr>
          <a:xfrm>
            <a:off x="6648450" y="5105400"/>
            <a:ext cx="4972050" cy="533400"/>
          </a:xfrm>
          <a:prstGeom prst="rect">
            <a:avLst/>
          </a:prstGeom>
        </p:spPr>
        <p:txBody>
          <a:bodyPr wrap="square" rtlCol="0" anchor="t" lIns="0" tIns="0" rIns="0" bIns="0">
            <a:noAutofit/>
          </a:bodyPr>
          <a:lstStyle>
            <a:lvl1pPr marL="0" indent="0" algn="l">
              <a:buNone/>
              <a:defRPr sz="2300" b="1" cap="all" spc="13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COLUMN 2 HEADER</a:t>
            </a:r>
            <a:endParaRPr lang="en-US"/>
          </a:p>
        </p:txBody>
      </p:sp>
      <p:sp>
        <p:nvSpPr>
          <p:cNvPr id="17" name="Col2 Body"/>
          <p:cNvSpPr>
            <a:spLocks noGrp="1"/>
          </p:cNvSpPr>
          <p:nvPr>
            <p:ph type="body" idx="13"/>
          </p:nvPr>
        </p:nvSpPr>
        <p:spPr>
          <a:xfrm>
            <a:off x="6648450" y="5753100"/>
            <a:ext cx="4972050" cy="4381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Column 2 body. Replace with one or two short sentences.</a:t>
            </a:r>
            <a:endParaRPr lang="en-US"/>
          </a:p>
        </p:txBody>
      </p:sp>
      <p:sp>
        <p:nvSpPr>
          <p:cNvPr id="18" name="Col3 Rule"/>
          <p:cNvSpPr/>
          <p:nvPr/>
        </p:nvSpPr>
        <p:spPr>
          <a:xfrm>
            <a:off x="12153900" y="4953000"/>
            <a:ext cx="4972050" cy="38100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Col3 Header"/>
          <p:cNvSpPr>
            <a:spLocks noGrp="1"/>
          </p:cNvSpPr>
          <p:nvPr>
            <p:ph type="body" idx="14"/>
          </p:nvPr>
        </p:nvSpPr>
        <p:spPr>
          <a:xfrm>
            <a:off x="12153900" y="5105400"/>
            <a:ext cx="4972050" cy="533400"/>
          </a:xfrm>
          <a:prstGeom prst="rect">
            <a:avLst/>
          </a:prstGeom>
        </p:spPr>
        <p:txBody>
          <a:bodyPr wrap="square" rtlCol="0" anchor="t" lIns="0" tIns="0" rIns="0" bIns="0">
            <a:noAutofit/>
          </a:bodyPr>
          <a:lstStyle>
            <a:lvl1pPr marL="0" indent="0" algn="l">
              <a:buNone/>
              <a:defRPr sz="2300" b="1" cap="all" spc="13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COLUMN 3 HEADER</a:t>
            </a:r>
            <a:endParaRPr lang="en-US"/>
          </a:p>
        </p:txBody>
      </p:sp>
      <p:sp>
        <p:nvSpPr>
          <p:cNvPr id="20" name="Col3 Body"/>
          <p:cNvSpPr>
            <a:spLocks noGrp="1"/>
          </p:cNvSpPr>
          <p:nvPr>
            <p:ph type="body" idx="15"/>
          </p:nvPr>
        </p:nvSpPr>
        <p:spPr>
          <a:xfrm>
            <a:off x="12153900" y="5753100"/>
            <a:ext cx="4972050" cy="4381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Column 3 body. Replace with one or two short sentences.</a:t>
            </a:r>
            <a:endParaRPr lang="en-US"/>
          </a:p>
        </p:txBody>
      </p:sp>
      <p:sp>
        <p:nvSpPr>
          <p:cNvPr id="21" name="Footer"/>
          <p:cNvSpPr>
            <a:spLocks noGrp="1"/>
          </p:cNvSpPr>
          <p:nvPr/>
        </p:nvSpPr>
        <p:spPr>
          <a:xfrm>
            <a:off x="1143000" y="9982200"/>
            <a:ext cx="16002000" cy="2286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1000" cap="all" spc="50">
                <a:solidFill>
                  <a:srgbClr val="6B7280"/>
                </a:solidFill>
                <a:latin typeface="Aptos"/>
              </a:defRPr>
            </a:lvl1pPr>
          </a:lstStyle>
          <a:p>
            <a:r>
              <a:rPr lang="en-US"/>
              <a:t>OPEN COMPONENT MODEL · OCM.SOFTWARE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 userDrawn="1">
  <p:cSld name="Content / 3-Column Tall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"/>
          </p:nvPr>
        </p:nvSpPr>
        <p:spPr>
          <a:xfrm>
            <a:off x="1143000" y="2428875"/>
            <a:ext cx="16002000" cy="4572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3200" b="1" cap="all" spc="14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EYEBROW</a:t>
            </a:r>
            <a:endParaRPr lang="en-US"/>
          </a:p>
        </p:txBody>
      </p:sp>
      <p:sp>
        <p:nvSpPr>
          <p:cNvPr id="11" name="Title"/>
          <p:cNvSpPr>
            <a:spLocks noGrp="1"/>
          </p:cNvSpPr>
          <p:nvPr>
            <p:ph type="title" idx="2"/>
          </p:nvPr>
        </p:nvSpPr>
        <p:spPr>
          <a:xfrm>
            <a:off x="1143000" y="2933700"/>
            <a:ext cx="16002000" cy="2857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lnSpc>
                <a:spcPct val="90000"/>
              </a:lnSpc>
              <a:buNone/>
              <a:defRPr sz="7400" b="1">
                <a:solidFill>
                  <a:srgbClr val="000000"/>
                </a:solidFill>
                <a:latin typeface="Aptos Display"/>
              </a:defRPr>
            </a:lvl1pPr>
          </a:lstStyle>
          <a:p>
            <a:r>
              <a:rPr lang="en-US"/>
              <a:t>Two-line section title goes here.</a:t>
            </a:r>
            <a:endParaRPr lang="en-US"/>
          </a:p>
        </p:txBody>
      </p:sp>
      <p:sp>
        <p:nvSpPr>
          <p:cNvPr id="12" name="Col1 Rule"/>
          <p:cNvSpPr/>
          <p:nvPr/>
        </p:nvSpPr>
        <p:spPr>
          <a:xfrm>
            <a:off x="1143000" y="5905500"/>
            <a:ext cx="4972050" cy="38100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Col1 Header"/>
          <p:cNvSpPr>
            <a:spLocks noGrp="1"/>
          </p:cNvSpPr>
          <p:nvPr>
            <p:ph type="body" idx="10"/>
          </p:nvPr>
        </p:nvSpPr>
        <p:spPr>
          <a:xfrm>
            <a:off x="1143000" y="6057900"/>
            <a:ext cx="4972050" cy="533400"/>
          </a:xfrm>
          <a:prstGeom prst="rect">
            <a:avLst/>
          </a:prstGeom>
        </p:spPr>
        <p:txBody>
          <a:bodyPr wrap="square" rtlCol="0" anchor="t" lIns="0" tIns="0" rIns="0" bIns="0">
            <a:noAutofit/>
          </a:bodyPr>
          <a:lstStyle>
            <a:lvl1pPr marL="0" indent="0" algn="l">
              <a:buNone/>
              <a:defRPr sz="2300" b="1" cap="all" spc="13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COLUMN 1 HEADER</a:t>
            </a:r>
            <a:endParaRPr lang="en-US"/>
          </a:p>
        </p:txBody>
      </p:sp>
      <p:sp>
        <p:nvSpPr>
          <p:cNvPr id="14" name="Col1 Body"/>
          <p:cNvSpPr>
            <a:spLocks noGrp="1"/>
          </p:cNvSpPr>
          <p:nvPr>
            <p:ph type="body" idx="11"/>
          </p:nvPr>
        </p:nvSpPr>
        <p:spPr>
          <a:xfrm>
            <a:off x="1143000" y="6705600"/>
            <a:ext cx="4972050" cy="3619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Column 1 body. Replace with one or two short sentences.</a:t>
            </a:r>
            <a:endParaRPr lang="en-US"/>
          </a:p>
        </p:txBody>
      </p:sp>
      <p:sp>
        <p:nvSpPr>
          <p:cNvPr id="15" name="Col2 Rule"/>
          <p:cNvSpPr/>
          <p:nvPr/>
        </p:nvSpPr>
        <p:spPr>
          <a:xfrm>
            <a:off x="6648450" y="5905500"/>
            <a:ext cx="4972050" cy="38100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Col2 Header"/>
          <p:cNvSpPr>
            <a:spLocks noGrp="1"/>
          </p:cNvSpPr>
          <p:nvPr>
            <p:ph type="body" idx="12"/>
          </p:nvPr>
        </p:nvSpPr>
        <p:spPr>
          <a:xfrm>
            <a:off x="6648450" y="6057900"/>
            <a:ext cx="4972050" cy="533400"/>
          </a:xfrm>
          <a:prstGeom prst="rect">
            <a:avLst/>
          </a:prstGeom>
        </p:spPr>
        <p:txBody>
          <a:bodyPr wrap="square" rtlCol="0" anchor="t" lIns="0" tIns="0" rIns="0" bIns="0">
            <a:noAutofit/>
          </a:bodyPr>
          <a:lstStyle>
            <a:lvl1pPr marL="0" indent="0" algn="l">
              <a:buNone/>
              <a:defRPr sz="2300" b="1" cap="all" spc="13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COLUMN 2 HEADER</a:t>
            </a:r>
            <a:endParaRPr lang="en-US"/>
          </a:p>
        </p:txBody>
      </p:sp>
      <p:sp>
        <p:nvSpPr>
          <p:cNvPr id="17" name="Col2 Body"/>
          <p:cNvSpPr>
            <a:spLocks noGrp="1"/>
          </p:cNvSpPr>
          <p:nvPr>
            <p:ph type="body" idx="13"/>
          </p:nvPr>
        </p:nvSpPr>
        <p:spPr>
          <a:xfrm>
            <a:off x="6648450" y="6705600"/>
            <a:ext cx="4972050" cy="3619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Column 2 body. Replace with one or two short sentences.</a:t>
            </a:r>
            <a:endParaRPr lang="en-US"/>
          </a:p>
        </p:txBody>
      </p:sp>
      <p:sp>
        <p:nvSpPr>
          <p:cNvPr id="18" name="Col3 Rule"/>
          <p:cNvSpPr/>
          <p:nvPr/>
        </p:nvSpPr>
        <p:spPr>
          <a:xfrm>
            <a:off x="12153900" y="5905500"/>
            <a:ext cx="4972050" cy="38100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Col3 Header"/>
          <p:cNvSpPr>
            <a:spLocks noGrp="1"/>
          </p:cNvSpPr>
          <p:nvPr>
            <p:ph type="body" idx="14"/>
          </p:nvPr>
        </p:nvSpPr>
        <p:spPr>
          <a:xfrm>
            <a:off x="12153900" y="6057900"/>
            <a:ext cx="4972050" cy="533400"/>
          </a:xfrm>
          <a:prstGeom prst="rect">
            <a:avLst/>
          </a:prstGeom>
        </p:spPr>
        <p:txBody>
          <a:bodyPr wrap="square" rtlCol="0" anchor="t" lIns="0" tIns="0" rIns="0" bIns="0">
            <a:noAutofit/>
          </a:bodyPr>
          <a:lstStyle>
            <a:lvl1pPr marL="0" indent="0" algn="l">
              <a:buNone/>
              <a:defRPr sz="2300" b="1" cap="all" spc="13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COLUMN 3 HEADER</a:t>
            </a:r>
            <a:endParaRPr lang="en-US"/>
          </a:p>
        </p:txBody>
      </p:sp>
      <p:sp>
        <p:nvSpPr>
          <p:cNvPr id="20" name="Col3 Body"/>
          <p:cNvSpPr>
            <a:spLocks noGrp="1"/>
          </p:cNvSpPr>
          <p:nvPr>
            <p:ph type="body" idx="15"/>
          </p:nvPr>
        </p:nvSpPr>
        <p:spPr>
          <a:xfrm>
            <a:off x="12153900" y="6705600"/>
            <a:ext cx="4972050" cy="3619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Column 3 body. Replace with one or two short sentences.</a:t>
            </a:r>
            <a:endParaRPr lang="en-US"/>
          </a:p>
        </p:txBody>
      </p:sp>
      <p:sp>
        <p:nvSpPr>
          <p:cNvPr id="21" name="Footer"/>
          <p:cNvSpPr>
            <a:spLocks noGrp="1"/>
          </p:cNvSpPr>
          <p:nvPr/>
        </p:nvSpPr>
        <p:spPr>
          <a:xfrm>
            <a:off x="1143000" y="9982200"/>
            <a:ext cx="16002000" cy="2286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1000" cap="all" spc="50">
                <a:solidFill>
                  <a:srgbClr val="6B7280"/>
                </a:solidFill>
                <a:latin typeface="Aptos"/>
              </a:defRPr>
            </a:lvl1pPr>
          </a:lstStyle>
          <a:p>
            <a:r>
              <a:rPr lang="en-US"/>
              <a:t>OPEN COMPONENT MODEL · OCM.SOFTWARE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 userDrawn="1">
  <p:cSld name="Content /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"/>
          </p:nvPr>
        </p:nvSpPr>
        <p:spPr>
          <a:xfrm>
            <a:off x="1143000" y="714375"/>
            <a:ext cx="16002000" cy="4572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3200" b="1" cap="all" spc="14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EYEBROW</a:t>
            </a:r>
            <a:endParaRPr lang="en-US"/>
          </a:p>
        </p:txBody>
      </p:sp>
      <p:sp>
        <p:nvSpPr>
          <p:cNvPr id="11" name="Title"/>
          <p:cNvSpPr>
            <a:spLocks noGrp="1"/>
          </p:cNvSpPr>
          <p:nvPr>
            <p:ph type="title" idx="2"/>
          </p:nvPr>
        </p:nvSpPr>
        <p:spPr>
          <a:xfrm>
            <a:off x="1143000" y="1219200"/>
            <a:ext cx="16002000" cy="7620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lnSpc>
                <a:spcPct val="90000"/>
              </a:lnSpc>
              <a:buNone/>
              <a:defRPr sz="7400" b="1">
                <a:solidFill>
                  <a:srgbClr val="000000"/>
                </a:solidFill>
                <a:latin typeface="Aptos Display"/>
              </a:defRPr>
            </a:lvl1pPr>
          </a:lstStyle>
          <a:p>
            <a:r>
              <a:rPr lang="en-US"/>
              <a:t>Section title goes here.</a:t>
            </a:r>
            <a:endParaRPr lang="en-US"/>
          </a:p>
        </p:txBody>
      </p:sp>
      <p:sp>
        <p:nvSpPr>
          <p:cNvPr id="12" name="Diagram"/>
          <p:cNvSpPr>
            <a:spLocks noGrp="1"/>
          </p:cNvSpPr>
          <p:nvPr>
            <p:ph type="pic" idx="10"/>
          </p:nvPr>
        </p:nvSpPr>
        <p:spPr>
          <a:xfrm>
            <a:off x="571500" y="2286000"/>
            <a:ext cx="17145000" cy="7429500"/>
          </a:xfrm>
          <a:prstGeom prst="rect">
            <a:avLst/>
          </a:prstGeom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Footer"/>
          <p:cNvSpPr>
            <a:spLocks noGrp="1"/>
          </p:cNvSpPr>
          <p:nvPr/>
        </p:nvSpPr>
        <p:spPr>
          <a:xfrm>
            <a:off x="1143000" y="9982200"/>
            <a:ext cx="16002000" cy="2286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1000" cap="all" spc="50">
                <a:solidFill>
                  <a:srgbClr val="6B7280"/>
                </a:solidFill>
                <a:latin typeface="Aptos"/>
              </a:defRPr>
            </a:lvl1pPr>
          </a:lstStyle>
          <a:p>
            <a:r>
              <a:rPr lang="en-US"/>
              <a:t>OPEN COMPONENT MODEL · OCM.SOFTWARE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 userDrawn="1">
  <p:cSld name="Content / Diagram Compac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"/>
          </p:nvPr>
        </p:nvSpPr>
        <p:spPr>
          <a:xfrm>
            <a:off x="1143000" y="762000"/>
            <a:ext cx="16002000" cy="3810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600" b="1" cap="all" spc="14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EYEBROW</a:t>
            </a:r>
            <a:endParaRPr lang="en-US"/>
          </a:p>
        </p:txBody>
      </p:sp>
      <p:sp>
        <p:nvSpPr>
          <p:cNvPr id="11" name="Title"/>
          <p:cNvSpPr>
            <a:spLocks noGrp="1"/>
          </p:cNvSpPr>
          <p:nvPr>
            <p:ph type="title" idx="2"/>
          </p:nvPr>
        </p:nvSpPr>
        <p:spPr>
          <a:xfrm>
            <a:off x="1143000" y="1238250"/>
            <a:ext cx="16002000" cy="952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lnSpc>
                <a:spcPct val="90000"/>
              </a:lnSpc>
              <a:buNone/>
              <a:defRPr sz="5600" b="1">
                <a:solidFill>
                  <a:srgbClr val="000000"/>
                </a:solidFill>
                <a:latin typeface="Aptos Display"/>
              </a:defRPr>
            </a:lvl1pPr>
          </a:lstStyle>
          <a:p>
            <a:r>
              <a:rPr lang="en-US"/>
              <a:t>Section title goes here.</a:t>
            </a:r>
            <a:endParaRPr lang="en-US"/>
          </a:p>
        </p:txBody>
      </p:sp>
      <p:sp>
        <p:nvSpPr>
          <p:cNvPr id="12" name="Diagram"/>
          <p:cNvSpPr>
            <a:spLocks noGrp="1"/>
          </p:cNvSpPr>
          <p:nvPr>
            <p:ph type="pic" idx="10"/>
          </p:nvPr>
        </p:nvSpPr>
        <p:spPr>
          <a:xfrm>
            <a:off x="571500" y="2476500"/>
            <a:ext cx="17145000" cy="7239000"/>
          </a:xfrm>
          <a:prstGeom prst="rect">
            <a:avLst/>
          </a:prstGeom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Footer"/>
          <p:cNvSpPr>
            <a:spLocks noGrp="1"/>
          </p:cNvSpPr>
          <p:nvPr/>
        </p:nvSpPr>
        <p:spPr>
          <a:xfrm>
            <a:off x="1143000" y="9982200"/>
            <a:ext cx="16002000" cy="2286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1000" cap="all" spc="50">
                <a:solidFill>
                  <a:srgbClr val="6B7280"/>
                </a:solidFill>
                <a:latin typeface="Aptos"/>
              </a:defRPr>
            </a:lvl1pPr>
          </a:lstStyle>
          <a:p>
            <a:r>
              <a:rPr lang="en-US"/>
              <a:t>OPEN COMPONENT MODEL · OCM.SOFTWARE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 userDrawn="1">
  <p:cSld name="Content / Til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"/>
          </p:nvPr>
        </p:nvSpPr>
        <p:spPr>
          <a:xfrm>
            <a:off x="1143000" y="2428875"/>
            <a:ext cx="16002000" cy="4572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3200" b="1" cap="all" spc="14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EYEBROW</a:t>
            </a:r>
            <a:endParaRPr lang="en-US"/>
          </a:p>
        </p:txBody>
      </p:sp>
      <p:sp>
        <p:nvSpPr>
          <p:cNvPr id="11" name="Title"/>
          <p:cNvSpPr>
            <a:spLocks noGrp="1"/>
          </p:cNvSpPr>
          <p:nvPr>
            <p:ph type="title" idx="2"/>
          </p:nvPr>
        </p:nvSpPr>
        <p:spPr>
          <a:xfrm>
            <a:off x="1143000" y="2933700"/>
            <a:ext cx="16002000" cy="19050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lnSpc>
                <a:spcPct val="90000"/>
              </a:lnSpc>
              <a:buNone/>
              <a:defRPr sz="7400" b="1">
                <a:solidFill>
                  <a:srgbClr val="000000"/>
                </a:solidFill>
                <a:latin typeface="Aptos Display"/>
              </a:defRPr>
            </a:lvl1pPr>
          </a:lstStyle>
          <a:p>
            <a:r>
              <a:rPr lang="en-US"/>
              <a:t>Section title goes here.</a:t>
            </a:r>
            <a:endParaRPr lang="en-US"/>
          </a:p>
        </p:txBody>
      </p:sp>
      <p:sp>
        <p:nvSpPr>
          <p:cNvPr id="12" name="Tile1 Bg"/>
          <p:cNvSpPr/>
          <p:nvPr/>
        </p:nvSpPr>
        <p:spPr>
          <a:xfrm>
            <a:off x="1143000" y="4953000"/>
            <a:ext cx="5181600" cy="21907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le1 Rule"/>
          <p:cNvSpPr/>
          <p:nvPr/>
        </p:nvSpPr>
        <p:spPr>
          <a:xfrm>
            <a:off x="1143000" y="4953000"/>
            <a:ext cx="5181600" cy="28575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Tile1 Label"/>
          <p:cNvSpPr>
            <a:spLocks noGrp="1"/>
          </p:cNvSpPr>
          <p:nvPr>
            <p:ph type="body" idx="20"/>
          </p:nvPr>
        </p:nvSpPr>
        <p:spPr>
          <a:xfrm>
            <a:off x="1981200" y="5181600"/>
            <a:ext cx="4114800" cy="457200"/>
          </a:xfrm>
          <a:prstGeom prst="rect">
            <a:avLst/>
          </a:prstGeom>
        </p:spPr>
        <p:txBody>
          <a:bodyPr wrap="square" rtlCol="0" anchor="ctr" lIns="0" tIns="0" rIns="0" bIns="0"/>
          <a:lstStyle>
            <a:lvl1pPr marL="0" indent="0" algn="l">
              <a:buNone/>
              <a:defRPr sz="2100" b="1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Tile 1 label</a:t>
            </a:r>
            <a:endParaRPr lang="en-US"/>
          </a:p>
        </p:txBody>
      </p:sp>
      <p:sp>
        <p:nvSpPr>
          <p:cNvPr id="15" name="Tile1 Body"/>
          <p:cNvSpPr>
            <a:spLocks noGrp="1"/>
          </p:cNvSpPr>
          <p:nvPr>
            <p:ph type="body" idx="21"/>
          </p:nvPr>
        </p:nvSpPr>
        <p:spPr>
          <a:xfrm>
            <a:off x="1371600" y="5867400"/>
            <a:ext cx="4724400" cy="108585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1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One short sentence describing this tile.</a:t>
            </a:r>
            <a:endParaRPr lang="en-US"/>
          </a:p>
        </p:txBody>
      </p:sp>
      <p:sp>
        <p:nvSpPr>
          <p:cNvPr id="16" name="Tile2 Bg"/>
          <p:cNvSpPr/>
          <p:nvPr/>
        </p:nvSpPr>
        <p:spPr>
          <a:xfrm>
            <a:off x="6553200" y="4953000"/>
            <a:ext cx="5181600" cy="21907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Tile2 Rule"/>
          <p:cNvSpPr/>
          <p:nvPr/>
        </p:nvSpPr>
        <p:spPr>
          <a:xfrm>
            <a:off x="6553200" y="4953000"/>
            <a:ext cx="5181600" cy="28575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Tile2 Label"/>
          <p:cNvSpPr>
            <a:spLocks noGrp="1"/>
          </p:cNvSpPr>
          <p:nvPr>
            <p:ph type="body" idx="22"/>
          </p:nvPr>
        </p:nvSpPr>
        <p:spPr>
          <a:xfrm>
            <a:off x="7391400" y="5181600"/>
            <a:ext cx="4114800" cy="457200"/>
          </a:xfrm>
          <a:prstGeom prst="rect">
            <a:avLst/>
          </a:prstGeom>
        </p:spPr>
        <p:txBody>
          <a:bodyPr wrap="square" rtlCol="0" anchor="ctr" lIns="0" tIns="0" rIns="0" bIns="0"/>
          <a:lstStyle>
            <a:lvl1pPr marL="0" indent="0" algn="l">
              <a:buNone/>
              <a:defRPr sz="2100" b="1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Tile 2 label</a:t>
            </a:r>
            <a:endParaRPr lang="en-US"/>
          </a:p>
        </p:txBody>
      </p:sp>
      <p:sp>
        <p:nvSpPr>
          <p:cNvPr id="19" name="Tile2 Body"/>
          <p:cNvSpPr>
            <a:spLocks noGrp="1"/>
          </p:cNvSpPr>
          <p:nvPr>
            <p:ph type="body" idx="23"/>
          </p:nvPr>
        </p:nvSpPr>
        <p:spPr>
          <a:xfrm>
            <a:off x="6781800" y="5867400"/>
            <a:ext cx="4724400" cy="108585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1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One short sentence describing this tile.</a:t>
            </a:r>
            <a:endParaRPr lang="en-US"/>
          </a:p>
        </p:txBody>
      </p:sp>
      <p:sp>
        <p:nvSpPr>
          <p:cNvPr id="20" name="Tile3 Bg"/>
          <p:cNvSpPr/>
          <p:nvPr/>
        </p:nvSpPr>
        <p:spPr>
          <a:xfrm>
            <a:off x="11963400" y="4953000"/>
            <a:ext cx="5181600" cy="21907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Tile3 Rule"/>
          <p:cNvSpPr/>
          <p:nvPr/>
        </p:nvSpPr>
        <p:spPr>
          <a:xfrm>
            <a:off x="11963400" y="4953000"/>
            <a:ext cx="5181600" cy="28575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Tile3 Label"/>
          <p:cNvSpPr>
            <a:spLocks noGrp="1"/>
          </p:cNvSpPr>
          <p:nvPr>
            <p:ph type="body" idx="24"/>
          </p:nvPr>
        </p:nvSpPr>
        <p:spPr>
          <a:xfrm>
            <a:off x="12801600" y="5181600"/>
            <a:ext cx="4114800" cy="457200"/>
          </a:xfrm>
          <a:prstGeom prst="rect">
            <a:avLst/>
          </a:prstGeom>
        </p:spPr>
        <p:txBody>
          <a:bodyPr wrap="square" rtlCol="0" anchor="ctr" lIns="0" tIns="0" rIns="0" bIns="0"/>
          <a:lstStyle>
            <a:lvl1pPr marL="0" indent="0" algn="l">
              <a:buNone/>
              <a:defRPr sz="2100" b="1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Tile 3 label</a:t>
            </a:r>
            <a:endParaRPr lang="en-US"/>
          </a:p>
        </p:txBody>
      </p:sp>
      <p:sp>
        <p:nvSpPr>
          <p:cNvPr id="23" name="Tile3 Body"/>
          <p:cNvSpPr>
            <a:spLocks noGrp="1"/>
          </p:cNvSpPr>
          <p:nvPr>
            <p:ph type="body" idx="25"/>
          </p:nvPr>
        </p:nvSpPr>
        <p:spPr>
          <a:xfrm>
            <a:off x="12192000" y="5867400"/>
            <a:ext cx="4724400" cy="108585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1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One short sentence describing this tile.</a:t>
            </a:r>
            <a:endParaRPr lang="en-US"/>
          </a:p>
        </p:txBody>
      </p:sp>
      <p:sp>
        <p:nvSpPr>
          <p:cNvPr id="24" name="Tile4 Bg"/>
          <p:cNvSpPr/>
          <p:nvPr/>
        </p:nvSpPr>
        <p:spPr>
          <a:xfrm>
            <a:off x="1143000" y="7372350"/>
            <a:ext cx="5181600" cy="21907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Tile4 Rule"/>
          <p:cNvSpPr/>
          <p:nvPr/>
        </p:nvSpPr>
        <p:spPr>
          <a:xfrm>
            <a:off x="1143000" y="7372350"/>
            <a:ext cx="5181600" cy="28575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Tile4 Label"/>
          <p:cNvSpPr>
            <a:spLocks noGrp="1"/>
          </p:cNvSpPr>
          <p:nvPr>
            <p:ph type="body" idx="26"/>
          </p:nvPr>
        </p:nvSpPr>
        <p:spPr>
          <a:xfrm>
            <a:off x="1981200" y="7600950"/>
            <a:ext cx="4114800" cy="457200"/>
          </a:xfrm>
          <a:prstGeom prst="rect">
            <a:avLst/>
          </a:prstGeom>
        </p:spPr>
        <p:txBody>
          <a:bodyPr wrap="square" rtlCol="0" anchor="ctr" lIns="0" tIns="0" rIns="0" bIns="0"/>
          <a:lstStyle>
            <a:lvl1pPr marL="0" indent="0" algn="l">
              <a:buNone/>
              <a:defRPr sz="2100" b="1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Tile 4 label</a:t>
            </a:r>
            <a:endParaRPr lang="en-US"/>
          </a:p>
        </p:txBody>
      </p:sp>
      <p:sp>
        <p:nvSpPr>
          <p:cNvPr id="27" name="Tile4 Body"/>
          <p:cNvSpPr>
            <a:spLocks noGrp="1"/>
          </p:cNvSpPr>
          <p:nvPr>
            <p:ph type="body" idx="27"/>
          </p:nvPr>
        </p:nvSpPr>
        <p:spPr>
          <a:xfrm>
            <a:off x="1371600" y="8286750"/>
            <a:ext cx="4724400" cy="108585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1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One short sentence describing this tile.</a:t>
            </a:r>
            <a:endParaRPr lang="en-US"/>
          </a:p>
        </p:txBody>
      </p:sp>
      <p:sp>
        <p:nvSpPr>
          <p:cNvPr id="28" name="Tile5 Bg"/>
          <p:cNvSpPr/>
          <p:nvPr/>
        </p:nvSpPr>
        <p:spPr>
          <a:xfrm>
            <a:off x="6553200" y="7372350"/>
            <a:ext cx="5181600" cy="21907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Tile5 Rule"/>
          <p:cNvSpPr/>
          <p:nvPr/>
        </p:nvSpPr>
        <p:spPr>
          <a:xfrm>
            <a:off x="6553200" y="7372350"/>
            <a:ext cx="5181600" cy="28575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Tile5 Label"/>
          <p:cNvSpPr>
            <a:spLocks noGrp="1"/>
          </p:cNvSpPr>
          <p:nvPr>
            <p:ph type="body" idx="28"/>
          </p:nvPr>
        </p:nvSpPr>
        <p:spPr>
          <a:xfrm>
            <a:off x="7391400" y="7600950"/>
            <a:ext cx="4114800" cy="457200"/>
          </a:xfrm>
          <a:prstGeom prst="rect">
            <a:avLst/>
          </a:prstGeom>
        </p:spPr>
        <p:txBody>
          <a:bodyPr wrap="square" rtlCol="0" anchor="ctr" lIns="0" tIns="0" rIns="0" bIns="0"/>
          <a:lstStyle>
            <a:lvl1pPr marL="0" indent="0" algn="l">
              <a:buNone/>
              <a:defRPr sz="2100" b="1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Tile 5 label</a:t>
            </a:r>
            <a:endParaRPr lang="en-US"/>
          </a:p>
        </p:txBody>
      </p:sp>
      <p:sp>
        <p:nvSpPr>
          <p:cNvPr id="31" name="Tile5 Body"/>
          <p:cNvSpPr>
            <a:spLocks noGrp="1"/>
          </p:cNvSpPr>
          <p:nvPr>
            <p:ph type="body" idx="29"/>
          </p:nvPr>
        </p:nvSpPr>
        <p:spPr>
          <a:xfrm>
            <a:off x="6781800" y="8286750"/>
            <a:ext cx="4724400" cy="108585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1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One short sentence describing this tile.</a:t>
            </a:r>
            <a:endParaRPr lang="en-US"/>
          </a:p>
        </p:txBody>
      </p:sp>
      <p:sp>
        <p:nvSpPr>
          <p:cNvPr id="32" name="Tile6 Bg"/>
          <p:cNvSpPr/>
          <p:nvPr/>
        </p:nvSpPr>
        <p:spPr>
          <a:xfrm>
            <a:off x="11963400" y="7372350"/>
            <a:ext cx="5181600" cy="21907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Tile6 Rule"/>
          <p:cNvSpPr/>
          <p:nvPr/>
        </p:nvSpPr>
        <p:spPr>
          <a:xfrm>
            <a:off x="11963400" y="7372350"/>
            <a:ext cx="5181600" cy="28575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Tile6 Label"/>
          <p:cNvSpPr>
            <a:spLocks noGrp="1"/>
          </p:cNvSpPr>
          <p:nvPr>
            <p:ph type="body" idx="30"/>
          </p:nvPr>
        </p:nvSpPr>
        <p:spPr>
          <a:xfrm>
            <a:off x="12801600" y="7600950"/>
            <a:ext cx="4114800" cy="457200"/>
          </a:xfrm>
          <a:prstGeom prst="rect">
            <a:avLst/>
          </a:prstGeom>
        </p:spPr>
        <p:txBody>
          <a:bodyPr wrap="square" rtlCol="0" anchor="ctr" lIns="0" tIns="0" rIns="0" bIns="0"/>
          <a:lstStyle>
            <a:lvl1pPr marL="0" indent="0" algn="l">
              <a:buNone/>
              <a:defRPr sz="2100" b="1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Tile 6 label</a:t>
            </a:r>
            <a:endParaRPr lang="en-US"/>
          </a:p>
        </p:txBody>
      </p:sp>
      <p:sp>
        <p:nvSpPr>
          <p:cNvPr id="35" name="Tile6 Body"/>
          <p:cNvSpPr>
            <a:spLocks noGrp="1"/>
          </p:cNvSpPr>
          <p:nvPr>
            <p:ph type="body" idx="31"/>
          </p:nvPr>
        </p:nvSpPr>
        <p:spPr>
          <a:xfrm>
            <a:off x="12192000" y="8286750"/>
            <a:ext cx="4724400" cy="108585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1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One short sentence describing this tile.</a:t>
            </a:r>
            <a:endParaRPr lang="en-US"/>
          </a:p>
        </p:txBody>
      </p:sp>
      <p:sp>
        <p:nvSpPr>
          <p:cNvPr id="36" name="Footer"/>
          <p:cNvSpPr>
            <a:spLocks noGrp="1"/>
          </p:cNvSpPr>
          <p:nvPr/>
        </p:nvSpPr>
        <p:spPr>
          <a:xfrm>
            <a:off x="1143000" y="9982200"/>
            <a:ext cx="16002000" cy="2286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1000" cap="all" spc="50">
                <a:solidFill>
                  <a:srgbClr val="6B7280"/>
                </a:solidFill>
                <a:latin typeface="Aptos"/>
              </a:defRPr>
            </a:lvl1pPr>
          </a:lstStyle>
          <a:p>
            <a:r>
              <a:rPr lang="en-US"/>
              <a:t>OPEN COMPONENT MODEL · OCM.SOFTWARE</a:t>
            </a: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" preserve="1" userDrawn="1">
  <p:cSld name="Content / 2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"/>
          </p:nvPr>
        </p:nvSpPr>
        <p:spPr>
          <a:xfrm>
            <a:off x="1143000" y="2428875"/>
            <a:ext cx="16002000" cy="4572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3200" b="1" cap="all" spc="14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EYEBROW</a:t>
            </a:r>
            <a:endParaRPr lang="en-US"/>
          </a:p>
        </p:txBody>
      </p:sp>
      <p:sp>
        <p:nvSpPr>
          <p:cNvPr id="11" name="Title"/>
          <p:cNvSpPr>
            <a:spLocks noGrp="1"/>
          </p:cNvSpPr>
          <p:nvPr>
            <p:ph type="title" idx="2"/>
          </p:nvPr>
        </p:nvSpPr>
        <p:spPr>
          <a:xfrm>
            <a:off x="1143000" y="2933700"/>
            <a:ext cx="16002000" cy="19050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lnSpc>
                <a:spcPct val="90000"/>
              </a:lnSpc>
              <a:buNone/>
              <a:defRPr sz="7400" b="1">
                <a:solidFill>
                  <a:srgbClr val="000000"/>
                </a:solidFill>
                <a:latin typeface="Aptos Display"/>
              </a:defRPr>
            </a:lvl1pPr>
          </a:lstStyle>
          <a:p>
            <a:r>
              <a:rPr lang="en-US"/>
              <a:t>Section title goes here.</a:t>
            </a:r>
            <a:endParaRPr lang="en-US"/>
          </a:p>
        </p:txBody>
      </p:sp>
      <p:sp>
        <p:nvSpPr>
          <p:cNvPr id="12" name="Left Body"/>
          <p:cNvSpPr>
            <a:spLocks noGrp="1"/>
          </p:cNvSpPr>
          <p:nvPr>
            <p:ph type="body" idx="10"/>
          </p:nvPr>
        </p:nvSpPr>
        <p:spPr>
          <a:xfrm>
            <a:off x="1143000" y="4953000"/>
            <a:ext cx="7810500" cy="4381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Left column body.</a:t>
            </a:r>
            <a:endParaRPr lang="en-US"/>
          </a:p>
        </p:txBody>
      </p:sp>
      <p:sp>
        <p:nvSpPr>
          <p:cNvPr id="13" name="Right Body"/>
          <p:cNvSpPr>
            <a:spLocks noGrp="1"/>
          </p:cNvSpPr>
          <p:nvPr>
            <p:ph type="body" idx="11"/>
          </p:nvPr>
        </p:nvSpPr>
        <p:spPr>
          <a:xfrm>
            <a:off x="9334500" y="4953000"/>
            <a:ext cx="7810500" cy="4381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Right column body.</a:t>
            </a:r>
            <a:endParaRPr lang="en-US"/>
          </a:p>
        </p:txBody>
      </p:sp>
      <p:sp>
        <p:nvSpPr>
          <p:cNvPr id="14" name="Footer"/>
          <p:cNvSpPr>
            <a:spLocks noGrp="1"/>
          </p:cNvSpPr>
          <p:nvPr/>
        </p:nvSpPr>
        <p:spPr>
          <a:xfrm>
            <a:off x="1143000" y="9982200"/>
            <a:ext cx="16002000" cy="2286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1000" cap="all" spc="50">
                <a:solidFill>
                  <a:srgbClr val="6B7280"/>
                </a:solidFill>
                <a:latin typeface="Aptos"/>
              </a:defRPr>
            </a:lvl1pPr>
          </a:lstStyle>
          <a:p>
            <a:r>
              <a:rPr lang="en-US"/>
              <a:t>OPEN COMPONENT MODEL · OCM.SOFTWARE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type="secHead" preserve="1" userDrawn="1">
  <p:cSld name="Section Divider">
    <p:bg>
      <p:bgPr>
        <a:solidFill>
          <a:srgbClr val="0F6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ion Title"/>
          <p:cNvSpPr>
            <a:spLocks noGrp="1"/>
          </p:cNvSpPr>
          <p:nvPr>
            <p:ph type="title" idx="1"/>
          </p:nvPr>
        </p:nvSpPr>
        <p:spPr>
          <a:xfrm>
            <a:off x="762000" y="4381500"/>
            <a:ext cx="16764000" cy="1905000"/>
          </a:xfrm>
          <a:prstGeom prst="rect">
            <a:avLst/>
          </a:prstGeom>
        </p:spPr>
        <p:txBody>
          <a:bodyPr wrap="square" rtlCol="0" anchor="ctr" lIns="0" tIns="0" rIns="0" bIns="0"/>
          <a:lstStyle>
            <a:lvl1pPr marL="0" indent="0" algn="ctr">
              <a:buNone/>
              <a:defRPr sz="8300" b="1">
                <a:solidFill>
                  <a:srgbClr val="FFFFFF"/>
                </a:solidFill>
                <a:latin typeface="Aptos Display"/>
              </a:defRPr>
            </a:lvl1pPr>
          </a:lstStyle>
          <a:p>
            <a:r>
              <a:rPr lang="en-US"/>
              <a:t>Section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 userDrawn="1">
  <p:cSld name="Pla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"/>
          </p:nvPr>
        </p:nvSpPr>
        <p:spPr>
          <a:xfrm>
            <a:off x="1143000" y="2428875"/>
            <a:ext cx="16002000" cy="4572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3200" b="1" cap="all" spc="14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EYEBROW</a:t>
            </a:r>
            <a:endParaRPr lang="en-US"/>
          </a:p>
        </p:txBody>
      </p:sp>
      <p:sp>
        <p:nvSpPr>
          <p:cNvPr id="11" name="Title"/>
          <p:cNvSpPr>
            <a:spLocks noGrp="1"/>
          </p:cNvSpPr>
          <p:nvPr>
            <p:ph type="title" idx="2"/>
          </p:nvPr>
        </p:nvSpPr>
        <p:spPr>
          <a:xfrm>
            <a:off x="1143000" y="2933700"/>
            <a:ext cx="16002000" cy="19050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lnSpc>
                <a:spcPct val="90000"/>
              </a:lnSpc>
              <a:buNone/>
              <a:defRPr sz="7400" b="1">
                <a:solidFill>
                  <a:srgbClr val="000000"/>
                </a:solidFill>
                <a:latin typeface="Aptos Display"/>
              </a:defRPr>
            </a:lvl1pPr>
          </a:lstStyle>
          <a:p>
            <a:r>
              <a:rPr lang="en-US"/>
              <a:t>Section title goes here.</a:t>
            </a:r>
            <a:endParaRPr lang="en-US"/>
          </a:p>
        </p:txBody>
      </p:sp>
      <p:sp>
        <p:nvSpPr>
          <p:cNvPr id="12" name="Body"/>
          <p:cNvSpPr>
            <a:spLocks noGrp="1"/>
          </p:cNvSpPr>
          <p:nvPr>
            <p:ph type="body" idx="10"/>
          </p:nvPr>
        </p:nvSpPr>
        <p:spPr>
          <a:xfrm>
            <a:off x="1143000" y="5524500"/>
            <a:ext cx="16002000" cy="38100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Body text.</a:t>
            </a:r>
            <a:endParaRPr lang="en-US"/>
          </a:p>
        </p:txBody>
      </p:sp>
      <p:sp>
        <p:nvSpPr>
          <p:cNvPr id="13" name="Footer"/>
          <p:cNvSpPr>
            <a:spLocks noGrp="1"/>
          </p:cNvSpPr>
          <p:nvPr/>
        </p:nvSpPr>
        <p:spPr>
          <a:xfrm>
            <a:off x="1143000" y="9982200"/>
            <a:ext cx="16002000" cy="2286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1000" cap="all" spc="50">
                <a:solidFill>
                  <a:srgbClr val="6B7280"/>
                </a:solidFill>
                <a:latin typeface="Aptos"/>
              </a:defRPr>
            </a:lvl1pPr>
          </a:lstStyle>
          <a:p>
            <a:r>
              <a:rPr lang="en-US"/>
              <a:t>OPEN COMPONENT MODEL · OCM.SOFTWARE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 userDrawn="1">
  <p:cSld name="Plain / Compac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"/>
          </p:nvPr>
        </p:nvSpPr>
        <p:spPr>
          <a:xfrm>
            <a:off x="1143000" y="2428875"/>
            <a:ext cx="16002000" cy="4572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3200" b="1" cap="all" spc="14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EYEBROW</a:t>
            </a:r>
            <a:endParaRPr lang="en-US"/>
          </a:p>
        </p:txBody>
      </p:sp>
      <p:sp>
        <p:nvSpPr>
          <p:cNvPr id="11" name="Title"/>
          <p:cNvSpPr>
            <a:spLocks noGrp="1"/>
          </p:cNvSpPr>
          <p:nvPr>
            <p:ph type="title" idx="2"/>
          </p:nvPr>
        </p:nvSpPr>
        <p:spPr>
          <a:xfrm>
            <a:off x="1143000" y="2933700"/>
            <a:ext cx="16002000" cy="19050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lnSpc>
                <a:spcPct val="90000"/>
              </a:lnSpc>
              <a:buNone/>
              <a:defRPr sz="7400" b="1">
                <a:solidFill>
                  <a:srgbClr val="000000"/>
                </a:solidFill>
                <a:latin typeface="Aptos Display"/>
              </a:defRPr>
            </a:lvl1pPr>
          </a:lstStyle>
          <a:p>
            <a:r>
              <a:rPr lang="en-US"/>
              <a:t>Section title goes here.</a:t>
            </a:r>
            <a:endParaRPr lang="en-US"/>
          </a:p>
        </p:txBody>
      </p:sp>
      <p:sp>
        <p:nvSpPr>
          <p:cNvPr id="12" name="Body"/>
          <p:cNvSpPr>
            <a:spLocks noGrp="1"/>
          </p:cNvSpPr>
          <p:nvPr>
            <p:ph type="body" idx="10"/>
          </p:nvPr>
        </p:nvSpPr>
        <p:spPr>
          <a:xfrm>
            <a:off x="1143000" y="4953000"/>
            <a:ext cx="16002000" cy="4381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Body text.</a:t>
            </a:r>
            <a:endParaRPr lang="en-US"/>
          </a:p>
        </p:txBody>
      </p:sp>
      <p:sp>
        <p:nvSpPr>
          <p:cNvPr id="13" name="Footer"/>
          <p:cNvSpPr>
            <a:spLocks noGrp="1"/>
          </p:cNvSpPr>
          <p:nvPr/>
        </p:nvSpPr>
        <p:spPr>
          <a:xfrm>
            <a:off x="1143000" y="9982200"/>
            <a:ext cx="16002000" cy="2286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1000" cap="all" spc="50">
                <a:solidFill>
                  <a:srgbClr val="6B7280"/>
                </a:solidFill>
                <a:latin typeface="Aptos"/>
              </a:defRPr>
            </a:lvl1pPr>
          </a:lstStyle>
          <a:p>
            <a:r>
              <a:rPr lang="en-US"/>
              <a:t>OPEN COMPONENT MODEL · OCM.SOFTWARE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" name="Picture 5" descr="OCM-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pPr algn="l"/>
            <a:r>
              <a:rPr>
                <a:solidFill>
                  <a:srgbClr val="FFFFFF"/>
                </a:solidFill>
              </a:rPr>
              <a:t>You ship pieces.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algn="l"/>
            <a:r>
              <a:rPr>
                <a:solidFill>
                  <a:srgbClr val="FFFFFF"/>
                </a:solidFill>
              </a:rPr>
              <a:t/>
            </a:r>
            <a:r>
              <a:rPr>
                <a:gradFill flip="none" rotWithShape="1">
                  <a:gsLst>
                    <a:gs pos="0">
                      <a:srgbClr val="FFFFFF"/>
                    </a:gs>
                    <a:gs pos="35000">
                      <a:srgbClr val="5CD6FF"/>
                    </a:gs>
                    <a:gs pos="75000">
                      <a:srgbClr val="0F6BFF"/>
                    </a:gs>
                  </a:gsLst>
                  <a:lin ang="0" scaled="1"/>
                </a:gradFill>
              </a:rPr>
              <a:t>Nothing carries the release.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>
                <a:solidFill>
                  <a:srgbClr val="5CD6FF"/>
                </a:solidFill>
              </a:rPr>
              <a:t>You sign the pieces. Nothing signs the release.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Open Component Model — open source, NeoNephos Foundation.</a:t>
            </a:r>
          </a:p>
        </p:txBody>
      </p:sp>
      <p:pic>
        <p:nvPicPr>
          <p:cNvPr id="7" name="Picture 6" descr="ocm-horizontal-white_4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9029700"/>
            <a:ext cx="1905000" cy="723900"/>
          </a:xfrm>
          <a:prstGeom prst="rect">
            <a:avLst/>
          </a:prstGeom>
        </p:spPr>
      </p:pic>
      <p:pic>
        <p:nvPicPr>
          <p:cNvPr id="8" name="Picture 7" descr="neonephos-foundation-horizontal-white_4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33600" y="9258300"/>
            <a:ext cx="2540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DIAGNOSIS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In every existing tool, identity is bound to location.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>
                <a:solidFill>
                  <a:srgbClr val="0F6BFF"/>
                </a:solidFill>
              </a:rPr>
              <a:t>▪  </a:t>
            </a:r>
            <a:r>
              <a:rPr b="1">
                <a:solidFill>
                  <a:srgbClr val="0F6BFF"/>
                </a:solidFill>
              </a:rPr>
              <a:t>OCI image</a:t>
            </a:r>
            <a:r>
              <a:rPr>
                <a:solidFill>
                  <a:srgbClr val="000000"/>
                </a:solidFill>
              </a:rPr>
              <a:t> — identified by registry/repo:tag. Mirror it; every downstream reference is invalidated.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>
                <a:solidFill>
                  <a:srgbClr val="0F6BFF"/>
                </a:solidFill>
              </a:rPr>
              <a:t>▪  </a:t>
            </a:r>
            <a:r>
              <a:rPr b="1">
                <a:solidFill>
                  <a:srgbClr val="0F6BFF"/>
                </a:solidFill>
              </a:rPr>
              <a:t>Helm chart</a:t>
            </a:r>
            <a:r>
              <a:rPr>
                <a:solidFill>
                  <a:srgbClr val="000000"/>
                </a:solidFill>
              </a:rPr>
              <a:t> — identified by repo URL + name + version. Mirror the repo; pulls fail.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>
                <a:solidFill>
                  <a:srgbClr val="0F6BFF"/>
                </a:solidFill>
              </a:rPr>
              <a:t>▪  </a:t>
            </a:r>
            <a:r>
              <a:rPr b="1">
                <a:solidFill>
                  <a:srgbClr val="0F6BFF"/>
                </a:solidFill>
              </a:rPr>
              <a:t>SBOM</a:t>
            </a:r>
            <a:r>
              <a:rPr>
                <a:solidFill>
                  <a:srgbClr val="000000"/>
                </a:solidFill>
              </a:rPr>
              <a:t> — linked to its subject by file path or naming convention. Move the artifact; the link dangles.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HINGE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Identity that travels with the artifact.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5143500"/>
            <a:ext cx="8953500" cy="400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6BFF"/>
                </a:solidFill>
                <a:latin typeface="Aptos"/>
              </a:rPr>
              <a:t>▪  </a:t>
            </a:r>
            <a:r>
              <a:rPr sz="2800" b="1">
                <a:solidFill>
                  <a:srgbClr val="0F6BFF"/>
                </a:solidFill>
                <a:latin typeface="Aptos"/>
              </a:rPr>
              <a:t>Coordinates</a:t>
            </a:r>
            <a:r>
              <a:rPr sz="2800">
                <a:solidFill>
                  <a:srgbClr val="000000"/>
                </a:solidFill>
                <a:latin typeface="Aptos"/>
              </a:rPr>
              <a:t> — name and version of the component. Globally unique. Location-agnostic.</a:t>
            </a:r>
          </a:p>
          <a:p>
            <a:pPr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2800" b="1">
                <a:solidFill>
                  <a:srgbClr val="0F6BFF"/>
                </a:solidFill>
                <a:latin typeface="Aptos"/>
              </a:rPr>
              <a:t>▪  </a:t>
            </a:r>
            <a:r>
              <a:rPr sz="2800" b="1">
                <a:solidFill>
                  <a:srgbClr val="0F6BFF"/>
                </a:solidFill>
                <a:latin typeface="Aptos"/>
              </a:rPr>
              <a:t>Digest</a:t>
            </a:r>
            <a:r>
              <a:rPr sz="2800">
                <a:solidFill>
                  <a:srgbClr val="000000"/>
                </a:solidFill>
                <a:latin typeface="Aptos"/>
              </a:rPr>
              <a:t> — every resource inside the component carries a content hash. Computed once.</a:t>
            </a:r>
          </a:p>
          <a:p>
            <a:pPr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2800" b="1">
                <a:solidFill>
                  <a:srgbClr val="0F6BFF"/>
                </a:solidFill>
                <a:latin typeface="Aptos"/>
              </a:rPr>
              <a:t>▪  </a:t>
            </a:r>
            <a:r>
              <a:rPr sz="2800" b="1">
                <a:solidFill>
                  <a:srgbClr val="0F6BFF"/>
                </a:solidFill>
                <a:latin typeface="Aptos"/>
              </a:rPr>
              <a:t>Access</a:t>
            </a:r>
            <a:r>
              <a:rPr sz="2800">
                <a:solidFill>
                  <a:srgbClr val="000000"/>
                </a:solidFill>
                <a:latin typeface="Aptos"/>
              </a:rPr>
              <a:t> — where the resource currently lives. Rewritten on transfer. Digest stays.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144250" y="5143500"/>
            <a:ext cx="5715000" cy="60960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0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40000" bIns="40000"/>
          <a:lstStyle/>
          <a:p>
            <a:pPr algn="ctr"/>
            <a:r>
              <a:rPr sz="2000" b="1">
                <a:solidFill>
                  <a:srgbClr val="0F6BFF"/>
                </a:solidFill>
                <a:latin typeface="Consolas"/>
              </a:rPr>
              <a:t>github.com/acme.org/helloworld:1.0.0</a:t>
            </a:r>
          </a:p>
        </p:txBody>
      </p:sp>
      <p:sp>
        <p:nvSpPr>
          <p:cNvPr id="6" name="Can 5"/>
          <p:cNvSpPr/>
          <p:nvPr/>
        </p:nvSpPr>
        <p:spPr>
          <a:xfrm>
            <a:off x="10906125" y="6515100"/>
            <a:ext cx="1524000" cy="1333500"/>
          </a:xfrm>
          <a:prstGeom prst="can">
            <a:avLst/>
          </a:prstGeom>
          <a:solidFill>
            <a:srgbClr val="FFFFFF"/>
          </a:solidFill>
          <a:ln w="19050">
            <a:solidFill>
              <a:srgbClr val="0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40000" bIns="40000"/>
          <a:lstStyle/>
          <a:p>
            <a:pPr algn="ctr"/>
            <a:r>
              <a:rPr sz="2000" b="1">
                <a:solidFill>
                  <a:srgbClr val="0F6BFF"/>
                </a:solidFill>
                <a:latin typeface="Aptos"/>
              </a:rPr>
              <a:t>EU reg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5125" y="8001000"/>
            <a:ext cx="22860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Consolas"/>
              </a:rPr>
              <a:t>access: ghcr.io/eu/...</a:t>
            </a:r>
          </a:p>
        </p:txBody>
      </p:sp>
      <p:sp>
        <p:nvSpPr>
          <p:cNvPr id="8" name="Can 7"/>
          <p:cNvSpPr/>
          <p:nvPr/>
        </p:nvSpPr>
        <p:spPr>
          <a:xfrm>
            <a:off x="13239750" y="6515100"/>
            <a:ext cx="1524000" cy="1333500"/>
          </a:xfrm>
          <a:prstGeom prst="can">
            <a:avLst/>
          </a:prstGeom>
          <a:solidFill>
            <a:srgbClr val="FFFFFF"/>
          </a:solidFill>
          <a:ln w="19050">
            <a:solidFill>
              <a:srgbClr val="0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40000" bIns="40000"/>
          <a:lstStyle/>
          <a:p>
            <a:pPr algn="ctr"/>
            <a:r>
              <a:rPr sz="2000" b="1">
                <a:solidFill>
                  <a:srgbClr val="0F6BFF"/>
                </a:solidFill>
                <a:latin typeface="Aptos"/>
              </a:rPr>
              <a:t>US reg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58750" y="8001000"/>
            <a:ext cx="22860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Consolas"/>
              </a:rPr>
              <a:t>access: ghcr.io/us/...</a:t>
            </a:r>
          </a:p>
        </p:txBody>
      </p:sp>
      <p:sp>
        <p:nvSpPr>
          <p:cNvPr id="10" name="Can 9"/>
          <p:cNvSpPr/>
          <p:nvPr/>
        </p:nvSpPr>
        <p:spPr>
          <a:xfrm>
            <a:off x="15573375" y="6515100"/>
            <a:ext cx="1524000" cy="1333500"/>
          </a:xfrm>
          <a:prstGeom prst="can">
            <a:avLst/>
          </a:prstGeom>
          <a:solidFill>
            <a:srgbClr val="FFFFFF"/>
          </a:solidFill>
          <a:ln w="19050">
            <a:solidFill>
              <a:srgbClr val="0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40000" bIns="40000"/>
          <a:lstStyle/>
          <a:p>
            <a:pPr algn="ctr"/>
            <a:r>
              <a:rPr sz="2000" b="1">
                <a:solidFill>
                  <a:srgbClr val="0F6BFF"/>
                </a:solidFill>
                <a:latin typeface="Aptos"/>
              </a:rPr>
              <a:t>Air-gap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92375" y="8001000"/>
            <a:ext cx="22860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Consolas"/>
              </a:rPr>
              <a:t>access: registry.local/...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11668125" y="5753100"/>
            <a:ext cx="2333625" cy="762000"/>
          </a:xfrm>
          <a:prstGeom prst="line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4001750" y="5753100"/>
            <a:ext cx="0" cy="762000"/>
          </a:xfrm>
          <a:prstGeom prst="line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4001750" y="5753100"/>
            <a:ext cx="2333625" cy="762000"/>
          </a:xfrm>
          <a:prstGeom prst="line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WHERE OCM SITS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One component wraps every artifact, signed once.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ANY FORMAT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Helm, OCI, SBOM, npm, binaries.</a:t>
            </a:r>
          </a:p>
          <a:p>
            <a:r>
              <a:t>Each becomes a resource inside the component.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t>ANY LOCATION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Coordinates travel.</a:t>
            </a:r>
          </a:p>
          <a:p>
            <a:r>
              <a:t>The component carries its name across registries.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ONE SIGNATURE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Covers every digest in the component.</a:t>
            </a:r>
          </a:p>
          <a:p>
            <a:r>
              <a:t>Survives transport.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CONSTRUCTOR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What you write.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2857500"/>
            <a:ext cx="11239500" cy="5905500"/>
          </a:xfrm>
          <a:prstGeom prst="roundRect">
            <a:avLst/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0000" rIns="140000" tIns="120000" bIns="120000" wrap="non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A3A99"/>
                </a:solidFill>
                <a:latin typeface="Consolas"/>
              </a:rPr>
              <a:t>components: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Consolas"/>
              </a:rPr>
              <a:t>- name: github.com/acme.org/helloworld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Consolas"/>
              </a:rPr>
              <a:t>  version: 1.0.0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A3A99"/>
                </a:solidFill>
                <a:latin typeface="Consolas"/>
              </a:rPr>
              <a:t>  provider: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Consolas"/>
              </a:rPr>
              <a:t>    name: acme.org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A3A99"/>
                </a:solidFill>
                <a:latin typeface="Consolas"/>
              </a:rPr>
              <a:t>  resources: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Consolas"/>
              </a:rPr>
              <a:t>    - name: mylocalfile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Consolas"/>
              </a:rPr>
              <a:t>      type: blob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B7280"/>
                </a:solidFill>
                <a:latin typeface="Consolas"/>
              </a:rPr>
              <a:t>      input:                # Embed by value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Consolas"/>
              </a:rPr>
              <a:t>        type: File/v1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Consolas"/>
              </a:rPr>
              <a:t>        path: ./my-local-resource.txt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Consolas"/>
              </a:rPr>
              <a:t>    - name: image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Consolas"/>
              </a:rPr>
              <a:t>      type: ociImage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Consolas"/>
              </a:rPr>
              <a:t>      version: 1.0.0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B7280"/>
                </a:solidFill>
                <a:latin typeface="Consolas"/>
              </a:rPr>
              <a:t>      access:               # Reference external artifact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Consolas"/>
              </a:rPr>
              <a:t>        type: OCIImage/v1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Consolas"/>
              </a:rPr>
              <a:t>        imageReference: ghcr.io/stefanprodan/podinfo:6.9.1</a:t>
            </a:r>
          </a:p>
        </p:txBody>
      </p:sp>
      <p:sp>
        <p:nvSpPr>
          <p:cNvPr id="5" name="Rectangle 4"/>
          <p:cNvSpPr/>
          <p:nvPr/>
        </p:nvSpPr>
        <p:spPr>
          <a:xfrm>
            <a:off x="12763500" y="4714875"/>
            <a:ext cx="57150" cy="809625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34950" y="4714875"/>
            <a:ext cx="4210050" cy="809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6BFF"/>
                </a:solidFill>
                <a:latin typeface="Aptos"/>
              </a:rPr>
              <a:t>input:  by value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6B7280"/>
                </a:solidFill>
                <a:latin typeface="Aptos"/>
              </a:rPr>
              <a:t>Embed bytes at pack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12763500" y="6191250"/>
            <a:ext cx="57150" cy="809625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34950" y="6191250"/>
            <a:ext cx="4210050" cy="809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6BFF"/>
                </a:solidFill>
                <a:latin typeface="Aptos"/>
              </a:rPr>
              <a:t>access:  by reference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6B7280"/>
                </a:solidFill>
                <a:latin typeface="Aptos"/>
              </a:rPr>
              <a:t>Resolve external artifact at pack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DESCRIPTOR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What gets signed and travels.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2667000"/>
            <a:ext cx="11239500" cy="5905500"/>
          </a:xfrm>
          <a:prstGeom prst="roundRect">
            <a:avLst/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0000" rIns="140000" tIns="120000" bIns="120000" wrap="non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B7280"/>
                </a:solidFill>
                <a:latin typeface="Consolas"/>
              </a:rPr>
              <a:t>component:                                  # (fields trimmed)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Consolas"/>
              </a:rPr>
              <a:t>  name: github.com/acme.org/helloworld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Consolas"/>
              </a:rPr>
              <a:t>  version: 1.0.0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A3A99"/>
                </a:solidFill>
                <a:latin typeface="Consolas"/>
              </a:rPr>
              <a:t>  resources: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Consolas"/>
              </a:rPr>
              <a:t>    - name: image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Consolas"/>
              </a:rPr>
              <a:t>      type: ociImage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B7280"/>
                </a:solidFill>
                <a:latin typeface="Consolas"/>
              </a:rPr>
              <a:t>      access:                                  # excluded from signature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Consolas"/>
              </a:rPr>
              <a:t>        type: OCIImage/v1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Consolas"/>
              </a:rPr>
              <a:t>        imageReference: ghcr.io/.../podinfo@sha256:8fa569...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B7280"/>
                </a:solidFill>
                <a:latin typeface="Consolas"/>
              </a:rPr>
              <a:t>      digest:                                  # input to hash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Consolas"/>
              </a:rPr>
              <a:t>        hashAlgorithm: SHA-256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Consolas"/>
              </a:rPr>
              <a:t>        value: 262578cde928d5c9eba3bce0...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B7280"/>
                </a:solidFill>
                <a:latin typeface="Consolas"/>
              </a:rPr>
              <a:t>    - ...                                     # more resources, references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F6BFF"/>
                </a:solidFill>
                <a:latin typeface="Consolas"/>
              </a:rPr>
              <a:t>signatures: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Consolas"/>
              </a:rPr>
              <a:t>  - name: acme-release-key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B7280"/>
                </a:solidFill>
                <a:latin typeface="Consolas"/>
              </a:rPr>
              <a:t>    digest:                                  # of the descriptor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Consolas"/>
              </a:rPr>
              <a:t>      hashAlgorithm: SHA-256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Consolas"/>
              </a:rPr>
              <a:t>      value: a4b1c2d3e4f5...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A3A99"/>
                </a:solidFill>
                <a:latin typeface="Consolas"/>
              </a:rPr>
              <a:t>    signature: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Consolas"/>
              </a:rPr>
              <a:t>      algorithm: RSASSA-PSS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Consolas"/>
              </a:rPr>
              <a:t>      value: &lt;hex-encoded signature&gt;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12763500" y="4333875"/>
            <a:ext cx="57150" cy="666750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34950" y="4333875"/>
            <a:ext cx="42100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6BFF"/>
                </a:solidFill>
                <a:latin typeface="Aptos"/>
              </a:rPr>
              <a:t>access:  excluded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6B7280"/>
                </a:solidFill>
                <a:latin typeface="Aptos"/>
              </a:rPr>
              <a:t>Rewritten on every transfer.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12763500" y="5048250"/>
            <a:ext cx="57150" cy="666750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34950" y="5048250"/>
            <a:ext cx="42100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6BFF"/>
                </a:solidFill>
                <a:latin typeface="Aptos"/>
              </a:rPr>
              <a:t>digest:  content identity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6B7280"/>
                </a:solidFill>
                <a:latin typeface="Aptos"/>
              </a:rPr>
              <a:t>Input to the descriptor hash.</a:t>
            </a:r>
          </a:p>
        </p:txBody>
      </p:sp>
      <p:sp>
        <p:nvSpPr>
          <p:cNvPr id="9" name="Rectangle 8"/>
          <p:cNvSpPr/>
          <p:nvPr/>
        </p:nvSpPr>
        <p:spPr>
          <a:xfrm>
            <a:off x="12763500" y="6048375"/>
            <a:ext cx="57150" cy="857250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34950" y="6048375"/>
            <a:ext cx="42100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6BFF"/>
                </a:solidFill>
                <a:latin typeface="Aptos"/>
              </a:rPr>
              <a:t>signature:  one hash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6B7280"/>
                </a:solidFill>
                <a:latin typeface="Aptos"/>
              </a:rPr>
              <a:t>Over the canonicalized descriptor.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VERBS, ONE COMPONENT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Pack · Sign · Transport · Deploy.</a:t>
            </a:r>
          </a:p>
        </p:txBody>
      </p:sp>
      <p:pic>
        <p:nvPicPr>
          <p:cNvPr id="4" name="Picture 3" descr="05-pack-sign-transport-deploy-v2_18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586162"/>
            <a:ext cx="17145000" cy="48291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COMPOSE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Leaf carries resources. Product carries references.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667000"/>
            <a:ext cx="160020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0F6BFF"/>
                </a:solidFill>
                <a:latin typeface="Aptos"/>
              </a:rPr>
              <a:t>Leaf components </a:t>
            </a:r>
            <a:r>
              <a:rPr sz="2200">
                <a:solidFill>
                  <a:srgbClr val="000000"/>
                </a:solidFill>
                <a:latin typeface="Aptos"/>
              </a:rPr>
              <a:t>carry resources — images, charts, configs, SBOMs.
</a:t>
            </a:r>
            <a:r>
              <a:rPr sz="2200" b="1">
                <a:solidFill>
                  <a:srgbClr val="0F6BFF"/>
                </a:solidFill>
                <a:latin typeface="Aptos"/>
              </a:rPr>
              <a:t>A product or release component </a:t>
            </a:r>
            <a:r>
              <a:rPr sz="2200">
                <a:solidFill>
                  <a:srgbClr val="000000"/>
                </a:solidFill>
                <a:latin typeface="Aptos"/>
              </a:rPr>
              <a:t>composes other components by </a:t>
            </a:r>
            <a:r>
              <a:rPr sz="2200" b="1">
                <a:solidFill>
                  <a:srgbClr val="0F6BFF"/>
                </a:solidFill>
                <a:latin typeface="Aptos"/>
              </a:rPr>
              <a:t>name and version</a:t>
            </a:r>
            <a:r>
              <a:rPr sz="2200">
                <a:solidFill>
                  <a:srgbClr val="000000"/>
                </a:solidFill>
                <a:latin typeface="Aptos"/>
              </a:rPr>
              <a:t>. One unit, transferable, signable end-to-end.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4381500"/>
            <a:ext cx="7239000" cy="5334000"/>
          </a:xfrm>
          <a:prstGeom prst="roundRect">
            <a:avLst/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0000" rIns="140000" tIns="120000" bIns="120000" wrap="non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6B7280"/>
                </a:solidFill>
                <a:latin typeface="Consolas"/>
              </a:rPr>
              <a:t># leaf components — carry the artifacts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A3A99"/>
                </a:solidFill>
                <a:latin typeface="Consolas"/>
              </a:rPr>
              <a:t>components: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- name: acme.org/sovereign/notes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version: 1.0.0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A3A99"/>
                </a:solidFill>
                <a:latin typeface="Consolas"/>
              </a:rPr>
              <a:t>    resources: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  - name: image       # OCI image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  - name: chart       # Helm chart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  - ...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- name: acme.org/sovereign/postgres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version: 1.0.0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A3A99"/>
                </a:solidFill>
                <a:latin typeface="Consolas"/>
              </a:rPr>
              <a:t>    resources: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  - name: image       # OCI image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  - name: chart       # Helm chart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  - ...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6B7280"/>
                </a:solidFill>
                <a:latin typeface="Consolas"/>
              </a:rPr>
              <a:t># product references both, by name and version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06000" y="4381500"/>
            <a:ext cx="7239000" cy="5334000"/>
          </a:xfrm>
          <a:prstGeom prst="roundRect">
            <a:avLst/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0000" rIns="140000" tIns="120000" bIns="120000" wrap="non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6B7280"/>
                </a:solidFill>
                <a:latin typeface="Consolas"/>
              </a:rPr>
              <a:t># product / release component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A3A99"/>
                </a:solidFill>
                <a:latin typeface="Consolas"/>
              </a:rPr>
              <a:t>component: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name: acme.org/sovereign/product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version: 1.0.0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A3A99"/>
                </a:solidFill>
                <a:latin typeface="Consolas"/>
              </a:rPr>
              <a:t>  componentReferences: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- name: notes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  componentName: acme.org/sovereign/notes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  version: 1.0.0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- name: postgres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  componentName: acme.org/sovereign/postgres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  version: 1.0.0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6B7280"/>
                </a:solidFill>
                <a:latin typeface="Consolas"/>
              </a:rPr>
              <a:t># no resources of its own — pure composition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905250"/>
            <a:ext cx="72390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6B7280"/>
                </a:solidFill>
                <a:latin typeface="Aptos"/>
              </a:rPr>
              <a:t>LEAF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0" y="3905250"/>
            <a:ext cx="72390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F6BFF"/>
                </a:solidFill>
                <a:latin typeface="Aptos"/>
              </a:rPr>
              <a:t>PRODUCT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667750" y="6667500"/>
            <a:ext cx="952500" cy="762000"/>
          </a:xfrm>
          <a:prstGeom prst="rightArrow">
            <a:avLst/>
          </a:prstGeom>
          <a:solidFill>
            <a:srgbClr val="0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SIGN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One signature shape. Three trust models.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RSA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Your existing PKI.</a:t>
            </a:r>
          </a:p>
          <a:p>
            <a:r>
              <a:t>Keys you already rotate.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t>GPG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OpenPGP keys.</a:t>
            </a:r>
          </a:p>
          <a:p>
            <a:r>
              <a:t>Familiar trust model, ASCII-armored.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SIGSTORE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Keyless via OIDC.</a:t>
            </a:r>
          </a:p>
          <a:p>
            <a:r>
              <a:t>Identity, not long-lived keys.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TRANSPORT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Three patterns. One command.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REGISTRY → REGISTRY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Promote across stages.</a:t>
            </a:r>
          </a:p>
          <a:p>
            <a:r>
              <a:t>Source registry to target registry.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t>REGISTRY → CTF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Export to a local archive.</a:t>
            </a:r>
          </a:p>
          <a:p>
            <a:r>
              <a:t>Hand-carry across the boundary.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CTF → REGISTRY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Air-gap import.</a:t>
            </a:r>
          </a:p>
          <a:p>
            <a:r>
              <a:t>Verify on arrival. No callback to source.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DEPLOY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OCM controllers verify and apply. One mirrors.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9125" y="5334000"/>
            <a:ext cx="3905250" cy="209550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0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180000" bIns="180000" wrap="square"/>
          <a:lstStyle/>
          <a:p>
            <a:pPr algn="ctr"/>
            <a:r>
              <a:rPr sz="2800" b="1">
                <a:solidFill>
                  <a:srgbClr val="0F6BFF"/>
                </a:solidFill>
                <a:latin typeface="Aptos"/>
              </a:rPr>
              <a:t>Repository</a:t>
            </a:r>
          </a:p>
          <a:p>
            <a:pPr algn="ctr">
              <a:spcBef>
                <a:spcPts val="800"/>
              </a:spcBef>
            </a:pPr>
            <a:r>
              <a:rPr sz="2200">
                <a:solidFill>
                  <a:srgbClr val="000000"/>
                </a:solidFill>
                <a:latin typeface="Aptos"/>
              </a:rPr>
              <a:t>Where component versions live.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581525" y="6305550"/>
            <a:ext cx="361950" cy="171450"/>
          </a:xfrm>
          <a:prstGeom prst="rightArrow">
            <a:avLst/>
          </a:prstGeom>
          <a:solidFill>
            <a:srgbClr val="0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00625" y="5334000"/>
            <a:ext cx="3905250" cy="209550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0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180000" bIns="180000" wrap="square"/>
          <a:lstStyle/>
          <a:p>
            <a:pPr algn="ctr"/>
            <a:r>
              <a:rPr sz="2800" b="1">
                <a:solidFill>
                  <a:srgbClr val="0F6BFF"/>
                </a:solidFill>
                <a:latin typeface="Aptos"/>
              </a:rPr>
              <a:t>Component</a:t>
            </a:r>
          </a:p>
          <a:p>
            <a:pPr algn="ctr">
              <a:spcBef>
                <a:spcPts val="800"/>
              </a:spcBef>
            </a:pPr>
            <a:r>
              <a:rPr sz="2200">
                <a:solidFill>
                  <a:srgbClr val="000000"/>
                </a:solidFill>
                <a:latin typeface="Aptos"/>
              </a:rPr>
              <a:t>Pulls one version. Verifies its signature.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8963025" y="6305550"/>
            <a:ext cx="361950" cy="171450"/>
          </a:xfrm>
          <a:prstGeom prst="rightArrow">
            <a:avLst/>
          </a:prstGeom>
          <a:solidFill>
            <a:srgbClr val="0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382125" y="5334000"/>
            <a:ext cx="3905250" cy="209550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0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180000" bIns="180000" wrap="square"/>
          <a:lstStyle/>
          <a:p>
            <a:pPr algn="ctr"/>
            <a:r>
              <a:rPr sz="2800" b="1">
                <a:solidFill>
                  <a:srgbClr val="0F6BFF"/>
                </a:solidFill>
                <a:latin typeface="Aptos"/>
              </a:rPr>
              <a:t>Resource</a:t>
            </a:r>
          </a:p>
          <a:p>
            <a:pPr algn="ctr">
              <a:spcBef>
                <a:spcPts val="800"/>
              </a:spcBef>
            </a:pPr>
            <a:r>
              <a:rPr sz="2200">
                <a:solidFill>
                  <a:srgbClr val="000000"/>
                </a:solidFill>
                <a:latin typeface="Aptos"/>
              </a:rPr>
              <a:t>One artifact, by digest.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3344525" y="6305550"/>
            <a:ext cx="361950" cy="171450"/>
          </a:xfrm>
          <a:prstGeom prst="rightArrow">
            <a:avLst/>
          </a:prstGeom>
          <a:solidFill>
            <a:srgbClr val="0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763625" y="5334000"/>
            <a:ext cx="3905250" cy="209550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0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180000" bIns="180000" wrap="square"/>
          <a:lstStyle/>
          <a:p>
            <a:pPr algn="ctr"/>
            <a:r>
              <a:rPr sz="2800" b="1">
                <a:solidFill>
                  <a:srgbClr val="0F6BFF"/>
                </a:solidFill>
                <a:latin typeface="Aptos"/>
              </a:rPr>
              <a:t>Deployer</a:t>
            </a:r>
          </a:p>
          <a:p>
            <a:pPr algn="ctr">
              <a:spcBef>
                <a:spcPts val="800"/>
              </a:spcBef>
            </a:pPr>
            <a:r>
              <a:rPr sz="2200">
                <a:solidFill>
                  <a:srgbClr val="000000"/>
                </a:solidFill>
                <a:latin typeface="Aptos"/>
              </a:rPr>
              <a:t>Applies it to the cluster.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91375" y="8001000"/>
            <a:ext cx="3905250" cy="209550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0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180000" bIns="180000" wrap="square"/>
          <a:lstStyle/>
          <a:p>
            <a:pPr algn="ctr"/>
            <a:r>
              <a:rPr sz="2800" b="1">
                <a:solidFill>
                  <a:srgbClr val="0F6BFF"/>
                </a:solidFill>
                <a:latin typeface="Aptos"/>
              </a:rPr>
              <a:t>Replication</a:t>
            </a:r>
          </a:p>
          <a:p>
            <a:pPr algn="ctr">
              <a:spcBef>
                <a:spcPts val="800"/>
              </a:spcBef>
            </a:pPr>
            <a:r>
              <a:rPr sz="2200">
                <a:solidFill>
                  <a:srgbClr val="000000"/>
                </a:solidFill>
                <a:latin typeface="Aptos"/>
              </a:rPr>
              <a:t>Mirrors a version to another repository.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DAY 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Bump the product version.</a:t>
            </a:r>
          </a:p>
          <a:p>
            <a:r>
              <a:t>Everything follows.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28750" y="3619500"/>
            <a:ext cx="6858000" cy="4953000"/>
          </a:xfrm>
          <a:prstGeom prst="roundRect">
            <a:avLst/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0000" rIns="140000" tIns="120000" bIns="120000" wrap="non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>
                <a:solidFill>
                  <a:srgbClr val="0A3A99"/>
                </a:solidFill>
                <a:latin typeface="Consolas"/>
              </a:rPr>
              <a:t>component: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>
                <a:solidFill>
                  <a:srgbClr val="000000"/>
                </a:solidFill>
                <a:latin typeface="Consolas"/>
              </a:rPr>
              <a:t>  name: acme.org/sovereign/product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>
                <a:solidFill>
                  <a:srgbClr val="000000"/>
                </a:solidFill>
                <a:latin typeface="Consolas"/>
              </a:rPr>
              <a:t>  version: 1.0.0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>
                <a:solidFill>
                  <a:srgbClr val="0A3A99"/>
                </a:solidFill>
                <a:latin typeface="Consolas"/>
              </a:rPr>
              <a:t>  componentReferences: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>
                <a:solidFill>
                  <a:srgbClr val="000000"/>
                </a:solidFill>
                <a:latin typeface="Consolas"/>
              </a:rPr>
              <a:t>    - name: notes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>
                <a:solidFill>
                  <a:srgbClr val="000000"/>
                </a:solidFill>
                <a:latin typeface="Consolas"/>
              </a:rPr>
              <a:t>      version: 1.0.0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>
                <a:solidFill>
                  <a:srgbClr val="000000"/>
                </a:solidFill>
                <a:latin typeface="Consolas"/>
              </a:rPr>
              <a:t>    - name: postgres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>
                <a:solidFill>
                  <a:srgbClr val="000000"/>
                </a:solidFill>
                <a:latin typeface="Consolas"/>
              </a:rPr>
              <a:t>      version: 1.0.0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>
                <a:solidFill>
                  <a:srgbClr val="0A3A99"/>
                </a:solidFill>
                <a:latin typeface="Consolas"/>
              </a:rPr>
              <a:t>signatures: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>
                <a:solidFill>
                  <a:srgbClr val="000000"/>
                </a:solidFill>
                <a:latin typeface="Consolas"/>
              </a:rPr>
              <a:t>  - name: acme-release-key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>
                <a:solidFill>
                  <a:srgbClr val="000000"/>
                </a:solidFill>
                <a:latin typeface="Consolas"/>
              </a:rPr>
              <a:t>    value: a4b1c2d3e5f6789abc012345def04691...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01250" y="3619500"/>
            <a:ext cx="6858000" cy="4953000"/>
          </a:xfrm>
          <a:prstGeom prst="roundRect">
            <a:avLst/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0000" rIns="140000" tIns="120000" bIns="120000" wrap="non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>
                <a:solidFill>
                  <a:srgbClr val="0A3A99"/>
                </a:solidFill>
                <a:latin typeface="Consolas"/>
              </a:rPr>
              <a:t>component: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>
                <a:solidFill>
                  <a:srgbClr val="000000"/>
                </a:solidFill>
                <a:latin typeface="Consolas"/>
              </a:rPr>
              <a:t>  name: acme.org/sovereign/product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>
                <a:solidFill>
                  <a:srgbClr val="0F6BFF"/>
                </a:solidFill>
                <a:latin typeface="Consolas"/>
              </a:rPr>
              <a:t>  version: 1.1.0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>
                <a:solidFill>
                  <a:srgbClr val="0A3A99"/>
                </a:solidFill>
                <a:latin typeface="Consolas"/>
              </a:rPr>
              <a:t>  componentReferences: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>
                <a:solidFill>
                  <a:srgbClr val="000000"/>
                </a:solidFill>
                <a:latin typeface="Consolas"/>
              </a:rPr>
              <a:t>    - name: notes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>
                <a:solidFill>
                  <a:srgbClr val="0F6BFF"/>
                </a:solidFill>
                <a:latin typeface="Consolas"/>
              </a:rPr>
              <a:t>      version: 1.1.0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>
                <a:solidFill>
                  <a:srgbClr val="000000"/>
                </a:solidFill>
                <a:latin typeface="Consolas"/>
              </a:rPr>
              <a:t>    - name: postgres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>
                <a:solidFill>
                  <a:srgbClr val="000000"/>
                </a:solidFill>
                <a:latin typeface="Consolas"/>
              </a:rPr>
              <a:t>      version: 1.0.0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>
                <a:solidFill>
                  <a:srgbClr val="0A3A99"/>
                </a:solidFill>
                <a:latin typeface="Consolas"/>
              </a:rPr>
              <a:t>signatures: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>
                <a:solidFill>
                  <a:srgbClr val="000000"/>
                </a:solidFill>
                <a:latin typeface="Consolas"/>
              </a:rPr>
              <a:t>  - name: acme-release-key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>
                <a:solidFill>
                  <a:srgbClr val="0F6BFF"/>
                </a:solidFill>
                <a:latin typeface="Consolas"/>
              </a:rPr>
              <a:t>    value: 9c2af18b3e7d52914a8c6b0f1d2e8f37...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572500" y="5619750"/>
            <a:ext cx="1143000" cy="952500"/>
          </a:xfrm>
          <a:prstGeom prst="rightArrow">
            <a:avLst/>
          </a:prstGeom>
          <a:solidFill>
            <a:srgbClr val="0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5048250"/>
            <a:ext cx="17145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F6BFF"/>
                </a:solidFill>
                <a:latin typeface="Aptos"/>
              </a:rPr>
              <a:t>bump 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9144000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>
                <a:solidFill>
                  <a:srgbClr val="0A3A99"/>
                </a:solidFill>
                <a:latin typeface="Aptos"/>
              </a:rPr>
              <a:t>Every digest pinned by the signature. The cluster cannot drift.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ADOPTION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Two paths to a first OCM component.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4762500"/>
            <a:ext cx="78105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F6BFF"/>
                </a:solidFill>
                <a:latin typeface="Aptos"/>
              </a:rPr>
              <a:t>FROM ZERO — CLI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52500" y="5295900"/>
            <a:ext cx="7810500" cy="0"/>
          </a:xfrm>
          <a:prstGeom prst="line">
            <a:avLst/>
          </a:prstGeom>
          <a:ln w="15875">
            <a:solidFill>
              <a:srgbClr val="0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52500" y="5448300"/>
            <a:ext cx="7810500" cy="2933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200">
                <a:solidFill>
                  <a:srgbClr val="000000"/>
                </a:solidFill>
                <a:latin typeface="Aptos"/>
              </a:rPr>
              <a:t>Pack one component. Sign it.</a:t>
            </a:r>
          </a:p>
          <a:p>
            <a:pPr algn="l">
              <a:spcBef>
                <a:spcPts val="1000"/>
              </a:spcBef>
            </a:pPr>
            <a:r>
              <a:rPr sz="2200">
                <a:solidFill>
                  <a:srgbClr val="000000"/>
                </a:solidFill>
                <a:latin typeface="Aptos"/>
              </a:rPr>
              <a:t>Air-gap CTF round-trip.</a:t>
            </a:r>
          </a:p>
          <a:p>
            <a:pPr algn="l">
              <a:spcBef>
                <a:spcPts val="1000"/>
              </a:spcBef>
            </a:pPr>
            <a:r>
              <a:rPr sz="2200">
                <a:solidFill>
                  <a:srgbClr val="000000"/>
                </a:solidFill>
                <a:latin typeface="Aptos"/>
              </a:rPr>
              <a:t>Verify on the other side.</a:t>
            </a:r>
          </a:p>
          <a:p>
            <a:pPr algn="l">
              <a:spcBef>
                <a:spcPts val="1000"/>
              </a:spcBef>
            </a:pPr>
            <a:r>
              <a:rPr sz="2200">
                <a:solidFill>
                  <a:srgbClr val="000000"/>
                </a:solidFill>
                <a:latin typeface="Aptos"/>
              </a:rPr>
              <a:t>Thirty minutes. One afternoon.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0" y="4762500"/>
            <a:ext cx="78105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F6BFF"/>
                </a:solidFill>
                <a:latin typeface="Aptos"/>
              </a:rPr>
              <a:t>ON YOUR CLUSTER — CONTROLLERS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525000" y="5295900"/>
            <a:ext cx="7810500" cy="0"/>
          </a:xfrm>
          <a:prstGeom prst="line">
            <a:avLst/>
          </a:prstGeom>
          <a:ln w="15875">
            <a:solidFill>
              <a:srgbClr val="0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525000" y="5448300"/>
            <a:ext cx="7810500" cy="2933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200">
                <a:solidFill>
                  <a:srgbClr val="000000"/>
                </a:solidFill>
                <a:latin typeface="Aptos"/>
              </a:rPr>
              <a:t>Helm-install the OCM controllers.</a:t>
            </a:r>
          </a:p>
          <a:p>
            <a:pPr algn="l">
              <a:spcBef>
                <a:spcPts val="1000"/>
              </a:spcBef>
            </a:pPr>
            <a:r>
              <a:rPr sz="2200">
                <a:solidFill>
                  <a:srgbClr val="000000"/>
                </a:solidFill>
                <a:latin typeface="Aptos"/>
              </a:rPr>
              <a:t>Point them at your registry.</a:t>
            </a:r>
          </a:p>
          <a:p>
            <a:pPr algn="l">
              <a:spcBef>
                <a:spcPts val="1000"/>
              </a:spcBef>
            </a:pPr>
            <a:r>
              <a:rPr sz="2200">
                <a:solidFill>
                  <a:srgbClr val="000000"/>
                </a:solidFill>
                <a:latin typeface="Aptos"/>
              </a:rPr>
              <a:t>Apply a Component resource — verified and reconciling.</a:t>
            </a:r>
          </a:p>
          <a:p>
            <a:pPr algn="l">
              <a:spcBef>
                <a:spcPts val="1000"/>
              </a:spcBef>
            </a:pPr>
            <a:r>
              <a:rPr sz="2200">
                <a:solidFill>
                  <a:srgbClr val="000000"/>
                </a:solidFill>
                <a:latin typeface="Aptos"/>
              </a:rPr>
              <a:t>Thirty minutes. One reconciling cluster.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WHAT'S SHARP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Two honest edges.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 sz="2800">
                <a:solidFill>
                  <a:srgbClr val="0F6BFF"/>
                </a:solidFill>
              </a:rPr>
              <a:t>▪  </a:t>
            </a:r>
            <a:r>
              <a:rPr b="1" sz="2800">
                <a:solidFill>
                  <a:srgbClr val="0F6BFF"/>
                </a:solidFill>
              </a:rPr>
              <a:t>Transfer defaults</a:t>
            </a:r>
            <a:r>
              <a:rPr sz="2800">
                <a:solidFill>
                  <a:srgbClr val="000000"/>
                </a:solidFill>
              </a:rPr>
              <a:t> — copies only the descriptor. For air-gap, pass --copy-resources so the bytes travel too.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 sz="2800">
                <a:solidFill>
                  <a:srgbClr val="0F6BFF"/>
                </a:solidFill>
              </a:rPr>
              <a:t>▪  </a:t>
            </a:r>
            <a:r>
              <a:rPr b="1" sz="2800">
                <a:solidFill>
                  <a:srgbClr val="0F6BFF"/>
                </a:solidFill>
              </a:rPr>
              <a:t>Controllers are v1alpha1</a:t>
            </a:r>
            <a:r>
              <a:rPr sz="2800">
                <a:solidFill>
                  <a:srgbClr val="000000"/>
                </a:solidFill>
              </a:rPr>
              <a:t> — the CRD surface can move. Pin minor versions in your platform installs.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Ship the release as one unit.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b="1">
                <a:solidFill>
                  <a:srgbClr val="5CD6FF"/>
                </a:solidFill>
              </a:rPr>
              <a:t>Try it</a:t>
            </a:r>
            <a:r>
              <a:rPr>
                <a:solidFill>
                  <a:srgbClr val="FFFFFF"/>
                </a:solidFill>
              </a:rPr>
              <a:t> — ocm.software</a:t>
            </a:r>
          </a:p>
          <a:p>
            <a:r>
              <a:rPr b="1">
                <a:solidFill>
                  <a:srgbClr val="5CD6FF"/>
                </a:solidFill>
              </a:rPr>
              <a:t>Build with us</a:t>
            </a:r>
            <a:r>
              <a:rPr>
                <a:solidFill>
                  <a:srgbClr val="FFFFFF"/>
                </a:solidFill>
              </a:rPr>
              <a:t> — github.com/open-component-model</a:t>
            </a:r>
          </a:p>
          <a:p>
            <a:r>
              <a:rPr b="1">
                <a:solidFill>
                  <a:srgbClr val="5CD6FF"/>
                </a:solidFill>
              </a:rPr>
              <a:t>Talk to us</a:t>
            </a:r>
            <a:r>
              <a:rPr>
                <a:solidFill>
                  <a:srgbClr val="FFFFFF"/>
                </a:solidFill>
              </a:rPr>
              <a:t> — community channels on the website</a:t>
            </a:r>
          </a:p>
        </p:txBody>
      </p:sp>
      <p:pic>
        <p:nvPicPr>
          <p:cNvPr id="4" name="Picture 3" descr="ocm-horizontal-white_4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029700"/>
            <a:ext cx="1905000" cy="723900"/>
          </a:xfrm>
          <a:prstGeom prst="rect">
            <a:avLst/>
          </a:prstGeom>
        </p:spPr>
      </p:pic>
      <p:pic>
        <p:nvPicPr>
          <p:cNvPr id="5" name="Picture 4" descr="neonephos-foundation-horizontal-white_4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3600" y="9258300"/>
            <a:ext cx="2540000" cy="495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CM">
  <a:themeElements>
    <a:clrScheme name="OCM">
      <a:dk1>
        <a:srgbClr val="000000"/>
      </a:dk1>
      <a:lt1>
        <a:srgbClr val="FFFFFF"/>
      </a:lt1>
      <a:dk2>
        <a:srgbClr val="0A3A99"/>
      </a:dk2>
      <a:lt2>
        <a:srgbClr val="F3F4F6"/>
      </a:lt2>
      <a:accent1>
        <a:srgbClr val="0F6BFF"/>
      </a:accent1>
      <a:accent2>
        <a:srgbClr val="0A3A99"/>
      </a:accent2>
      <a:accent3>
        <a:srgbClr val="5CD6FF"/>
      </a:accent3>
      <a:accent4>
        <a:srgbClr val="6B7280"/>
      </a:accent4>
      <a:accent5>
        <a:srgbClr val="0A1530"/>
      </a:accent5>
      <a:accent6>
        <a:srgbClr val="F3F4F6"/>
      </a:accent6>
      <a:hlink>
        <a:srgbClr val="0F6BFF"/>
      </a:hlink>
      <a:folHlink>
        <a:srgbClr val="0A3A99"/>
      </a:folHlink>
    </a:clrScheme>
    <a:fontScheme name="OCM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</a:schemeClr>
            </a:gs>
            <a:gs pos="50000">
              <a:schemeClr val="phClr">
                <a:tint val="98000"/>
                <a:satMod val="130000"/>
                <a:shade val="9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