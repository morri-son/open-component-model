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72" r:id="rId11"/>
    <p:sldId id="263" r:id="rId12"/>
    <p:sldId id="265" r:id="rId13"/>
    <p:sldId id="264" r:id="rId14"/>
    <p:sldId id="273" r:id="rId15"/>
    <p:sldId id="267" r:id="rId16"/>
    <p:sldId id="268" r:id="rId17"/>
    <p:sldId id="269" r:id="rId18"/>
    <p:sldId id="270" r:id="rId19"/>
    <p:sldId id="271" r:id="rId2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D6C709-C207-BD8E-B06E-7F305D748799}" name="Morrison, Gerald" initials="MG" userId="S::gerald.morrison@sap.com::7611ca13-cc5f-41ee-a954-b612bc1298db" providerId="AD"/>
  <p188:author id="{DDD8A6C9-2489-6BC4-4E2B-1BA24F0A757B}" name="Wilhelm, Frederic" initials="WF" userId="S::frederic.wilhelm@sap.com::1e88b249-80ac-47b2-aadb-2ee82b9a80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2F9718-3A1C-C340-899C-1918A9B88446}" v="282" dt="2026-06-26T18:37:55.172"/>
    <p1510:client id="{98730744-E9EC-D9DB-A6DA-0AF2525075A0}" v="18" dt="2026-06-26T17:45:41.978"/>
    <p1510:client id="{9FB664A8-A07C-A410-5EF7-F6424ED8EF21}" v="1" dt="2026-06-26T17:35:54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5"/>
    <p:restoredTop sz="94673"/>
  </p:normalViewPr>
  <p:slideViewPr>
    <p:cSldViewPr snapToGrid="0">
      <p:cViewPr varScale="1">
        <p:scale>
          <a:sx n="72" d="100"/>
          <a:sy n="72" d="100"/>
        </p:scale>
        <p:origin x="248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61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observation, not the product 'OCM'.</a:t>
            </a:r>
          </a:p>
          <a:p>
            <a:r>
              <a:t>Any release in the last six months: images, charts, configs, SBOMs - each named differently, each signed differently, if at all.</a:t>
            </a:r>
          </a:p>
          <a:p>
            <a:r>
              <a:t>You shipped pieces. Nothing carried the release.</a:t>
            </a:r>
          </a:p>
          <a:p>
            <a:r>
              <a:t>That is the gap to close in the next thirty minutes.</a:t>
            </a:r>
          </a:p>
          <a:p>
            <a:r>
              <a:t>No brand pitch yet - the deck does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the existing toolbox does not compose. Three artifact types, three identity shapes:</a:t>
            </a:r>
          </a:p>
          <a:p>
            <a:r>
              <a:t>• OCI image - `repo:tag` or `repo@sha256:…`. Mirror it, every downstream reference must be rewritten.</a:t>
            </a:r>
          </a:p>
          <a:p>
            <a:r>
              <a:t>• Helm chart - repo URL + chart name + version. Move the repo, every `helm install` breaks.</a:t>
            </a:r>
          </a:p>
          <a:p>
            <a:r>
              <a:t>• SBOM - no stable identifier of its own. Tied by filename or referrer; repackage and it dangles.</a:t>
            </a:r>
          </a:p>
          <a:p>
            <a:r>
              <a:t>Calibration for COSIGN (which can update the digest after explicit `cosign copy`): keep signing each piece. What is missing is a name for the release as one unit, signable, verifiable in a sovereign zone with no callback.</a:t>
            </a:r>
          </a:p>
          <a:p>
            <a:r>
              <a:t>Diagnosis: identity is bound to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conceptual fulcrum. Let it breathe. OCM separates three things the existing tools fuse:</a:t>
            </a:r>
          </a:p>
          <a:p>
            <a:r>
              <a:t>• Component identity - DNS-style name plus SemVer. Globally unique, location-agnostic. No registry in the name.</a:t>
            </a:r>
          </a:p>
          <a:p>
            <a:r>
              <a:t>• Digest - SHA-256 over each resource. Computed at pack time. This is what we sign.</a:t>
            </a:r>
          </a:p>
          <a:p>
            <a:r>
              <a:t>• Access - type plus fetch fields (`OCIImage/v1`, `Helm/v1`, `LocalBlob/v1`). Where the bytes currently live.</a:t>
            </a:r>
          </a:p>
          <a:p>
            <a:r>
              <a:t>Promote EU -&gt; US -&gt; air-gapped CTF and DEV -&gt; STAGING -&gt; PROD : identity stays, digest stays, only access is rewritten. Signature still verifies - anywhere.</a:t>
            </a:r>
          </a:p>
          <a:p>
            <a:r>
              <a:t>Move the artifact. The digest stays. Only the access changes. That is the whole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jobs: pre-empt 'what does this replace?' and define the noun 'COMPONENT' the rest of the deck rests on.</a:t>
            </a:r>
          </a:p>
          <a:p>
            <a:r>
              <a:t>OCM is not a replacement for OCI, Helm, or your SBOM tooling. It composes around them and adds one new thing - the component.</a:t>
            </a:r>
          </a:p>
          <a:p>
            <a:r>
              <a:t>• Any format - Helm stays Helm, OCI stays OCI, configs stay configs. The artifact `type:` is free-form</a:t>
            </a:r>
            <a:r>
              <a:rPr lang="de-DE"/>
              <a:t>, so an OCM component already carries SBOMs, npm packages, maven artifacts and anything else your team produces today - access is via `File/v1` or `LocalBlob/v1`. Dedicated `NPM/v1` and `Maven/v1` </a:t>
            </a:r>
            <a:r>
              <a:t>access types are </a:t>
            </a:r>
            <a:r>
              <a:rPr lang="de-DE"/>
              <a:t>on the roadmap (</a:t>
            </a:r>
            <a:r>
              <a:t>the </a:t>
            </a:r>
            <a:r>
              <a:rPr lang="de-DE"/>
              <a:t>v1 line shipped them; we're bringing them back to v2).</a:t>
            </a:r>
            <a:endParaRPr/>
          </a:p>
          <a:p>
            <a:r>
              <a:t>• Any location - name and version do not encode a registry. Move it; the name stays.</a:t>
            </a:r>
          </a:p>
          <a:p>
            <a:r>
              <a:t>• One signature - covers every digest in the component. The whole release is one signed unit.</a:t>
            </a:r>
          </a:p>
          <a:p>
            <a:r>
              <a:t>A component is the unit you sign, transport, and deploy. Hold the noun.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First YAML the audience sees. Walk it like you would for a colleague - eighteen lines, hand-written.</a:t>
            </a:r>
          </a:p>
          <a:p>
            <a:r>
              <a:t>• `components` - list, usually one. Name is DNS-style; version is SemVer.</a:t>
            </a:r>
          </a:p>
          <a:p>
            <a:r>
              <a:t>• `provider` - metadata, required.</a:t>
            </a:r>
          </a:p>
          <a:p>
            <a:r>
              <a:t>• `resources` - every artifact in the release. Two ways in:</a:t>
            </a:r>
          </a:p>
          <a:p>
            <a:r>
              <a:t>  ▪ `input:` - by value. Constructor reads the file at pack time, embeds the bytes. Travels in the archive.</a:t>
            </a:r>
          </a:p>
          <a:p>
            <a:r>
              <a:t>  ▪ `access:` - by reference. Records a pointer (e.g. `ghcr.io/.../podinfo:6.9.1`), resolves digest now, copies bytes later.</a:t>
            </a:r>
          </a:p>
          <a:p>
            <a:r>
              <a:t>Local files and configs tend to be input; big images tend to be access. Mix freely.</a:t>
            </a:r>
          </a:p>
          <a:p>
            <a:r>
              <a:t>CLI if asked: `ocm add cv` against this file, default output a CTF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first: this is generated by `ocm add cv`. You do not hand-edit it. This is what travels.</a:t>
            </a:r>
          </a:p>
          <a:p>
            <a:r>
              <a:t>We show one resource - the image - to keep focus on the mechanism. Real components carry many resources and may reference other components; the '...' line stands in for that.</a:t>
            </a:r>
          </a:p>
          <a:p>
            <a:r>
              <a:t>• `access` - `</a:t>
            </a:r>
            <a:r>
              <a:rPr lang="de-DE" err="1"/>
              <a:t>OCIImage</a:t>
            </a:r>
            <a:r>
              <a:t>/v1` with the </a:t>
            </a:r>
            <a:r>
              <a:rPr lang="de-DE" err="1"/>
              <a:t>imageReference</a:t>
            </a:r>
            <a:r>
              <a:t> pinned to a digest. Kills the repoint-the-tag attack class. Excluded from the canonical form on purpose - transport rewrites it.</a:t>
            </a:r>
          </a:p>
          <a:p>
            <a:r>
              <a:t>• `digest` - SHA-256 over the resource bytes. Computed at pack time. Input to the descriptor hash.</a:t>
            </a:r>
          </a:p>
          <a:p>
            <a:r>
              <a:t>• `signatures:` - list. Each entry signs ONE hash: the SHA-256 of the canonicalized descriptor. That single hash covers every resource digest. Multiple signatures allowed - dual-sign RSA + Sigstore, verifiers pick.</a:t>
            </a:r>
          </a:p>
          <a:p>
            <a:r>
              <a:t>Three things to land. Signed: the descriptor hash - so one signature covers every artifact in the component. Not signed: the access fields - so transport can rewrite them freely. The signature still verifies, anywhere.</a:t>
            </a:r>
          </a:p>
          <a:p>
            <a:r>
              <a:t>Sign the descriptor hash, not the access. Seven words; whole transport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**On screen.** Pack · </a:t>
            </a:r>
            <a:r>
              <a:rPr lang="de-DE" err="1"/>
              <a:t>Sign</a:t>
            </a:r>
            <a:r>
              <a:rPr lang="de-DE"/>
              <a:t> · Transport · Deploy → Sovereign Cloud </a:t>
            </a:r>
            <a:r>
              <a:rPr lang="de-DE" err="1"/>
              <a:t>diagram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/>
              <a:t>**Speaker </a:t>
            </a:r>
            <a:r>
              <a:rPr lang="de-DE" err="1"/>
              <a:t>notes</a:t>
            </a:r>
            <a:r>
              <a:rPr lang="de-DE"/>
              <a:t>.**</a:t>
            </a:r>
          </a:p>
          <a:p>
            <a:endParaRPr lang="de-DE"/>
          </a:p>
          <a:p>
            <a:r>
              <a:rPr lang="de-DE"/>
              <a:t>Big </a:t>
            </a:r>
            <a:r>
              <a:rPr lang="de-DE" err="1"/>
              <a:t>diagram</a:t>
            </a:r>
            <a:r>
              <a:rPr lang="de-DE"/>
              <a:t>, </a:t>
            </a:r>
            <a:r>
              <a:rPr lang="de-DE" err="1"/>
              <a:t>four</a:t>
            </a:r>
            <a:r>
              <a:rPr lang="de-DE"/>
              <a:t> </a:t>
            </a:r>
            <a:r>
              <a:rPr lang="de-DE" err="1"/>
              <a:t>verbs</a:t>
            </a:r>
            <a:r>
              <a:rPr lang="de-DE"/>
              <a:t>,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demo</a:t>
            </a:r>
            <a:r>
              <a:rPr lang="de-DE"/>
              <a:t> </a:t>
            </a:r>
            <a:r>
              <a:rPr lang="de-DE" err="1"/>
              <a:t>replacement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/>
              <a:t>&gt; "</a:t>
            </a:r>
            <a:r>
              <a:rPr lang="de-DE" err="1"/>
              <a:t>Here's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whole</a:t>
            </a:r>
            <a:r>
              <a:rPr lang="de-DE"/>
              <a:t> </a:t>
            </a:r>
            <a:r>
              <a:rPr lang="de-DE" err="1"/>
              <a:t>flow</a:t>
            </a:r>
            <a:r>
              <a:rPr lang="de-DE"/>
              <a:t> on </a:t>
            </a:r>
            <a:r>
              <a:rPr lang="de-DE" err="1"/>
              <a:t>one</a:t>
            </a:r>
            <a:r>
              <a:rPr lang="de-DE"/>
              <a:t> </a:t>
            </a:r>
            <a:r>
              <a:rPr lang="de-DE" err="1"/>
              <a:t>slide</a:t>
            </a:r>
            <a:r>
              <a:rPr lang="de-DE"/>
              <a:t>. </a:t>
            </a:r>
            <a:r>
              <a:rPr lang="de-DE" err="1"/>
              <a:t>Four</a:t>
            </a:r>
            <a:r>
              <a:rPr lang="de-DE"/>
              <a:t> </a:t>
            </a:r>
            <a:r>
              <a:rPr lang="de-DE" err="1"/>
              <a:t>verbs</a:t>
            </a:r>
            <a:r>
              <a:rPr lang="de-DE"/>
              <a:t>."</a:t>
            </a:r>
          </a:p>
          <a:p>
            <a:endParaRPr lang="de-DE"/>
          </a:p>
          <a:p>
            <a:r>
              <a:rPr lang="de-DE"/>
              <a:t>**Point at PACK.** "Pack.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bundle</a:t>
            </a:r>
            <a:r>
              <a:rPr lang="de-DE"/>
              <a:t> </a:t>
            </a:r>
            <a:r>
              <a:rPr lang="de-DE" err="1"/>
              <a:t>whatever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software</a:t>
            </a:r>
            <a:r>
              <a:rPr lang="de-DE"/>
              <a:t> </a:t>
            </a:r>
            <a:r>
              <a:rPr lang="de-DE" err="1"/>
              <a:t>actually</a:t>
            </a:r>
            <a:r>
              <a:rPr lang="de-DE"/>
              <a:t> </a:t>
            </a:r>
            <a:r>
              <a:rPr lang="de-DE" err="1"/>
              <a:t>needs</a:t>
            </a:r>
            <a:r>
              <a:rPr lang="de-DE"/>
              <a:t> —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image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chart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config</a:t>
            </a:r>
            <a:r>
              <a:rPr lang="de-DE"/>
              <a:t> —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one</a:t>
            </a:r>
            <a:r>
              <a:rPr lang="de-DE"/>
              <a:t> </a:t>
            </a:r>
            <a:r>
              <a:rPr lang="de-DE" err="1"/>
              <a:t>named</a:t>
            </a:r>
            <a:r>
              <a:rPr lang="de-DE"/>
              <a:t>, </a:t>
            </a:r>
            <a:r>
              <a:rPr lang="de-DE" err="1"/>
              <a:t>versioned</a:t>
            </a:r>
            <a:r>
              <a:rPr lang="de-DE"/>
              <a:t> </a:t>
            </a:r>
            <a:r>
              <a:rPr lang="de-DE" err="1"/>
              <a:t>component</a:t>
            </a:r>
            <a:r>
              <a:rPr lang="de-DE"/>
              <a:t>. </a:t>
            </a:r>
            <a:r>
              <a:rPr lang="de-DE" err="1"/>
              <a:t>One</a:t>
            </a:r>
            <a:r>
              <a:rPr lang="de-DE"/>
              <a:t> source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truth</a:t>
            </a:r>
            <a:r>
              <a:rPr lang="de-DE"/>
              <a:t>."</a:t>
            </a:r>
          </a:p>
          <a:p>
            <a:endParaRPr lang="de-DE"/>
          </a:p>
          <a:p>
            <a:r>
              <a:rPr lang="de-DE"/>
              <a:t>**Point at SIGN.** "Sign. </a:t>
            </a:r>
            <a:r>
              <a:rPr lang="de-DE" err="1"/>
              <a:t>One</a:t>
            </a:r>
            <a:r>
              <a:rPr lang="de-DE"/>
              <a:t> </a:t>
            </a:r>
            <a:r>
              <a:rPr lang="de-DE" err="1"/>
              <a:t>signature</a:t>
            </a:r>
            <a:r>
              <a:rPr lang="de-DE"/>
              <a:t> </a:t>
            </a:r>
            <a:r>
              <a:rPr lang="de-DE" err="1"/>
              <a:t>covers</a:t>
            </a:r>
            <a:r>
              <a:rPr lang="de-DE"/>
              <a:t> </a:t>
            </a:r>
            <a:r>
              <a:rPr lang="de-DE" err="1"/>
              <a:t>every</a:t>
            </a:r>
            <a:r>
              <a:rPr lang="de-DE"/>
              <a:t> </a:t>
            </a:r>
            <a:r>
              <a:rPr lang="de-DE" err="1"/>
              <a:t>artifact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bundle</a:t>
            </a:r>
            <a:r>
              <a:rPr lang="de-DE"/>
              <a:t>. By </a:t>
            </a:r>
            <a:r>
              <a:rPr lang="de-DE" err="1"/>
              <a:t>digest</a:t>
            </a:r>
            <a:r>
              <a:rPr lang="de-DE"/>
              <a:t>. So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anything</a:t>
            </a:r>
            <a:r>
              <a:rPr lang="de-DE"/>
              <a:t> </a:t>
            </a:r>
            <a:r>
              <a:rPr lang="de-DE" err="1"/>
              <a:t>changes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signature</a:t>
            </a:r>
            <a:r>
              <a:rPr lang="de-DE"/>
              <a:t> </a:t>
            </a:r>
            <a:r>
              <a:rPr lang="de-DE" err="1"/>
              <a:t>breaks</a:t>
            </a:r>
            <a:r>
              <a:rPr lang="de-DE"/>
              <a:t>."</a:t>
            </a:r>
          </a:p>
          <a:p>
            <a:endParaRPr lang="de-DE"/>
          </a:p>
          <a:p>
            <a:r>
              <a:rPr lang="de-DE"/>
              <a:t>**Point at TRANSPORT.** "Transport. The </a:t>
            </a:r>
            <a:r>
              <a:rPr lang="de-DE" err="1"/>
              <a:t>component</a:t>
            </a:r>
            <a:r>
              <a:rPr lang="de-DE"/>
              <a:t> </a:t>
            </a:r>
            <a:r>
              <a:rPr lang="de-DE" err="1"/>
              <a:t>moves</a:t>
            </a:r>
            <a:r>
              <a:rPr lang="de-DE"/>
              <a:t> </a:t>
            </a:r>
            <a:r>
              <a:rPr lang="de-DE" err="1"/>
              <a:t>across</a:t>
            </a:r>
            <a:r>
              <a:rPr lang="de-DE"/>
              <a:t> </a:t>
            </a:r>
            <a:r>
              <a:rPr lang="de-DE" err="1"/>
              <a:t>registry</a:t>
            </a:r>
            <a:r>
              <a:rPr lang="de-DE"/>
              <a:t> </a:t>
            </a:r>
            <a:r>
              <a:rPr lang="de-DE" err="1"/>
              <a:t>boundaries</a:t>
            </a:r>
            <a:r>
              <a:rPr lang="de-DE"/>
              <a:t>. Cloud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cloud</a:t>
            </a:r>
            <a:r>
              <a:rPr lang="de-DE"/>
              <a:t>, </a:t>
            </a:r>
            <a:r>
              <a:rPr lang="de-DE" err="1"/>
              <a:t>region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region</a:t>
            </a:r>
            <a:r>
              <a:rPr lang="de-DE"/>
              <a:t>, </a:t>
            </a:r>
            <a:r>
              <a:rPr lang="de-DE" err="1"/>
              <a:t>even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an </a:t>
            </a:r>
            <a:r>
              <a:rPr lang="de-DE" err="1"/>
              <a:t>air-gapped</a:t>
            </a:r>
            <a:r>
              <a:rPr lang="de-DE"/>
              <a:t> </a:t>
            </a:r>
            <a:r>
              <a:rPr lang="de-DE" err="1"/>
              <a:t>archive</a:t>
            </a:r>
            <a:r>
              <a:rPr lang="de-DE"/>
              <a:t> — </a:t>
            </a:r>
            <a:r>
              <a:rPr lang="de-DE" err="1"/>
              <a:t>without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signature</a:t>
            </a:r>
            <a:r>
              <a:rPr lang="de-DE"/>
              <a:t> </a:t>
            </a:r>
            <a:r>
              <a:rPr lang="de-DE" err="1"/>
              <a:t>breaking</a:t>
            </a:r>
            <a:r>
              <a:rPr lang="de-DE"/>
              <a:t>."</a:t>
            </a:r>
          </a:p>
          <a:p>
            <a:endParaRPr lang="de-DE"/>
          </a:p>
          <a:p>
            <a:r>
              <a:rPr lang="de-DE"/>
              <a:t>**Point at DEPLOY.** "Deploy. At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destination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receiver</a:t>
            </a:r>
            <a:r>
              <a:rPr lang="de-DE"/>
              <a:t> </a:t>
            </a:r>
            <a:r>
              <a:rPr lang="de-DE" err="1"/>
              <a:t>verifies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signature</a:t>
            </a:r>
            <a:r>
              <a:rPr lang="de-DE"/>
              <a:t>, </a:t>
            </a:r>
            <a:r>
              <a:rPr lang="de-DE" err="1"/>
              <a:t>unpacks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bundle</a:t>
            </a:r>
            <a:r>
              <a:rPr lang="de-DE"/>
              <a:t>, </a:t>
            </a:r>
            <a:r>
              <a:rPr lang="de-DE" err="1"/>
              <a:t>deploys</a:t>
            </a:r>
            <a:r>
              <a:rPr lang="de-DE"/>
              <a:t> it. </a:t>
            </a:r>
            <a:r>
              <a:rPr lang="de-DE" err="1"/>
              <a:t>GitOps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OCM K8s </a:t>
            </a:r>
            <a:r>
              <a:rPr lang="de-DE" err="1"/>
              <a:t>controllers</a:t>
            </a:r>
            <a:r>
              <a:rPr lang="de-DE"/>
              <a:t> —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choice</a:t>
            </a:r>
            <a:r>
              <a:rPr lang="de-DE"/>
              <a:t>. 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callback</a:t>
            </a:r>
            <a:r>
              <a:rPr lang="de-DE"/>
              <a:t> </a:t>
            </a:r>
            <a:r>
              <a:rPr lang="de-DE" err="1"/>
              <a:t>upstream</a:t>
            </a:r>
            <a:r>
              <a:rPr lang="de-DE"/>
              <a:t>."</a:t>
            </a:r>
          </a:p>
          <a:p>
            <a:endParaRPr lang="de-DE"/>
          </a:p>
          <a:p>
            <a:r>
              <a:rPr lang="de-DE"/>
              <a:t>&gt; "Pack, </a:t>
            </a:r>
            <a:r>
              <a:rPr lang="de-DE" err="1"/>
              <a:t>sign</a:t>
            </a:r>
            <a:r>
              <a:rPr lang="de-DE"/>
              <a:t>, </a:t>
            </a:r>
            <a:r>
              <a:rPr lang="de-DE" err="1"/>
              <a:t>transport</a:t>
            </a:r>
            <a:r>
              <a:rPr lang="de-DE"/>
              <a:t>, deploy. </a:t>
            </a:r>
            <a:r>
              <a:rPr lang="de-DE" err="1"/>
              <a:t>That's</a:t>
            </a:r>
            <a:r>
              <a:rPr lang="de-DE"/>
              <a:t> OCM in </a:t>
            </a:r>
            <a:r>
              <a:rPr lang="de-DE" err="1"/>
              <a:t>operation</a:t>
            </a:r>
            <a:r>
              <a:rPr lang="de-DE"/>
              <a:t>."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73606-87F5-5942-8082-20AE3C26AFE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221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Composition is the architectural fact that makes day-2 work.</a:t>
            </a:r>
          </a:p>
          <a:p>
            <a:r>
              <a:t>• Service components carry resources - images, charts, configs, SBOMs. Walk the LEFT box: `acme.org/sovereign/notes` and `acme.org/sovereign/postgres`, each with image + chart + `...` (real components carry more - configs, SBOMs - the `...` stands for that).</a:t>
            </a:r>
          </a:p>
          <a:p>
            <a:r>
              <a:t>• A product component composes services via `componentReferences:` - name + version, no resources of its own. Walk the RIGHT box: `acme.org/sovereign/product` references both notes and postgres by name and version. Nothing else.</a:t>
            </a:r>
          </a:p>
          <a:p>
            <a:r>
              <a:t>• Each service is independently versioned, signed, transferable. The product is a small descriptor that points at them.</a:t>
            </a:r>
          </a:p>
          <a:p>
            <a:r>
              <a:t>Real releases are not one big component - they are one product component referencing several services. This is the shape day-2 (slide 12) operates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mechanic, three patterns - covers every delivery topology you will see.</a:t>
            </a:r>
          </a:p>
          <a:p>
            <a:r>
              <a:t>• Registry -&gt; Registry - promotion across dev/staging/prod, or cross-cloud GHCR -&gt; ECR. Same digests, every access rewritten.</a:t>
            </a:r>
          </a:p>
          <a:p>
            <a:r>
              <a:t>• Registry -&gt; CTF - Common Transport Format. A local archive of blobs + index. Hand-carry across the boundary.</a:t>
            </a:r>
          </a:p>
          <a:p>
            <a:r>
              <a:t>• CTF -&gt; Registry - the air-gap import. Archive arrives, `ocm transfer` uploads, access rewrites to local registry, signature verifies locally. No traffic to source.</a:t>
            </a:r>
          </a:p>
          <a:p>
            <a:r>
              <a:t>Same command in all three: `ocm transfer cv &lt;src&gt; &lt;dst&gt;`. Access changes; digests do not. Signature covers digests, so it survives every hop. Verification is purely local at the destination - that is the air-gap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signed object - the canonical descriptor digest - in all three. How you prove the key is what varies. All three are stable on the v1alpha1 API surface today:</a:t>
            </a:r>
          </a:p>
          <a:p>
            <a:r>
              <a:t>• RSA / RSASSA-PSS - bare public-key pinning. The key you already rotate. No PKI required. Trust model: key pinning.</a:t>
            </a:r>
          </a:p>
          <a:p>
            <a:r>
              <a:t>• GPG - OpenPGP key material; trust model is the same as RSA Plain (key pinning), just with a different key format. Fits orgs already running web-of-trust keyrings.</a:t>
            </a:r>
          </a:p>
          <a:p>
            <a:r>
              <a:t>• Sigstore - keyless via OIDC + Rekor transparency log; trust anchor is your OIDC issuer. Fits CI workloads and any signer that can present an OIDC identity.</a:t>
            </a:r>
          </a:p>
          <a:p>
            <a:r>
              <a:t>Three things to land. Same signed object - the canonical descriptor digest. Verifiers can require multiple in parallel (RSA from release team + Sigstore from CI). Pick what your org already runs.</a:t>
            </a:r>
          </a:p>
          <a:p>
            <a:r>
              <a:t>Q&amp;A backup on PEM / cert chains: A fourth option exists - RSA with X.509 certificate chain, PEM encoding. Still experimental: the CLI prints `experimental` warnings on every sign and verify. Watch the docs; we'll promote it when the encoding stabilizes.</a:t>
            </a:r>
          </a:p>
          <a:p>
            <a:r>
              <a:t>CLI: `ocm sign cv ./archive//github.com/acme/widget:v1.4.2 --signature acme-release-key --private-key ./release-key.pem`.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Composition was just defined on slide 8. This slide does ONE job: the day-2 mechanic.</a:t>
            </a:r>
          </a:p>
          <a:p>
            <a:r>
              <a:t>The product is `acme.org/sovereign/product`. Day 1 references notes 1.0.0 and postgres 1.0.0, each with its descriptor digest pinned. The notes team ships a patch (1.0.0 -&gt; 1.1.0). The platform team raises the product to 1.1.0 and updates the notes reference (its version AND its digest, because the new notes descriptor hashes differently). Postgres stays - same version, same digest.</a:t>
            </a:r>
          </a:p>
          <a:p>
            <a:r>
              <a:t>Commit. The controller pulls the new product descriptor, verifies the signature, resolves the new digests, applies. Notes rolls forward; postgres is untouched.</a:t>
            </a:r>
          </a:p>
          <a:p>
            <a:r>
              <a:t>Differentiator framing for security architects: OCM is a release-level envelope. `helm upgrade` upgrades one chart; cosign signs one image. The OCM signature covers the whole release as one unit - every digest in every resource of every referenced component is pinned by the one parent signature. Drift would mean breaking that signature.</a:t>
            </a:r>
          </a:p>
          <a:p>
            <a:r>
              <a:t>Q&amp;A backup on forged descriptors: nothing OCM-specific stops a malicious operator from committing a forged descriptor with bumped versions, an attacker's image references, and a re-signed signature using a stolen key. Same threat model as any signed-release system: rotate keys, dual-sign, audit. What OCM gives you is one signature to audit instead of N.</a:t>
            </a:r>
          </a:p>
          <a:p>
            <a:r>
              <a:t>Bump the product. The references follow. The cluster cannot drift without breaking the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paths to a first OCM component. Both tested in conformance on every release. Both fit an afternoon on a laptop.</a:t>
            </a:r>
          </a:p>
          <a:p>
            <a:r>
              <a:t>• From zero - CLI. No cluster needed. Install CLI. Take one component you already ship. Write the constructor. Pack. Sign with RSA. Export as CTF. Carry to a second machine. Import. Verify. Round trip in 30 minutes. Recommend this first.</a:t>
            </a:r>
          </a:p>
          <a:p>
            <a:r>
              <a:t>• On your cluster - controllers. Four K8s deployments, helm-install on any cluster. Point at your registry. Apply a Component resource - verified and reconciling.</a:t>
            </a:r>
          </a:p>
          <a:p>
            <a:r>
              <a:t>Both paths coexist with what you already run - cosign, Argo, Flux, Kyverno. OCM signs the descriptor; your existing controls stay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slide that earns trust. Deliver straight; do not soften.</a:t>
            </a:r>
          </a:p>
          <a:p>
            <a:r>
              <a:t>• Transfer defaults - copies only the descriptor. For air-gap, pass --copy-resources so the bytes travel too. Worth catching in a CI step the first time someone runs an air-gap export.</a:t>
            </a:r>
          </a:p>
          <a:p>
            <a:r>
              <a:t>• Controllers v1alpha1 - CRD shapes for Repository/Component/Resource/Deployer are stabilising but still v1alpha1. Pin to specific release tags in your platform installs.</a:t>
            </a:r>
          </a:p>
          <a:p>
            <a:r>
              <a:t>• Helm-deploy adds kro + Flux - the OCM controllers don't ship them. The reference Helm-deploy flow is OCM Controllers -&gt; ResourceGraphDefinition -&gt; kro -&gt; Flux/HelmRelease. Three installs, not one. Plan for it.</a:t>
            </a:r>
          </a:p>
          <a:p>
            <a:r>
              <a:t>Honest now beats apologetic later. If any edge is a deal-breaker, tell us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ask. Three doors, architect-shaped.</a:t>
            </a:r>
          </a:p>
          <a:p>
            <a:r>
              <a:t>• Evaluate - `ocm.software`. Read the spec, run the conformance scenario at `conformance/scenarios/sovereign`, judge fit. You will know within an afternoon if OCM fits.</a:t>
            </a:r>
          </a:p>
          <a:p>
            <a:r>
              <a:t>• Pilot - `github.com/open-component-model`. Take one product, one team, scoped scope of work. Spec, implementation, conformance suite, roadmap - all in the open.</a:t>
            </a:r>
          </a:p>
          <a:p>
            <a:r>
              <a:t>• Engage - community channels on the website. We're stewarding a standard under NeoNephos Foundation governance. The more voices while it's being shaped, the better the standard gets.</a:t>
            </a:r>
          </a:p>
          <a:p>
            <a:r>
              <a:t>Not selling OCM. Stewarding it as a multi-vendor standard. Ship the release as one unit. Thank you -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APPENDIX — pull only if asked about cluster-side mirroring or 'how do I get a version from one repo into another without running the CLI?'.</a:t>
            </a:r>
          </a:p>
          <a:p>
            <a:r>
              <a:t>A fifth controller, `Replication`, sits alongside the four-card chain - not within it. Where the chain delivers content INTO the cluster, Replication transfers a resolved component version FROM one OCM repository TO another. Same descriptor, same digests, fresh access fields.</a:t>
            </a:r>
          </a:p>
          <a:p>
            <a:r>
              <a:t>References a source `Component` CR and a target `Repository` CR. When the source's resolved version changes, transfers that version with its full reference graph into the target.</a:t>
            </a:r>
          </a:p>
          <a:p>
            <a:r>
              <a:t>Mirrors the behavior of `ocm transfer cv` on the OCM CLI. Records `status.lastTransferredDigest` after each successful run; a later reconciliation seeing the same digest is a no-op.</a:t>
            </a:r>
          </a:p>
          <a:p>
            <a:r>
              <a:t>Use cases: delivery pipelines, promotion between environments, air-gap mirroring kept in-cluster rather than on a workstation.</a:t>
            </a:r>
          </a:p>
          <a:p>
            <a:r>
              <a:t>Not on the main deck because the four-card chain is the load-bearing story for a 30-minute architect talk. This is the answer to a specific question, not part of the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7373600" cy="1524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115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7373600" cy="1524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115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3-Column Tall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2857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Two-line section title goes here.</a:t>
            </a:r>
          </a:p>
        </p:txBody>
      </p:sp>
      <p:sp>
        <p:nvSpPr>
          <p:cNvPr id="12" name="Col1 Rule"/>
          <p:cNvSpPr/>
          <p:nvPr/>
        </p:nvSpPr>
        <p:spPr>
          <a:xfrm>
            <a:off x="11430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60579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6705600"/>
            <a:ext cx="4972050" cy="3619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</a:p>
        </p:txBody>
      </p:sp>
      <p:sp>
        <p:nvSpPr>
          <p:cNvPr id="15" name="Col2 Rule"/>
          <p:cNvSpPr/>
          <p:nvPr/>
        </p:nvSpPr>
        <p:spPr>
          <a:xfrm>
            <a:off x="664845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60579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6705600"/>
            <a:ext cx="4972050" cy="3619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</a:p>
        </p:txBody>
      </p:sp>
      <p:sp>
        <p:nvSpPr>
          <p:cNvPr id="18" name="Col3 Rule"/>
          <p:cNvSpPr/>
          <p:nvPr/>
        </p:nvSpPr>
        <p:spPr>
          <a:xfrm>
            <a:off x="121539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6057900"/>
            <a:ext cx="4972050" cy="533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6705600"/>
            <a:ext cx="4972050" cy="3619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CM-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pPr algn="l"/>
            <a:r>
              <a:rPr dirty="0">
                <a:solidFill>
                  <a:srgbClr val="FFFFFF"/>
                </a:solidFill>
              </a:rPr>
              <a:t>You ship pieces.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/>
            <a:r>
              <a:rPr>
                <a:gradFill flip="none" rotWithShape="1">
                  <a:gsLst>
                    <a:gs pos="0">
                      <a:srgbClr val="FFFFFF"/>
                    </a:gs>
                    <a:gs pos="35000">
                      <a:srgbClr val="5CD6FF"/>
                    </a:gs>
                    <a:gs pos="75000">
                      <a:srgbClr val="0F6BFF"/>
                    </a:gs>
                  </a:gsLst>
                  <a:lin ang="0" scaled="1"/>
                </a:gradFill>
              </a:rPr>
              <a:t>Nothing carries the release.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>
                <a:solidFill>
                  <a:srgbClr val="5CD6FF"/>
                </a:solidFill>
              </a:rPr>
              <a:t>You sign the pieces. Nothing signs the release.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Open Component Model — open source, NeoNephos Foundation.</a:t>
            </a:r>
          </a:p>
        </p:txBody>
      </p:sp>
      <p:pic>
        <p:nvPicPr>
          <p:cNvPr id="7" name="Picture 6" descr="ocm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8" name="Picture 7" descr="neonephos-foundation-horizontal-white_4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DIAGNOSIS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t>In every existing tool, identity is bound to location.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>
          <a:xfrm>
            <a:off x="1143000" y="5448301"/>
            <a:ext cx="16002000" cy="1905000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OCI image</a:t>
            </a:r>
            <a:r>
              <a:rPr>
                <a:solidFill>
                  <a:srgbClr val="000000"/>
                </a:solidFill>
              </a:rPr>
              <a:t> — identified by registry/</a:t>
            </a:r>
            <a:r>
              <a:rPr err="1">
                <a:solidFill>
                  <a:srgbClr val="000000"/>
                </a:solidFill>
              </a:rPr>
              <a:t>repo:tag</a:t>
            </a:r>
            <a:r>
              <a:rPr>
                <a:solidFill>
                  <a:srgbClr val="000000"/>
                </a:solidFill>
              </a:rPr>
              <a:t>. Mirror it; every downstream reference is invalidated.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</a:t>
            </a:r>
            <a:r>
              <a:rPr lang="de-DE" b="1">
                <a:solidFill>
                  <a:srgbClr val="0F6BFF"/>
                </a:solidFill>
              </a:rPr>
              <a:t> </a:t>
            </a:r>
            <a:r>
              <a:rPr b="1">
                <a:solidFill>
                  <a:srgbClr val="0F6BFF"/>
                </a:solidFill>
              </a:rPr>
              <a:t>Helm chart</a:t>
            </a:r>
            <a:r>
              <a:rPr>
                <a:solidFill>
                  <a:srgbClr val="000000"/>
                </a:solidFill>
              </a:rPr>
              <a:t> — identified by repo URL + name + version. Mirror the repo; pulls fail.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SBOM</a:t>
            </a:r>
            <a:r>
              <a:rPr>
                <a:solidFill>
                  <a:srgbClr val="000000"/>
                </a:solidFill>
              </a:rPr>
              <a:t> — linked to its subject by file path or naming convention. Move the artifact; the link dangles.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THE HINGE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Identity that travels with the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791810"/>
            <a:ext cx="8953500" cy="400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Component identity</a:t>
            </a:r>
            <a:r>
              <a:rPr sz="2800">
                <a:solidFill>
                  <a:srgbClr val="000000"/>
                </a:solidFill>
                <a:latin typeface="Aptos"/>
              </a:rPr>
              <a:t> — name and version of the component. Globally unique. Location-agnostic.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Digest</a:t>
            </a:r>
            <a:r>
              <a:rPr sz="2800">
                <a:solidFill>
                  <a:srgbClr val="000000"/>
                </a:solidFill>
                <a:latin typeface="Aptos"/>
              </a:rPr>
              <a:t> — every resource inside the component carries a content hash. Computed once.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Access</a:t>
            </a:r>
            <a:r>
              <a:rPr sz="2800">
                <a:solidFill>
                  <a:srgbClr val="000000"/>
                </a:solidFill>
                <a:latin typeface="Aptos"/>
              </a:rPr>
              <a:t> — where the resource currently lives. Rewritten on transfer. Digest stays.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1BCD934B-6EC4-F51A-8ECE-8603384F8DF9}"/>
              </a:ext>
            </a:extLst>
          </p:cNvPr>
          <p:cNvGrpSpPr/>
          <p:nvPr/>
        </p:nvGrpSpPr>
        <p:grpSpPr>
          <a:xfrm>
            <a:off x="10525125" y="4886325"/>
            <a:ext cx="6953250" cy="3200400"/>
            <a:chOff x="10525125" y="5143500"/>
            <a:chExt cx="6953250" cy="3200400"/>
          </a:xfrm>
        </p:grpSpPr>
        <p:sp>
          <p:nvSpPr>
            <p:cNvPr id="5" name="Rounded Rectangle 4"/>
            <p:cNvSpPr/>
            <p:nvPr/>
          </p:nvSpPr>
          <p:spPr>
            <a:xfrm>
              <a:off x="11144250" y="5143500"/>
              <a:ext cx="5715000" cy="609600"/>
            </a:xfrm>
            <a:prstGeom prst="roundRect">
              <a:avLst/>
            </a:prstGeom>
            <a:solidFill>
              <a:srgbClr val="F3F4F6"/>
            </a:solidFill>
            <a:ln w="19050">
              <a:solidFill>
                <a:srgbClr val="0F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0000" tIns="40000" rIns="80000" bIns="40000" rtlCol="0" anchor="ctr"/>
            <a:lstStyle/>
            <a:p>
              <a:pPr algn="ctr"/>
              <a:r>
                <a:rPr sz="2000" b="1">
                  <a:solidFill>
                    <a:srgbClr val="0F6BFF"/>
                  </a:solidFill>
                  <a:latin typeface="Consolas"/>
                </a:rPr>
                <a:t>github.com/acme.org/helloworld:1.0.0</a:t>
              </a:r>
            </a:p>
          </p:txBody>
        </p:sp>
        <p:sp>
          <p:nvSpPr>
            <p:cNvPr id="6" name="Can 5"/>
            <p:cNvSpPr/>
            <p:nvPr/>
          </p:nvSpPr>
          <p:spPr>
            <a:xfrm>
              <a:off x="10906125" y="6515100"/>
              <a:ext cx="1524000" cy="1333500"/>
            </a:xfrm>
            <a:prstGeom prst="can">
              <a:avLst/>
            </a:prstGeom>
            <a:solidFill>
              <a:srgbClr val="FFFFFF"/>
            </a:solidFill>
            <a:ln w="19050">
              <a:solidFill>
                <a:srgbClr val="0F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0000" tIns="40000" rIns="40000" bIns="40000" rtlCol="0" anchor="ctr"/>
            <a:lstStyle/>
            <a:p>
              <a:pPr algn="ctr"/>
              <a:r>
                <a:rPr sz="2000" b="1">
                  <a:solidFill>
                    <a:srgbClr val="0F6BFF"/>
                  </a:solidFill>
                  <a:latin typeface="Aptos"/>
                </a:rPr>
                <a:t>EU reg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25125" y="8001000"/>
              <a:ext cx="2286000" cy="3429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800">
                  <a:solidFill>
                    <a:srgbClr val="6B7280"/>
                  </a:solidFill>
                  <a:latin typeface="Consolas"/>
                </a:rPr>
                <a:t>access: ghcr.io/eu/...</a:t>
              </a:r>
            </a:p>
          </p:txBody>
        </p:sp>
        <p:sp>
          <p:nvSpPr>
            <p:cNvPr id="8" name="Can 7"/>
            <p:cNvSpPr/>
            <p:nvPr/>
          </p:nvSpPr>
          <p:spPr>
            <a:xfrm>
              <a:off x="13239750" y="6515100"/>
              <a:ext cx="1524000" cy="1333500"/>
            </a:xfrm>
            <a:prstGeom prst="can">
              <a:avLst/>
            </a:prstGeom>
            <a:solidFill>
              <a:srgbClr val="FFFFFF"/>
            </a:solidFill>
            <a:ln w="19050">
              <a:solidFill>
                <a:srgbClr val="0F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0000" tIns="40000" rIns="40000" bIns="40000" rtlCol="0" anchor="ctr"/>
            <a:lstStyle/>
            <a:p>
              <a:pPr algn="ctr"/>
              <a:r>
                <a:rPr sz="2000" b="1">
                  <a:solidFill>
                    <a:srgbClr val="0F6BFF"/>
                  </a:solidFill>
                  <a:latin typeface="Aptos"/>
                </a:rPr>
                <a:t>US reg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858750" y="8001000"/>
              <a:ext cx="2286000" cy="3429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800">
                  <a:solidFill>
                    <a:srgbClr val="6B7280"/>
                  </a:solidFill>
                  <a:latin typeface="Consolas"/>
                </a:rPr>
                <a:t>access: </a:t>
              </a:r>
              <a:r>
                <a:rPr sz="1800" err="1">
                  <a:solidFill>
                    <a:srgbClr val="6B7280"/>
                  </a:solidFill>
                  <a:latin typeface="Consolas"/>
                </a:rPr>
                <a:t>ghcr.io</a:t>
              </a:r>
              <a:r>
                <a:rPr sz="1800">
                  <a:solidFill>
                    <a:srgbClr val="6B7280"/>
                  </a:solidFill>
                  <a:latin typeface="Consolas"/>
                </a:rPr>
                <a:t>/us/...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15573375" y="6515100"/>
              <a:ext cx="1524000" cy="1333500"/>
            </a:xfrm>
            <a:prstGeom prst="can">
              <a:avLst/>
            </a:prstGeom>
            <a:solidFill>
              <a:srgbClr val="FFFFFF"/>
            </a:solidFill>
            <a:ln w="19050">
              <a:solidFill>
                <a:srgbClr val="0F6B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0000" tIns="40000" rIns="40000" bIns="40000" rtlCol="0" anchor="ctr"/>
            <a:lstStyle/>
            <a:p>
              <a:pPr algn="ctr"/>
              <a:r>
                <a:rPr sz="2000" b="1">
                  <a:solidFill>
                    <a:srgbClr val="0F6BFF"/>
                  </a:solidFill>
                  <a:latin typeface="Aptos"/>
                </a:rPr>
                <a:t>Air-gap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192375" y="8001000"/>
              <a:ext cx="2286000" cy="3429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800">
                  <a:solidFill>
                    <a:srgbClr val="6B7280"/>
                  </a:solidFill>
                  <a:latin typeface="Consolas"/>
                </a:rPr>
                <a:t>access: registry.local/...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 flipH="1">
              <a:off x="11668125" y="5753100"/>
              <a:ext cx="2333625" cy="762000"/>
            </a:xfrm>
            <a:prstGeom prst="line">
              <a:avLst/>
            </a:prstGeom>
            <a:ln w="15875">
              <a:solidFill>
                <a:srgbClr val="6B72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4001750" y="5753100"/>
              <a:ext cx="0" cy="762000"/>
            </a:xfrm>
            <a:prstGeom prst="line">
              <a:avLst/>
            </a:prstGeom>
            <a:ln w="15875">
              <a:solidFill>
                <a:srgbClr val="6B72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4001750" y="5753100"/>
              <a:ext cx="2333625" cy="762000"/>
            </a:xfrm>
            <a:prstGeom prst="line">
              <a:avLst/>
            </a:prstGeom>
            <a:ln w="15875">
              <a:solidFill>
                <a:srgbClr val="6B72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4">
            <a:extLst>
              <a:ext uri="{FF2B5EF4-FFF2-40B4-BE49-F238E27FC236}">
                <a16:creationId xmlns:a16="http://schemas.microsoft.com/office/drawing/2014/main" id="{56B3A11C-3147-58CC-481E-CDF4DA01024F}"/>
              </a:ext>
            </a:extLst>
          </p:cNvPr>
          <p:cNvSpPr txBox="1"/>
          <p:nvPr/>
        </p:nvSpPr>
        <p:spPr>
          <a:xfrm>
            <a:off x="1143000" y="9429750"/>
            <a:ext cx="16002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>
                <a:solidFill>
                  <a:srgbClr val="0F6BFF"/>
                </a:solidFill>
                <a:latin typeface="Aptos"/>
              </a:rPr>
              <a:t>Move the artifact. The digest stays. Only the access 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WHERE OCM SITS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de-DE"/>
              <a:t>Wraps </a:t>
            </a:r>
            <a:r>
              <a:rPr lang="de-DE" err="1"/>
              <a:t>every</a:t>
            </a:r>
            <a:r>
              <a:rPr lang="de-DE"/>
              <a:t> </a:t>
            </a:r>
            <a:r>
              <a:rPr lang="de-DE" err="1"/>
              <a:t>artifact</a:t>
            </a:r>
            <a:r>
              <a:rPr lang="de-DE"/>
              <a:t>. Signs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whole</a:t>
            </a:r>
            <a:r>
              <a:rPr lang="de-DE"/>
              <a:t> release.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ANY FORMAT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OCI, Helm, configs, SBOMs, </a:t>
            </a:r>
            <a:r>
              <a:rPr lang="de-DE"/>
              <a:t>npm, maven, </a:t>
            </a:r>
            <a:r>
              <a:t>binaries.</a:t>
            </a:r>
          </a:p>
          <a:p>
            <a:r>
              <a:t>Artifact type is free-form; access types are pluggable.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ANY LOCATION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Component identity travels.</a:t>
            </a:r>
          </a:p>
          <a:p>
            <a:r>
              <a:t>The component carries its name across registries.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ONE SIGNATURE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Covers every digest in the component.</a:t>
            </a:r>
          </a:p>
          <a:p>
            <a:r>
              <a:t>Survives transport.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CONSTRUCTOR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1143000" y="1326776"/>
            <a:ext cx="16002000" cy="762000"/>
          </a:xfrm>
        </p:spPr>
        <p:txBody>
          <a:bodyPr>
            <a:normAutofit fontScale="90000"/>
          </a:bodyPr>
          <a:lstStyle/>
          <a:p>
            <a:r>
              <a:t>What you 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41133" y="2952937"/>
            <a:ext cx="10005733" cy="6490321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 err="1">
                <a:solidFill>
                  <a:srgbClr val="0A3A99"/>
                </a:solidFill>
                <a:latin typeface="Consolas"/>
              </a:rPr>
              <a:t>components</a:t>
            </a:r>
            <a:r>
              <a:rPr lang="de-DE">
                <a:solidFill>
                  <a:srgbClr val="0A3A99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-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name</a:t>
            </a:r>
            <a:r>
              <a:rPr lang="de-DE">
                <a:solidFill>
                  <a:srgbClr val="000000"/>
                </a:solidFill>
                <a:latin typeface="Consolas"/>
              </a:rPr>
              <a:t>: github.com/acme.org/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helloworld</a:t>
            </a: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version</a:t>
            </a:r>
            <a:r>
              <a:rPr lang="de-DE">
                <a:solidFill>
                  <a:srgbClr val="000000"/>
                </a:solidFill>
                <a:latin typeface="Consolas"/>
              </a:rPr>
              <a:t>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A3A99"/>
                </a:solidFill>
                <a:latin typeface="Consolas"/>
              </a:rPr>
              <a:t>  </a:t>
            </a:r>
            <a:r>
              <a:rPr lang="de-DE" err="1">
                <a:solidFill>
                  <a:srgbClr val="0A3A99"/>
                </a:solidFill>
                <a:latin typeface="Consolas"/>
              </a:rPr>
              <a:t>provider</a:t>
            </a:r>
            <a:r>
              <a:rPr lang="de-DE">
                <a:solidFill>
                  <a:srgbClr val="0A3A99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name</a:t>
            </a:r>
            <a:r>
              <a:rPr lang="de-DE">
                <a:solidFill>
                  <a:srgbClr val="000000"/>
                </a:solidFill>
                <a:latin typeface="Consolas"/>
              </a:rPr>
              <a:t>: acme.org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A3A99"/>
                </a:solidFill>
                <a:latin typeface="Consolas"/>
              </a:rPr>
              <a:t>  </a:t>
            </a:r>
            <a:r>
              <a:rPr lang="de-DE" err="1">
                <a:solidFill>
                  <a:srgbClr val="0A3A99"/>
                </a:solidFill>
                <a:latin typeface="Consolas"/>
              </a:rPr>
              <a:t>resources</a:t>
            </a:r>
            <a:r>
              <a:rPr lang="de-DE">
                <a:solidFill>
                  <a:srgbClr val="0A3A99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-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name</a:t>
            </a:r>
            <a:r>
              <a:rPr lang="de-DE">
                <a:solidFill>
                  <a:srgbClr val="000000"/>
                </a:solidFill>
                <a:latin typeface="Consolas"/>
              </a:rPr>
              <a:t>: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mylocalfile</a:t>
            </a: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type: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blob</a:t>
            </a: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6B7280"/>
                </a:solidFill>
                <a:latin typeface="Consolas"/>
              </a:rPr>
              <a:t>     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input</a:t>
            </a:r>
            <a:r>
              <a:rPr lang="de-DE">
                <a:solidFill>
                  <a:srgbClr val="6B7280"/>
                </a:solidFill>
                <a:latin typeface="Consolas"/>
              </a:rPr>
              <a:t>:                  #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Embed</a:t>
            </a:r>
            <a:r>
              <a:rPr lang="de-DE">
                <a:solidFill>
                  <a:srgbClr val="6B7280"/>
                </a:solidFill>
                <a:latin typeface="Consolas"/>
              </a:rPr>
              <a:t>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by</a:t>
            </a:r>
            <a:r>
              <a:rPr lang="de-DE">
                <a:solidFill>
                  <a:srgbClr val="6B7280"/>
                </a:solidFill>
                <a:latin typeface="Consolas"/>
              </a:rPr>
              <a:t>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value</a:t>
            </a:r>
            <a:endParaRPr lang="de-DE">
              <a:solidFill>
                <a:srgbClr val="6B728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  type: File/v1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 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path</a:t>
            </a:r>
            <a:r>
              <a:rPr lang="de-DE">
                <a:solidFill>
                  <a:srgbClr val="000000"/>
                </a:solidFill>
                <a:latin typeface="Consolas"/>
              </a:rPr>
              <a:t>: ./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my-local-resource.txt</a:t>
            </a:r>
            <a:br>
              <a:rPr lang="de-DE">
                <a:solidFill>
                  <a:srgbClr val="000000"/>
                </a:solidFill>
                <a:latin typeface="Consolas"/>
              </a:rPr>
            </a:b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-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name</a:t>
            </a:r>
            <a:r>
              <a:rPr lang="de-DE">
                <a:solidFill>
                  <a:srgbClr val="000000"/>
                </a:solidFill>
                <a:latin typeface="Consolas"/>
              </a:rPr>
              <a:t>: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image</a:t>
            </a: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type: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ociImage</a:t>
            </a:r>
            <a:endParaRPr lang="de-DE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version</a:t>
            </a:r>
            <a:r>
              <a:rPr lang="de-DE">
                <a:solidFill>
                  <a:srgbClr val="000000"/>
                </a:solidFill>
                <a:latin typeface="Consolas"/>
              </a:rPr>
              <a:t>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6B7280"/>
                </a:solidFill>
                <a:latin typeface="Consolas"/>
              </a:rPr>
              <a:t>     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access</a:t>
            </a:r>
            <a:r>
              <a:rPr lang="de-DE">
                <a:solidFill>
                  <a:srgbClr val="6B7280"/>
                </a:solidFill>
                <a:latin typeface="Consolas"/>
              </a:rPr>
              <a:t>:                 # Reference external </a:t>
            </a:r>
            <a:r>
              <a:rPr lang="de-DE" err="1">
                <a:solidFill>
                  <a:srgbClr val="6B7280"/>
                </a:solidFill>
                <a:latin typeface="Consolas"/>
              </a:rPr>
              <a:t>artifact</a:t>
            </a:r>
            <a:endParaRPr lang="de-DE">
              <a:solidFill>
                <a:srgbClr val="6B728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>
                <a:solidFill>
                  <a:srgbClr val="000000"/>
                </a:solidFill>
                <a:latin typeface="Consolas"/>
              </a:rPr>
              <a:t>       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imageReference</a:t>
            </a:r>
            <a:r>
              <a:rPr lang="de-DE">
                <a:solidFill>
                  <a:srgbClr val="000000"/>
                </a:solidFill>
                <a:latin typeface="Consolas"/>
              </a:rPr>
              <a:t>: 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ghcr.io</a:t>
            </a:r>
            <a:r>
              <a:rPr lang="de-DE">
                <a:solidFill>
                  <a:srgbClr val="000000"/>
                </a:solidFill>
                <a:latin typeface="Consolas"/>
              </a:rPr>
              <a:t>/</a:t>
            </a:r>
            <a:r>
              <a:rPr lang="de-DE" err="1">
                <a:solidFill>
                  <a:srgbClr val="000000"/>
                </a:solidFill>
                <a:latin typeface="Consolas"/>
              </a:rPr>
              <a:t>stefanprodan</a:t>
            </a:r>
            <a:r>
              <a:rPr lang="de-DE">
                <a:solidFill>
                  <a:srgbClr val="000000"/>
                </a:solidFill>
                <a:latin typeface="Consolas"/>
              </a:rPr>
              <a:t>/podinfo:6.9.1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DESCRIPTOR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t>What gets signed and travels.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F0C1FEB4-CE64-9BC5-3003-53DF1C3A552B}"/>
              </a:ext>
            </a:extLst>
          </p:cNvPr>
          <p:cNvSpPr/>
          <p:nvPr/>
        </p:nvSpPr>
        <p:spPr>
          <a:xfrm>
            <a:off x="3419698" y="2667000"/>
            <a:ext cx="11448604" cy="6905625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0A3A99"/>
                </a:solidFill>
                <a:latin typeface="Consolas"/>
              </a:rPr>
              <a:t>component:                              </a:t>
            </a:r>
            <a:r>
              <a:rPr lang="de-DE" sz="1600">
                <a:solidFill>
                  <a:srgbClr val="0A3A99"/>
                </a:solidFill>
                <a:latin typeface="Consolas"/>
              </a:rPr>
              <a:t>  </a:t>
            </a:r>
            <a:r>
              <a:rPr sz="1600">
                <a:solidFill>
                  <a:srgbClr val="6B7280"/>
                </a:solidFill>
                <a:latin typeface="Consolas"/>
              </a:rPr>
              <a:t># (fields trimmed)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name: github.com/acme.org/</a:t>
            </a:r>
            <a:r>
              <a:rPr sz="1600" err="1">
                <a:solidFill>
                  <a:srgbClr val="000000"/>
                </a:solidFill>
                <a:latin typeface="Consolas"/>
              </a:rPr>
              <a:t>helloworld</a:t>
            </a:r>
            <a:endParaRPr sz="1600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</a:t>
            </a:r>
            <a:r>
              <a:rPr sz="1600" err="1">
                <a:solidFill>
                  <a:srgbClr val="000000"/>
                </a:solidFill>
                <a:latin typeface="Consolas"/>
              </a:rPr>
              <a:t>ociImage</a:t>
            </a:r>
            <a:endParaRPr sz="1600">
              <a:solidFill>
                <a:srgbClr val="000000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6B7280"/>
                </a:solidFill>
                <a:latin typeface="Consolas"/>
              </a:rPr>
              <a:t>      </a:t>
            </a:r>
            <a:r>
              <a:rPr sz="1600">
                <a:solidFill>
                  <a:srgbClr val="0A3A99"/>
                </a:solidFill>
                <a:latin typeface="Consolas"/>
              </a:rPr>
              <a:t>access:                           </a:t>
            </a:r>
            <a:r>
              <a:rPr lang="de-DE" sz="1600">
                <a:solidFill>
                  <a:srgbClr val="0A3A99"/>
                </a:solidFill>
                <a:latin typeface="Consolas"/>
              </a:rPr>
              <a:t>  </a:t>
            </a:r>
            <a:r>
              <a:rPr sz="1600">
                <a:solidFill>
                  <a:srgbClr val="6B7280"/>
                </a:solidFill>
                <a:latin typeface="Consolas"/>
              </a:rPr>
              <a:t># excluded — rewritten on transfer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000000"/>
                </a:solidFill>
                <a:latin typeface="Consolas"/>
              </a:rPr>
              <a:t>        </a:t>
            </a:r>
            <a:r>
              <a:rPr sz="1600" err="1">
                <a:solidFill>
                  <a:srgbClr val="000000"/>
                </a:solidFill>
                <a:latin typeface="Consolas"/>
              </a:rPr>
              <a:t>imageReference</a:t>
            </a:r>
            <a:r>
              <a:rPr sz="1600">
                <a:solidFill>
                  <a:srgbClr val="000000"/>
                </a:solidFill>
                <a:latin typeface="Consolas"/>
              </a:rPr>
              <a:t>: </a:t>
            </a:r>
            <a:r>
              <a:rPr lang="de-DE" sz="1600" err="1">
                <a:solidFill>
                  <a:srgbClr val="000000"/>
                </a:solidFill>
                <a:latin typeface="Consolas"/>
              </a:rPr>
              <a:t>ghcr.io</a:t>
            </a:r>
            <a:r>
              <a:rPr lang="de-DE" sz="1600">
                <a:solidFill>
                  <a:srgbClr val="000000"/>
                </a:solidFill>
                <a:latin typeface="Consolas"/>
              </a:rPr>
              <a:t>/</a:t>
            </a:r>
            <a:r>
              <a:rPr lang="de-DE" sz="1600" err="1">
                <a:solidFill>
                  <a:srgbClr val="000000"/>
                </a:solidFill>
                <a:latin typeface="Consolas"/>
              </a:rPr>
              <a:t>stefanprodan</a:t>
            </a:r>
            <a:r>
              <a:rPr lang="de-DE" sz="1600">
                <a:solidFill>
                  <a:srgbClr val="000000"/>
                </a:solidFill>
                <a:latin typeface="Consolas"/>
              </a:rPr>
              <a:t>/</a:t>
            </a:r>
            <a:r>
              <a:rPr lang="de-DE" sz="1600" err="1">
                <a:solidFill>
                  <a:srgbClr val="000000"/>
                </a:solidFill>
                <a:latin typeface="Consolas"/>
              </a:rPr>
              <a:t>podinfo</a:t>
            </a:r>
            <a:r>
              <a:rPr sz="1600">
                <a:solidFill>
                  <a:srgbClr val="000000"/>
                </a:solidFill>
                <a:latin typeface="Consolas"/>
              </a:rPr>
              <a:t>@sha256:8fa569</a:t>
            </a:r>
            <a:r>
              <a:rPr lang="de-DE" sz="1600">
                <a:solidFill>
                  <a:srgbClr val="000000"/>
                </a:solidFill>
                <a:latin typeface="Consolas"/>
              </a:rPr>
              <a:t>1d768ef456...</a:t>
            </a:r>
            <a:br>
              <a:rPr lang="de-DE" sz="1600">
                <a:latin typeface="Consolas"/>
              </a:rPr>
            </a:br>
            <a:endParaRPr sz="1600">
              <a:solidFill>
                <a:srgbClr val="000000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6B7280"/>
                </a:solidFill>
                <a:latin typeface="Consolas"/>
              </a:rPr>
              <a:t>      </a:t>
            </a:r>
            <a:r>
              <a:rPr sz="1600">
                <a:solidFill>
                  <a:srgbClr val="0A3A99"/>
                </a:solidFill>
                <a:latin typeface="Consolas"/>
              </a:rPr>
              <a:t>digest:                            </a:t>
            </a:r>
            <a:r>
              <a:rPr lang="de-DE" sz="1600">
                <a:solidFill>
                  <a:srgbClr val="0A3A99"/>
                </a:solidFill>
                <a:latin typeface="Consolas"/>
              </a:rPr>
              <a:t> </a:t>
            </a:r>
            <a:r>
              <a:rPr sz="1600">
                <a:solidFill>
                  <a:srgbClr val="6B7280"/>
                </a:solidFill>
                <a:latin typeface="Consolas"/>
              </a:rPr>
              <a:t># content identity — input to descriptor hash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F6BFF"/>
                </a:solidFill>
                <a:latin typeface="Consolas"/>
              </a:rPr>
              <a:t>        </a:t>
            </a:r>
            <a:r>
              <a:rPr sz="1600" err="1">
                <a:solidFill>
                  <a:srgbClr val="0F6BFF"/>
                </a:solidFill>
                <a:latin typeface="Consolas"/>
              </a:rPr>
              <a:t>hashAlgorithm</a:t>
            </a:r>
            <a:r>
              <a:rPr sz="1600">
                <a:solidFill>
                  <a:srgbClr val="0F6BFF"/>
                </a:solidFill>
                <a:latin typeface="Consolas"/>
              </a:rPr>
              <a:t>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F6BFF"/>
                </a:solidFill>
                <a:latin typeface="Consolas"/>
              </a:rPr>
              <a:t>        value: 262578cde928d5c9eba3bce0...</a:t>
            </a:r>
          </a:p>
          <a:p>
            <a:pPr>
              <a:lnSpc>
                <a:spcPct val="115000"/>
              </a:lnSpc>
            </a:pPr>
            <a:br>
              <a:rPr lang="de-DE" sz="1600">
                <a:latin typeface="Consolas"/>
              </a:rPr>
            </a:br>
            <a:r>
              <a:rPr lang="de-DE" sz="1600" err="1">
                <a:solidFill>
                  <a:srgbClr val="0A3A99"/>
                </a:solidFill>
                <a:latin typeface="Consolas"/>
              </a:rPr>
              <a:t>signatures</a:t>
            </a:r>
            <a:r>
              <a:rPr lang="de-DE" sz="1600">
                <a:solidFill>
                  <a:srgbClr val="0A3A99"/>
                </a:solidFill>
                <a:latin typeface="Consolas"/>
              </a:rPr>
              <a:t>:</a:t>
            </a:r>
            <a:r>
              <a:rPr lang="de-DE" sz="1600">
                <a:solidFill>
                  <a:srgbClr val="0F6BFF"/>
                </a:solidFill>
                <a:latin typeface="Consolas"/>
              </a:rPr>
              <a:t>			                     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#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signature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: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one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hash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over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the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canonicalized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descriptor</a:t>
            </a:r>
            <a:br>
              <a:rPr lang="de-DE" sz="1600">
                <a:latin typeface="Consolas"/>
              </a:rPr>
            </a:br>
            <a:r>
              <a:rPr lang="de-DE" sz="1600">
                <a:solidFill>
                  <a:srgbClr val="0F6BFF"/>
                </a:solidFill>
                <a:latin typeface="Consolas"/>
              </a:rPr>
              <a:t>  - </a:t>
            </a:r>
            <a:r>
              <a:rPr lang="de-DE" sz="1600" err="1">
                <a:solidFill>
                  <a:schemeClr val="accent1"/>
                </a:solidFill>
                <a:latin typeface="Consolas"/>
              </a:rPr>
              <a:t>name</a:t>
            </a:r>
            <a:r>
              <a:rPr lang="de-DE" sz="1600">
                <a:solidFill>
                  <a:schemeClr val="accent1"/>
                </a:solidFill>
                <a:latin typeface="Consolas"/>
              </a:rPr>
              <a:t>: </a:t>
            </a:r>
            <a:r>
              <a:rPr lang="de-DE" sz="1600" err="1">
                <a:solidFill>
                  <a:schemeClr val="accent1"/>
                </a:solidFill>
                <a:latin typeface="Consolas"/>
              </a:rPr>
              <a:t>acme</a:t>
            </a:r>
            <a:r>
              <a:rPr lang="de-DE" sz="1600">
                <a:solidFill>
                  <a:schemeClr val="accent1"/>
                </a:solidFill>
                <a:latin typeface="Consolas"/>
              </a:rPr>
              <a:t>-release-</a:t>
            </a:r>
            <a:r>
              <a:rPr lang="de-DE" sz="1600" err="1">
                <a:solidFill>
                  <a:schemeClr val="accent1"/>
                </a:solidFill>
                <a:latin typeface="Consolas"/>
              </a:rPr>
              <a:t>key</a:t>
            </a:r>
            <a:r>
              <a:rPr lang="de-DE" sz="1600">
                <a:solidFill>
                  <a:schemeClr val="tx1"/>
                </a:solidFill>
                <a:latin typeface="Consolas"/>
              </a:rPr>
              <a:t>	</a:t>
            </a:r>
            <a:r>
              <a:rPr lang="de-DE" sz="1600">
                <a:solidFill>
                  <a:srgbClr val="0F6BFF"/>
                </a:solidFill>
                <a:latin typeface="Consolas"/>
              </a:rPr>
              <a:t>			</a:t>
            </a:r>
          </a:p>
          <a:p>
            <a:pPr>
              <a:lnSpc>
                <a:spcPct val="115000"/>
              </a:lnSpc>
            </a:pPr>
            <a:r>
              <a:rPr lang="de-DE" sz="1600">
                <a:solidFill>
                  <a:srgbClr val="6B7280"/>
                </a:solidFill>
                <a:latin typeface="Consolas"/>
              </a:rPr>
              <a:t>    </a:t>
            </a:r>
            <a:r>
              <a:rPr lang="de-DE" sz="1600" err="1">
                <a:solidFill>
                  <a:schemeClr val="tx2"/>
                </a:solidFill>
                <a:latin typeface="Consolas"/>
              </a:rPr>
              <a:t>digest</a:t>
            </a:r>
            <a:r>
              <a:rPr lang="de-DE" sz="1600">
                <a:solidFill>
                  <a:schemeClr val="tx2"/>
                </a:solidFill>
                <a:latin typeface="Consolas"/>
              </a:rPr>
              <a:t>:                              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#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of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the</a:t>
            </a:r>
            <a:r>
              <a:rPr lang="de-DE" sz="16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600" err="1">
                <a:solidFill>
                  <a:srgbClr val="6B7280"/>
                </a:solidFill>
                <a:latin typeface="Consolas"/>
              </a:rPr>
              <a:t>descriptor</a:t>
            </a:r>
            <a:endParaRPr lang="de-DE" sz="1600">
              <a:solidFill>
                <a:srgbClr val="6B728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/>
                </a:solidFill>
                <a:latin typeface="Consolas"/>
              </a:rPr>
              <a:t>      </a:t>
            </a:r>
            <a:r>
              <a:rPr sz="1600" err="1">
                <a:solidFill>
                  <a:schemeClr val="accent1"/>
                </a:solidFill>
                <a:latin typeface="Consolas"/>
              </a:rPr>
              <a:t>hashAlgorithm</a:t>
            </a:r>
            <a:r>
              <a:rPr sz="1600">
                <a:solidFill>
                  <a:schemeClr val="accent1"/>
                </a:solidFill>
                <a:latin typeface="Consolas"/>
              </a:rPr>
              <a:t>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accent1"/>
                </a:solidFill>
                <a:latin typeface="Consolas"/>
              </a:rPr>
              <a:t>      value: a4b1c2d3e4f5...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F6BFF"/>
                </a:solidFill>
                <a:latin typeface="Consolas"/>
              </a:rPr>
              <a:t>    </a:t>
            </a:r>
            <a:r>
              <a:rPr sz="1600">
                <a:solidFill>
                  <a:schemeClr val="tx2"/>
                </a:solidFill>
                <a:latin typeface="Consolas"/>
              </a:rPr>
              <a:t>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tx1"/>
                </a:solidFill>
                <a:latin typeface="Consolas"/>
              </a:rPr>
              <a:t>      </a:t>
            </a:r>
            <a:r>
              <a:rPr sz="1600">
                <a:solidFill>
                  <a:schemeClr val="accent1"/>
                </a:solidFill>
                <a:latin typeface="Consolas"/>
              </a:rPr>
              <a:t>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chemeClr val="accent1"/>
                </a:solidFill>
                <a:latin typeface="Consolas"/>
              </a:rPr>
              <a:t>      value: &lt;hex-encoded signature&gt;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/>
              <a:t>OCM IN ONE PICTURE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rPr lang="en-US" noProof="0"/>
              <a:t>Pack · Sign · Transport ·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0458" y="4214812"/>
            <a:ext cx="3214687" cy="3571875"/>
          </a:xfrm>
          <a:prstGeom prst="roundRect">
            <a:avLst>
              <a:gd name="adj" fmla="val 3888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590458" y="4214812"/>
            <a:ext cx="3214687" cy="35718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6" name="Picture 5" descr="package-stroke-1.0-brand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08" y="4536281"/>
            <a:ext cx="535781" cy="5357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208" y="5429250"/>
            <a:ext cx="2643187" cy="392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000" b="1" i="0" noProof="0" dirty="0">
                <a:solidFill>
                  <a:srgbClr val="0A3A99"/>
                </a:solidFill>
                <a:latin typeface="Aptos"/>
              </a:rPr>
              <a:t>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08" y="5911453"/>
            <a:ext cx="2643187" cy="8186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Bundle your software.</a:t>
            </a:r>
          </a:p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One source of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630" y="4214812"/>
            <a:ext cx="3214687" cy="3571875"/>
          </a:xfrm>
          <a:prstGeom prst="roundRect">
            <a:avLst>
              <a:gd name="adj" fmla="val 3888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ectangle 9"/>
          <p:cNvSpPr/>
          <p:nvPr/>
        </p:nvSpPr>
        <p:spPr>
          <a:xfrm>
            <a:off x="4251630" y="4214812"/>
            <a:ext cx="3214687" cy="35718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1" name="Picture 10" descr="shield-stroke-1.0-brand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380" y="4536281"/>
            <a:ext cx="535781" cy="5357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37380" y="5429250"/>
            <a:ext cx="2643187" cy="392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000" b="1" i="0" noProof="0">
                <a:solidFill>
                  <a:srgbClr val="0A3A99"/>
                </a:solidFill>
                <a:latin typeface="Aptos"/>
              </a:rPr>
              <a:t>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7380" y="5911453"/>
            <a:ext cx="2643187" cy="892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One signature covers</a:t>
            </a:r>
          </a:p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all artifacts.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2802" y="4214812"/>
            <a:ext cx="3214687" cy="3571875"/>
          </a:xfrm>
          <a:prstGeom prst="roundRect">
            <a:avLst>
              <a:gd name="adj" fmla="val 3888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Rectangle 14"/>
          <p:cNvSpPr/>
          <p:nvPr/>
        </p:nvSpPr>
        <p:spPr>
          <a:xfrm>
            <a:off x="7912802" y="4214812"/>
            <a:ext cx="3214687" cy="35718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6" name="Picture 15" descr="world-stroke-1.0-brand-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552" y="4536281"/>
            <a:ext cx="535781" cy="5357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98552" y="5429250"/>
            <a:ext cx="2643187" cy="392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000" b="1" i="0" noProof="0">
                <a:solidFill>
                  <a:srgbClr val="0A3A99"/>
                </a:solidFill>
                <a:latin typeface="Aptos"/>
              </a:rPr>
              <a:t>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8552" y="5911453"/>
            <a:ext cx="2643187" cy="892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Across any boundary.</a:t>
            </a:r>
          </a:p>
          <a:p>
            <a:pPr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Even air-gapped.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573974" y="4214812"/>
            <a:ext cx="3214687" cy="3571875"/>
          </a:xfrm>
          <a:prstGeom prst="roundRect">
            <a:avLst>
              <a:gd name="adj" fmla="val 3888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Rectangle 19"/>
          <p:cNvSpPr/>
          <p:nvPr/>
        </p:nvSpPr>
        <p:spPr>
          <a:xfrm>
            <a:off x="11573974" y="4214812"/>
            <a:ext cx="3214687" cy="35718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21" name="Picture 20" descr="rocket-stroke-1.0-brand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9724" y="4536281"/>
            <a:ext cx="535781" cy="5357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59724" y="5429250"/>
            <a:ext cx="2643187" cy="392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000" b="1" i="0" noProof="0">
                <a:solidFill>
                  <a:srgbClr val="0A3A99"/>
                </a:solidFill>
                <a:latin typeface="Aptos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59724" y="5911453"/>
            <a:ext cx="2928937" cy="8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200" noProof="0">
                <a:solidFill>
                  <a:srgbClr val="333333"/>
                </a:solidFill>
              </a:rPr>
              <a:t>Verify · Unpack · Deploy</a:t>
            </a:r>
            <a:br>
              <a:rPr lang="en-US" sz="2200" noProof="0">
                <a:solidFill>
                  <a:srgbClr val="333333"/>
                </a:solidFill>
              </a:rPr>
            </a:b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OCM K8s Controllers</a:t>
            </a:r>
            <a:r>
              <a:rPr lang="en-US" sz="2200" noProof="0">
                <a:solidFill>
                  <a:srgbClr val="333333"/>
                </a:solidFill>
                <a:latin typeface="Aptos"/>
              </a:rPr>
              <a:t>.</a:t>
            </a:r>
            <a:endParaRPr lang="en-US" sz="2200" b="0" i="0" noProof="0">
              <a:solidFill>
                <a:srgbClr val="333333"/>
              </a:solidFill>
              <a:latin typeface="Aptos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15544342" y="4484902"/>
            <a:ext cx="1946671" cy="1107281"/>
          </a:xfrm>
          <a:custGeom>
            <a:avLst/>
            <a:gdLst/>
            <a:ahLst/>
            <a:cxnLst/>
            <a:rect l="l" t="t" r="r" b="b"/>
            <a:pathLst>
              <a:path w="1946671" h="1107281">
                <a:moveTo>
                  <a:pt x="464343" y="1107281"/>
                </a:moveTo>
                <a:cubicBezTo>
                  <a:pt x="214312" y="1107281"/>
                  <a:pt x="0" y="928687"/>
                  <a:pt x="0" y="660796"/>
                </a:cubicBezTo>
                <a:cubicBezTo>
                  <a:pt x="0" y="428625"/>
                  <a:pt x="196453" y="232171"/>
                  <a:pt x="446484" y="267890"/>
                </a:cubicBezTo>
                <a:cubicBezTo>
                  <a:pt x="535781" y="71437"/>
                  <a:pt x="785812" y="0"/>
                  <a:pt x="964406" y="142875"/>
                </a:cubicBezTo>
                <a:cubicBezTo>
                  <a:pt x="1143000" y="0"/>
                  <a:pt x="1410890" y="71437"/>
                  <a:pt x="1518046" y="285750"/>
                </a:cubicBezTo>
                <a:cubicBezTo>
                  <a:pt x="1750218" y="267890"/>
                  <a:pt x="1946671" y="446484"/>
                  <a:pt x="1946671" y="660796"/>
                </a:cubicBezTo>
                <a:cubicBezTo>
                  <a:pt x="1946671" y="910828"/>
                  <a:pt x="1732359" y="1107281"/>
                  <a:pt x="1518046" y="1107281"/>
                </a:cubicBezTo>
                <a:close/>
              </a:path>
            </a:pathLst>
          </a:cu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33" name="Picture 32" descr="lock-stroke-1.0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7647" y="4779581"/>
            <a:ext cx="500062" cy="5000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267521" y="5681480"/>
            <a:ext cx="2500312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000" b="1" i="0" noProof="0">
                <a:solidFill>
                  <a:srgbClr val="0A3A99"/>
                </a:solidFill>
                <a:latin typeface="Aptos"/>
              </a:rPr>
              <a:t>SOVEREIGN</a:t>
            </a:r>
          </a:p>
          <a:p>
            <a:pPr algn="ctr"/>
            <a:r>
              <a:rPr lang="en-US" sz="3000" b="1" i="0" noProof="0">
                <a:solidFill>
                  <a:srgbClr val="0A3A99"/>
                </a:solidFill>
                <a:latin typeface="Aptos"/>
              </a:rPr>
              <a:t>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26420" y="6610167"/>
            <a:ext cx="3036093" cy="803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Verify at destination.</a:t>
            </a:r>
          </a:p>
          <a:p>
            <a:pPr algn="ctr">
              <a:lnSpc>
                <a:spcPct val="125000"/>
              </a:lnSpc>
            </a:pPr>
            <a:r>
              <a:rPr lang="en-US" sz="2200" b="0" i="0" noProof="0">
                <a:solidFill>
                  <a:srgbClr val="333333"/>
                </a:solidFill>
                <a:latin typeface="Aptos"/>
              </a:rPr>
              <a:t>No callback upstream.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2AA83272-0B78-D157-8AEC-F00882DB554D}"/>
              </a:ext>
            </a:extLst>
          </p:cNvPr>
          <p:cNvGrpSpPr/>
          <p:nvPr/>
        </p:nvGrpSpPr>
        <p:grpSpPr>
          <a:xfrm>
            <a:off x="3805145" y="5864561"/>
            <a:ext cx="480758" cy="267892"/>
            <a:chOff x="3805145" y="5864561"/>
            <a:chExt cx="480758" cy="267892"/>
          </a:xfrm>
        </p:grpSpPr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F554FAC5-F3C0-CE6F-227F-7A76A56107A8}"/>
                </a:ext>
              </a:extLst>
            </p:cNvPr>
            <p:cNvCxnSpPr>
              <a:stCxn id="4" idx="3"/>
              <a:endCxn id="9" idx="1"/>
            </p:cNvCxnSpPr>
            <p:nvPr/>
          </p:nvCxnSpPr>
          <p:spPr>
            <a:xfrm>
              <a:off x="3805145" y="6000750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Dreieck 37">
              <a:extLst>
                <a:ext uri="{FF2B5EF4-FFF2-40B4-BE49-F238E27FC236}">
                  <a16:creationId xmlns:a16="http://schemas.microsoft.com/office/drawing/2014/main" id="{1FCA1E92-68EC-0680-E9E4-23C6F0C292C5}"/>
                </a:ext>
              </a:extLst>
            </p:cNvPr>
            <p:cNvSpPr/>
            <p:nvPr/>
          </p:nvSpPr>
          <p:spPr>
            <a:xfrm rot="5400000">
              <a:off x="4060966" y="5907515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4D6B3099-F8FE-D5DE-7645-64C2CE0D9F1C}"/>
              </a:ext>
            </a:extLst>
          </p:cNvPr>
          <p:cNvGrpSpPr/>
          <p:nvPr/>
        </p:nvGrpSpPr>
        <p:grpSpPr>
          <a:xfrm>
            <a:off x="11136418" y="5864559"/>
            <a:ext cx="446485" cy="267892"/>
            <a:chOff x="11136418" y="5864559"/>
            <a:chExt cx="446485" cy="267892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69B5CF21-AF4B-466C-5778-B6838D832C5E}"/>
                </a:ext>
              </a:extLst>
            </p:cNvPr>
            <p:cNvCxnSpPr/>
            <p:nvPr/>
          </p:nvCxnSpPr>
          <p:spPr>
            <a:xfrm>
              <a:off x="11136418" y="6000748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Dreieck 41">
              <a:extLst>
                <a:ext uri="{FF2B5EF4-FFF2-40B4-BE49-F238E27FC236}">
                  <a16:creationId xmlns:a16="http://schemas.microsoft.com/office/drawing/2014/main" id="{81344D99-E655-8F7A-EB1F-6748C602407E}"/>
                </a:ext>
              </a:extLst>
            </p:cNvPr>
            <p:cNvSpPr/>
            <p:nvPr/>
          </p:nvSpPr>
          <p:spPr>
            <a:xfrm rot="5400000">
              <a:off x="11355767" y="5907513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DE962839-B57A-25D2-F442-9A240E018D00}"/>
              </a:ext>
            </a:extLst>
          </p:cNvPr>
          <p:cNvGrpSpPr/>
          <p:nvPr/>
        </p:nvGrpSpPr>
        <p:grpSpPr>
          <a:xfrm>
            <a:off x="14797590" y="5911453"/>
            <a:ext cx="446485" cy="267892"/>
            <a:chOff x="14797590" y="5911453"/>
            <a:chExt cx="446485" cy="267892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8E0C70D7-BF51-B9CE-03B2-D31AE5C384AB}"/>
                </a:ext>
              </a:extLst>
            </p:cNvPr>
            <p:cNvCxnSpPr/>
            <p:nvPr/>
          </p:nvCxnSpPr>
          <p:spPr>
            <a:xfrm>
              <a:off x="14797590" y="6047642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Dreieck 44">
              <a:extLst>
                <a:ext uri="{FF2B5EF4-FFF2-40B4-BE49-F238E27FC236}">
                  <a16:creationId xmlns:a16="http://schemas.microsoft.com/office/drawing/2014/main" id="{02571F0B-70F2-BFBC-9BDA-CADB3AD55FF3}"/>
                </a:ext>
              </a:extLst>
            </p:cNvPr>
            <p:cNvSpPr/>
            <p:nvPr/>
          </p:nvSpPr>
          <p:spPr>
            <a:xfrm rot="5400000">
              <a:off x="15016939" y="5954407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AA0B8E6-B072-2968-9894-E947B6C5DD7E}"/>
              </a:ext>
            </a:extLst>
          </p:cNvPr>
          <p:cNvGrpSpPr/>
          <p:nvPr/>
        </p:nvGrpSpPr>
        <p:grpSpPr>
          <a:xfrm>
            <a:off x="7475246" y="5864560"/>
            <a:ext cx="446485" cy="267892"/>
            <a:chOff x="7475246" y="5864560"/>
            <a:chExt cx="446485" cy="267892"/>
          </a:xfrm>
        </p:grpSpPr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85FFE41B-6015-D37F-E864-EE7BB44D55BE}"/>
                </a:ext>
              </a:extLst>
            </p:cNvPr>
            <p:cNvCxnSpPr/>
            <p:nvPr/>
          </p:nvCxnSpPr>
          <p:spPr>
            <a:xfrm>
              <a:off x="7475246" y="6000749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Dreieck 47">
              <a:extLst>
                <a:ext uri="{FF2B5EF4-FFF2-40B4-BE49-F238E27FC236}">
                  <a16:creationId xmlns:a16="http://schemas.microsoft.com/office/drawing/2014/main" id="{74198971-3169-BA4B-D785-07F81ECC6767}"/>
                </a:ext>
              </a:extLst>
            </p:cNvPr>
            <p:cNvSpPr/>
            <p:nvPr/>
          </p:nvSpPr>
          <p:spPr>
            <a:xfrm rot="5400000">
              <a:off x="7694595" y="5907514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COMPOSE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t>Service carries resources. Product carries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67000"/>
            <a:ext cx="16002000" cy="857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6BFF"/>
                </a:solidFill>
                <a:latin typeface="Aptos"/>
              </a:rPr>
              <a:t>Service components </a:t>
            </a:r>
            <a:r>
              <a:rPr sz="2200">
                <a:solidFill>
                  <a:srgbClr val="000000"/>
                </a:solidFill>
                <a:latin typeface="Aptos"/>
              </a:rPr>
              <a:t>carry resources — images, charts, configs, SBOMs, …
</a:t>
            </a:r>
            <a:r>
              <a:rPr sz="2200" b="1">
                <a:solidFill>
                  <a:srgbClr val="0F6BFF"/>
                </a:solidFill>
                <a:latin typeface="Aptos"/>
              </a:rPr>
              <a:t>A product component </a:t>
            </a:r>
            <a:r>
              <a:rPr sz="2200">
                <a:solidFill>
                  <a:srgbClr val="000000"/>
                </a:solidFill>
                <a:latin typeface="Aptos"/>
              </a:rPr>
              <a:t>composes other components. One release unit, transferable, signable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        # type, input/access, digest trimmed</a:t>
            </a:r>
            <a:r>
              <a:rPr lang="de-DE" sz="1700">
                <a:solidFill>
                  <a:srgbClr val="6B7280"/>
                </a:solidFill>
                <a:latin typeface="Consolas"/>
              </a:rPr>
              <a:t> </a:t>
            </a:r>
            <a:endParaRPr sz="1700">
              <a:solidFill>
                <a:srgbClr val="6B728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        </a:t>
            </a:r>
            <a:r>
              <a:rPr lang="de-DE" sz="1700">
                <a:solidFill>
                  <a:srgbClr val="6B7280"/>
                </a:solidFill>
                <a:latin typeface="Consolas"/>
              </a:rPr>
              <a:t>...</a:t>
            </a:r>
            <a:endParaRPr sz="1700">
              <a:solidFill>
                <a:srgbClr val="6B7280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6B7280"/>
                </a:solidFill>
                <a:latin typeface="Consolas"/>
              </a:rPr>
              <a:t>        </a:t>
            </a:r>
            <a:r>
              <a:rPr lang="de-DE" sz="1700">
                <a:solidFill>
                  <a:srgbClr val="6B7280"/>
                </a:solidFill>
                <a:latin typeface="Consolas"/>
              </a:rPr>
              <a:t>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>
              <a:lnSpc>
                <a:spcPct val="115000"/>
              </a:lnSpc>
            </a:pPr>
            <a:r>
              <a:rPr sz="1700">
                <a:solidFill>
                  <a:srgbClr val="6B7280"/>
                </a:solidFill>
                <a:latin typeface="Consolas"/>
              </a:rPr>
              <a:t>        </a:t>
            </a:r>
            <a:r>
              <a:rPr lang="de-DE" sz="1700">
                <a:solidFill>
                  <a:srgbClr val="6B7280"/>
                </a:solidFill>
                <a:latin typeface="Consolas"/>
              </a:rPr>
              <a:t>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product references both, by name and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no resources of its own — pure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8374" y="3905250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ptos"/>
              </a:rPr>
              <a:t>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5357" y="3905250"/>
            <a:ext cx="1543878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PRODUCT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67750" y="6667500"/>
            <a:ext cx="952500" cy="76200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TRANSPORT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Three patterns. One command.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REGISTRY → REGISTRY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Promote across stages.</a:t>
            </a:r>
          </a:p>
          <a:p>
            <a:r>
              <a:t>Source registry to target registry.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REGISTRY → CTF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Export to a local archive.</a:t>
            </a:r>
          </a:p>
          <a:p>
            <a:r>
              <a:t>Hand-carry across the boundary.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CTF → REGISTRY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Air-gap import.</a:t>
            </a:r>
          </a:p>
          <a:p>
            <a:r>
              <a:t>Verify on arrival. No callback to source.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471EC25-0ED6-E6BD-5E94-9EED607C141C}"/>
              </a:ext>
            </a:extLst>
          </p:cNvPr>
          <p:cNvSpPr txBox="1"/>
          <p:nvPr/>
        </p:nvSpPr>
        <p:spPr>
          <a:xfrm>
            <a:off x="12799491" y="4557296"/>
            <a:ext cx="304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0F6BFF"/>
                </a:solidFill>
                <a:latin typeface="Aptos"/>
              </a:rPr>
              <a:t>AIR-GAP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999226" cy="1905000"/>
          </a:xfrm>
        </p:spPr>
        <p:txBody>
          <a:bodyPr/>
          <a:lstStyle/>
          <a:p>
            <a:r>
              <a:t>Same signed object. Three signing options.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Bare public-key pinning.</a:t>
            </a:r>
          </a:p>
          <a:p>
            <a:r>
              <a:t>If you already rotate a signing key.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GPG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OpenPGP keys, ASCII-armored.</a:t>
            </a:r>
          </a:p>
          <a:p>
            <a:r>
              <a:t>If your team runs a keyring.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SIGSTORE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Keyless via OIDC + Rekor.</a:t>
            </a:r>
          </a:p>
          <a:p>
            <a:r>
              <a:t>If you already trust your identity provider.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13B4A78-F84D-A746-665E-3938E3948B93}"/>
              </a:ext>
            </a:extLst>
          </p:cNvPr>
          <p:cNvSpPr txBox="1"/>
          <p:nvPr/>
        </p:nvSpPr>
        <p:spPr>
          <a:xfrm>
            <a:off x="1143000" y="9403245"/>
            <a:ext cx="1356111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i="1">
                <a:solidFill>
                  <a:schemeClr val="bg1">
                    <a:lumMod val="65000"/>
                  </a:schemeClr>
                </a:solidFill>
                <a:latin typeface="Aptos"/>
              </a:rPr>
              <a:t>CTF = Common Transport Format — a filesystem-based OCM repository, portable via any transfer mechanism.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DEPLO</a:t>
            </a:r>
            <a:r>
              <a:rPr lang="de-DE" dirty="0"/>
              <a:t>Y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dirty="0"/>
              <a:t>OCM controllers verify and apply.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491" y="5135881"/>
            <a:ext cx="3438581" cy="2520835"/>
          </a:xfrm>
          <a:prstGeom prst="roundRect">
            <a:avLst>
              <a:gd name="adj" fmla="val 3684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32491" y="5143499"/>
            <a:ext cx="3435965" cy="45719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33522" y="5592856"/>
            <a:ext cx="2716861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A3A99"/>
                </a:solidFill>
                <a:latin typeface="Aptos"/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3522" y="6248617"/>
            <a:ext cx="2383517" cy="818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200" dirty="0">
                <a:solidFill>
                  <a:srgbClr val="333333"/>
                </a:solidFill>
                <a:latin typeface="Aptos"/>
              </a:rPr>
              <a:t>Where component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versions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96727" y="5143501"/>
            <a:ext cx="3435965" cy="2520834"/>
          </a:xfrm>
          <a:prstGeom prst="roundRect">
            <a:avLst>
              <a:gd name="adj" fmla="val 3684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96727" y="5143499"/>
            <a:ext cx="3435965" cy="45719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92765" y="5607161"/>
            <a:ext cx="2716861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A3A99"/>
                </a:solidFill>
                <a:latin typeface="Aptos"/>
              </a:rPr>
              <a:t>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2765" y="6248617"/>
            <a:ext cx="2857954" cy="818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200" dirty="0">
                <a:solidFill>
                  <a:srgbClr val="333333"/>
                </a:solidFill>
                <a:latin typeface="Aptos"/>
              </a:rPr>
              <a:t>Pulls one version.</a:t>
            </a:r>
          </a:p>
          <a:p>
            <a:pPr>
              <a:lnSpc>
                <a:spcPct val="125000"/>
              </a:lnSpc>
            </a:pPr>
            <a:r>
              <a:rPr sz="2200" b="1" dirty="0">
                <a:solidFill>
                  <a:srgbClr val="333333"/>
                </a:solidFill>
                <a:latin typeface="Aptos"/>
              </a:rPr>
              <a:t>Verifies </a:t>
            </a:r>
            <a:r>
              <a:rPr lang="de-DE" sz="2200" b="1" dirty="0" err="1">
                <a:solidFill>
                  <a:srgbClr val="333333"/>
                </a:solidFill>
                <a:latin typeface="Aptos"/>
              </a:rPr>
              <a:t>its</a:t>
            </a:r>
            <a:r>
              <a:rPr lang="de-DE" sz="2200" b="1" dirty="0">
                <a:solidFill>
                  <a:srgbClr val="333333"/>
                </a:solidFill>
                <a:latin typeface="Aptos"/>
              </a:rPr>
              <a:t> </a:t>
            </a:r>
            <a:r>
              <a:rPr sz="2200" b="1" dirty="0">
                <a:solidFill>
                  <a:srgbClr val="333333"/>
                </a:solidFill>
                <a:latin typeface="Aptos"/>
              </a:rPr>
              <a:t>signature.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58347" y="5143500"/>
            <a:ext cx="3454239" cy="2520834"/>
          </a:xfrm>
          <a:prstGeom prst="roundRect">
            <a:avLst>
              <a:gd name="adj" fmla="val 3684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458347" y="5135881"/>
            <a:ext cx="3454239" cy="45719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16402" y="5592856"/>
            <a:ext cx="204061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A3A99"/>
                </a:solidFill>
                <a:latin typeface="Aptos"/>
              </a:rPr>
              <a:t>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6402" y="6275451"/>
            <a:ext cx="3090914" cy="3955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200" dirty="0">
                <a:solidFill>
                  <a:srgbClr val="333333"/>
                </a:solidFill>
                <a:latin typeface="Aptos"/>
              </a:rPr>
              <a:t>One artifact,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by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digest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38241" y="5143500"/>
            <a:ext cx="3454239" cy="2520834"/>
          </a:xfrm>
          <a:prstGeom prst="roundRect">
            <a:avLst>
              <a:gd name="adj" fmla="val 3684"/>
            </a:avLst>
          </a:prstGeom>
          <a:solidFill>
            <a:srgbClr val="F3F4F6"/>
          </a:solidFill>
          <a:ln>
            <a:noFill/>
          </a:ln>
          <a:effectLst>
            <a:outerShdw blurRad="28575" dist="28575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638241" y="5135881"/>
            <a:ext cx="3456855" cy="45719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903581" y="5589074"/>
            <a:ext cx="2028171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0A3A99"/>
                </a:solidFill>
                <a:latin typeface="Aptos"/>
              </a:rPr>
              <a:t>DEPLOYER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3581" y="6282236"/>
            <a:ext cx="2923553" cy="3955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200" dirty="0">
                <a:solidFill>
                  <a:srgbClr val="333333"/>
                </a:solidFill>
                <a:latin typeface="Aptos"/>
              </a:rPr>
              <a:t>Applies it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to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the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 </a:t>
            </a:r>
            <a:r>
              <a:rPr lang="de-DE" sz="2200" dirty="0" err="1">
                <a:solidFill>
                  <a:srgbClr val="333333"/>
                </a:solidFill>
                <a:latin typeface="Aptos"/>
              </a:rPr>
              <a:t>cluster</a:t>
            </a:r>
            <a:r>
              <a:rPr lang="de-DE" sz="2200" dirty="0">
                <a:solidFill>
                  <a:srgbClr val="333333"/>
                </a:solidFill>
                <a:latin typeface="Aptos"/>
              </a:rPr>
              <a:t>.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9715BBC2-C1C4-03BB-7A98-E0D9D46E3652}"/>
              </a:ext>
            </a:extLst>
          </p:cNvPr>
          <p:cNvGrpSpPr/>
          <p:nvPr/>
        </p:nvGrpSpPr>
        <p:grpSpPr>
          <a:xfrm>
            <a:off x="13124040" y="6343826"/>
            <a:ext cx="408122" cy="267892"/>
            <a:chOff x="3805145" y="5864561"/>
            <a:chExt cx="480758" cy="267892"/>
          </a:xfrm>
        </p:grpSpPr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AA57BB4B-B7EF-24EE-E002-30A88098C116}"/>
                </a:ext>
              </a:extLst>
            </p:cNvPr>
            <p:cNvCxnSpPr/>
            <p:nvPr/>
          </p:nvCxnSpPr>
          <p:spPr>
            <a:xfrm>
              <a:off x="3805145" y="6000750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Dreieck 30">
              <a:extLst>
                <a:ext uri="{FF2B5EF4-FFF2-40B4-BE49-F238E27FC236}">
                  <a16:creationId xmlns:a16="http://schemas.microsoft.com/office/drawing/2014/main" id="{74954E33-ED7E-8A71-8F92-AD2821C9A8DB}"/>
                </a:ext>
              </a:extLst>
            </p:cNvPr>
            <p:cNvSpPr/>
            <p:nvPr/>
          </p:nvSpPr>
          <p:spPr>
            <a:xfrm rot="5400000">
              <a:off x="4060966" y="5907515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B9CC154-0D40-6A66-8B2B-B28D9CC362B7}"/>
              </a:ext>
            </a:extLst>
          </p:cNvPr>
          <p:cNvGrpSpPr/>
          <p:nvPr/>
        </p:nvGrpSpPr>
        <p:grpSpPr>
          <a:xfrm>
            <a:off x="4666700" y="6403917"/>
            <a:ext cx="408122" cy="267892"/>
            <a:chOff x="3805145" y="5864555"/>
            <a:chExt cx="480759" cy="267892"/>
          </a:xfrm>
        </p:grpSpPr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AB306A8F-C9CF-6F2A-1D56-553A056962F5}"/>
                </a:ext>
              </a:extLst>
            </p:cNvPr>
            <p:cNvCxnSpPr>
              <a:cxnSpLocks/>
            </p:cNvCxnSpPr>
            <p:nvPr/>
          </p:nvCxnSpPr>
          <p:spPr>
            <a:xfrm>
              <a:off x="3805145" y="6000750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Dreieck 33">
              <a:extLst>
                <a:ext uri="{FF2B5EF4-FFF2-40B4-BE49-F238E27FC236}">
                  <a16:creationId xmlns:a16="http://schemas.microsoft.com/office/drawing/2014/main" id="{EBA41518-C56A-4B55-A98A-D86162B6B7F7}"/>
                </a:ext>
              </a:extLst>
            </p:cNvPr>
            <p:cNvSpPr/>
            <p:nvPr/>
          </p:nvSpPr>
          <p:spPr>
            <a:xfrm rot="5400000">
              <a:off x="4060967" y="5907509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AA2986A4-D039-B8A4-A312-A18F2E3042EB}"/>
              </a:ext>
            </a:extLst>
          </p:cNvPr>
          <p:cNvGrpSpPr/>
          <p:nvPr/>
        </p:nvGrpSpPr>
        <p:grpSpPr>
          <a:xfrm>
            <a:off x="8882321" y="6403917"/>
            <a:ext cx="408122" cy="267892"/>
            <a:chOff x="3805145" y="5864555"/>
            <a:chExt cx="480759" cy="267892"/>
          </a:xfrm>
        </p:grpSpPr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A049CC60-CCF0-07FF-1F18-52160833A325}"/>
                </a:ext>
              </a:extLst>
            </p:cNvPr>
            <p:cNvCxnSpPr>
              <a:cxnSpLocks/>
            </p:cNvCxnSpPr>
            <p:nvPr/>
          </p:nvCxnSpPr>
          <p:spPr>
            <a:xfrm>
              <a:off x="3805145" y="6000750"/>
              <a:ext cx="446485" cy="0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Dreieck 43">
              <a:extLst>
                <a:ext uri="{FF2B5EF4-FFF2-40B4-BE49-F238E27FC236}">
                  <a16:creationId xmlns:a16="http://schemas.microsoft.com/office/drawing/2014/main" id="{11502AED-4F04-F73F-E532-D46BE88A4A39}"/>
                </a:ext>
              </a:extLst>
            </p:cNvPr>
            <p:cNvSpPr/>
            <p:nvPr/>
          </p:nvSpPr>
          <p:spPr>
            <a:xfrm rot="5400000">
              <a:off x="4060967" y="5907509"/>
              <a:ext cx="267892" cy="18198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DAY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>
            <a:normAutofit fontScale="90000"/>
          </a:bodyPr>
          <a:lstStyle/>
          <a:p>
            <a:r>
              <a:t>Bump the product version.</a:t>
            </a:r>
          </a:p>
          <a:p>
            <a:r>
              <a:t>Everything follows.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3500" y="3245954"/>
            <a:ext cx="6670813" cy="5715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6B7280"/>
                </a:solidFill>
                <a:latin typeface="Consolas"/>
              </a:rPr>
              <a:t>      digest:          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			</a:t>
            </a:r>
            <a:r>
              <a:rPr sz="1400">
                <a:solidFill>
                  <a:srgbClr val="6B7280"/>
                </a:solidFill>
                <a:latin typeface="Consolas"/>
              </a:rPr>
              <a:t># of the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referenced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component</a:t>
            </a:r>
            <a:endParaRPr sz="1400">
              <a:solidFill>
                <a:srgbClr val="6B7280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lang="de-DE" sz="1400">
                <a:solidFill>
                  <a:srgbClr val="000000"/>
                </a:solidFill>
                <a:latin typeface="Consolas"/>
              </a:rPr>
              <a:t>		</a:t>
            </a:r>
            <a:r>
              <a:rPr lang="de-DE" sz="1400" err="1">
                <a:solidFill>
                  <a:srgbClr val="000000"/>
                </a:solidFill>
                <a:latin typeface="Consolas"/>
              </a:rPr>
              <a:t>hashAlgorithm</a:t>
            </a:r>
            <a:r>
              <a:rPr lang="de-DE" sz="1400">
                <a:solidFill>
                  <a:srgbClr val="000000"/>
                </a:solidFill>
                <a:latin typeface="Consolas"/>
              </a:rPr>
              <a:t>: SHA-256</a:t>
            </a:r>
            <a:br>
              <a:rPr lang="de-DE" sz="1400">
                <a:solidFill>
                  <a:srgbClr val="000000"/>
                </a:solidFill>
                <a:latin typeface="Consolas"/>
              </a:rPr>
            </a:br>
            <a:r>
              <a:rPr lang="de-DE" sz="1400">
                <a:solidFill>
                  <a:srgbClr val="000000"/>
                </a:solidFill>
                <a:latin typeface="Consolas"/>
              </a:rPr>
              <a:t>		</a:t>
            </a:r>
            <a:r>
              <a:rPr sz="1400">
                <a:solidFill>
                  <a:srgbClr val="000000"/>
                </a:solidFill>
                <a:latin typeface="Consolas"/>
              </a:rPr>
              <a:t>value: 7a1b2c3d4e...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6B7280"/>
                </a:solidFill>
                <a:latin typeface="Consolas"/>
              </a:rPr>
              <a:t>      digest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400">
                <a:solidFill>
                  <a:srgbClr val="6B7280"/>
                </a:solidFill>
                <a:latin typeface="Consolas"/>
              </a:rPr>
              <a:t>		</a:t>
            </a:r>
            <a:r>
              <a:rPr lang="de-DE" sz="1400" err="1">
                <a:solidFill>
                  <a:srgbClr val="000000"/>
                </a:solidFill>
                <a:latin typeface="Consolas"/>
              </a:rPr>
              <a:t>hashAlgorithm</a:t>
            </a:r>
            <a:r>
              <a:rPr lang="de-DE" sz="1400">
                <a:solidFill>
                  <a:srgbClr val="000000"/>
                </a:solidFill>
                <a:latin typeface="Consolas"/>
              </a:rPr>
              <a:t>: SHA-256</a:t>
            </a:r>
          </a:p>
          <a:p>
            <a:pPr>
              <a:lnSpc>
                <a:spcPct val="115000"/>
              </a:lnSpc>
            </a:pPr>
            <a:r>
              <a:rPr lang="de-DE" sz="1400">
                <a:solidFill>
                  <a:srgbClr val="000000"/>
                </a:solidFill>
                <a:latin typeface="Consolas"/>
              </a:rPr>
              <a:t>		</a:t>
            </a:r>
            <a:r>
              <a:rPr lang="de-DE" sz="1400" err="1">
                <a:solidFill>
                  <a:srgbClr val="000000"/>
                </a:solidFill>
                <a:latin typeface="Consolas"/>
              </a:rPr>
              <a:t>value</a:t>
            </a:r>
            <a:r>
              <a:rPr lang="de-DE" sz="1400">
                <a:solidFill>
                  <a:srgbClr val="000000"/>
                </a:solidFill>
                <a:latin typeface="Consolas"/>
              </a:rPr>
              <a:t>: f5e4d3c2b1...</a:t>
            </a:r>
            <a:br>
              <a:rPr lang="de-DE" sz="1400">
                <a:solidFill>
                  <a:srgbClr val="0A3A99"/>
                </a:solidFill>
                <a:latin typeface="Consolas"/>
              </a:rPr>
            </a:br>
            <a:r>
              <a:rPr sz="14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value: a4b1c2d3e5f6789abc012345def04691...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6486" y="3245954"/>
            <a:ext cx="6670812" cy="5715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0000" tIns="120000" rIns="140000" bIns="12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F6BFF"/>
                </a:solidFill>
                <a:latin typeface="Consolas"/>
              </a:rPr>
              <a:t>  version: 1.1.0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F6BFF"/>
                </a:solidFill>
                <a:latin typeface="Consolas"/>
              </a:rPr>
              <a:t>      version: 1.1.0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6B7280"/>
                </a:solidFill>
                <a:latin typeface="Consolas"/>
              </a:rPr>
              <a:t>      digest: 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				#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of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the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referenced</a:t>
            </a:r>
            <a:r>
              <a:rPr lang="de-DE" sz="1400">
                <a:solidFill>
                  <a:srgbClr val="6B7280"/>
                </a:solidFill>
                <a:latin typeface="Consolas"/>
              </a:rPr>
              <a:t> </a:t>
            </a:r>
            <a:r>
              <a:rPr lang="de-DE" sz="1400" err="1">
                <a:solidFill>
                  <a:srgbClr val="6B7280"/>
                </a:solidFill>
                <a:latin typeface="Consolas"/>
              </a:rPr>
              <a:t>component</a:t>
            </a:r>
            <a:endParaRPr lang="de-DE" sz="1400">
              <a:solidFill>
                <a:srgbClr val="6B7280"/>
              </a:solidFill>
              <a:latin typeface="Consolas"/>
            </a:endParaRP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onsolas"/>
              </a:rPr>
              <a:t>        </a:t>
            </a:r>
            <a:r>
              <a:rPr sz="1400" err="1">
                <a:solidFill>
                  <a:srgbClr val="000000"/>
                </a:solidFill>
                <a:latin typeface="Consolas"/>
              </a:rPr>
              <a:t>hashAlgorithm</a:t>
            </a:r>
            <a:r>
              <a:rPr sz="1400">
                <a:solidFill>
                  <a:srgbClr val="000000"/>
                </a:solidFill>
                <a:latin typeface="Consolas"/>
              </a:rPr>
              <a:t>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F6BFF"/>
                </a:solidFill>
                <a:latin typeface="Consolas"/>
              </a:rPr>
              <a:t>        value: 9b8a7c6d5e...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6B7280"/>
                </a:solidFill>
                <a:latin typeface="Consolas"/>
              </a:rPr>
              <a:t>      digest: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  </a:t>
            </a:r>
            <a:r>
              <a:rPr sz="1400" err="1">
                <a:solidFill>
                  <a:srgbClr val="000000"/>
                </a:solidFill>
                <a:latin typeface="Consolas"/>
              </a:rPr>
              <a:t>hashAlgorithm</a:t>
            </a:r>
            <a:r>
              <a:rPr sz="1400">
                <a:solidFill>
                  <a:srgbClr val="000000"/>
                </a:solidFill>
                <a:latin typeface="Consolas"/>
              </a:rPr>
              <a:t>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  value: f5e4d3c2b1...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F6BFF"/>
                </a:solidFill>
                <a:latin typeface="Consolas"/>
              </a:rPr>
              <a:t>      value: 9c2af18b3e7d52914a8c6b0f1d2e8f37...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288407" y="5458238"/>
            <a:ext cx="1253985" cy="1290431"/>
          </a:xfrm>
          <a:prstGeom prst="rightArrow">
            <a:avLst>
              <a:gd name="adj1" fmla="val 50000"/>
              <a:gd name="adj2" fmla="val 52114"/>
            </a:avLst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err="1"/>
              <a:t>bump</a:t>
            </a:r>
            <a:br>
              <a:rPr lang="de-DE" sz="1600"/>
            </a:br>
            <a:r>
              <a:rPr lang="de-DE" sz="1600" err="1"/>
              <a:t>version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1143000" y="9382125"/>
            <a:ext cx="16002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>
                <a:solidFill>
                  <a:srgbClr val="0F6BFF"/>
                </a:solidFill>
                <a:latin typeface="Aptos"/>
              </a:rPr>
              <a:t>Every digest pinned by the signature. The cluster cannot drift.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ADOPTION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Two paths to a first OCM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762500"/>
            <a:ext cx="78105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FROM ZERO — CLI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25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2500" y="5448300"/>
            <a:ext cx="7810500" cy="2933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Pack one component. Sign it.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Air-gap CTF round-trip.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Verify on the other side.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 on a laptop.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4762500"/>
            <a:ext cx="78105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ON YOUR CLUSTER — CONTROLLERS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250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000" y="5448300"/>
            <a:ext cx="7810500" cy="2933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Helm-install the OCM controllers.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Point them at your registry.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Deploy a component.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 on any cluster.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WHAT'S SHARP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Three honest edges.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2600" b="1">
                <a:solidFill>
                  <a:srgbClr val="0F6BFF"/>
                </a:solidFill>
              </a:rPr>
              <a:t>▪  Transfer defaults</a:t>
            </a:r>
            <a:r>
              <a:rPr sz="2600">
                <a:solidFill>
                  <a:srgbClr val="000000"/>
                </a:solidFill>
              </a:rPr>
              <a:t> — copies only the descriptor. For air-gap, pass --copy-resources so the bytes travel too.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2600" b="1">
                <a:solidFill>
                  <a:srgbClr val="0F6BFF"/>
                </a:solidFill>
              </a:rPr>
              <a:t>▪  Controllers are v1alpha1</a:t>
            </a:r>
            <a:r>
              <a:rPr sz="2600">
                <a:solidFill>
                  <a:srgbClr val="000000"/>
                </a:solidFill>
              </a:rPr>
              <a:t> — the CRD surface can move. Pin to specific release tags in your platform installs.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2600" b="1">
                <a:solidFill>
                  <a:srgbClr val="0F6BFF"/>
                </a:solidFill>
              </a:rPr>
              <a:t>▪  Helm-deploy adds kro + Flux</a:t>
            </a:r>
            <a:r>
              <a:rPr sz="2600">
                <a:solidFill>
                  <a:srgbClr val="000000"/>
                </a:solidFill>
              </a:rPr>
              <a:t> — the OCM controllers don't ship them. Bring your existing GitOps engine.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rgbClr val="FFFFFF"/>
                </a:solidFill>
              </a:rPr>
              <a:t>Ship the release as one unit.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>
                <a:solidFill>
                  <a:srgbClr val="5CD6FF"/>
                </a:solidFill>
              </a:rPr>
              <a:t>Evaluate</a:t>
            </a:r>
            <a:r>
              <a:rPr>
                <a:solidFill>
                  <a:srgbClr val="FFFFFF"/>
                </a:solidFill>
              </a:rPr>
              <a:t> — ocm.software · run conformance/scenarios/sovereign</a:t>
            </a:r>
          </a:p>
          <a:p>
            <a:r>
              <a:rPr b="1">
                <a:solidFill>
                  <a:srgbClr val="5CD6FF"/>
                </a:solidFill>
              </a:rPr>
              <a:t>Pilot</a:t>
            </a:r>
            <a:r>
              <a:rPr>
                <a:solidFill>
                  <a:srgbClr val="FFFFFF"/>
                </a:solidFill>
              </a:rPr>
              <a:t> — github.com/open-component-model · one product, one team</a:t>
            </a:r>
          </a:p>
          <a:p>
            <a:r>
              <a:rPr b="1">
                <a:solidFill>
                  <a:srgbClr val="5CD6FF"/>
                </a:solidFill>
              </a:rPr>
              <a:t>Engage</a:t>
            </a:r>
            <a:r>
              <a:rPr>
                <a:solidFill>
                  <a:srgbClr val="FFFFFF"/>
                </a:solidFill>
              </a:rPr>
              <a:t> — community channels on the website · NeoNephos Foundation</a:t>
            </a:r>
          </a:p>
        </p:txBody>
      </p:sp>
      <p:pic>
        <p:nvPicPr>
          <p:cNvPr id="4" name="Picture 3" descr="ocm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5" name="Picture 4" descr="neonephos-foundation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APPENDIX · REPLICATION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/>
              <a:t>Alongside the chain. Not within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3" y="4659411"/>
            <a:ext cx="3905251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ctr"/>
            <a:r>
              <a:rPr lang="en-US" sz="2400" b="1">
                <a:solidFill>
                  <a:srgbClr val="6B7280"/>
                </a:solidFill>
                <a:latin typeface="Aptos"/>
              </a:rPr>
              <a:t>Repository</a:t>
            </a:r>
          </a:p>
          <a:p>
            <a:pPr algn="ctr">
              <a:spcBef>
                <a:spcPts val="800"/>
              </a:spcBef>
            </a:pPr>
            <a:r>
              <a:rPr lang="en-US">
                <a:solidFill>
                  <a:srgbClr val="6B7280"/>
                </a:solidFill>
              </a:rPr>
              <a:t>Where component version live.</a:t>
            </a:r>
            <a:endParaRPr lang="en-US" sz="1800">
              <a:solidFill>
                <a:srgbClr val="6B7280"/>
              </a:solidFill>
              <a:latin typeface="Aptos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581525" y="5630961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000625" y="4659411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ctr"/>
            <a:r>
              <a:rPr lang="en-US" sz="2400" b="1">
                <a:solidFill>
                  <a:srgbClr val="6B7280"/>
                </a:solidFill>
                <a:latin typeface="Aptos"/>
              </a:rPr>
              <a:t>Component</a:t>
            </a:r>
          </a:p>
          <a:p>
            <a:pPr algn="ctr">
              <a:spcBef>
                <a:spcPts val="800"/>
              </a:spcBef>
            </a:pPr>
            <a:r>
              <a:rPr lang="en-US" sz="1800">
                <a:solidFill>
                  <a:srgbClr val="6B7280"/>
                </a:solidFill>
                <a:latin typeface="Aptos"/>
              </a:rPr>
              <a:t>Pulls + verifies.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63025" y="5630961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429751" y="4659411"/>
            <a:ext cx="3857623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ctr"/>
            <a:r>
              <a:rPr lang="en-US" sz="2400" b="1">
                <a:solidFill>
                  <a:srgbClr val="6B7280"/>
                </a:solidFill>
                <a:latin typeface="Aptos"/>
              </a:rPr>
              <a:t>Resource</a:t>
            </a:r>
          </a:p>
          <a:p>
            <a:pPr algn="ctr">
              <a:spcBef>
                <a:spcPts val="800"/>
              </a:spcBef>
            </a:pPr>
            <a:r>
              <a:rPr lang="en-US" sz="1800">
                <a:solidFill>
                  <a:srgbClr val="6B7280"/>
                </a:solidFill>
                <a:latin typeface="Aptos"/>
              </a:rPr>
              <a:t>One artifact, by digest.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344525" y="5630961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3763625" y="4659411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80000" rIns="180000" bIns="180000" rtlCol="0" anchor="ctr"/>
          <a:lstStyle/>
          <a:p>
            <a:pPr algn="ctr"/>
            <a:r>
              <a:rPr lang="en-US" sz="2400" b="1">
                <a:solidFill>
                  <a:srgbClr val="6B7280"/>
                </a:solidFill>
                <a:latin typeface="Aptos"/>
              </a:rPr>
              <a:t>Deployer</a:t>
            </a:r>
          </a:p>
          <a:p>
            <a:pPr algn="ctr">
              <a:spcBef>
                <a:spcPts val="800"/>
              </a:spcBef>
            </a:pPr>
            <a:r>
              <a:rPr lang="en-US" sz="1800">
                <a:solidFill>
                  <a:srgbClr val="6B7280"/>
                </a:solidFill>
                <a:latin typeface="Aptos"/>
              </a:rPr>
              <a:t>Applies</a:t>
            </a:r>
            <a:r>
              <a:rPr lang="en-US">
                <a:solidFill>
                  <a:srgbClr val="6B7280"/>
                </a:solidFill>
                <a:latin typeface="Aptos"/>
              </a:rPr>
              <a:t> to the cluster.</a:t>
            </a:r>
            <a:endParaRPr lang="en-US" sz="1800">
              <a:solidFill>
                <a:srgbClr val="6B7280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10250" y="7333131"/>
            <a:ext cx="6667500" cy="24765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0000" tIns="180000" rIns="220000" bIns="180000" rtlCol="0" anchor="ctr"/>
          <a:lstStyle/>
          <a:p>
            <a:pPr algn="ctr"/>
            <a:r>
              <a:rPr lang="en-US" sz="3000" b="1">
                <a:solidFill>
                  <a:srgbClr val="0F6BFF"/>
                </a:solidFill>
                <a:latin typeface="Aptos"/>
              </a:rPr>
              <a:t>Replication</a:t>
            </a:r>
          </a:p>
          <a:p>
            <a:pPr algn="ctr">
              <a:spcBef>
                <a:spcPts val="1000"/>
              </a:spcBef>
            </a:pPr>
            <a:r>
              <a:rPr lang="en-US" sz="2000">
                <a:solidFill>
                  <a:srgbClr val="000000"/>
                </a:solidFill>
                <a:latin typeface="Aptos"/>
              </a:rPr>
              <a:t>Transfers a resolved component version from one OCM repository to another.</a:t>
            </a:r>
          </a:p>
          <a:p>
            <a:pPr algn="ctr">
              <a:spcBef>
                <a:spcPts val="600"/>
              </a:spcBef>
            </a:pPr>
            <a:r>
              <a:rPr lang="en-US" sz="2000">
                <a:solidFill>
                  <a:srgbClr val="000000"/>
                </a:solidFill>
                <a:latin typeface="Aptos"/>
              </a:rPr>
              <a:t>Records status.lastTransferredDigest. Same digest → no-op.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0382250"/>
            <a:ext cx="16002000" cy="476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>
                <a:solidFill>
                  <a:srgbClr val="0A3A99"/>
                </a:solidFill>
                <a:latin typeface="Aptos"/>
              </a:rPr>
              <a:t>Controller-shaped equivalent of `ocm transfer cv` — mirroring, promotion, in-cluster air-gap.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6d13f6-f01e-4a65-ae09-5a5653d84bec">
      <Terms xmlns="http://schemas.microsoft.com/office/infopath/2007/PartnerControls"/>
    </lcf76f155ced4ddcb4097134ff3c332f>
    <TaxCatchAll xmlns="05b660bb-c4f4-43c1-874c-d1e08947809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EFA48812873240AA97B5B839318D37" ma:contentTypeVersion="14" ma:contentTypeDescription="Create a new document." ma:contentTypeScope="" ma:versionID="6876bea24b9e57681f192b07c4a8c5f0">
  <xsd:schema xmlns:xsd="http://www.w3.org/2001/XMLSchema" xmlns:xs="http://www.w3.org/2001/XMLSchema" xmlns:p="http://schemas.microsoft.com/office/2006/metadata/properties" xmlns:ns2="ba6d13f6-f01e-4a65-ae09-5a5653d84bec" xmlns:ns3="05b660bb-c4f4-43c1-874c-d1e089478096" targetNamespace="http://schemas.microsoft.com/office/2006/metadata/properties" ma:root="true" ma:fieldsID="ae0a213070a59abd7af7dac0ab70f7d1" ns2:_="" ns3:_="">
    <xsd:import namespace="ba6d13f6-f01e-4a65-ae09-5a5653d84bec"/>
    <xsd:import namespace="05b660bb-c4f4-43c1-874c-d1e089478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d13f6-f01e-4a65-ae09-5a5653d84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660bb-c4f4-43c1-874c-d1e08947809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ff8ce3b-15f6-4222-8a04-f02cd1531d9b}" ma:internalName="TaxCatchAll" ma:showField="CatchAllData" ma:web="05b660bb-c4f4-43c1-874c-d1e0894780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62CB21-18DD-4F52-85F7-B669F7556ED8}">
  <ds:schemaRefs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ba6d13f6-f01e-4a65-ae09-5a5653d84bec"/>
    <ds:schemaRef ds:uri="http://schemas.microsoft.com/office/2006/documentManagement/types"/>
    <ds:schemaRef ds:uri="05b660bb-c4f4-43c1-874c-d1e089478096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FB3E35C-BD88-44B6-9D3D-85D3B63DABEC}">
  <ds:schemaRefs>
    <ds:schemaRef ds:uri="05b660bb-c4f4-43c1-874c-d1e089478096"/>
    <ds:schemaRef ds:uri="ba6d13f6-f01e-4a65-ae09-5a5653d84b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5DB66EA-42DF-41D5-9F1B-3D3FBC8E70F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3979</Words>
  <Application>Microsoft Macintosh PowerPoint</Application>
  <PresentationFormat>Benutzerdefiniert</PresentationFormat>
  <Paragraphs>336</Paragraphs>
  <Slides>16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OCM</vt:lpstr>
      <vt:lpstr>You ship pieces.</vt:lpstr>
      <vt:lpstr>In every existing tool, identity is bound to location.</vt:lpstr>
      <vt:lpstr>Identity that travels with the artifact.</vt:lpstr>
      <vt:lpstr>Wraps every artifact. Signs the whole release.</vt:lpstr>
      <vt:lpstr>What you write.</vt:lpstr>
      <vt:lpstr>What gets signed and travels.</vt:lpstr>
      <vt:lpstr>Pack · Sign · Transport · Deploy</vt:lpstr>
      <vt:lpstr>Service carries resources. Product carries references.</vt:lpstr>
      <vt:lpstr>Three patterns. One command.</vt:lpstr>
      <vt:lpstr>Same signed object. Three signing options.</vt:lpstr>
      <vt:lpstr>OCM controllers verify and apply.</vt:lpstr>
      <vt:lpstr>Bump the product version. Everything follows.</vt:lpstr>
      <vt:lpstr>Two paths to a first OCM component.</vt:lpstr>
      <vt:lpstr>Three honest edges.</vt:lpstr>
      <vt:lpstr>Ship the release as one unit.</vt:lpstr>
      <vt:lpstr>Alongside the chain. Not within it.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Morrison, Gerald</cp:lastModifiedBy>
  <cp:revision>2</cp:revision>
  <dcterms:created xsi:type="dcterms:W3CDTF">2013-01-27T09:14:16Z</dcterms:created>
  <dcterms:modified xsi:type="dcterms:W3CDTF">2026-06-29T09:30:43Z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0x01010017EFA48812873240AA97B5B839318D37</vt:lpwstr>
  </property>
</Properties>
</file>