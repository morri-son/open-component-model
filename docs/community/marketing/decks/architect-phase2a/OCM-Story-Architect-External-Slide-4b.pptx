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comparative anchor an architect-track audience expects. Each tool in the room operates on a different unit; OCM operates one level up.</a:t>
            </a:r>
          </a:p>
          <a:p>
            <a:r>
              <a:t>• cosign / sigstore - signs one OCI artifact. Strong per-image trust. Doesn't bundle. Doesn't travel across registries without re-sign or `cosign copy`. OCM uses Sigstore as one of its signing schemes for the component descriptor.</a:t>
            </a:r>
          </a:p>
          <a:p>
            <a:r>
              <a:t>• SLSA / in-toto - attests the build that produced one artifact. Provenance, not bundling. Not natively air-gap; needs a separate transport story. OCM carries SLSA/in-toto attestations as resources inside the component.</a:t>
            </a:r>
          </a:p>
          <a:p>
            <a:r>
              <a:t>• SBOM / OCI 1.1 referrers - inventories one artifact's contents and attaches it to that artifact's digest. Discovery, not bundling. Doesn't span a multi-artifact release. OCM carries SBOMs as resources; the descriptor names which SBOM belongs to which artifact.</a:t>
            </a:r>
          </a:p>
          <a:p>
            <a:r>
              <a:t>• OCM - signs THE COMPONENT, a named versioned bundle of artifacts plus access paths. One signature covers every digest. Location-independent: access fields rewritten on transfer; signature still verifies. Air-gap native: CTF round-trip with no callback to source.</a:t>
            </a:r>
          </a:p>
          <a:p>
            <a:r>
              <a:t>The 'partial' cells are calibrated honesty - SLSA attestations CAN travel with their subject if you choose to, OCI 1.1 referrers ARE digest-addressable so partially location-independent. We don't overclaim.</a:t>
            </a:r>
          </a:p>
          <a:p>
            <a:r>
              <a:t>Close the slide with the band line: 'OCM rides on top. It doesn't replace the per-artifact tools - it adds the release-level envelope they don't.' The next slide (Constructor) shows what that envelope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  <a:endParaRPr lang="en-US"/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  <a:endParaRPr lang="en-US"/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  <a:endParaRPr lang="en-US"/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  <a:endParaRPr lang="en-US"/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 Tall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2857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Two-line 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  <a:endParaRPr lang="en-US"/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  <a:endParaRPr lang="en-US"/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  <a:endParaRPr lang="en-US"/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  <a:endParaRPr lang="en-US"/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  <a:endParaRPr lang="en-US"/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  <a:endParaRPr lang="en-US"/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  <a:endParaRPr lang="en-US"/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  <a:endParaRPr lang="en-US"/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OCM COMPARES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Composes with what's there.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191000"/>
          <a:ext cx="16002000" cy="371475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4000500"/>
                <a:gridCol w="5143500"/>
                <a:gridCol w="3619500"/>
                <a:gridCol w="3238500"/>
              </a:tblGrid>
              <a:tr h="666750"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0A3A99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b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F6BFF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0A3A99"/>
                          </a:solidFill>
                          <a:latin typeface="Aptos"/>
                        </a:rPr>
                        <a:t>WHAT IT SIGNS</a:t>
                      </a:r>
                    </a:p>
                  </a:txBody>
                  <a:tcPr anchor="b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F6BFF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0A3A99"/>
                          </a:solidFill>
                          <a:latin typeface="Aptos"/>
                        </a:rPr>
                        <a:t>LOCATION-INDEPENDENT</a:t>
                      </a:r>
                    </a:p>
                  </a:txBody>
                  <a:tcPr anchor="b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F6BFF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1800" b="1" i="0">
                          <a:solidFill>
                            <a:srgbClr val="0A3A99"/>
                          </a:solidFill>
                          <a:latin typeface="Aptos"/>
                        </a:rPr>
                        <a:t>AIR-GAP NATIVE</a:t>
                      </a:r>
                    </a:p>
                  </a:txBody>
                  <a:tcPr anchor="b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F6BFF"/>
                      </a:solidFill>
                    </a:lnB>
                  </a:tcPr>
                </a:tc>
              </a:tr>
              <a:tr h="762000"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000000"/>
                          </a:solidFill>
                          <a:latin typeface="Aptos"/>
                        </a:rPr>
                        <a:t>cosign / sigstore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one OCI artifact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</a:tr>
              <a:tr h="762000"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000000"/>
                          </a:solidFill>
                          <a:latin typeface="Aptos"/>
                        </a:rPr>
                        <a:t>SLSA / in-toto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one build's provenance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6B7280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</a:tr>
              <a:tr h="762000"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000000"/>
                          </a:solidFill>
                          <a:latin typeface="Aptos"/>
                        </a:rPr>
                        <a:t>SBOM / OCI 1.1 refs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one artifact's contents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6B7280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0" i="0">
                          <a:solidFill>
                            <a:srgbClr val="000000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</a:lnB>
                  </a:tcPr>
                </a:tc>
              </a:tr>
              <a:tr h="762000"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0F6BFF"/>
                          </a:solidFill>
                          <a:latin typeface="Aptos"/>
                        </a:rPr>
                        <a:t>OCM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B w="0" cap="flat" cmpd="sng" algn="ctr">
                      <a:noFill/>
                    </a:lnB>
                    <a:solidFill>
                      <a:srgbClr val="FFFFFF"/>
                    </a:solidFill>
                    <a:lnT w="12700" cap="flat" cmpd="sng" algn="ctr">
                      <a:solidFill>
                        <a:srgbClr val="0F6BFF"/>
                      </a:solidFill>
                    </a:lnT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0F6BFF"/>
                          </a:solidFill>
                          <a:latin typeface="Aptos"/>
                        </a:rPr>
                        <a:t>a component (the bundle)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B w="0" cap="flat" cmpd="sng" algn="ctr">
                      <a:noFill/>
                    </a:lnB>
                    <a:solidFill>
                      <a:srgbClr val="FFFFFF"/>
                    </a:solidFill>
                    <a:lnT w="12700" cap="flat" cmpd="sng" algn="ctr">
                      <a:solidFill>
                        <a:srgbClr val="0F6BFF"/>
                      </a:solidFill>
                    </a:lnT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0F6BFF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B w="0" cap="flat" cmpd="sng" algn="ctr">
                      <a:noFill/>
                    </a:lnB>
                    <a:solidFill>
                      <a:srgbClr val="FFFFFF"/>
                    </a:solidFill>
                    <a:lnT w="12700" cap="flat" cmpd="sng" algn="ctr">
                      <a:solidFill>
                        <a:srgbClr val="0F6BFF"/>
                      </a:solidFill>
                    </a:lnT>
                  </a:tcPr>
                </a:tc>
                <a:tc>
                  <a:txBody>
                    <a:bodyPr lIns="137160" rIns="137160" wrap="square"/>
                    <a:lstStyle/>
                    <a:p>
                      <a:pPr algn="l"/>
                      <a:r>
                        <a:rPr sz="2000" b="1" i="0">
                          <a:solidFill>
                            <a:srgbClr val="0F6BFF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B w="0" cap="flat" cmpd="sng" algn="ctr">
                      <a:noFill/>
                    </a:lnB>
                    <a:solidFill>
                      <a:srgbClr val="FFFFFF"/>
                    </a:solidFill>
                    <a:lnT w="12700" cap="flat" cmpd="sng" algn="ctr">
                      <a:solidFill>
                        <a:srgbClr val="0F6BFF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8763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A3A99"/>
                </a:solidFill>
                <a:latin typeface="Aptos"/>
              </a:rPr>
              <a:t>OCM rides on top. It doesn't replace the per-artifact tools — it adds the release-level envelope they don't.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