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 userDrawn="1">
  <p:cSld name="Hero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ro Title Line 1"/>
          <p:cNvSpPr>
            <a:spLocks noGrp="1"/>
          </p:cNvSpPr>
          <p:nvPr>
            <p:ph type="title" idx="1"/>
          </p:nvPr>
        </p:nvSpPr>
        <p:spPr>
          <a:xfrm>
            <a:off x="914400" y="1714500"/>
            <a:ext cx="161925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32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Secure Delivery for</a:t>
            </a:r>
            <a:endParaRPr lang="en-US"/>
          </a:p>
        </p:txBody>
      </p:sp>
      <p:sp>
        <p:nvSpPr>
          <p:cNvPr id="11" name="Hero Title Line 2"/>
          <p:cNvSpPr>
            <a:spLocks noGrp="1"/>
          </p:cNvSpPr>
          <p:nvPr>
            <p:ph type="body" idx="2"/>
          </p:nvPr>
        </p:nvSpPr>
        <p:spPr>
          <a:xfrm>
            <a:off x="914400" y="3286125"/>
            <a:ext cx="161925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3200" b="1">
                <a:solidFill>
                  <a:srgbClr val="5CD6FF"/>
                </a:solidFill>
                <a:latin typeface="Aptos Display"/>
              </a:defRPr>
            </a:lvl1pPr>
          </a:lstStyle>
          <a:p>
            <a:r>
              <a:rPr lang="en-US"/>
              <a:t>Sovereign Clouds</a:t>
            </a:r>
            <a:endParaRPr lang="en-US"/>
          </a:p>
        </p:txBody>
      </p:sp>
      <p:sp>
        <p:nvSpPr>
          <p:cNvPr id="12" name="Hero Subtitle"/>
          <p:cNvSpPr>
            <a:spLocks noGrp="1"/>
          </p:cNvSpPr>
          <p:nvPr>
            <p:ph type="body" idx="3"/>
          </p:nvPr>
        </p:nvSpPr>
        <p:spPr>
          <a:xfrm>
            <a:off x="914400" y="5334000"/>
            <a:ext cx="16192500" cy="85725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lnSpc>
                <a:spcPct val="114999"/>
              </a:lnSpc>
              <a:buNone/>
              <a:defRPr sz="3500">
                <a:solidFill>
                  <a:srgbClr val="5CD6FF"/>
                </a:solidFill>
                <a:latin typeface="Aptos"/>
              </a:defRPr>
            </a:lvl1pPr>
          </a:lstStyle>
          <a:p>
            <a:r>
              <a:rPr lang="en-US"/>
              <a:t>Subtitle — one sentence describing the deck.</a:t>
            </a:r>
            <a:endParaRPr lang="en-US"/>
          </a:p>
        </p:txBody>
      </p:sp>
      <p:sp>
        <p:nvSpPr>
          <p:cNvPr id="13" name="Hero Org Line"/>
          <p:cNvSpPr>
            <a:spLocks noGrp="1"/>
          </p:cNvSpPr>
          <p:nvPr>
            <p:ph type="body" idx="4"/>
          </p:nvPr>
        </p:nvSpPr>
        <p:spPr>
          <a:xfrm>
            <a:off x="914400" y="6572250"/>
            <a:ext cx="16192500" cy="5715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Open Component Model — open source, NeoNephos Foundation.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TA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TA Title"/>
          <p:cNvSpPr>
            <a:spLocks noGrp="1"/>
          </p:cNvSpPr>
          <p:nvPr>
            <p:ph type="title" idx="1"/>
          </p:nvPr>
        </p:nvSpPr>
        <p:spPr>
          <a:xfrm>
            <a:off x="914400" y="3048000"/>
            <a:ext cx="161925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64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Call to action</a:t>
            </a:r>
            <a:endParaRPr lang="en-US"/>
          </a:p>
        </p:txBody>
      </p:sp>
      <p:sp>
        <p:nvSpPr>
          <p:cNvPr id="11" name="CTA Body"/>
          <p:cNvSpPr>
            <a:spLocks noGrp="1"/>
          </p:cNvSpPr>
          <p:nvPr>
            <p:ph type="body" idx="2"/>
          </p:nvPr>
        </p:nvSpPr>
        <p:spPr>
          <a:xfrm>
            <a:off x="914400" y="4381500"/>
            <a:ext cx="161925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Three-line CTA bullets go here.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143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19200"/>
            <a:ext cx="16002000" cy="762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286000"/>
            <a:ext cx="17145000" cy="74295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62000"/>
            <a:ext cx="16002000" cy="381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6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38250"/>
            <a:ext cx="160020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56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476500"/>
            <a:ext cx="17145000" cy="72390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Ti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Tile1 Bg"/>
          <p:cNvSpPr/>
          <p:nvPr/>
        </p:nvSpPr>
        <p:spPr>
          <a:xfrm>
            <a:off x="11430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le1 Rule"/>
          <p:cNvSpPr/>
          <p:nvPr/>
        </p:nvSpPr>
        <p:spPr>
          <a:xfrm>
            <a:off x="11430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1 Label"/>
          <p:cNvSpPr>
            <a:spLocks noGrp="1"/>
          </p:cNvSpPr>
          <p:nvPr>
            <p:ph type="body" idx="20"/>
          </p:nvPr>
        </p:nvSpPr>
        <p:spPr>
          <a:xfrm>
            <a:off x="19812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1 label</a:t>
            </a:r>
            <a:endParaRPr lang="en-US"/>
          </a:p>
        </p:txBody>
      </p:sp>
      <p:sp>
        <p:nvSpPr>
          <p:cNvPr id="15" name="Tile1 Body"/>
          <p:cNvSpPr>
            <a:spLocks noGrp="1"/>
          </p:cNvSpPr>
          <p:nvPr>
            <p:ph type="body" idx="21"/>
          </p:nvPr>
        </p:nvSpPr>
        <p:spPr>
          <a:xfrm>
            <a:off x="13716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16" name="Tile2 Bg"/>
          <p:cNvSpPr/>
          <p:nvPr/>
        </p:nvSpPr>
        <p:spPr>
          <a:xfrm>
            <a:off x="65532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le2 Rule"/>
          <p:cNvSpPr/>
          <p:nvPr/>
        </p:nvSpPr>
        <p:spPr>
          <a:xfrm>
            <a:off x="65532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2 Label"/>
          <p:cNvSpPr>
            <a:spLocks noGrp="1"/>
          </p:cNvSpPr>
          <p:nvPr>
            <p:ph type="body" idx="22"/>
          </p:nvPr>
        </p:nvSpPr>
        <p:spPr>
          <a:xfrm>
            <a:off x="73914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2 label</a:t>
            </a:r>
            <a:endParaRPr lang="en-US"/>
          </a:p>
        </p:txBody>
      </p:sp>
      <p:sp>
        <p:nvSpPr>
          <p:cNvPr id="19" name="Tile2 Body"/>
          <p:cNvSpPr>
            <a:spLocks noGrp="1"/>
          </p:cNvSpPr>
          <p:nvPr>
            <p:ph type="body" idx="23"/>
          </p:nvPr>
        </p:nvSpPr>
        <p:spPr>
          <a:xfrm>
            <a:off x="67818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0" name="Tile3 Bg"/>
          <p:cNvSpPr/>
          <p:nvPr/>
        </p:nvSpPr>
        <p:spPr>
          <a:xfrm>
            <a:off x="119634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ile3 Rule"/>
          <p:cNvSpPr/>
          <p:nvPr/>
        </p:nvSpPr>
        <p:spPr>
          <a:xfrm>
            <a:off x="119634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ile3 Label"/>
          <p:cNvSpPr>
            <a:spLocks noGrp="1"/>
          </p:cNvSpPr>
          <p:nvPr>
            <p:ph type="body" idx="24"/>
          </p:nvPr>
        </p:nvSpPr>
        <p:spPr>
          <a:xfrm>
            <a:off x="128016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3 label</a:t>
            </a:r>
            <a:endParaRPr lang="en-US"/>
          </a:p>
        </p:txBody>
      </p:sp>
      <p:sp>
        <p:nvSpPr>
          <p:cNvPr id="23" name="Tile3 Body"/>
          <p:cNvSpPr>
            <a:spLocks noGrp="1"/>
          </p:cNvSpPr>
          <p:nvPr>
            <p:ph type="body" idx="25"/>
          </p:nvPr>
        </p:nvSpPr>
        <p:spPr>
          <a:xfrm>
            <a:off x="121920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4" name="Tile4 Bg"/>
          <p:cNvSpPr/>
          <p:nvPr/>
        </p:nvSpPr>
        <p:spPr>
          <a:xfrm>
            <a:off x="11430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ile4 Rule"/>
          <p:cNvSpPr/>
          <p:nvPr/>
        </p:nvSpPr>
        <p:spPr>
          <a:xfrm>
            <a:off x="11430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ile4 Label"/>
          <p:cNvSpPr>
            <a:spLocks noGrp="1"/>
          </p:cNvSpPr>
          <p:nvPr>
            <p:ph type="body" idx="26"/>
          </p:nvPr>
        </p:nvSpPr>
        <p:spPr>
          <a:xfrm>
            <a:off x="19812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4 label</a:t>
            </a:r>
            <a:endParaRPr lang="en-US"/>
          </a:p>
        </p:txBody>
      </p:sp>
      <p:sp>
        <p:nvSpPr>
          <p:cNvPr id="27" name="Tile4 Body"/>
          <p:cNvSpPr>
            <a:spLocks noGrp="1"/>
          </p:cNvSpPr>
          <p:nvPr>
            <p:ph type="body" idx="27"/>
          </p:nvPr>
        </p:nvSpPr>
        <p:spPr>
          <a:xfrm>
            <a:off x="13716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8" name="Tile5 Bg"/>
          <p:cNvSpPr/>
          <p:nvPr/>
        </p:nvSpPr>
        <p:spPr>
          <a:xfrm>
            <a:off x="65532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ile5 Rule"/>
          <p:cNvSpPr/>
          <p:nvPr/>
        </p:nvSpPr>
        <p:spPr>
          <a:xfrm>
            <a:off x="65532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ile5 Label"/>
          <p:cNvSpPr>
            <a:spLocks noGrp="1"/>
          </p:cNvSpPr>
          <p:nvPr>
            <p:ph type="body" idx="28"/>
          </p:nvPr>
        </p:nvSpPr>
        <p:spPr>
          <a:xfrm>
            <a:off x="73914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5 label</a:t>
            </a:r>
            <a:endParaRPr lang="en-US"/>
          </a:p>
        </p:txBody>
      </p:sp>
      <p:sp>
        <p:nvSpPr>
          <p:cNvPr id="31" name="Tile5 Body"/>
          <p:cNvSpPr>
            <a:spLocks noGrp="1"/>
          </p:cNvSpPr>
          <p:nvPr>
            <p:ph type="body" idx="29"/>
          </p:nvPr>
        </p:nvSpPr>
        <p:spPr>
          <a:xfrm>
            <a:off x="67818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2" name="Tile6 Bg"/>
          <p:cNvSpPr/>
          <p:nvPr/>
        </p:nvSpPr>
        <p:spPr>
          <a:xfrm>
            <a:off x="119634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ile6 Rule"/>
          <p:cNvSpPr/>
          <p:nvPr/>
        </p:nvSpPr>
        <p:spPr>
          <a:xfrm>
            <a:off x="119634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ile6 Label"/>
          <p:cNvSpPr>
            <a:spLocks noGrp="1"/>
          </p:cNvSpPr>
          <p:nvPr>
            <p:ph type="body" idx="30"/>
          </p:nvPr>
        </p:nvSpPr>
        <p:spPr>
          <a:xfrm>
            <a:off x="128016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6 label</a:t>
            </a:r>
            <a:endParaRPr lang="en-US"/>
          </a:p>
        </p:txBody>
      </p:sp>
      <p:sp>
        <p:nvSpPr>
          <p:cNvPr id="35" name="Tile6 Body"/>
          <p:cNvSpPr>
            <a:spLocks noGrp="1"/>
          </p:cNvSpPr>
          <p:nvPr>
            <p:ph type="body" idx="31"/>
          </p:nvPr>
        </p:nvSpPr>
        <p:spPr>
          <a:xfrm>
            <a:off x="121920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6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 userDrawn="1">
  <p:cSld name="Content / 2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Left 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Left column body.</a:t>
            </a:r>
            <a:endParaRPr lang="en-US"/>
          </a:p>
        </p:txBody>
      </p:sp>
      <p:sp>
        <p:nvSpPr>
          <p:cNvPr id="13" name="Right Body"/>
          <p:cNvSpPr>
            <a:spLocks noGrp="1"/>
          </p:cNvSpPr>
          <p:nvPr>
            <p:ph type="body" idx="11"/>
          </p:nvPr>
        </p:nvSpPr>
        <p:spPr>
          <a:xfrm>
            <a:off x="93345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Right column body.</a:t>
            </a:r>
            <a:endParaRPr lang="en-US"/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 userDrawn="1">
  <p:cSld name="Section Divider">
    <p:bg>
      <p:bgPr>
        <a:solidFill>
          <a:srgbClr val="0F6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title" idx="1"/>
          </p:nvPr>
        </p:nvSpPr>
        <p:spPr>
          <a:xfrm>
            <a:off x="762000" y="4381500"/>
            <a:ext cx="16764000" cy="19050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ctr">
              <a:buNone/>
              <a:defRPr sz="83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Section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5524500"/>
            <a:ext cx="160020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 /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160020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OCM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pPr algn="l"/>
            <a:r>
              <a:rPr>
                <a:solidFill>
                  <a:srgbClr val="FFFFFF"/>
                </a:solidFill>
              </a:rPr>
              <a:t/>
            </a:r>
            <a:r>
              <a:rPr>
                <a:gradFill flip="none" rotWithShape="1">
                  <a:gsLst>
                    <a:gs pos="0">
                      <a:srgbClr val="FFFFFF"/>
                    </a:gs>
                    <a:gs pos="35000">
                      <a:srgbClr val="5CD6FF"/>
                    </a:gs>
                    <a:gs pos="75000">
                      <a:srgbClr val="0F6BFF"/>
                    </a:gs>
                  </a:gsLst>
                  <a:lin ang="0" scaled="1"/>
                </a:gradFill>
              </a:rPr>
              <a:t>It's 2am. A CVE drops.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/>
            <a:r>
              <a:rPr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>
                <a:solidFill>
                  <a:srgbClr val="5CD6FF"/>
                </a:solidFill>
              </a:rPr>
              <a:t>Where is it running?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Open Component Model — open source, NeoNephos Foundation.</a:t>
            </a:r>
          </a:p>
        </p:txBody>
      </p:sp>
      <p:pic>
        <p:nvPicPr>
          <p:cNvPr id="7" name="Picture 6" descr="ocm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8" name="Picture 7" descr="neonephos-foundation-horizontal-white_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Your release isn't a thing. It's a scavenger hunt.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The image is in GHCR. The chart is in another registry.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The SBOM is on an S3 bucket someone set up two years ago.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The Terraform that wired it together is in a fourth repo.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The CVE doesn't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57250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1">
                <a:solidFill>
                  <a:srgbClr val="0F6BFF"/>
                </a:solidFill>
                <a:latin typeface="Aptos"/>
              </a:rPr>
              <a:t>Thirty minutes to find the pieces.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FRAGMENTATION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The release has no 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43500"/>
            <a:ext cx="16002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0A3A99"/>
                </a:solidFill>
                <a:latin typeface="Aptos"/>
              </a:rPr>
              <a:t>Every artifact has an identity.</a:t>
            </a:r>
          </a:p>
          <a:p>
            <a:pPr algn="ctr">
              <a:spcBef>
                <a:spcPts val="1200"/>
              </a:spcBef>
            </a:pPr>
            <a:r>
              <a:rPr sz="3000" b="1">
                <a:solidFill>
                  <a:srgbClr val="0A3A99"/>
                </a:solidFill>
                <a:latin typeface="Aptos"/>
              </a:rPr>
              <a:t>None of them name the release.</a:t>
            </a:r>
          </a:p>
          <a:p>
            <a:pPr algn="ctr">
              <a:spcBef>
                <a:spcPts val="1200"/>
              </a:spcBef>
            </a:pPr>
            <a:r>
              <a:rPr sz="3000">
                <a:solidFill>
                  <a:srgbClr val="000000"/>
                </a:solidFill>
                <a:latin typeface="Aptos"/>
              </a:rPr>
              <a:t/>
            </a:r>
          </a:p>
          <a:p>
            <a:pPr algn="ctr">
              <a:spcBef>
                <a:spcPts val="1200"/>
              </a:spcBef>
            </a:pPr>
            <a:r>
              <a:rPr sz="3000">
                <a:solidFill>
                  <a:srgbClr val="000000"/>
                </a:solidFill>
                <a:latin typeface="Aptos"/>
              </a:rPr>
              <a:t>Mirror the image — the reference changes.</a:t>
            </a:r>
          </a:p>
          <a:p>
            <a:pPr algn="ctr">
              <a:spcBef>
                <a:spcPts val="1200"/>
              </a:spcBef>
            </a:pPr>
            <a:r>
              <a:rPr sz="3000">
                <a:solidFill>
                  <a:srgbClr val="000000"/>
                </a:solidFill>
                <a:latin typeface="Aptos"/>
              </a:rPr>
              <a:t>Mirror the chart — the reference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763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i="1">
                <a:solidFill>
                  <a:srgbClr val="6B7280"/>
                </a:solidFill>
                <a:latin typeface="Aptos"/>
              </a:rPr>
              <a:t>Cosign signs each piece. None of them sign the release as one named, location-independent unit.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Pack.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5143500"/>
            <a:ext cx="10287000" cy="4191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F6BFF"/>
                </a:solidFill>
                <a:latin typeface="Consolas"/>
              </a:rPr>
              <a:t>components: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github.com/acme.org/helloworld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provider: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name: acme.org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F6BFF"/>
                </a:solidFill>
                <a:latin typeface="Consolas"/>
              </a:rPr>
              <a:t>  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type: ociImage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access: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  type: OCIImage/v1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  imageReference: ghcr.io/stefanprodan/podinfo:6.9.1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1000" y="533400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6BFF"/>
                </a:solidFill>
                <a:latin typeface="Consolas"/>
              </a:rPr>
              <a:t>$ ocm add 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0" y="6286500"/>
            <a:ext cx="5334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Produces a CTF archive.</a:t>
            </a:r>
          </a:p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Portable. OCI-compatible.</a:t>
            </a:r>
          </a:p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Move it with ocm transfer.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SIGN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What gets signed and travels.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5143500"/>
            <a:ext cx="10287000" cy="4191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F6BFF"/>
                </a:solidFill>
                <a:latin typeface="Consolas"/>
              </a:rPr>
              <a:t>component: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name: github.com/acme.org/helloworld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provider: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name: acme.org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F6BFF"/>
                </a:solidFill>
                <a:latin typeface="Consolas"/>
              </a:rPr>
              <a:t>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- name: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type: ociImage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digest: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hashAlgorithm: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value: 70a2577d7b…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access: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type: OCIImage/v1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F6BFF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default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digest: { value: 70a2577d7b… 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signature: { value: &lt;PEM block&gt;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1000" y="533400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6BFF"/>
                </a:solidFill>
                <a:latin typeface="Consolas"/>
              </a:rPr>
              <a:t>$ ocm sign 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0" y="6286500"/>
            <a:ext cx="5334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OCM signs the descriptor,</a:t>
            </a:r>
          </a:p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not the individual files.</a:t>
            </a:r>
          </a:p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/>
            </a:r>
          </a:p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The descriptor carries digests</a:t>
            </a:r>
          </a:p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for every artifact — one signature,</a:t>
            </a:r>
          </a:p>
          <a:p>
            <a:pPr algn="l">
              <a:spcBef>
                <a:spcPts val="14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tamper-evident over the release.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TRANSPORT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Travels.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Registry → Registry. Public to private, cloud to cloud.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Registry → CTF archive. The whole release in one filesystem.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>
                <a:solidFill>
                  <a:srgbClr val="000000"/>
                </a:solidFill>
              </a:rPr>
              <a:t>CTF → Registry. Behind the air gap. No callback upstream.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763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i="1">
                <a:solidFill>
                  <a:srgbClr val="6B7280"/>
                </a:solidFill>
                <a:latin typeface="Aptos"/>
              </a:rPr>
              <a:t>Same identity in OCI, S3, or on USB. Verify with the same 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Apply once. The controllers take 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1435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i="1">
                <a:solidFill>
                  <a:srgbClr val="6B7280"/>
                </a:solidFill>
                <a:latin typeface="Consolas"/>
              </a:rPr>
              <a:t>Component 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0" y="5762625"/>
            <a:ext cx="7620000" cy="34290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19750" y="5991225"/>
            <a:ext cx="7048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OCM Controllers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05500" y="6619875"/>
            <a:ext cx="6477000" cy="0"/>
          </a:xfrm>
          <a:prstGeom prst="line">
            <a:avLst/>
          </a:prstGeom>
          <a:ln w="12700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05500" y="6810375"/>
            <a:ext cx="4762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>
                <a:solidFill>
                  <a:srgbClr val="000000"/>
                </a:solidFill>
                <a:latin typeface="Aptos"/>
              </a:rPr>
              <a:t>pull descriptor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810375"/>
            <a:ext cx="1333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i="1">
                <a:solidFill>
                  <a:srgbClr val="6B7280"/>
                </a:solidFill>
                <a:latin typeface="Aptos"/>
              </a:rPr>
              <a:t>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0" y="7353300"/>
            <a:ext cx="4762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>
                <a:solidFill>
                  <a:srgbClr val="000000"/>
                </a:solidFill>
                <a:latin typeface="Aptos"/>
              </a:rPr>
              <a:t>verify 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7353300"/>
            <a:ext cx="1333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i="1">
                <a:solidFill>
                  <a:srgbClr val="6B7280"/>
                </a:solidFill>
                <a:latin typeface="Aptos"/>
              </a:rPr>
              <a:t>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0" y="7896225"/>
            <a:ext cx="4762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>
                <a:solidFill>
                  <a:srgbClr val="000000"/>
                </a:solidFill>
                <a:latin typeface="Aptos"/>
              </a:rPr>
              <a:t>resolve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7896225"/>
            <a:ext cx="1333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i="1">
                <a:solidFill>
                  <a:srgbClr val="6B7280"/>
                </a:solidFill>
                <a:latin typeface="Aptos"/>
              </a:rPr>
              <a:t>Resource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0" y="8439150"/>
            <a:ext cx="4762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>
                <a:solidFill>
                  <a:srgbClr val="000000"/>
                </a:solidFill>
                <a:latin typeface="Aptos"/>
              </a:rPr>
              <a:t>apply &amp; 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8439150"/>
            <a:ext cx="1333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i="1">
                <a:solidFill>
                  <a:srgbClr val="6B7280"/>
                </a:solidFill>
                <a:latin typeface="Aptos"/>
              </a:rPr>
              <a:t>Deployer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9382125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i="1">
                <a:solidFill>
                  <a:srgbClr val="6B7280"/>
                </a:solidFill>
                <a:latin typeface="Aptos"/>
              </a:rPr>
              <a:t>Cluster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A product is a tree.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5524500"/>
            <a:ext cx="14478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F6BFF"/>
                </a:solidFill>
                <a:latin typeface="Consolas"/>
              </a:rPr>
              <a:t>github.com/acme/sovereign/product : 1.0.0</a:t>
            </a:r>
          </a:p>
          <a:p>
            <a:pPr algn="l">
              <a:spcBef>
                <a:spcPts val="1200"/>
              </a:spcBef>
            </a:pPr>
            <a:r>
              <a:rPr sz="2800">
                <a:solidFill>
                  <a:srgbClr val="000000"/>
                </a:solidFill>
                <a:latin typeface="Consolas"/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2800">
                <a:solidFill>
                  <a:srgbClr val="6B7280"/>
                </a:solidFill>
                <a:latin typeface="Consolas"/>
              </a:rPr>
              <a:t>   ├── github.com/acme/sovereign/notes    : 1.0.0</a:t>
            </a:r>
          </a:p>
          <a:p>
            <a:pPr algn="l">
              <a:spcBef>
                <a:spcPts val="1200"/>
              </a:spcBef>
            </a:pPr>
            <a:r>
              <a:rPr sz="2800">
                <a:solidFill>
                  <a:srgbClr val="6B7280"/>
                </a:solidFill>
                <a:latin typeface="Consolas"/>
              </a:rPr>
              <a:t>   └── github.com/acme/sovereign/postgres : 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76300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i="0">
                <a:solidFill>
                  <a:srgbClr val="000000"/>
                </a:solidFill>
                <a:latin typeface="Aptos"/>
              </a:rPr>
              <a:t>Leaf components carry resources. The product references them.</a:t>
            </a:r>
          </a:p>
          <a:p>
            <a:pPr algn="ctr">
              <a:spcBef>
                <a:spcPts val="800"/>
              </a:spcBef>
            </a:pPr>
            <a:r>
              <a:rPr sz="2200" i="1">
                <a:solidFill>
                  <a:srgbClr val="6B7280"/>
                </a:solidFill>
                <a:latin typeface="Aptos"/>
              </a:rPr>
              <a:t>One name, one signature, covers the whole tree.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DAY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Bump the product. Everything follows.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5334000"/>
            <a:ext cx="8572500" cy="1905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>
                <a:solidFill>
                  <a:srgbClr val="0F6BFF"/>
                </a:solidFill>
                <a:latin typeface="Consolas"/>
              </a:rPr>
              <a:t>spec: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>
                <a:solidFill>
                  <a:srgbClr val="000000"/>
                </a:solidFill>
                <a:latin typeface="Consolas"/>
              </a:rPr>
              <a:t>  version: 1.1.0   # was: 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5143500"/>
            <a:ext cx="68580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0F6BFF"/>
                </a:solidFill>
                <a:latin typeface="Aptos"/>
              </a:rPr>
              <a:t>1.  </a:t>
            </a:r>
            <a:r>
              <a:rPr sz="2000">
                <a:solidFill>
                  <a:srgbClr val="000000"/>
                </a:solidFill>
                <a:latin typeface="Aptos"/>
              </a:rPr>
              <a:t>kro re-renders the RGD with the new spec.version.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0F6BFF"/>
                </a:solidFill>
                <a:latin typeface="Aptos"/>
              </a:rPr>
              <a:t>2.  </a:t>
            </a:r>
            <a:r>
              <a:rPr sz="2000">
                <a:solidFill>
                  <a:srgbClr val="000000"/>
                </a:solidFill>
                <a:latin typeface="Aptos"/>
              </a:rPr>
              <a:t>Component CR's semver updates; controllers resolve and verify the new version.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0F6BFF"/>
                </a:solidFill>
                <a:latin typeface="Aptos"/>
              </a:rPr>
              <a:t>3.  </a:t>
            </a:r>
            <a:r>
              <a:rPr sz="2000">
                <a:solidFill>
                  <a:srgbClr val="000000"/>
                </a:solidFill>
                <a:latin typeface="Aptos"/>
              </a:rPr>
              <a:t>Resource CRs resolve new digests for the child charts and images.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0F6BFF"/>
                </a:solidFill>
                <a:latin typeface="Aptos"/>
              </a:rPr>
              <a:t>4.  </a:t>
            </a:r>
            <a:r>
              <a:rPr sz="2000">
                <a:solidFill>
                  <a:srgbClr val="000000"/>
                </a:solidFill>
                <a:latin typeface="Aptos"/>
              </a:rPr>
              <a:t>Flux HelmReleases roll the new artifacts.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876300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1">
                <a:solidFill>
                  <a:srgbClr val="0F6BFF"/>
                </a:solidFill>
                <a:latin typeface="Aptos"/>
              </a:rPr>
              <a:t>You changed one line. The cluster did the 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ODG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The scanner speaks libraries. OCM speaks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" y="51435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6BFF"/>
                </a:solidFill>
                <a:latin typeface="Aptos"/>
              </a:rPr>
              <a:t>WHAT THE SCANNER REPORTS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5750" y="5619750"/>
            <a:ext cx="8572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5750" y="5810250"/>
            <a:ext cx="8572500" cy="333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000000"/>
                </a:solidFill>
                <a:latin typeface="Consolas"/>
              </a:rPr>
              <a:t>CVE-2026-XXXX in libfoo</a:t>
            </a:r>
          </a:p>
          <a:p>
            <a:pPr algn="l">
              <a:spcBef>
                <a:spcPts val="400"/>
              </a:spcBef>
            </a:pP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F6BFF"/>
                </a:solidFill>
                <a:latin typeface="Consolas"/>
              </a:rPr>
              <a:t>eu.gcr.io/acme/notes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0F6BFF"/>
                </a:solidFill>
                <a:latin typeface="Consolas"/>
              </a:rPr>
              <a:t>@sha256:70a2577d…</a:t>
            </a:r>
          </a:p>
          <a:p>
            <a:pPr algn="l">
              <a:spcBef>
                <a:spcPts val="400"/>
              </a:spcBef>
            </a:pP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6B7280"/>
                </a:solidFill>
                <a:latin typeface="Consolas"/>
              </a:rPr>
              <a:t>package · version ·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750" y="51435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6BFF"/>
                </a:solidFill>
                <a:latin typeface="Aptos"/>
              </a:rPr>
              <a:t>WHAT ODG DISCOVERS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29750" y="5619750"/>
            <a:ext cx="8572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29750" y="5810250"/>
            <a:ext cx="8572500" cy="333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0000"/>
                </a:solidFill>
                <a:latin typeface="Consolas"/>
              </a:rPr>
              <a:t>$ oras discover \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0F6BFF"/>
                </a:solidFill>
                <a:latin typeface="Consolas"/>
              </a:rPr>
              <a:t>    eu.gcr.io/acme/notes@sha256:70a2577d… \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00000"/>
                </a:solidFill>
                <a:latin typeface="Consolas"/>
              </a:rPr>
              <a:t>    --artifact-type \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00000"/>
                </a:solidFill>
                <a:latin typeface="Consolas"/>
              </a:rPr>
              <a:t>      application/vnd.ocm.software.ownership.v1+json</a:t>
            </a:r>
          </a:p>
          <a:p>
            <a:pPr algn="l">
              <a:spcBef>
                <a:spcPts val="400"/>
              </a:spcBef>
            </a:pP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0F6BFF"/>
                </a:solidFill>
                <a:latin typeface="Consolas"/>
              </a:rPr>
              <a:t>→ annotations: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F6BFF"/>
                </a:solidFill>
                <a:latin typeface="Consolas"/>
              </a:rPr>
              <a:t>    software.ocm.component.name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00000"/>
                </a:solidFill>
                <a:latin typeface="Consolas"/>
              </a:rPr>
              <a:t>      = github.com/acme/notes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F6BFF"/>
                </a:solidFill>
                <a:latin typeface="Consolas"/>
              </a:rPr>
              <a:t>    software.ocm.component.version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00000"/>
                </a:solidFill>
                <a:latin typeface="Consolas"/>
              </a:rPr>
              <a:t>      = 1.0.0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F6BFF"/>
                </a:solidFill>
                <a:latin typeface="Consolas"/>
              </a:rPr>
              <a:t>    software.ocm.artifact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00000"/>
                </a:solidFill>
                <a:latin typeface="Consolas"/>
              </a:rPr>
              <a:t>      = { name: notes-image, kind: resource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9429750"/>
            <a:ext cx="16002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i="1">
                <a:solidFill>
                  <a:srgbClr val="6B7280"/>
                </a:solidFill>
                <a:latin typeface="Aptos"/>
              </a:rPr>
              <a:t>The image is unchanged. Ownership rides in a side-car.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2AM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It's 2am. You already know.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05000" y="5143500"/>
            <a:ext cx="14478000" cy="904875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190750" y="5257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6BFF"/>
                </a:solidFill>
                <a:latin typeface="Aptos"/>
              </a:rPr>
              <a:t>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5505450"/>
            <a:ext cx="13906500" cy="523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000000"/>
                </a:solidFill>
                <a:latin typeface="Aptos"/>
              </a:rPr>
              <a:t>CVE-2026-XXXX in libfoo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000000"/>
                </a:solidFill>
                <a:latin typeface="Aptos"/>
              </a:rPr>
              <a:t>found in image </a:t>
            </a:r>
            <a:r>
              <a:rPr sz="1800" b="1">
                <a:solidFill>
                  <a:srgbClr val="0F6BFF"/>
                </a:solidFill>
                <a:latin typeface="Consolas"/>
              </a:rPr>
              <a:t>eu.gcr.io/acme/notes@sha256:70a2577d…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0" y="6086475"/>
            <a:ext cx="0" cy="104775"/>
          </a:xfrm>
          <a:prstGeom prst="line">
            <a:avLst/>
          </a:prstGeom>
          <a:ln w="31750">
            <a:solidFill>
              <a:srgbClr val="0A3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9067800" y="6172200"/>
            <a:ext cx="152400" cy="95250"/>
          </a:xfrm>
          <a:prstGeom prst="triangle">
            <a:avLst/>
          </a:prstGeom>
          <a:solidFill>
            <a:srgbClr val="0A3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05000" y="6286500"/>
            <a:ext cx="14478000" cy="904875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190750" y="6400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6BFF"/>
                </a:solidFill>
                <a:latin typeface="Aptos"/>
              </a:rPr>
              <a:t>ODG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6648450"/>
            <a:ext cx="13906500" cy="523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000000"/>
                </a:solidFill>
                <a:latin typeface="Aptos"/>
              </a:rPr>
              <a:t>oras discover the image with the OCM ownership artifactType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000000"/>
                </a:solidFill>
                <a:latin typeface="Aptos"/>
              </a:rPr>
              <a:t>→ component github.com/acme/notes : 1.0.0 (resource notes-image)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7229475"/>
            <a:ext cx="0" cy="104775"/>
          </a:xfrm>
          <a:prstGeom prst="line">
            <a:avLst/>
          </a:prstGeom>
          <a:ln w="31750">
            <a:solidFill>
              <a:srgbClr val="0A3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9067800" y="7315200"/>
            <a:ext cx="152400" cy="95250"/>
          </a:xfrm>
          <a:prstGeom prst="triangle">
            <a:avLst/>
          </a:prstGeom>
          <a:solidFill>
            <a:srgbClr val="0A3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05000" y="7429500"/>
            <a:ext cx="14478000" cy="904875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190750" y="7543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6BFF"/>
                </a:solidFill>
                <a:latin typeface="Aptos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7791450"/>
            <a:ext cx="13906500" cy="523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000000"/>
                </a:solidFill>
                <a:latin typeface="Aptos"/>
              </a:rPr>
              <a:t>owner = team-notes · env = eu-prod-12 · triaged = no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0" y="8372475"/>
            <a:ext cx="0" cy="104775"/>
          </a:xfrm>
          <a:prstGeom prst="line">
            <a:avLst/>
          </a:prstGeom>
          <a:ln w="31750">
            <a:solidFill>
              <a:srgbClr val="0A3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9067800" y="8458200"/>
            <a:ext cx="152400" cy="95250"/>
          </a:xfrm>
          <a:prstGeom prst="triangle">
            <a:avLst/>
          </a:prstGeom>
          <a:solidFill>
            <a:srgbClr val="0A3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05000" y="8572500"/>
            <a:ext cx="14478000" cy="904875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90750" y="8686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6BFF"/>
                </a:solidFill>
                <a:latin typeface="Aptos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0750" y="8934450"/>
            <a:ext cx="13906500" cy="523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000000"/>
                </a:solidFill>
                <a:latin typeface="Aptos"/>
              </a:rPr>
              <a:t>Page team-notes. Patch on the shelf. Bump product. Done.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9525000"/>
            <a:ext cx="16002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1">
                <a:solidFill>
                  <a:srgbClr val="0F6BFF"/>
                </a:solidFill>
                <a:latin typeface="Aptos"/>
              </a:rPr>
              <a:t>Thirty seconds. Coffee's still warm.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A release is a thing, not a scavenger hunt.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>
                <a:solidFill>
                  <a:srgbClr val="5CD6FF"/>
                </a:solidFill>
              </a:rPr>
              <a:t>Star and watch</a:t>
            </a:r>
            <a:r>
              <a:rPr>
                <a:solidFill>
                  <a:srgbClr val="FFFFFF"/>
                </a:solidFill>
              </a:rPr>
              <a:t> — github.com/open-component-model</a:t>
            </a:r>
          </a:p>
          <a:p>
            <a:r>
              <a:rPr b="1">
                <a:solidFill>
                  <a:srgbClr val="5CD6FF"/>
                </a:solidFill>
              </a:rPr>
              <a:t>Try the tutorial</a:t>
            </a:r>
            <a:r>
              <a:rPr>
                <a:solidFill>
                  <a:srgbClr val="FFFFFF"/>
                </a:solidFill>
              </a:rPr>
              <a:t> — ocm.software/docs/getting-started</a:t>
            </a:r>
          </a:p>
          <a:p>
            <a:r>
              <a:rPr b="1">
                <a:solidFill>
                  <a:srgbClr val="5CD6FF"/>
                </a:solidFill>
              </a:rPr>
              <a:t>Talk to us</a:t>
            </a:r>
            <a:r>
              <a:rPr>
                <a:solidFill>
                  <a:srgbClr val="FFFFFF"/>
                </a:solidFill>
              </a:rPr>
              <a:t> — community channels on the website</a:t>
            </a:r>
          </a:p>
        </p:txBody>
      </p:sp>
      <p:pic>
        <p:nvPicPr>
          <p:cNvPr id="4" name="Picture 3" descr="ocm-horizontal-white_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5" name="Picture 4" descr="neonephos-foundation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ADOPT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Two paths. Pick the one that fits Monday.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53340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FROM ZERO — 10 MINUTES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2500" y="5867400"/>
            <a:ext cx="7810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2500" y="6019800"/>
            <a:ext cx="7810500" cy="293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Install the ocm CLI.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Write a 10-line component-constructor.yaml.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ocm add cv → sign → verify → transfer → verify.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Signed at source, verified at destination, transferable anywhere.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53340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ON YOUR PLATFORM — WIRE 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25000" y="5867400"/>
            <a:ext cx="7810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25000" y="6019800"/>
            <a:ext cx="7810500" cy="293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Install OCM controllers; point at your registry.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Apply a Component CR — verified, reconciling.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Compose with Argo, Flux as you already do.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Your next release ships as an OCM component.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M">
  <a:themeElements>
    <a:clrScheme name="OCM">
      <a:dk1>
        <a:srgbClr val="000000"/>
      </a:dk1>
      <a:lt1>
        <a:srgbClr val="FFFFFF"/>
      </a:lt1>
      <a:dk2>
        <a:srgbClr val="0A3A99"/>
      </a:dk2>
      <a:lt2>
        <a:srgbClr val="F3F4F6"/>
      </a:lt2>
      <a:accent1>
        <a:srgbClr val="0F6BFF"/>
      </a:accent1>
      <a:accent2>
        <a:srgbClr val="0A3A99"/>
      </a:accent2>
      <a:accent3>
        <a:srgbClr val="5CD6FF"/>
      </a:accent3>
      <a:accent4>
        <a:srgbClr val="6B7280"/>
      </a:accent4>
      <a:accent5>
        <a:srgbClr val="0A1530"/>
      </a:accent5>
      <a:accent6>
        <a:srgbClr val="F3F4F6"/>
      </a:accent6>
      <a:hlink>
        <a:srgbClr val="0F6BFF"/>
      </a:hlink>
      <a:folHlink>
        <a:srgbClr val="0A3A99"/>
      </a:folHlink>
    </a:clrScheme>
    <a:fontScheme name="OCM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