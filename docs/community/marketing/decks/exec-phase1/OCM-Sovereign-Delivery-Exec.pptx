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Hero">
    <p:bg>
      <p:bgPr>
        <a:solidFill>
          <a:srgbClr val="0A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ns0:sp xmlns:ns0="http://schemas.openxmlformats.org/presentationml/2006/main">
        <ns0:nvSpPr>
          <ns0:cNvPr id="10" name="Hero Title Line 1"/>
          <ns0:cNvSpPr>
            <ns1:spLocks xmlns:ns1="http://schemas.openxmlformats.org/drawingml/2006/main" noGrp="1"/>
          </ns0:cNvSpPr>
          <ns0:nvPr>
            <ns0:ph type="title" idx="1"/>
          </ns0:nvPr>
        </ns0:nvSpPr>
        <ns0:spPr>
          <ns2:xfrm xmlns:ns2="http://schemas.openxmlformats.org/drawingml/2006/main">
            <ns2:off x="914400" y="1714500"/>
            <ns2:ext cx="16192500" cy="15240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>
            <ns4:noAutofit/>
          </ns4:bodyPr>
          <ns5:lstStyle xmlns:ns5="http://schemas.openxmlformats.org/drawingml/2006/main">
            <ns5:lvl1pPr marL="0" indent="0" algn="l">
              <ns5:buNone/>
              <ns5:defRPr sz="11500" b="1">
                <ns5:solidFill>
                  <ns5:srgbClr val="FFFFFF"/>
                </ns5:solidFill>
                <ns5:latin typeface="Aptos Display"/>
              </ns5:defRPr>
            </ns5:lvl1pPr>
          </ns5:lstStyle>
          <ns6:p xmlns:ns6="http://schemas.openxmlformats.org/drawingml/2006/main">
            <ns6:r>
              <ns6:rPr lang="en-US"/>
              <ns6:t>Secure Delivery for</ns6:t>
            </ns6:r>
            <ns6:endParaRPr lang="en-US"/>
          </ns6:p>
        </ns0:txBody>
      </ns0:sp>
      <ns0:sp xmlns:ns0="http://schemas.openxmlformats.org/presentationml/2006/main">
        <ns0:nvSpPr>
          <ns0:cNvPr id="11" name="Hero Title Line 2"/>
          <ns0:cNvSpPr>
            <ns1:spLocks xmlns:ns1="http://schemas.openxmlformats.org/drawingml/2006/main" noGrp="1"/>
          </ns0:cNvSpPr>
          <ns0:nvPr>
            <ns0:ph type="body" idx="2"/>
          </ns0:nvPr>
        </ns0:nvSpPr>
        <ns0:spPr>
          <ns2:xfrm xmlns:ns2="http://schemas.openxmlformats.org/drawingml/2006/main">
            <ns2:off x="914400" y="3524250"/>
            <ns2:ext cx="16192500" cy="15240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>
            <ns4:noAutofit/>
          </ns4:bodyPr>
          <ns5:lstStyle xmlns:ns5="http://schemas.openxmlformats.org/drawingml/2006/main">
            <ns5:lvl1pPr marL="0" indent="0" algn="l">
              <ns5:buNone/>
              <ns5:defRPr sz="11500" b="1">
                <ns5:solidFill>
                  <ns5:srgbClr val="5CD6FF"/>
                </ns5:solidFill>
                <ns5:latin typeface="Aptos Display"/>
              </ns5:defRPr>
            </ns5:lvl1pPr>
          </ns5:lstStyle>
          <ns6:p xmlns:ns6="http://schemas.openxmlformats.org/drawingml/2006/main">
            <ns6:r>
              <ns6:rPr lang="en-US"/>
              <ns6:t>Sovereign Clouds</ns6:t>
            </ns6:r>
            <ns6:endParaRPr lang="en-US"/>
          </ns6:p>
        </ns0:txBody>
      </ns0:sp>
      <ns0:sp xmlns:ns0="http://schemas.openxmlformats.org/presentationml/2006/main">
        <ns0:nvSpPr>
          <ns0:cNvPr id="12" name="Hero Subtitle"/>
          <ns0:cNvSpPr>
            <ns1:spLocks xmlns:ns1="http://schemas.openxmlformats.org/drawingml/2006/main" noGrp="1"/>
          </ns0:cNvSpPr>
          <ns0:nvPr>
            <ns0:ph type="body" idx="3"/>
          </ns0:nvPr>
        </ns0:nvSpPr>
        <ns0:spPr>
          <ns2:xfrm xmlns:ns2="http://schemas.openxmlformats.org/drawingml/2006/main">
            <ns2:off x="914400" y="5334000"/>
            <ns2:ext cx="16192500" cy="85725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>
            <ns4:noAutofit/>
          </ns4:bodyPr>
          <ns5:lstStyle xmlns:ns5="http://schemas.openxmlformats.org/drawingml/2006/main">
            <ns5:lvl1pPr marL="0" indent="0" algn="l">
              <ns5:lnSpc>
                <ns5:spcPct val="114999"/>
              </ns5:lnSpc>
              <ns5:buNone/>
              <ns5:defRPr sz="3000">
                <ns5:solidFill>
                  <ns5:srgbClr val="5CD6FF"/>
                </ns5:solidFill>
                <ns5:latin typeface="Aptos"/>
              </ns5:defRPr>
            </ns5:lvl1pPr>
          </ns5:lstStyle>
          <ns6:p xmlns:ns6="http://schemas.openxmlformats.org/drawingml/2006/main">
            <ns6:r>
              <ns6:rPr lang="en-US"/>
              <ns6:t>Subtitle — one sentence describing the deck.</ns6:t>
            </ns6:r>
            <ns6:endParaRPr lang="en-US"/>
          </ns6:p>
        </ns0:txBody>
      </ns0:sp>
      <ns0:sp xmlns:ns0="http://schemas.openxmlformats.org/presentationml/2006/main">
        <ns0:nvSpPr>
          <ns0:cNvPr id="13" name="Hero Org Line"/>
          <ns0:cNvSpPr>
            <ns1:spLocks xmlns:ns1="http://schemas.openxmlformats.org/drawingml/2006/main" noGrp="1"/>
          </ns0:cNvSpPr>
          <ns0:nvPr>
            <ns0:ph type="body" idx="4"/>
          </ns0:nvPr>
        </ns0:nvSpPr>
        <ns0:spPr>
          <ns2:xfrm xmlns:ns2="http://schemas.openxmlformats.org/drawingml/2006/main">
            <ns2:off x="914400" y="6572250"/>
            <ns2:ext cx="16192500" cy="5715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>
            <ns4:noAutofit/>
          </ns4:bodyPr>
          <ns5:lstStyle xmlns:ns5="http://schemas.openxmlformats.org/drawingml/2006/main">
            <ns5:lvl1pPr marL="0" indent="0" algn="l">
              <ns5:buNone/>
              <ns5:defRPr sz="2400">
                <ns5:solidFill>
                  <ns5:srgbClr val="FFFFFF"/>
                </ns5:solidFill>
                <ns5:latin typeface="Aptos"/>
              </ns5:defRPr>
            </ns5:lvl1pPr>
          </ns5:lstStyle>
          <ns6:p xmlns:ns6="http://schemas.openxmlformats.org/drawingml/2006/main">
            <ns6:r>
              <ns6:rPr lang="en-US"/>
              <ns6:t>Open Component Model — open source, NeoNephos Foundation.</ns6:t>
            </ns6:r>
            <ns6:endParaRPr lang="en-US"/>
          </ns6:p>
        </ns0:txBody>
      </ns0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CTA">
    <p:bg>
      <p:bgPr>
        <a:solidFill>
          <a:srgbClr val="0A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ns0:sp xmlns:ns0="http://schemas.openxmlformats.org/presentationml/2006/main">
        <ns0:nvSpPr>
          <ns0:cNvPr id="10" name="CTA Title"/>
          <ns0:cNvSpPr>
            <ns1:spLocks xmlns:ns1="http://schemas.openxmlformats.org/drawingml/2006/main" noGrp="1"/>
          </ns0:cNvSpPr>
          <ns0:nvPr>
            <ns0:ph type="title" idx="1"/>
          </ns0:nvPr>
        </ns0:nvSpPr>
        <ns0:spPr>
          <ns2:xfrm xmlns:ns2="http://schemas.openxmlformats.org/drawingml/2006/main">
            <ns2:off x="914400" y="3048000"/>
            <ns2:ext cx="16192500" cy="9525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buNone/>
              <ns5:defRPr sz="5600" b="1">
                <ns5:solidFill>
                  <ns5:srgbClr val="FFFFFF"/>
                </ns5:solidFill>
                <ns5:latin typeface="Aptos Display"/>
              </ns5:defRPr>
            </ns5:lvl1pPr>
          </ns5:lstStyle>
          <ns6:p xmlns:ns6="http://schemas.openxmlformats.org/drawingml/2006/main">
            <ns6:r>
              <ns6:rPr lang="en-US"/>
              <ns6:t>Call to action</ns6:t>
            </ns6:r>
            <ns6:endParaRPr lang="en-US"/>
          </ns6:p>
        </ns0:txBody>
      </ns0:sp>
      <ns0:sp xmlns:ns0="http://schemas.openxmlformats.org/presentationml/2006/main">
        <ns0:nvSpPr>
          <ns0:cNvPr id="11" name="CTA Body"/>
          <ns0:cNvSpPr>
            <ns1:spLocks xmlns:ns1="http://schemas.openxmlformats.org/drawingml/2006/main" noGrp="1"/>
          </ns0:cNvSpPr>
          <ns0:nvPr>
            <ns0:ph type="body" idx="2"/>
          </ns0:nvPr>
        </ns0:nvSpPr>
        <ns0:spPr>
          <ns2:xfrm xmlns:ns2="http://schemas.openxmlformats.org/drawingml/2006/main">
            <ns2:off x="914400" y="4381500"/>
            <ns2:ext cx="16192500" cy="38100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buNone/>
              <ns5:defRPr sz="2200">
                <ns5:solidFill>
                  <ns5:srgbClr val="FFFFFF"/>
                </ns5:solidFill>
                <ns5:latin typeface="Aptos"/>
              </ns5:defRPr>
            </ns5:lvl1pPr>
          </ns5:lstStyle>
          <ns6:p xmlns:ns6="http://schemas.openxmlformats.org/drawingml/2006/main">
            <ns6:r>
              <ns6:rPr lang="en-US"/>
              <ns6:t>Three-line CTA bullets go here.</ns6:t>
            </ns6:r>
            <ns6:endParaRPr lang="en-US"/>
          </ns6:p>
        </ns0:txBody>
      </ns0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Content /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ns0:sp xmlns:ns0="http://schemas.openxmlformats.org/presentationml/2006/main">
        <ns0:nvSpPr>
          <ns0:cNvPr id="10" name="Eyebrow"/>
          <ns0:cNvSpPr>
            <ns1:spLocks xmlns:ns1="http://schemas.openxmlformats.org/drawingml/2006/main" noGrp="1"/>
          </ns0:cNvSpPr>
          <ns0:nvPr>
            <ns0:ph type="body" idx="1"/>
          </ns0:nvPr>
        </ns0:nvSpPr>
        <ns0:spPr>
          <ns2:xfrm xmlns:ns2="http://schemas.openxmlformats.org/drawingml/2006/main">
            <ns2:off x="1143000" y="2428875"/>
            <ns2:ext cx="16002000" cy="4572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buNone/>
              <ns5:defRPr sz="2800" b="1" cap="all" spc="140">
                <ns5:solidFill>
                  <ns5:srgbClr val="0F6BFF"/>
                </ns5:solidFill>
                <ns5:latin typeface="Aptos"/>
              </ns5:defRPr>
            </ns5:lvl1pPr>
          </ns5:lstStyle>
          <ns6:p xmlns:ns6="http://schemas.openxmlformats.org/drawingml/2006/main">
            <ns6:r>
              <ns6:rPr lang="en-US"/>
              <ns6:t>EYEBROW</ns6:t>
            </ns6:r>
            <ns6:endParaRPr lang="en-US"/>
          </ns6:p>
        </ns0:txBody>
      </ns0:sp>
      <ns0:sp xmlns:ns0="http://schemas.openxmlformats.org/presentationml/2006/main">
        <ns0:nvSpPr>
          <ns0:cNvPr id="11" name="Title"/>
          <ns0:cNvSpPr>
            <ns1:spLocks xmlns:ns1="http://schemas.openxmlformats.org/drawingml/2006/main" noGrp="1"/>
          </ns0:cNvSpPr>
          <ns0:nvPr>
            <ns0:ph type="title" idx="2"/>
          </ns0:nvPr>
        </ns0:nvSpPr>
        <ns0:spPr>
          <ns2:xfrm xmlns:ns2="http://schemas.openxmlformats.org/drawingml/2006/main">
            <ns2:off x="1143000" y="2933700"/>
            <ns2:ext cx="16002000" cy="19050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lnSpc>
                <ns5:spcPct val="90000"/>
              </ns5:lnSpc>
              <ns5:buNone/>
              <ns5:defRPr sz="6400" b="1">
                <ns5:solidFill>
                  <ns5:srgbClr val="000000"/>
                </ns5:solidFill>
                <ns5:latin typeface="Aptos Display"/>
              </ns5:defRPr>
            </ns5:lvl1pPr>
          </ns5:lstStyle>
          <ns6:p xmlns:ns6="http://schemas.openxmlformats.org/drawingml/2006/main">
            <ns6:r>
              <ns6:rPr lang="en-US"/>
              <ns6:t>Section title goes here.</ns6:t>
            </ns6:r>
            <ns6:endParaRPr lang="en-US"/>
          </ns6:p>
        </ns0:txBody>
      </ns0:sp>
      <ns0:sp xmlns:ns0="http://schemas.openxmlformats.org/presentationml/2006/main">
        <ns0:nvSpPr>
          <ns0:cNvPr id="12" name="Col1 Rule"/>
          <ns0:cNvSpPr/>
          <ns0:nvPr/>
        </ns0:nvSpPr>
        <ns0:spPr>
          <ns1:xfrm xmlns:ns1="http://schemas.openxmlformats.org/drawingml/2006/main">
            <ns1:off x="1143000" y="4953000"/>
            <ns1:ext cx="4972050" cy="38100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0F6BFF"/>
          </ns3:solidFill>
          <ns4:ln xmlns:ns4="http://schemas.openxmlformats.org/drawingml/2006/main">
            <ns4:noFill/>
          </ns4:ln>
        </ns0:spPr>
        <ns0:txBody>
          <ns5:bodyPr xmlns:ns5="http://schemas.openxmlformats.org/drawingml/2006/main" rtlCol="0" anchor="ctr"/>
          <ns6:lstStyle xmlns:ns6="http://schemas.openxmlformats.org/drawingml/2006/main"/>
          <ns7:p xmlns:ns7="http://schemas.openxmlformats.org/drawingml/2006/main">
            <ns7:endParaRPr lang="en-US"/>
          </ns7:p>
        </ns0:txBody>
      </ns0:sp>
      <ns0:sp xmlns:ns0="http://schemas.openxmlformats.org/presentationml/2006/main">
        <ns0:nvSpPr>
          <ns0:cNvPr id="13" name="Col1 Header"/>
          <ns0:cNvSpPr>
            <ns1:spLocks xmlns:ns1="http://schemas.openxmlformats.org/drawingml/2006/main" noGrp="1"/>
          </ns0:cNvSpPr>
          <ns0:nvPr>
            <ns0:ph type="body" idx="10"/>
          </ns0:nvPr>
        </ns0:nvSpPr>
        <ns0:spPr>
          <ns2:xfrm xmlns:ns2="http://schemas.openxmlformats.org/drawingml/2006/main">
            <ns2:off x="1143000" y="5105400"/>
            <ns2:ext cx="4972050" cy="5334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>
            <ns4:noAutofit/>
          </ns4:bodyPr>
          <ns5:lstStyle xmlns:ns5="http://schemas.openxmlformats.org/drawingml/2006/main">
            <ns5:lvl1pPr marL="0" indent="0" algn="l">
              <ns5:buNone/>
              <ns5:defRPr sz="2000" b="1" cap="all" spc="130">
                <ns5:solidFill>
                  <ns5:srgbClr val="0F6BFF"/>
                </ns5:solidFill>
                <ns5:latin typeface="Aptos"/>
              </ns5:defRPr>
            </ns5:lvl1pPr>
          </ns5:lstStyle>
          <ns6:p xmlns:ns6="http://schemas.openxmlformats.org/drawingml/2006/main">
            <ns6:r>
              <ns6:rPr lang="en-US"/>
              <ns6:t>COLUMN 1 HEADER</ns6:t>
            </ns6:r>
            <ns6:endParaRPr lang="en-US"/>
          </ns6:p>
        </ns0:txBody>
      </ns0:sp>
      <ns0:sp xmlns:ns0="http://schemas.openxmlformats.org/presentationml/2006/main">
        <ns0:nvSpPr>
          <ns0:cNvPr id="14" name="Col1 Body"/>
          <ns0:cNvSpPr>
            <ns1:spLocks xmlns:ns1="http://schemas.openxmlformats.org/drawingml/2006/main" noGrp="1"/>
          </ns0:cNvSpPr>
          <ns0:nvPr>
            <ns0:ph type="body" idx="11"/>
          </ns0:nvPr>
        </ns0:nvSpPr>
        <ns0:spPr>
          <ns2:xfrm xmlns:ns2="http://schemas.openxmlformats.org/drawingml/2006/main">
            <ns2:off x="1143000" y="5753100"/>
            <ns2:ext cx="4972050" cy="43815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buNone/>
              <ns5:defRPr sz="2200">
                <ns5:solidFill>
                  <ns5:srgbClr val="000000"/>
                </ns5:solidFill>
                <ns5:latin typeface="Aptos"/>
              </ns5:defRPr>
            </ns5:lvl1pPr>
          </ns5:lstStyle>
          <ns6:p xmlns:ns6="http://schemas.openxmlformats.org/drawingml/2006/main">
            <ns6:r>
              <ns6:rPr lang="en-US"/>
              <ns6:t>Column 1 body. Replace with one or two short sentences.</ns6:t>
            </ns6:r>
            <ns6:endParaRPr lang="en-US"/>
          </ns6:p>
        </ns0:txBody>
      </ns0:sp>
      <ns0:sp xmlns:ns0="http://schemas.openxmlformats.org/presentationml/2006/main">
        <ns0:nvSpPr>
          <ns0:cNvPr id="15" name="Col2 Rule"/>
          <ns0:cNvSpPr/>
          <ns0:nvPr/>
        </ns0:nvSpPr>
        <ns0:spPr>
          <ns1:xfrm xmlns:ns1="http://schemas.openxmlformats.org/drawingml/2006/main">
            <ns1:off x="6648450" y="4953000"/>
            <ns1:ext cx="4972050" cy="38100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0F6BFF"/>
          </ns3:solidFill>
          <ns4:ln xmlns:ns4="http://schemas.openxmlformats.org/drawingml/2006/main">
            <ns4:noFill/>
          </ns4:ln>
        </ns0:spPr>
        <ns0:txBody>
          <ns5:bodyPr xmlns:ns5="http://schemas.openxmlformats.org/drawingml/2006/main" rtlCol="0" anchor="ctr"/>
          <ns6:lstStyle xmlns:ns6="http://schemas.openxmlformats.org/drawingml/2006/main"/>
          <ns7:p xmlns:ns7="http://schemas.openxmlformats.org/drawingml/2006/main">
            <ns7:endParaRPr lang="en-US"/>
          </ns7:p>
        </ns0:txBody>
      </ns0:sp>
      <ns0:sp xmlns:ns0="http://schemas.openxmlformats.org/presentationml/2006/main">
        <ns0:nvSpPr>
          <ns0:cNvPr id="16" name="Col2 Header"/>
          <ns0:cNvSpPr>
            <ns1:spLocks xmlns:ns1="http://schemas.openxmlformats.org/drawingml/2006/main" noGrp="1"/>
          </ns0:cNvSpPr>
          <ns0:nvPr>
            <ns0:ph type="body" idx="12"/>
          </ns0:nvPr>
        </ns0:nvSpPr>
        <ns0:spPr>
          <ns2:xfrm xmlns:ns2="http://schemas.openxmlformats.org/drawingml/2006/main">
            <ns2:off x="6648450" y="5105400"/>
            <ns2:ext cx="4972050" cy="5334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>
            <ns4:noAutofit/>
          </ns4:bodyPr>
          <ns5:lstStyle xmlns:ns5="http://schemas.openxmlformats.org/drawingml/2006/main">
            <ns5:lvl1pPr marL="0" indent="0" algn="l">
              <ns5:buNone/>
              <ns5:defRPr sz="2000" b="1" cap="all" spc="130">
                <ns5:solidFill>
                  <ns5:srgbClr val="0F6BFF"/>
                </ns5:solidFill>
                <ns5:latin typeface="Aptos"/>
              </ns5:defRPr>
            </ns5:lvl1pPr>
          </ns5:lstStyle>
          <ns6:p xmlns:ns6="http://schemas.openxmlformats.org/drawingml/2006/main">
            <ns6:r>
              <ns6:rPr lang="en-US"/>
              <ns6:t>COLUMN 2 HEADER</ns6:t>
            </ns6:r>
            <ns6:endParaRPr lang="en-US"/>
          </ns6:p>
        </ns0:txBody>
      </ns0:sp>
      <ns0:sp xmlns:ns0="http://schemas.openxmlformats.org/presentationml/2006/main">
        <ns0:nvSpPr>
          <ns0:cNvPr id="17" name="Col2 Body"/>
          <ns0:cNvSpPr>
            <ns1:spLocks xmlns:ns1="http://schemas.openxmlformats.org/drawingml/2006/main" noGrp="1"/>
          </ns0:cNvSpPr>
          <ns0:nvPr>
            <ns0:ph type="body" idx="13"/>
          </ns0:nvPr>
        </ns0:nvSpPr>
        <ns0:spPr>
          <ns2:xfrm xmlns:ns2="http://schemas.openxmlformats.org/drawingml/2006/main">
            <ns2:off x="6648450" y="5753100"/>
            <ns2:ext cx="4972050" cy="43815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buNone/>
              <ns5:defRPr sz="2200">
                <ns5:solidFill>
                  <ns5:srgbClr val="000000"/>
                </ns5:solidFill>
                <ns5:latin typeface="Aptos"/>
              </ns5:defRPr>
            </ns5:lvl1pPr>
          </ns5:lstStyle>
          <ns6:p xmlns:ns6="http://schemas.openxmlformats.org/drawingml/2006/main">
            <ns6:r>
              <ns6:rPr lang="en-US"/>
              <ns6:t>Column 2 body. Replace with one or two short sentences.</ns6:t>
            </ns6:r>
            <ns6:endParaRPr lang="en-US"/>
          </ns6:p>
        </ns0:txBody>
      </ns0:sp>
      <ns0:sp xmlns:ns0="http://schemas.openxmlformats.org/presentationml/2006/main">
        <ns0:nvSpPr>
          <ns0:cNvPr id="18" name="Col3 Rule"/>
          <ns0:cNvSpPr/>
          <ns0:nvPr/>
        </ns0:nvSpPr>
        <ns0:spPr>
          <ns1:xfrm xmlns:ns1="http://schemas.openxmlformats.org/drawingml/2006/main">
            <ns1:off x="12153900" y="4953000"/>
            <ns1:ext cx="4972050" cy="38100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0F6BFF"/>
          </ns3:solidFill>
          <ns4:ln xmlns:ns4="http://schemas.openxmlformats.org/drawingml/2006/main">
            <ns4:noFill/>
          </ns4:ln>
        </ns0:spPr>
        <ns0:txBody>
          <ns5:bodyPr xmlns:ns5="http://schemas.openxmlformats.org/drawingml/2006/main" rtlCol="0" anchor="ctr"/>
          <ns6:lstStyle xmlns:ns6="http://schemas.openxmlformats.org/drawingml/2006/main"/>
          <ns7:p xmlns:ns7="http://schemas.openxmlformats.org/drawingml/2006/main">
            <ns7:endParaRPr lang="en-US"/>
          </ns7:p>
        </ns0:txBody>
      </ns0:sp>
      <ns0:sp xmlns:ns0="http://schemas.openxmlformats.org/presentationml/2006/main">
        <ns0:nvSpPr>
          <ns0:cNvPr id="19" name="Col3 Header"/>
          <ns0:cNvSpPr>
            <ns1:spLocks xmlns:ns1="http://schemas.openxmlformats.org/drawingml/2006/main" noGrp="1"/>
          </ns0:cNvSpPr>
          <ns0:nvPr>
            <ns0:ph type="body" idx="14"/>
          </ns0:nvPr>
        </ns0:nvSpPr>
        <ns0:spPr>
          <ns2:xfrm xmlns:ns2="http://schemas.openxmlformats.org/drawingml/2006/main">
            <ns2:off x="12153900" y="5105400"/>
            <ns2:ext cx="4972050" cy="5334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>
            <ns4:noAutofit/>
          </ns4:bodyPr>
          <ns5:lstStyle xmlns:ns5="http://schemas.openxmlformats.org/drawingml/2006/main">
            <ns5:lvl1pPr marL="0" indent="0" algn="l">
              <ns5:buNone/>
              <ns5:defRPr sz="2000" b="1" cap="all" spc="130">
                <ns5:solidFill>
                  <ns5:srgbClr val="0F6BFF"/>
                </ns5:solidFill>
                <ns5:latin typeface="Aptos"/>
              </ns5:defRPr>
            </ns5:lvl1pPr>
          </ns5:lstStyle>
          <ns6:p xmlns:ns6="http://schemas.openxmlformats.org/drawingml/2006/main">
            <ns6:r>
              <ns6:rPr lang="en-US"/>
              <ns6:t>COLUMN 3 HEADER</ns6:t>
            </ns6:r>
            <ns6:endParaRPr lang="en-US"/>
          </ns6:p>
        </ns0:txBody>
      </ns0:sp>
      <ns0:sp xmlns:ns0="http://schemas.openxmlformats.org/presentationml/2006/main">
        <ns0:nvSpPr>
          <ns0:cNvPr id="20" name="Col3 Body"/>
          <ns0:cNvSpPr>
            <ns1:spLocks xmlns:ns1="http://schemas.openxmlformats.org/drawingml/2006/main" noGrp="1"/>
          </ns0:cNvSpPr>
          <ns0:nvPr>
            <ns0:ph type="body" idx="15"/>
          </ns0:nvPr>
        </ns0:nvSpPr>
        <ns0:spPr>
          <ns2:xfrm xmlns:ns2="http://schemas.openxmlformats.org/drawingml/2006/main">
            <ns2:off x="12153900" y="5753100"/>
            <ns2:ext cx="4972050" cy="43815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buNone/>
              <ns5:defRPr sz="2200">
                <ns5:solidFill>
                  <ns5:srgbClr val="000000"/>
                </ns5:solidFill>
                <ns5:latin typeface="Aptos"/>
              </ns5:defRPr>
            </ns5:lvl1pPr>
          </ns5:lstStyle>
          <ns6:p xmlns:ns6="http://schemas.openxmlformats.org/drawingml/2006/main">
            <ns6:r>
              <ns6:rPr lang="en-US"/>
              <ns6:t>Column 3 body. Replace with one or two short sentences.</ns6:t>
            </ns6:r>
            <ns6:endParaRPr lang="en-US"/>
          </ns6:p>
        </ns0:txBody>
      </ns0:sp>
      <ns0:sp xmlns:ns0="http://schemas.openxmlformats.org/presentationml/2006/main">
        <ns0:nvSpPr>
          <ns0:cNvPr id="21" name="Footer"/>
          <ns0:cNvSpPr>
            <ns1:spLocks xmlns:ns1="http://schemas.openxmlformats.org/drawingml/2006/main" noGrp="1"/>
          </ns0:cNvSpPr>
          <ns0:nvPr/>
        </ns0:nvSpPr>
        <ns0:spPr>
          <ns2:xfrm xmlns:ns2="http://schemas.openxmlformats.org/drawingml/2006/main">
            <ns2:off x="1143000" y="9982200"/>
            <ns2:ext cx="16002000" cy="2286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buNone/>
              <ns5:defRPr sz="900" cap="all" spc="50">
                <ns5:solidFill>
                  <ns5:srgbClr val="6B7280"/>
                </ns5:solidFill>
                <ns5:latin typeface="Aptos"/>
              </ns5:defRPr>
            </ns5:lvl1pPr>
          </ns5:lstStyle>
          <ns6:p xmlns:ns6="http://schemas.openxmlformats.org/drawingml/2006/main">
            <ns6:r>
              <ns6:rPr lang="en-US"/>
              <ns6:t>OPEN COMPONENT MODEL · OCM.SOFTWARE</ns6:t>
            </ns6:r>
            <ns6:endParaRPr lang="en-US"/>
          </ns6:p>
        </ns0:txBody>
      </ns0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Content /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ns0:sp xmlns:ns0="http://schemas.openxmlformats.org/presentationml/2006/main">
        <ns0:nvSpPr>
          <ns0:cNvPr id="10" name="Eyebrow"/>
          <ns0:cNvSpPr>
            <ns1:spLocks xmlns:ns1="http://schemas.openxmlformats.org/drawingml/2006/main" noGrp="1"/>
          </ns0:cNvSpPr>
          <ns0:nvPr>
            <ns0:ph type="body" idx="1"/>
          </ns0:nvPr>
        </ns0:nvSpPr>
        <ns0:spPr>
          <ns2:xfrm xmlns:ns2="http://schemas.openxmlformats.org/drawingml/2006/main">
            <ns2:off x="1143000" y="2428875"/>
            <ns2:ext cx="16002000" cy="4572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buNone/>
              <ns5:defRPr sz="2800" b="1" cap="all" spc="140">
                <ns5:solidFill>
                  <ns5:srgbClr val="0F6BFF"/>
                </ns5:solidFill>
                <ns5:latin typeface="Aptos"/>
              </ns5:defRPr>
            </ns5:lvl1pPr>
          </ns5:lstStyle>
          <ns6:p xmlns:ns6="http://schemas.openxmlformats.org/drawingml/2006/main">
            <ns6:r>
              <ns6:rPr lang="en-US"/>
              <ns6:t>EYEBROW</ns6:t>
            </ns6:r>
            <ns6:endParaRPr lang="en-US"/>
          </ns6:p>
        </ns0:txBody>
      </ns0:sp>
      <ns0:sp xmlns:ns0="http://schemas.openxmlformats.org/presentationml/2006/main">
        <ns0:nvSpPr>
          <ns0:cNvPr id="11" name="Title"/>
          <ns0:cNvSpPr>
            <ns1:spLocks xmlns:ns1="http://schemas.openxmlformats.org/drawingml/2006/main" noGrp="1"/>
          </ns0:cNvSpPr>
          <ns0:nvPr>
            <ns0:ph type="title" idx="2"/>
          </ns0:nvPr>
        </ns0:nvSpPr>
        <ns0:spPr>
          <ns2:xfrm xmlns:ns2="http://schemas.openxmlformats.org/drawingml/2006/main">
            <ns2:off x="1143000" y="2933700"/>
            <ns2:ext cx="16002000" cy="11430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lnSpc>
                <ns5:spcPct val="90000"/>
              </ns5:lnSpc>
              <ns5:buNone/>
              <ns5:defRPr sz="6400" b="1">
                <ns5:solidFill>
                  <ns5:srgbClr val="000000"/>
                </ns5:solidFill>
                <ns5:latin typeface="Aptos Display"/>
              </ns5:defRPr>
            </ns5:lvl1pPr>
          </ns5:lstStyle>
          <ns6:p xmlns:ns6="http://schemas.openxmlformats.org/drawingml/2006/main">
            <ns6:r>
              <ns6:rPr lang="en-US"/>
              <ns6:t>Section title goes here.</ns6:t>
            </ns6:r>
            <ns6:endParaRPr lang="en-US"/>
          </ns6:p>
        </ns0:txBody>
      </ns0:sp>
      <ns0:sp xmlns:ns0="http://schemas.openxmlformats.org/presentationml/2006/main">
        <ns0:nvSpPr>
          <ns0:cNvPr id="12" name="Diagram"/>
          <ns0:cNvSpPr>
            <ns1:spLocks xmlns:ns1="http://schemas.openxmlformats.org/drawingml/2006/main" noGrp="1"/>
          </ns0:cNvSpPr>
          <ns0:nvPr>
            <ns0:ph type="pic" idx="10"/>
          </ns0:nvPr>
        </ns0:nvSpPr>
        <ns0:spPr>
          <ns2:xfrm xmlns:ns2="http://schemas.openxmlformats.org/drawingml/2006/main">
            <ns2:off x="571500" y="4381500"/>
            <ns2:ext cx="17145000" cy="57150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rtlCol="0" anchor="ctr"/>
          <ns5:lstStyle xmlns:ns5="http://schemas.openxmlformats.org/drawingml/2006/main"/>
          <ns6:p xmlns:ns6="http://schemas.openxmlformats.org/drawingml/2006/main">
            <ns6:endParaRPr lang="en-US"/>
          </ns6:p>
        </ns0:txBody>
      </ns0:sp>
      <ns0:sp xmlns:ns0="http://schemas.openxmlformats.org/presentationml/2006/main">
        <ns0:nvSpPr>
          <ns0:cNvPr id="13" name="Footer"/>
          <ns0:cNvSpPr>
            <ns1:spLocks xmlns:ns1="http://schemas.openxmlformats.org/drawingml/2006/main" noGrp="1"/>
          </ns0:cNvSpPr>
          <ns0:nvPr/>
        </ns0:nvSpPr>
        <ns0:spPr>
          <ns2:xfrm xmlns:ns2="http://schemas.openxmlformats.org/drawingml/2006/main">
            <ns2:off x="1143000" y="9982200"/>
            <ns2:ext cx="16002000" cy="2286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buNone/>
              <ns5:defRPr sz="900" cap="all" spc="50">
                <ns5:solidFill>
                  <ns5:srgbClr val="6B7280"/>
                </ns5:solidFill>
                <ns5:latin typeface="Aptos"/>
              </ns5:defRPr>
            </ns5:lvl1pPr>
          </ns5:lstStyle>
          <ns6:p xmlns:ns6="http://schemas.openxmlformats.org/drawingml/2006/main">
            <ns6:r>
              <ns6:rPr lang="en-US"/>
              <ns6:t>OPEN COMPONENT MODEL · OCM.SOFTWARE</ns6:t>
            </ns6:r>
            <ns6:endParaRPr lang="en-US"/>
          </ns6:p>
        </ns0:txBody>
      </ns0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Content / Til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ns0:sp xmlns:ns0="http://schemas.openxmlformats.org/presentationml/2006/main">
        <ns0:nvSpPr>
          <ns0:cNvPr id="10" name="Eyebrow"/>
          <ns0:cNvSpPr>
            <ns1:spLocks xmlns:ns1="http://schemas.openxmlformats.org/drawingml/2006/main" noGrp="1"/>
          </ns0:cNvSpPr>
          <ns0:nvPr>
            <ns0:ph type="body" idx="1"/>
          </ns0:nvPr>
        </ns0:nvSpPr>
        <ns0:spPr>
          <ns2:xfrm xmlns:ns2="http://schemas.openxmlformats.org/drawingml/2006/main">
            <ns2:off x="1143000" y="2428875"/>
            <ns2:ext cx="16002000" cy="4572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buNone/>
              <ns5:defRPr sz="2800" b="1" cap="all" spc="140">
                <ns5:solidFill>
                  <ns5:srgbClr val="0F6BFF"/>
                </ns5:solidFill>
                <ns5:latin typeface="Aptos"/>
              </ns5:defRPr>
            </ns5:lvl1pPr>
          </ns5:lstStyle>
          <ns6:p xmlns:ns6="http://schemas.openxmlformats.org/drawingml/2006/main">
            <ns6:r>
              <ns6:rPr lang="en-US"/>
              <ns6:t>EYEBROW</ns6:t>
            </ns6:r>
            <ns6:endParaRPr lang="en-US"/>
          </ns6:p>
        </ns0:txBody>
      </ns0:sp>
      <ns0:sp xmlns:ns0="http://schemas.openxmlformats.org/presentationml/2006/main">
        <ns0:nvSpPr>
          <ns0:cNvPr id="11" name="Title"/>
          <ns0:cNvSpPr>
            <ns1:spLocks xmlns:ns1="http://schemas.openxmlformats.org/drawingml/2006/main" noGrp="1"/>
          </ns0:cNvSpPr>
          <ns0:nvPr>
            <ns0:ph type="title" idx="2"/>
          </ns0:nvPr>
        </ns0:nvSpPr>
        <ns0:spPr>
          <ns2:xfrm xmlns:ns2="http://schemas.openxmlformats.org/drawingml/2006/main">
            <ns2:off x="1143000" y="2933700"/>
            <ns2:ext cx="16002000" cy="19050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lnSpc>
                <ns5:spcPct val="90000"/>
              </ns5:lnSpc>
              <ns5:buNone/>
              <ns5:defRPr sz="6400" b="1">
                <ns5:solidFill>
                  <ns5:srgbClr val="000000"/>
                </ns5:solidFill>
                <ns5:latin typeface="Aptos Display"/>
              </ns5:defRPr>
            </ns5:lvl1pPr>
          </ns5:lstStyle>
          <ns6:p xmlns:ns6="http://schemas.openxmlformats.org/drawingml/2006/main">
            <ns6:r>
              <ns6:rPr lang="en-US"/>
              <ns6:t>Section title goes here.</ns6:t>
            </ns6:r>
            <ns6:endParaRPr lang="en-US"/>
          </ns6:p>
        </ns0:txBody>
      </ns0:sp>
      <ns0:sp xmlns:ns0="http://schemas.openxmlformats.org/presentationml/2006/main">
        <ns0:nvSpPr>
          <ns0:cNvPr id="12" name="Tile1 Bg"/>
          <ns0:cNvSpPr/>
          <ns0:nvPr/>
        </ns0:nvSpPr>
        <ns0:spPr>
          <ns1:xfrm xmlns:ns1="http://schemas.openxmlformats.org/drawingml/2006/main">
            <ns1:off x="1143000" y="4953000"/>
            <ns1:ext cx="5181600" cy="2190750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3F4F6"/>
          </ns3:solidFill>
          <ns4:ln xmlns:ns4="http://schemas.openxmlformats.org/drawingml/2006/main">
            <ns4:noFill/>
          </ns4:ln>
        </ns0:spPr>
        <ns0:txBody>
          <ns5:bodyPr xmlns:ns5="http://schemas.openxmlformats.org/drawingml/2006/main" rtlCol="0" anchor="ctr"/>
          <ns6:lstStyle xmlns:ns6="http://schemas.openxmlformats.org/drawingml/2006/main"/>
          <ns7:p xmlns:ns7="http://schemas.openxmlformats.org/drawingml/2006/main">
            <ns7:endParaRPr lang="en-US"/>
          </ns7:p>
        </ns0:txBody>
      </ns0:sp>
      <ns0:sp xmlns:ns0="http://schemas.openxmlformats.org/presentationml/2006/main">
        <ns0:nvSpPr>
          <ns0:cNvPr id="13" name="Tile1 Rule"/>
          <ns0:cNvSpPr/>
          <ns0:nvPr/>
        </ns0:nvSpPr>
        <ns0:spPr>
          <ns1:xfrm xmlns:ns1="http://schemas.openxmlformats.org/drawingml/2006/main">
            <ns1:off x="1143000" y="4953000"/>
            <ns1:ext cx="5181600" cy="28575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0F6BFF"/>
          </ns3:solidFill>
          <ns4:ln xmlns:ns4="http://schemas.openxmlformats.org/drawingml/2006/main">
            <ns4:noFill/>
          </ns4:ln>
        </ns0:spPr>
        <ns0:txBody>
          <ns5:bodyPr xmlns:ns5="http://schemas.openxmlformats.org/drawingml/2006/main" rtlCol="0" anchor="ctr"/>
          <ns6:lstStyle xmlns:ns6="http://schemas.openxmlformats.org/drawingml/2006/main"/>
          <ns7:p xmlns:ns7="http://schemas.openxmlformats.org/drawingml/2006/main">
            <ns7:endParaRPr lang="en-US"/>
          </ns7:p>
        </ns0:txBody>
      </ns0:sp>
      <ns0:sp xmlns:ns0="http://schemas.openxmlformats.org/presentationml/2006/main">
        <ns0:nvSpPr>
          <ns0:cNvPr id="14" name="Tile1 Label"/>
          <ns0:cNvSpPr>
            <ns1:spLocks xmlns:ns1="http://schemas.openxmlformats.org/drawingml/2006/main" noGrp="1"/>
          </ns0:cNvSpPr>
          <ns0:nvPr>
            <ns0:ph type="body" idx="20"/>
          </ns0:nvPr>
        </ns0:nvSpPr>
        <ns0:spPr>
          <ns2:xfrm xmlns:ns2="http://schemas.openxmlformats.org/drawingml/2006/main">
            <ns2:off x="1371600" y="5791200"/>
            <ns2:ext cx="4724400" cy="3048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buNone/>
              <ns5:defRPr sz="1600" b="1">
                <ns5:solidFill>
                  <ns5:srgbClr val="0F6BFF"/>
                </ns5:solidFill>
                <ns5:latin typeface="Aptos"/>
              </ns5:defRPr>
            </ns5:lvl1pPr>
          </ns5:lstStyle>
          <ns6:p xmlns:ns6="http://schemas.openxmlformats.org/drawingml/2006/main">
            <ns6:r>
              <ns6:rPr lang="en-US"/>
              <ns6:t>Tile 1 label</ns6:t>
            </ns6:r>
            <ns6:endParaRPr lang="en-US"/>
          </ns6:p>
        </ns0:txBody>
      </ns0:sp>
      <ns0:sp xmlns:ns0="http://schemas.openxmlformats.org/presentationml/2006/main">
        <ns0:nvSpPr>
          <ns0:cNvPr id="15" name="Tile1 Body"/>
          <ns0:cNvSpPr>
            <ns1:spLocks xmlns:ns1="http://schemas.openxmlformats.org/drawingml/2006/main" noGrp="1"/>
          </ns0:cNvSpPr>
          <ns0:nvPr>
            <ns0:ph type="body" idx="21"/>
          </ns0:nvPr>
        </ns0:nvSpPr>
        <ns0:spPr>
          <ns2:xfrm xmlns:ns2="http://schemas.openxmlformats.org/drawingml/2006/main">
            <ns2:off x="1371600" y="6134100"/>
            <ns2:ext cx="4724400" cy="85725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buNone/>
              <ns5:defRPr sz="1800">
                <ns5:solidFill>
                  <ns5:srgbClr val="000000"/>
                </ns5:solidFill>
                <ns5:latin typeface="Aptos"/>
              </ns5:defRPr>
            </ns5:lvl1pPr>
          </ns5:lstStyle>
          <ns6:p xmlns:ns6="http://schemas.openxmlformats.org/drawingml/2006/main">
            <ns6:r>
              <ns6:rPr lang="en-US"/>
              <ns6:t>One short sentence describing this tile.</ns6:t>
            </ns6:r>
            <ns6:endParaRPr lang="en-US"/>
          </ns6:p>
        </ns0:txBody>
      </ns0:sp>
      <ns0:sp xmlns:ns0="http://schemas.openxmlformats.org/presentationml/2006/main">
        <ns0:nvSpPr>
          <ns0:cNvPr id="16" name="Tile2 Bg"/>
          <ns0:cNvSpPr/>
          <ns0:nvPr/>
        </ns0:nvSpPr>
        <ns0:spPr>
          <ns1:xfrm xmlns:ns1="http://schemas.openxmlformats.org/drawingml/2006/main">
            <ns1:off x="6553200" y="4953000"/>
            <ns1:ext cx="5181600" cy="2190750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3F4F6"/>
          </ns3:solidFill>
          <ns4:ln xmlns:ns4="http://schemas.openxmlformats.org/drawingml/2006/main">
            <ns4:noFill/>
          </ns4:ln>
        </ns0:spPr>
        <ns0:txBody>
          <ns5:bodyPr xmlns:ns5="http://schemas.openxmlformats.org/drawingml/2006/main" rtlCol="0" anchor="ctr"/>
          <ns6:lstStyle xmlns:ns6="http://schemas.openxmlformats.org/drawingml/2006/main"/>
          <ns7:p xmlns:ns7="http://schemas.openxmlformats.org/drawingml/2006/main">
            <ns7:endParaRPr lang="en-US"/>
          </ns7:p>
        </ns0:txBody>
      </ns0:sp>
      <ns0:sp xmlns:ns0="http://schemas.openxmlformats.org/presentationml/2006/main">
        <ns0:nvSpPr>
          <ns0:cNvPr id="17" name="Tile2 Rule"/>
          <ns0:cNvSpPr/>
          <ns0:nvPr/>
        </ns0:nvSpPr>
        <ns0:spPr>
          <ns1:xfrm xmlns:ns1="http://schemas.openxmlformats.org/drawingml/2006/main">
            <ns1:off x="6553200" y="4953000"/>
            <ns1:ext cx="5181600" cy="28575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0F6BFF"/>
          </ns3:solidFill>
          <ns4:ln xmlns:ns4="http://schemas.openxmlformats.org/drawingml/2006/main">
            <ns4:noFill/>
          </ns4:ln>
        </ns0:spPr>
        <ns0:txBody>
          <ns5:bodyPr xmlns:ns5="http://schemas.openxmlformats.org/drawingml/2006/main" rtlCol="0" anchor="ctr"/>
          <ns6:lstStyle xmlns:ns6="http://schemas.openxmlformats.org/drawingml/2006/main"/>
          <ns7:p xmlns:ns7="http://schemas.openxmlformats.org/drawingml/2006/main">
            <ns7:endParaRPr lang="en-US"/>
          </ns7:p>
        </ns0:txBody>
      </ns0:sp>
      <ns0:sp xmlns:ns0="http://schemas.openxmlformats.org/presentationml/2006/main">
        <ns0:nvSpPr>
          <ns0:cNvPr id="18" name="Tile2 Label"/>
          <ns0:cNvSpPr>
            <ns1:spLocks xmlns:ns1="http://schemas.openxmlformats.org/drawingml/2006/main" noGrp="1"/>
          </ns0:cNvSpPr>
          <ns0:nvPr>
            <ns0:ph type="body" idx="22"/>
          </ns0:nvPr>
        </ns0:nvSpPr>
        <ns0:spPr>
          <ns2:xfrm xmlns:ns2="http://schemas.openxmlformats.org/drawingml/2006/main">
            <ns2:off x="6781800" y="5791200"/>
            <ns2:ext cx="4724400" cy="3048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buNone/>
              <ns5:defRPr sz="1600" b="1">
                <ns5:solidFill>
                  <ns5:srgbClr val="0F6BFF"/>
                </ns5:solidFill>
                <ns5:latin typeface="Aptos"/>
              </ns5:defRPr>
            </ns5:lvl1pPr>
          </ns5:lstStyle>
          <ns6:p xmlns:ns6="http://schemas.openxmlformats.org/drawingml/2006/main">
            <ns6:r>
              <ns6:rPr lang="en-US"/>
              <ns6:t>Tile 2 label</ns6:t>
            </ns6:r>
            <ns6:endParaRPr lang="en-US"/>
          </ns6:p>
        </ns0:txBody>
      </ns0:sp>
      <ns0:sp xmlns:ns0="http://schemas.openxmlformats.org/presentationml/2006/main">
        <ns0:nvSpPr>
          <ns0:cNvPr id="19" name="Tile2 Body"/>
          <ns0:cNvSpPr>
            <ns1:spLocks xmlns:ns1="http://schemas.openxmlformats.org/drawingml/2006/main" noGrp="1"/>
          </ns0:cNvSpPr>
          <ns0:nvPr>
            <ns0:ph type="body" idx="23"/>
          </ns0:nvPr>
        </ns0:nvSpPr>
        <ns0:spPr>
          <ns2:xfrm xmlns:ns2="http://schemas.openxmlformats.org/drawingml/2006/main">
            <ns2:off x="6781800" y="6134100"/>
            <ns2:ext cx="4724400" cy="85725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buNone/>
              <ns5:defRPr sz="1800">
                <ns5:solidFill>
                  <ns5:srgbClr val="000000"/>
                </ns5:solidFill>
                <ns5:latin typeface="Aptos"/>
              </ns5:defRPr>
            </ns5:lvl1pPr>
          </ns5:lstStyle>
          <ns6:p xmlns:ns6="http://schemas.openxmlformats.org/drawingml/2006/main">
            <ns6:r>
              <ns6:rPr lang="en-US"/>
              <ns6:t>One short sentence describing this tile.</ns6:t>
            </ns6:r>
            <ns6:endParaRPr lang="en-US"/>
          </ns6:p>
        </ns0:txBody>
      </ns0:sp>
      <ns0:sp xmlns:ns0="http://schemas.openxmlformats.org/presentationml/2006/main">
        <ns0:nvSpPr>
          <ns0:cNvPr id="20" name="Tile3 Bg"/>
          <ns0:cNvSpPr/>
          <ns0:nvPr/>
        </ns0:nvSpPr>
        <ns0:spPr>
          <ns1:xfrm xmlns:ns1="http://schemas.openxmlformats.org/drawingml/2006/main">
            <ns1:off x="11963400" y="4953000"/>
            <ns1:ext cx="5181600" cy="2190750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3F4F6"/>
          </ns3:solidFill>
          <ns4:ln xmlns:ns4="http://schemas.openxmlformats.org/drawingml/2006/main">
            <ns4:noFill/>
          </ns4:ln>
        </ns0:spPr>
        <ns0:txBody>
          <ns5:bodyPr xmlns:ns5="http://schemas.openxmlformats.org/drawingml/2006/main" rtlCol="0" anchor="ctr"/>
          <ns6:lstStyle xmlns:ns6="http://schemas.openxmlformats.org/drawingml/2006/main"/>
          <ns7:p xmlns:ns7="http://schemas.openxmlformats.org/drawingml/2006/main">
            <ns7:endParaRPr lang="en-US"/>
          </ns7:p>
        </ns0:txBody>
      </ns0:sp>
      <ns0:sp xmlns:ns0="http://schemas.openxmlformats.org/presentationml/2006/main">
        <ns0:nvSpPr>
          <ns0:cNvPr id="21" name="Tile3 Rule"/>
          <ns0:cNvSpPr/>
          <ns0:nvPr/>
        </ns0:nvSpPr>
        <ns0:spPr>
          <ns1:xfrm xmlns:ns1="http://schemas.openxmlformats.org/drawingml/2006/main">
            <ns1:off x="11963400" y="4953000"/>
            <ns1:ext cx="5181600" cy="28575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0F6BFF"/>
          </ns3:solidFill>
          <ns4:ln xmlns:ns4="http://schemas.openxmlformats.org/drawingml/2006/main">
            <ns4:noFill/>
          </ns4:ln>
        </ns0:spPr>
        <ns0:txBody>
          <ns5:bodyPr xmlns:ns5="http://schemas.openxmlformats.org/drawingml/2006/main" rtlCol="0" anchor="ctr"/>
          <ns6:lstStyle xmlns:ns6="http://schemas.openxmlformats.org/drawingml/2006/main"/>
          <ns7:p xmlns:ns7="http://schemas.openxmlformats.org/drawingml/2006/main">
            <ns7:endParaRPr lang="en-US"/>
          </ns7:p>
        </ns0:txBody>
      </ns0:sp>
      <ns0:sp xmlns:ns0="http://schemas.openxmlformats.org/presentationml/2006/main">
        <ns0:nvSpPr>
          <ns0:cNvPr id="22" name="Tile3 Label"/>
          <ns0:cNvSpPr>
            <ns1:spLocks xmlns:ns1="http://schemas.openxmlformats.org/drawingml/2006/main" noGrp="1"/>
          </ns0:cNvSpPr>
          <ns0:nvPr>
            <ns0:ph type="body" idx="24"/>
          </ns0:nvPr>
        </ns0:nvSpPr>
        <ns0:spPr>
          <ns2:xfrm xmlns:ns2="http://schemas.openxmlformats.org/drawingml/2006/main">
            <ns2:off x="12192000" y="5791200"/>
            <ns2:ext cx="4724400" cy="3048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buNone/>
              <ns5:defRPr sz="1600" b="1">
                <ns5:solidFill>
                  <ns5:srgbClr val="0F6BFF"/>
                </ns5:solidFill>
                <ns5:latin typeface="Aptos"/>
              </ns5:defRPr>
            </ns5:lvl1pPr>
          </ns5:lstStyle>
          <ns6:p xmlns:ns6="http://schemas.openxmlformats.org/drawingml/2006/main">
            <ns6:r>
              <ns6:rPr lang="en-US"/>
              <ns6:t>Tile 3 label</ns6:t>
            </ns6:r>
            <ns6:endParaRPr lang="en-US"/>
          </ns6:p>
        </ns0:txBody>
      </ns0:sp>
      <ns0:sp xmlns:ns0="http://schemas.openxmlformats.org/presentationml/2006/main">
        <ns0:nvSpPr>
          <ns0:cNvPr id="23" name="Tile3 Body"/>
          <ns0:cNvSpPr>
            <ns1:spLocks xmlns:ns1="http://schemas.openxmlformats.org/drawingml/2006/main" noGrp="1"/>
          </ns0:cNvSpPr>
          <ns0:nvPr>
            <ns0:ph type="body" idx="25"/>
          </ns0:nvPr>
        </ns0:nvSpPr>
        <ns0:spPr>
          <ns2:xfrm xmlns:ns2="http://schemas.openxmlformats.org/drawingml/2006/main">
            <ns2:off x="12192000" y="6134100"/>
            <ns2:ext cx="4724400" cy="85725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buNone/>
              <ns5:defRPr sz="1800">
                <ns5:solidFill>
                  <ns5:srgbClr val="000000"/>
                </ns5:solidFill>
                <ns5:latin typeface="Aptos"/>
              </ns5:defRPr>
            </ns5:lvl1pPr>
          </ns5:lstStyle>
          <ns6:p xmlns:ns6="http://schemas.openxmlformats.org/drawingml/2006/main">
            <ns6:r>
              <ns6:rPr lang="en-US"/>
              <ns6:t>One short sentence describing this tile.</ns6:t>
            </ns6:r>
            <ns6:endParaRPr lang="en-US"/>
          </ns6:p>
        </ns0:txBody>
      </ns0:sp>
      <ns0:sp xmlns:ns0="http://schemas.openxmlformats.org/presentationml/2006/main">
        <ns0:nvSpPr>
          <ns0:cNvPr id="24" name="Tile4 Bg"/>
          <ns0:cNvSpPr/>
          <ns0:nvPr/>
        </ns0:nvSpPr>
        <ns0:spPr>
          <ns1:xfrm xmlns:ns1="http://schemas.openxmlformats.org/drawingml/2006/main">
            <ns1:off x="1143000" y="7372350"/>
            <ns1:ext cx="5181600" cy="2190750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3F4F6"/>
          </ns3:solidFill>
          <ns4:ln xmlns:ns4="http://schemas.openxmlformats.org/drawingml/2006/main">
            <ns4:noFill/>
          </ns4:ln>
        </ns0:spPr>
        <ns0:txBody>
          <ns5:bodyPr xmlns:ns5="http://schemas.openxmlformats.org/drawingml/2006/main" rtlCol="0" anchor="ctr"/>
          <ns6:lstStyle xmlns:ns6="http://schemas.openxmlformats.org/drawingml/2006/main"/>
          <ns7:p xmlns:ns7="http://schemas.openxmlformats.org/drawingml/2006/main">
            <ns7:endParaRPr lang="en-US"/>
          </ns7:p>
        </ns0:txBody>
      </ns0:sp>
      <ns0:sp xmlns:ns0="http://schemas.openxmlformats.org/presentationml/2006/main">
        <ns0:nvSpPr>
          <ns0:cNvPr id="25" name="Tile4 Rule"/>
          <ns0:cNvSpPr/>
          <ns0:nvPr/>
        </ns0:nvSpPr>
        <ns0:spPr>
          <ns1:xfrm xmlns:ns1="http://schemas.openxmlformats.org/drawingml/2006/main">
            <ns1:off x="1143000" y="7372350"/>
            <ns1:ext cx="5181600" cy="28575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0F6BFF"/>
          </ns3:solidFill>
          <ns4:ln xmlns:ns4="http://schemas.openxmlformats.org/drawingml/2006/main">
            <ns4:noFill/>
          </ns4:ln>
        </ns0:spPr>
        <ns0:txBody>
          <ns5:bodyPr xmlns:ns5="http://schemas.openxmlformats.org/drawingml/2006/main" rtlCol="0" anchor="ctr"/>
          <ns6:lstStyle xmlns:ns6="http://schemas.openxmlformats.org/drawingml/2006/main"/>
          <ns7:p xmlns:ns7="http://schemas.openxmlformats.org/drawingml/2006/main">
            <ns7:endParaRPr lang="en-US"/>
          </ns7:p>
        </ns0:txBody>
      </ns0:sp>
      <ns0:sp xmlns:ns0="http://schemas.openxmlformats.org/presentationml/2006/main">
        <ns0:nvSpPr>
          <ns0:cNvPr id="26" name="Tile4 Label"/>
          <ns0:cNvSpPr>
            <ns1:spLocks xmlns:ns1="http://schemas.openxmlformats.org/drawingml/2006/main" noGrp="1"/>
          </ns0:cNvSpPr>
          <ns0:nvPr>
            <ns0:ph type="body" idx="26"/>
          </ns0:nvPr>
        </ns0:nvSpPr>
        <ns0:spPr>
          <ns2:xfrm xmlns:ns2="http://schemas.openxmlformats.org/drawingml/2006/main">
            <ns2:off x="1371600" y="8210550"/>
            <ns2:ext cx="4724400" cy="3048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buNone/>
              <ns5:defRPr sz="1600" b="1">
                <ns5:solidFill>
                  <ns5:srgbClr val="0F6BFF"/>
                </ns5:solidFill>
                <ns5:latin typeface="Aptos"/>
              </ns5:defRPr>
            </ns5:lvl1pPr>
          </ns5:lstStyle>
          <ns6:p xmlns:ns6="http://schemas.openxmlformats.org/drawingml/2006/main">
            <ns6:r>
              <ns6:rPr lang="en-US"/>
              <ns6:t>Tile 4 label</ns6:t>
            </ns6:r>
            <ns6:endParaRPr lang="en-US"/>
          </ns6:p>
        </ns0:txBody>
      </ns0:sp>
      <ns0:sp xmlns:ns0="http://schemas.openxmlformats.org/presentationml/2006/main">
        <ns0:nvSpPr>
          <ns0:cNvPr id="27" name="Tile4 Body"/>
          <ns0:cNvSpPr>
            <ns1:spLocks xmlns:ns1="http://schemas.openxmlformats.org/drawingml/2006/main" noGrp="1"/>
          </ns0:cNvSpPr>
          <ns0:nvPr>
            <ns0:ph type="body" idx="27"/>
          </ns0:nvPr>
        </ns0:nvSpPr>
        <ns0:spPr>
          <ns2:xfrm xmlns:ns2="http://schemas.openxmlformats.org/drawingml/2006/main">
            <ns2:off x="1371600" y="8553450"/>
            <ns2:ext cx="4724400" cy="85725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buNone/>
              <ns5:defRPr sz="1800">
                <ns5:solidFill>
                  <ns5:srgbClr val="000000"/>
                </ns5:solidFill>
                <ns5:latin typeface="Aptos"/>
              </ns5:defRPr>
            </ns5:lvl1pPr>
          </ns5:lstStyle>
          <ns6:p xmlns:ns6="http://schemas.openxmlformats.org/drawingml/2006/main">
            <ns6:r>
              <ns6:rPr lang="en-US"/>
              <ns6:t>One short sentence describing this tile.</ns6:t>
            </ns6:r>
            <ns6:endParaRPr lang="en-US"/>
          </ns6:p>
        </ns0:txBody>
      </ns0:sp>
      <ns0:sp xmlns:ns0="http://schemas.openxmlformats.org/presentationml/2006/main">
        <ns0:nvSpPr>
          <ns0:cNvPr id="28" name="Tile5 Bg"/>
          <ns0:cNvSpPr/>
          <ns0:nvPr/>
        </ns0:nvSpPr>
        <ns0:spPr>
          <ns1:xfrm xmlns:ns1="http://schemas.openxmlformats.org/drawingml/2006/main">
            <ns1:off x="6553200" y="7372350"/>
            <ns1:ext cx="5181600" cy="2190750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3F4F6"/>
          </ns3:solidFill>
          <ns4:ln xmlns:ns4="http://schemas.openxmlformats.org/drawingml/2006/main">
            <ns4:noFill/>
          </ns4:ln>
        </ns0:spPr>
        <ns0:txBody>
          <ns5:bodyPr xmlns:ns5="http://schemas.openxmlformats.org/drawingml/2006/main" rtlCol="0" anchor="ctr"/>
          <ns6:lstStyle xmlns:ns6="http://schemas.openxmlformats.org/drawingml/2006/main"/>
          <ns7:p xmlns:ns7="http://schemas.openxmlformats.org/drawingml/2006/main">
            <ns7:endParaRPr lang="en-US"/>
          </ns7:p>
        </ns0:txBody>
      </ns0:sp>
      <ns0:sp xmlns:ns0="http://schemas.openxmlformats.org/presentationml/2006/main">
        <ns0:nvSpPr>
          <ns0:cNvPr id="29" name="Tile5 Rule"/>
          <ns0:cNvSpPr/>
          <ns0:nvPr/>
        </ns0:nvSpPr>
        <ns0:spPr>
          <ns1:xfrm xmlns:ns1="http://schemas.openxmlformats.org/drawingml/2006/main">
            <ns1:off x="6553200" y="7372350"/>
            <ns1:ext cx="5181600" cy="28575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0F6BFF"/>
          </ns3:solidFill>
          <ns4:ln xmlns:ns4="http://schemas.openxmlformats.org/drawingml/2006/main">
            <ns4:noFill/>
          </ns4:ln>
        </ns0:spPr>
        <ns0:txBody>
          <ns5:bodyPr xmlns:ns5="http://schemas.openxmlformats.org/drawingml/2006/main" rtlCol="0" anchor="ctr"/>
          <ns6:lstStyle xmlns:ns6="http://schemas.openxmlformats.org/drawingml/2006/main"/>
          <ns7:p xmlns:ns7="http://schemas.openxmlformats.org/drawingml/2006/main">
            <ns7:endParaRPr lang="en-US"/>
          </ns7:p>
        </ns0:txBody>
      </ns0:sp>
      <ns0:sp xmlns:ns0="http://schemas.openxmlformats.org/presentationml/2006/main">
        <ns0:nvSpPr>
          <ns0:cNvPr id="30" name="Tile5 Label"/>
          <ns0:cNvSpPr>
            <ns1:spLocks xmlns:ns1="http://schemas.openxmlformats.org/drawingml/2006/main" noGrp="1"/>
          </ns0:cNvSpPr>
          <ns0:nvPr>
            <ns0:ph type="body" idx="28"/>
          </ns0:nvPr>
        </ns0:nvSpPr>
        <ns0:spPr>
          <ns2:xfrm xmlns:ns2="http://schemas.openxmlformats.org/drawingml/2006/main">
            <ns2:off x="6781800" y="8210550"/>
            <ns2:ext cx="4724400" cy="3048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buNone/>
              <ns5:defRPr sz="1600" b="1">
                <ns5:solidFill>
                  <ns5:srgbClr val="0F6BFF"/>
                </ns5:solidFill>
                <ns5:latin typeface="Aptos"/>
              </ns5:defRPr>
            </ns5:lvl1pPr>
          </ns5:lstStyle>
          <ns6:p xmlns:ns6="http://schemas.openxmlformats.org/drawingml/2006/main">
            <ns6:r>
              <ns6:rPr lang="en-US"/>
              <ns6:t>Tile 5 label</ns6:t>
            </ns6:r>
            <ns6:endParaRPr lang="en-US"/>
          </ns6:p>
        </ns0:txBody>
      </ns0:sp>
      <ns0:sp xmlns:ns0="http://schemas.openxmlformats.org/presentationml/2006/main">
        <ns0:nvSpPr>
          <ns0:cNvPr id="31" name="Tile5 Body"/>
          <ns0:cNvSpPr>
            <ns1:spLocks xmlns:ns1="http://schemas.openxmlformats.org/drawingml/2006/main" noGrp="1"/>
          </ns0:cNvSpPr>
          <ns0:nvPr>
            <ns0:ph type="body" idx="29"/>
          </ns0:nvPr>
        </ns0:nvSpPr>
        <ns0:spPr>
          <ns2:xfrm xmlns:ns2="http://schemas.openxmlformats.org/drawingml/2006/main">
            <ns2:off x="6781800" y="8553450"/>
            <ns2:ext cx="4724400" cy="85725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buNone/>
              <ns5:defRPr sz="1800">
                <ns5:solidFill>
                  <ns5:srgbClr val="000000"/>
                </ns5:solidFill>
                <ns5:latin typeface="Aptos"/>
              </ns5:defRPr>
            </ns5:lvl1pPr>
          </ns5:lstStyle>
          <ns6:p xmlns:ns6="http://schemas.openxmlformats.org/drawingml/2006/main">
            <ns6:r>
              <ns6:rPr lang="en-US"/>
              <ns6:t>One short sentence describing this tile.</ns6:t>
            </ns6:r>
            <ns6:endParaRPr lang="en-US"/>
          </ns6:p>
        </ns0:txBody>
      </ns0:sp>
      <ns0:sp xmlns:ns0="http://schemas.openxmlformats.org/presentationml/2006/main">
        <ns0:nvSpPr>
          <ns0:cNvPr id="32" name="Tile6 Bg"/>
          <ns0:cNvSpPr/>
          <ns0:nvPr/>
        </ns0:nvSpPr>
        <ns0:spPr>
          <ns1:xfrm xmlns:ns1="http://schemas.openxmlformats.org/drawingml/2006/main">
            <ns1:off x="11963400" y="7372350"/>
            <ns1:ext cx="5181600" cy="2190750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3F4F6"/>
          </ns3:solidFill>
          <ns4:ln xmlns:ns4="http://schemas.openxmlformats.org/drawingml/2006/main">
            <ns4:noFill/>
          </ns4:ln>
        </ns0:spPr>
        <ns0:txBody>
          <ns5:bodyPr xmlns:ns5="http://schemas.openxmlformats.org/drawingml/2006/main" rtlCol="0" anchor="ctr"/>
          <ns6:lstStyle xmlns:ns6="http://schemas.openxmlformats.org/drawingml/2006/main"/>
          <ns7:p xmlns:ns7="http://schemas.openxmlformats.org/drawingml/2006/main">
            <ns7:endParaRPr lang="en-US"/>
          </ns7:p>
        </ns0:txBody>
      </ns0:sp>
      <ns0:sp xmlns:ns0="http://schemas.openxmlformats.org/presentationml/2006/main">
        <ns0:nvSpPr>
          <ns0:cNvPr id="33" name="Tile6 Rule"/>
          <ns0:cNvSpPr/>
          <ns0:nvPr/>
        </ns0:nvSpPr>
        <ns0:spPr>
          <ns1:xfrm xmlns:ns1="http://schemas.openxmlformats.org/drawingml/2006/main">
            <ns1:off x="11963400" y="7372350"/>
            <ns1:ext cx="5181600" cy="28575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0F6BFF"/>
          </ns3:solidFill>
          <ns4:ln xmlns:ns4="http://schemas.openxmlformats.org/drawingml/2006/main">
            <ns4:noFill/>
          </ns4:ln>
        </ns0:spPr>
        <ns0:txBody>
          <ns5:bodyPr xmlns:ns5="http://schemas.openxmlformats.org/drawingml/2006/main" rtlCol="0" anchor="ctr"/>
          <ns6:lstStyle xmlns:ns6="http://schemas.openxmlformats.org/drawingml/2006/main"/>
          <ns7:p xmlns:ns7="http://schemas.openxmlformats.org/drawingml/2006/main">
            <ns7:endParaRPr lang="en-US"/>
          </ns7:p>
        </ns0:txBody>
      </ns0:sp>
      <ns0:sp xmlns:ns0="http://schemas.openxmlformats.org/presentationml/2006/main">
        <ns0:nvSpPr>
          <ns0:cNvPr id="34" name="Tile6 Label"/>
          <ns0:cNvSpPr>
            <ns1:spLocks xmlns:ns1="http://schemas.openxmlformats.org/drawingml/2006/main" noGrp="1"/>
          </ns0:cNvSpPr>
          <ns0:nvPr>
            <ns0:ph type="body" idx="30"/>
          </ns0:nvPr>
        </ns0:nvSpPr>
        <ns0:spPr>
          <ns2:xfrm xmlns:ns2="http://schemas.openxmlformats.org/drawingml/2006/main">
            <ns2:off x="12192000" y="8210550"/>
            <ns2:ext cx="4724400" cy="3048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buNone/>
              <ns5:defRPr sz="1600" b="1">
                <ns5:solidFill>
                  <ns5:srgbClr val="0F6BFF"/>
                </ns5:solidFill>
                <ns5:latin typeface="Aptos"/>
              </ns5:defRPr>
            </ns5:lvl1pPr>
          </ns5:lstStyle>
          <ns6:p xmlns:ns6="http://schemas.openxmlformats.org/drawingml/2006/main">
            <ns6:r>
              <ns6:rPr lang="en-US"/>
              <ns6:t>Tile 6 label</ns6:t>
            </ns6:r>
            <ns6:endParaRPr lang="en-US"/>
          </ns6:p>
        </ns0:txBody>
      </ns0:sp>
      <ns0:sp xmlns:ns0="http://schemas.openxmlformats.org/presentationml/2006/main">
        <ns0:nvSpPr>
          <ns0:cNvPr id="35" name="Tile6 Body"/>
          <ns0:cNvSpPr>
            <ns1:spLocks xmlns:ns1="http://schemas.openxmlformats.org/drawingml/2006/main" noGrp="1"/>
          </ns0:cNvSpPr>
          <ns0:nvPr>
            <ns0:ph type="body" idx="31"/>
          </ns0:nvPr>
        </ns0:nvSpPr>
        <ns0:spPr>
          <ns2:xfrm xmlns:ns2="http://schemas.openxmlformats.org/drawingml/2006/main">
            <ns2:off x="12192000" y="8553450"/>
            <ns2:ext cx="4724400" cy="85725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buNone/>
              <ns5:defRPr sz="1800">
                <ns5:solidFill>
                  <ns5:srgbClr val="000000"/>
                </ns5:solidFill>
                <ns5:latin typeface="Aptos"/>
              </ns5:defRPr>
            </ns5:lvl1pPr>
          </ns5:lstStyle>
          <ns6:p xmlns:ns6="http://schemas.openxmlformats.org/drawingml/2006/main">
            <ns6:r>
              <ns6:rPr lang="en-US"/>
              <ns6:t>One short sentence describing this tile.</ns6:t>
            </ns6:r>
            <ns6:endParaRPr lang="en-US"/>
          </ns6:p>
        </ns0:txBody>
      </ns0:sp>
      <ns0:sp xmlns:ns0="http://schemas.openxmlformats.org/presentationml/2006/main">
        <ns0:nvSpPr>
          <ns0:cNvPr id="36" name="Footer"/>
          <ns0:cNvSpPr>
            <ns1:spLocks xmlns:ns1="http://schemas.openxmlformats.org/drawingml/2006/main" noGrp="1"/>
          </ns0:cNvSpPr>
          <ns0:nvPr/>
        </ns0:nvSpPr>
        <ns0:spPr>
          <ns2:xfrm xmlns:ns2="http://schemas.openxmlformats.org/drawingml/2006/main">
            <ns2:off x="1143000" y="9982200"/>
            <ns2:ext cx="16002000" cy="2286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buNone/>
              <ns5:defRPr sz="900" cap="all" spc="50">
                <ns5:solidFill>
                  <ns5:srgbClr val="6B7280"/>
                </ns5:solidFill>
                <ns5:latin typeface="Aptos"/>
              </ns5:defRPr>
            </ns5:lvl1pPr>
          </ns5:lstStyle>
          <ns6:p xmlns:ns6="http://schemas.openxmlformats.org/drawingml/2006/main">
            <ns6:r>
              <ns6:rPr lang="en-US"/>
              <ns6:t>OPEN COMPONENT MODEL · OCM.SOFTWARE</ns6:t>
            </ns6:r>
            <ns6:endParaRPr lang="en-US"/>
          </ns6:p>
        </ns0:txBody>
      </ns0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Content / 2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ns0:sp xmlns:ns0="http://schemas.openxmlformats.org/presentationml/2006/main">
        <ns0:nvSpPr>
          <ns0:cNvPr id="10" name="Eyebrow"/>
          <ns0:cNvSpPr>
            <ns1:spLocks xmlns:ns1="http://schemas.openxmlformats.org/drawingml/2006/main" noGrp="1"/>
          </ns0:cNvSpPr>
          <ns0:nvPr>
            <ns0:ph type="body" idx="1"/>
          </ns0:nvPr>
        </ns0:nvSpPr>
        <ns0:spPr>
          <ns2:xfrm xmlns:ns2="http://schemas.openxmlformats.org/drawingml/2006/main">
            <ns2:off x="1143000" y="2428875"/>
            <ns2:ext cx="16002000" cy="4572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buNone/>
              <ns5:defRPr sz="2800" b="1" cap="all" spc="140">
                <ns5:solidFill>
                  <ns5:srgbClr val="0F6BFF"/>
                </ns5:solidFill>
                <ns5:latin typeface="Aptos"/>
              </ns5:defRPr>
            </ns5:lvl1pPr>
          </ns5:lstStyle>
          <ns6:p xmlns:ns6="http://schemas.openxmlformats.org/drawingml/2006/main">
            <ns6:r>
              <ns6:rPr lang="en-US"/>
              <ns6:t>EYEBROW</ns6:t>
            </ns6:r>
            <ns6:endParaRPr lang="en-US"/>
          </ns6:p>
        </ns0:txBody>
      </ns0:sp>
      <ns0:sp xmlns:ns0="http://schemas.openxmlformats.org/presentationml/2006/main">
        <ns0:nvSpPr>
          <ns0:cNvPr id="11" name="Title"/>
          <ns0:cNvSpPr>
            <ns1:spLocks xmlns:ns1="http://schemas.openxmlformats.org/drawingml/2006/main" noGrp="1"/>
          </ns0:cNvSpPr>
          <ns0:nvPr>
            <ns0:ph type="title" idx="2"/>
          </ns0:nvPr>
        </ns0:nvSpPr>
        <ns0:spPr>
          <ns2:xfrm xmlns:ns2="http://schemas.openxmlformats.org/drawingml/2006/main">
            <ns2:off x="1143000" y="2933700"/>
            <ns2:ext cx="16002000" cy="19050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lnSpc>
                <ns5:spcPct val="90000"/>
              </ns5:lnSpc>
              <ns5:buNone/>
              <ns5:defRPr sz="6400" b="1">
                <ns5:solidFill>
                  <ns5:srgbClr val="000000"/>
                </ns5:solidFill>
                <ns5:latin typeface="Aptos Display"/>
              </ns5:defRPr>
            </ns5:lvl1pPr>
          </ns5:lstStyle>
          <ns6:p xmlns:ns6="http://schemas.openxmlformats.org/drawingml/2006/main">
            <ns6:r>
              <ns6:rPr lang="en-US"/>
              <ns6:t>Section title goes here.</ns6:t>
            </ns6:r>
            <ns6:endParaRPr lang="en-US"/>
          </ns6:p>
        </ns0:txBody>
      </ns0:sp>
      <ns0:sp xmlns:ns0="http://schemas.openxmlformats.org/presentationml/2006/main">
        <ns0:nvSpPr>
          <ns0:cNvPr id="12" name="Left Body"/>
          <ns0:cNvSpPr>
            <ns1:spLocks xmlns:ns1="http://schemas.openxmlformats.org/drawingml/2006/main" noGrp="1"/>
          </ns0:cNvSpPr>
          <ns0:nvPr>
            <ns0:ph type="body" idx="10"/>
          </ns0:nvPr>
        </ns0:nvSpPr>
        <ns0:spPr>
          <ns2:xfrm xmlns:ns2="http://schemas.openxmlformats.org/drawingml/2006/main">
            <ns2:off x="1143000" y="4953000"/>
            <ns2:ext cx="7810500" cy="43815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buNone/>
              <ns5:defRPr sz="2200">
                <ns5:solidFill>
                  <ns5:srgbClr val="000000"/>
                </ns5:solidFill>
                <ns5:latin typeface="Aptos"/>
              </ns5:defRPr>
            </ns5:lvl1pPr>
          </ns5:lstStyle>
          <ns6:p xmlns:ns6="http://schemas.openxmlformats.org/drawingml/2006/main">
            <ns6:r>
              <ns6:rPr lang="en-US"/>
              <ns6:t>Left column body.</ns6:t>
            </ns6:r>
            <ns6:endParaRPr lang="en-US"/>
          </ns6:p>
        </ns0:txBody>
      </ns0:sp>
      <ns0:sp xmlns:ns0="http://schemas.openxmlformats.org/presentationml/2006/main">
        <ns0:nvSpPr>
          <ns0:cNvPr id="13" name="Right Body"/>
          <ns0:cNvSpPr>
            <ns1:spLocks xmlns:ns1="http://schemas.openxmlformats.org/drawingml/2006/main" noGrp="1"/>
          </ns0:cNvSpPr>
          <ns0:nvPr>
            <ns0:ph type="body" idx="11"/>
          </ns0:nvPr>
        </ns0:nvSpPr>
        <ns0:spPr>
          <ns2:xfrm xmlns:ns2="http://schemas.openxmlformats.org/drawingml/2006/main">
            <ns2:off x="9334500" y="4953000"/>
            <ns2:ext cx="7810500" cy="43815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buNone/>
              <ns5:defRPr sz="2200">
                <ns5:solidFill>
                  <ns5:srgbClr val="000000"/>
                </ns5:solidFill>
                <ns5:latin typeface="Aptos"/>
              </ns5:defRPr>
            </ns5:lvl1pPr>
          </ns5:lstStyle>
          <ns6:p xmlns:ns6="http://schemas.openxmlformats.org/drawingml/2006/main">
            <ns6:r>
              <ns6:rPr lang="en-US"/>
              <ns6:t>Right column body.</ns6:t>
            </ns6:r>
            <ns6:endParaRPr lang="en-US"/>
          </ns6:p>
        </ns0:txBody>
      </ns0:sp>
      <ns0:sp xmlns:ns0="http://schemas.openxmlformats.org/presentationml/2006/main">
        <ns0:nvSpPr>
          <ns0:cNvPr id="14" name="Footer"/>
          <ns0:cNvSpPr>
            <ns1:spLocks xmlns:ns1="http://schemas.openxmlformats.org/drawingml/2006/main" noGrp="1"/>
          </ns0:cNvSpPr>
          <ns0:nvPr/>
        </ns0:nvSpPr>
        <ns0:spPr>
          <ns2:xfrm xmlns:ns2="http://schemas.openxmlformats.org/drawingml/2006/main">
            <ns2:off x="1143000" y="9982200"/>
            <ns2:ext cx="16002000" cy="2286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buNone/>
              <ns5:defRPr sz="900" cap="all" spc="50">
                <ns5:solidFill>
                  <ns5:srgbClr val="6B7280"/>
                </ns5:solidFill>
                <ns5:latin typeface="Aptos"/>
              </ns5:defRPr>
            </ns5:lvl1pPr>
          </ns5:lstStyle>
          <ns6:p xmlns:ns6="http://schemas.openxmlformats.org/drawingml/2006/main">
            <ns6:r>
              <ns6:rPr lang="en-US"/>
              <ns6:t>OPEN COMPONENT MODEL · OCM.SOFTWARE</ns6:t>
            </ns6:r>
            <ns6:endParaRPr lang="en-US"/>
          </ns6:p>
        </ns0:txBody>
      </ns0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 Divider">
    <p:bg>
      <p:bgPr>
        <a:solidFill>
          <a:srgbClr val="0F6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ns0:sp xmlns:ns0="http://schemas.openxmlformats.org/presentationml/2006/main">
        <ns0:nvSpPr>
          <ns0:cNvPr id="10" name="Section Title"/>
          <ns0:cNvSpPr>
            <ns1:spLocks xmlns:ns1="http://schemas.openxmlformats.org/drawingml/2006/main" noGrp="1"/>
          </ns0:cNvSpPr>
          <ns0:nvPr>
            <ns0:ph type="title" idx="1"/>
          </ns0:nvPr>
        </ns0:nvSpPr>
        <ns0:spPr>
          <ns2:xfrm xmlns:ns2="http://schemas.openxmlformats.org/drawingml/2006/main">
            <ns2:off x="762000" y="4381500"/>
            <ns2:ext cx="16764000" cy="19050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ctr" lIns="0" tIns="0" rIns="0" bIns="0"/>
          <ns5:lstStyle xmlns:ns5="http://schemas.openxmlformats.org/drawingml/2006/main">
            <ns5:lvl1pPr marL="0" indent="0" algn="ctr">
              <ns5:buNone/>
              <ns5:defRPr sz="7200" b="1">
                <ns5:solidFill>
                  <ns5:srgbClr val="FFFFFF"/>
                </ns5:solidFill>
                <ns5:latin typeface="Aptos Display"/>
              </ns5:defRPr>
            </ns5:lvl1pPr>
          </ns5:lstStyle>
          <ns6:p xmlns:ns6="http://schemas.openxmlformats.org/drawingml/2006/main">
            <ns6:r>
              <ns6:rPr lang="en-US"/>
              <ns6:t>Section</ns6:t>
            </ns6:r>
            <ns6:endParaRPr lang="en-US"/>
          </ns6:p>
        </ns0:txBody>
      </ns0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ns0:sp xmlns:ns0="http://schemas.openxmlformats.org/presentationml/2006/main">
        <ns0:nvSpPr>
          <ns0:cNvPr id="10" name="Eyebrow"/>
          <ns0:cNvSpPr>
            <ns1:spLocks xmlns:ns1="http://schemas.openxmlformats.org/drawingml/2006/main" noGrp="1"/>
          </ns0:cNvSpPr>
          <ns0:nvPr>
            <ns0:ph type="body" idx="1"/>
          </ns0:nvPr>
        </ns0:nvSpPr>
        <ns0:spPr>
          <ns2:xfrm xmlns:ns2="http://schemas.openxmlformats.org/drawingml/2006/main">
            <ns2:off x="1143000" y="2428875"/>
            <ns2:ext cx="16002000" cy="4572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buNone/>
              <ns5:defRPr sz="2800" b="1" cap="all" spc="140">
                <ns5:solidFill>
                  <ns5:srgbClr val="0F6BFF"/>
                </ns5:solidFill>
                <ns5:latin typeface="Aptos"/>
              </ns5:defRPr>
            </ns5:lvl1pPr>
          </ns5:lstStyle>
          <ns6:p xmlns:ns6="http://schemas.openxmlformats.org/drawingml/2006/main">
            <ns6:r>
              <ns6:rPr lang="en-US"/>
              <ns6:t>EYEBROW</ns6:t>
            </ns6:r>
            <ns6:endParaRPr lang="en-US"/>
          </ns6:p>
        </ns0:txBody>
      </ns0:sp>
      <ns0:sp xmlns:ns0="http://schemas.openxmlformats.org/presentationml/2006/main">
        <ns0:nvSpPr>
          <ns0:cNvPr id="11" name="Title"/>
          <ns0:cNvSpPr>
            <ns1:spLocks xmlns:ns1="http://schemas.openxmlformats.org/drawingml/2006/main" noGrp="1"/>
          </ns0:cNvSpPr>
          <ns0:nvPr>
            <ns0:ph type="title" idx="2"/>
          </ns0:nvPr>
        </ns0:nvSpPr>
        <ns0:spPr>
          <ns2:xfrm xmlns:ns2="http://schemas.openxmlformats.org/drawingml/2006/main">
            <ns2:off x="1143000" y="2933700"/>
            <ns2:ext cx="16002000" cy="19050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lnSpc>
                <ns5:spcPct val="90000"/>
              </ns5:lnSpc>
              <ns5:buNone/>
              <ns5:defRPr sz="6400" b="1">
                <ns5:solidFill>
                  <ns5:srgbClr val="000000"/>
                </ns5:solidFill>
                <ns5:latin typeface="Aptos Display"/>
              </ns5:defRPr>
            </ns5:lvl1pPr>
          </ns5:lstStyle>
          <ns6:p xmlns:ns6="http://schemas.openxmlformats.org/drawingml/2006/main">
            <ns6:r>
              <ns6:rPr lang="en-US"/>
              <ns6:t>Section title goes here.</ns6:t>
            </ns6:r>
            <ns6:endParaRPr lang="en-US"/>
          </ns6:p>
        </ns0:txBody>
      </ns0:sp>
      <ns0:sp xmlns:ns0="http://schemas.openxmlformats.org/presentationml/2006/main">
        <ns0:nvSpPr>
          <ns0:cNvPr id="12" name="Body"/>
          <ns0:cNvSpPr>
            <ns1:spLocks xmlns:ns1="http://schemas.openxmlformats.org/drawingml/2006/main" noGrp="1"/>
          </ns0:cNvSpPr>
          <ns0:nvPr>
            <ns0:ph type="body" idx="10"/>
          </ns0:nvPr>
        </ns0:nvSpPr>
        <ns0:spPr>
          <ns2:xfrm xmlns:ns2="http://schemas.openxmlformats.org/drawingml/2006/main">
            <ns2:off x="1143000" y="5524500"/>
            <ns2:ext cx="16002000" cy="38100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buNone/>
              <ns5:defRPr sz="2200">
                <ns5:solidFill>
                  <ns5:srgbClr val="000000"/>
                </ns5:solidFill>
                <ns5:latin typeface="Aptos"/>
              </ns5:defRPr>
            </ns5:lvl1pPr>
          </ns5:lstStyle>
          <ns6:p xmlns:ns6="http://schemas.openxmlformats.org/drawingml/2006/main">
            <ns6:r>
              <ns6:rPr lang="en-US"/>
              <ns6:t>Body text.</ns6:t>
            </ns6:r>
            <ns6:endParaRPr lang="en-US"/>
          </ns6:p>
        </ns0:txBody>
      </ns0:sp>
      <ns0:sp xmlns:ns0="http://schemas.openxmlformats.org/presentationml/2006/main">
        <ns0:nvSpPr>
          <ns0:cNvPr id="13" name="Footer"/>
          <ns0:cNvSpPr>
            <ns1:spLocks xmlns:ns1="http://schemas.openxmlformats.org/drawingml/2006/main" noGrp="1"/>
          </ns0:cNvSpPr>
          <ns0:nvPr/>
        </ns0:nvSpPr>
        <ns0:spPr>
          <ns2:xfrm xmlns:ns2="http://schemas.openxmlformats.org/drawingml/2006/main">
            <ns2:off x="1143000" y="9982200"/>
            <ns2:ext cx="16002000" cy="2286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buNone/>
              <ns5:defRPr sz="900" cap="all" spc="50">
                <ns5:solidFill>
                  <ns5:srgbClr val="6B7280"/>
                </ns5:solidFill>
                <ns5:latin typeface="Aptos"/>
              </ns5:defRPr>
            </ns5:lvl1pPr>
          </ns5:lstStyle>
          <ns6:p xmlns:ns6="http://schemas.openxmlformats.org/drawingml/2006/main">
            <ns6:r>
              <ns6:rPr lang="en-US"/>
              <ns6:t>OPEN COMPONENT MODEL · OCM.SOFTWARE</ns6:t>
            </ns6:r>
            <ns6:endParaRPr lang="en-US"/>
          </ns6:p>
        </ns0:txBody>
      </ns0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Plain / Compac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ns0:sp xmlns:ns0="http://schemas.openxmlformats.org/presentationml/2006/main">
        <ns0:nvSpPr>
          <ns0:cNvPr id="10" name="Eyebrow"/>
          <ns0:cNvSpPr>
            <ns1:spLocks xmlns:ns1="http://schemas.openxmlformats.org/drawingml/2006/main" noGrp="1"/>
          </ns0:cNvSpPr>
          <ns0:nvPr>
            <ns0:ph type="body" idx="1"/>
          </ns0:nvPr>
        </ns0:nvSpPr>
        <ns0:spPr>
          <ns2:xfrm xmlns:ns2="http://schemas.openxmlformats.org/drawingml/2006/main">
            <ns2:off x="1143000" y="2428875"/>
            <ns2:ext cx="16002000" cy="4572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buNone/>
              <ns5:defRPr sz="2800" b="1" cap="all" spc="140">
                <ns5:solidFill>
                  <ns5:srgbClr val="0F6BFF"/>
                </ns5:solidFill>
                <ns5:latin typeface="Aptos"/>
              </ns5:defRPr>
            </ns5:lvl1pPr>
          </ns5:lstStyle>
          <ns6:p xmlns:ns6="http://schemas.openxmlformats.org/drawingml/2006/main">
            <ns6:r>
              <ns6:rPr lang="en-US"/>
              <ns6:t>EYEBROW</ns6:t>
            </ns6:r>
            <ns6:endParaRPr lang="en-US"/>
          </ns6:p>
        </ns0:txBody>
      </ns0:sp>
      <ns0:sp xmlns:ns0="http://schemas.openxmlformats.org/presentationml/2006/main">
        <ns0:nvSpPr>
          <ns0:cNvPr id="11" name="Title"/>
          <ns0:cNvSpPr>
            <ns1:spLocks xmlns:ns1="http://schemas.openxmlformats.org/drawingml/2006/main" noGrp="1"/>
          </ns0:cNvSpPr>
          <ns0:nvPr>
            <ns0:ph type="title" idx="2"/>
          </ns0:nvPr>
        </ns0:nvSpPr>
        <ns0:spPr>
          <ns2:xfrm xmlns:ns2="http://schemas.openxmlformats.org/drawingml/2006/main">
            <ns2:off x="1143000" y="2933700"/>
            <ns2:ext cx="16002000" cy="19050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lnSpc>
                <ns5:spcPct val="90000"/>
              </ns5:lnSpc>
              <ns5:buNone/>
              <ns5:defRPr sz="6400" b="1">
                <ns5:solidFill>
                  <ns5:srgbClr val="000000"/>
                </ns5:solidFill>
                <ns5:latin typeface="Aptos Display"/>
              </ns5:defRPr>
            </ns5:lvl1pPr>
          </ns5:lstStyle>
          <ns6:p xmlns:ns6="http://schemas.openxmlformats.org/drawingml/2006/main">
            <ns6:r>
              <ns6:rPr lang="en-US"/>
              <ns6:t>Section title goes here.</ns6:t>
            </ns6:r>
            <ns6:endParaRPr lang="en-US"/>
          </ns6:p>
        </ns0:txBody>
      </ns0:sp>
      <ns0:sp xmlns:ns0="http://schemas.openxmlformats.org/presentationml/2006/main">
        <ns0:nvSpPr>
          <ns0:cNvPr id="12" name="Body"/>
          <ns0:cNvSpPr>
            <ns1:spLocks xmlns:ns1="http://schemas.openxmlformats.org/drawingml/2006/main" noGrp="1"/>
          </ns0:cNvSpPr>
          <ns0:nvPr>
            <ns0:ph type="body" idx="10"/>
          </ns0:nvPr>
        </ns0:nvSpPr>
        <ns0:spPr>
          <ns2:xfrm xmlns:ns2="http://schemas.openxmlformats.org/drawingml/2006/main">
            <ns2:off x="1143000" y="4953000"/>
            <ns2:ext cx="16002000" cy="43815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buNone/>
              <ns5:defRPr sz="2200">
                <ns5:solidFill>
                  <ns5:srgbClr val="000000"/>
                </ns5:solidFill>
                <ns5:latin typeface="Aptos"/>
              </ns5:defRPr>
            </ns5:lvl1pPr>
          </ns5:lstStyle>
          <ns6:p xmlns:ns6="http://schemas.openxmlformats.org/drawingml/2006/main">
            <ns6:r>
              <ns6:rPr lang="en-US"/>
              <ns6:t>Body text.</ns6:t>
            </ns6:r>
            <ns6:endParaRPr lang="en-US"/>
          </ns6:p>
        </ns0:txBody>
      </ns0:sp>
      <ns0:sp xmlns:ns0="http://schemas.openxmlformats.org/presentationml/2006/main">
        <ns0:nvSpPr>
          <ns0:cNvPr id="13" name="Footer"/>
          <ns0:cNvSpPr>
            <ns1:spLocks xmlns:ns1="http://schemas.openxmlformats.org/drawingml/2006/main" noGrp="1"/>
          </ns0:cNvSpPr>
          <ns0:nvPr/>
        </ns0:nvSpPr>
        <ns0:spPr>
          <ns2:xfrm xmlns:ns2="http://schemas.openxmlformats.org/drawingml/2006/main">
            <ns2:off x="1143000" y="9982200"/>
            <ns2:ext cx="16002000" cy="228600"/>
          </ns2:xfrm>
          <ns3:prstGeom xmlns:ns3="http://schemas.openxmlformats.org/drawingml/2006/main" prst="rect">
            <ns3:avLst/>
          </ns3:prstGeom>
        </ns0:spPr>
        <ns0:txBody>
          <ns4:bodyPr xmlns:ns4="http://schemas.openxmlformats.org/drawingml/2006/main" wrap="square" rtlCol="0" anchor="t" lIns="0" tIns="0" rIns="0" bIns="0"/>
          <ns5:lstStyle xmlns:ns5="http://schemas.openxmlformats.org/drawingml/2006/main">
            <ns5:lvl1pPr marL="0" indent="0" algn="l">
              <ns5:buNone/>
              <ns5:defRPr sz="900" cap="all" spc="50">
                <ns5:solidFill>
                  <ns5:srgbClr val="6B7280"/>
                </ns5:solidFill>
                <ns5:latin typeface="Aptos"/>
              </ns5:defRPr>
            </ns5:lvl1pPr>
          </ns5:lstStyle>
          <ns6:p xmlns:ns6="http://schemas.openxmlformats.org/drawingml/2006/main">
            <ns6:r>
              <ns6:rPr lang="en-US"/>
              <ns6:t>OPEN COMPONENT MODEL · OCM.SOFTWARE</ns6:t>
            </ns6:r>
            <ns6:endParaRPr lang="en-US"/>
          </ns6:p>
        </ns0:txBody>
      </ns0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Picture 5" descr="OCM-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Your supply chain has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algn="l"/>
            <a:r>
              <a:rPr>
                <a:solidFill>
                  <a:srgbClr val="FFFFFF"/>
                </a:solidFill>
              </a:rPr>
              <a:t/>
            </a:r>
            <a:r>
              <a:rPr>
                <a:gradFill flip="none" rotWithShape="1">
                  <a:gsLst>
                    <a:gs pos="0">
                      <a:srgbClr val="FFFFFF"/>
                    </a:gs>
                    <a:gs pos="35000">
                      <a:srgbClr val="5CD6FF"/>
                    </a:gs>
                    <a:gs pos="75000">
                      <a:srgbClr val="0F6BFF"/>
                    </a:gs>
                  </a:gsLst>
                  <a:lin ang="0" scaled="1"/>
                </a:gradFill>
              </a:rPr>
              <a:t>blind spots.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>
                <a:solidFill>
                  <a:srgbClr val="5CD6FF"/>
                </a:solidFill>
              </a:rPr>
              <a:t>Three minutes from now, you'll know what they are.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Open Component Model — open source, NeoNephos Foundation.</a:t>
            </a:r>
          </a:p>
        </p:txBody>
      </p:sp>
      <p:pic>
        <p:nvPicPr>
          <p:cNvPr id="7" name="Picture 6" descr="ocm-horizontal-white_4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029700"/>
            <a:ext cx="1905000" cy="723900"/>
          </a:xfrm>
          <a:prstGeom prst="rect">
            <a:avLst/>
          </a:prstGeom>
        </p:spPr>
      </p:pic>
      <p:pic>
        <p:nvPicPr>
          <p:cNvPr id="8" name="Picture 7" descr="neonephos-foundation-horizontal-white_4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33600" y="9258300"/>
            <a:ext cx="2540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WHY NOW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Sovereignty is no longer optional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SOVEREIGNTY PRESSURE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Wherever the law puts the boundary — by jurisdiction, sector, or air-gap — software must be deliverable, verifiable, and operable inside it.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REGULATION TIGHTENING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EU DORA · NIS2 · CRA. Provable supply-chain control, not best effort.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SUPPLY-CHAIN ATTACKS ARE REAL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SolarWinds. xz. log4shell. Signatures must survive the journey, or compliance is theatre.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ANSWER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Meet OCM. One identity, every boundary.</a:t>
            </a:r>
          </a:p>
        </p:txBody>
      </p:sp>
      <p:pic>
        <p:nvPicPr>
          <p:cNvPr id="4" name="Picture 3" descr="03-meet-ocm-hub-and-spoke_18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66775" y="4191000"/>
            <a:ext cx="18002250" cy="57340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SHIFT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SBOM lists. SBoD delivers.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>
                <a:solidFill>
                  <a:srgbClr val="0F6BFF"/>
                </a:solidFill>
              </a:rPr>
              <a:t>▪  </a:t>
            </a:r>
            <a:r>
              <a:rPr>
                <a:solidFill>
                  <a:srgbClr val="000000"/>
                </a:solidFill>
              </a:rPr>
              <a:t>An SBOM tells you what's in your software. It was built for inventory.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>
                <a:solidFill>
                  <a:srgbClr val="0F6BFF"/>
                </a:solidFill>
              </a:rPr>
              <a:t>▪  </a:t>
            </a:r>
            <a:r>
              <a:rPr>
                <a:solidFill>
                  <a:srgbClr val="000000"/>
                </a:solidFill>
              </a:rPr>
              <a:t>A Software Bill of Delivery (SBoD) tells you what you delivered, how to verify it, how to transport it, and how to operate it. It was built for delivery.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>
                <a:solidFill>
                  <a:srgbClr val="0F6BFF"/>
                </a:solidFill>
              </a:rPr>
              <a:t>▪  </a:t>
            </a:r>
            <a:r>
              <a:rPr>
                <a:solidFill>
                  <a:srgbClr val="000000"/>
                </a:solidFill>
              </a:rPr>
              <a:t>The SBoD contains the SBOM. OCM doesn't replace your SBOM tooling — it gives the SBOM an envelope that's compliance-native, signed once, and travels intact across any boundary.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SHIFT — SBOM INSIDE SBoD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An envelope, not a list.</a:t>
            </a:r>
          </a:p>
        </p:txBody>
      </p:sp>
      <p:pic>
        <p:nvPicPr>
          <p:cNvPr id="4" name="Picture 3" descr="04-sbom-inside-sbod_14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944" y="3952875"/>
            <a:ext cx="14056811" cy="63341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HOW OCM COMPOSES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OCM doesn't replace your tools. It gives them an envelope to compose around.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SIGNING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Keyless (Sigstore) or key-based (your PKI) signs one artifact at a time. OCM gives them the complete SBoD to sign — one signature covers every artifact in the delivery, by digest.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TRANSPORT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Helm registries, S3, OCI — each moves artifacts. OCM moves a signed envelope across any boundary: registry to registry, registry to air-gapped archive. The signature travels intact.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COMPLIANCE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Trivy, Grype, your SBOM tools — each scans in isolation. OCM (via Open Delivery Gear) correlates every finding by component identity. Compliance is a system output, not a quarterly project.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OCM IN ONE PICTURE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Pack · Sign · Transport · Deploy</a:t>
            </a:r>
          </a:p>
        </p:txBody>
      </p:sp>
      <p:pic>
        <p:nvPicPr>
          <p:cNvPr id="4" name="Picture 3" descr="05-pack-sign-transport-deploy-v2_17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381500"/>
            <a:ext cx="16764000" cy="47148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SOVEREIGN-READY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Trust, but verify.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>
                <a:solidFill>
                  <a:srgbClr val="0F6BFF"/>
                </a:solidFill>
              </a:rPr>
              <a:t>▪  </a:t>
            </a:r>
            <a:r>
              <a:rPr>
                <a:solidFill>
                  <a:srgbClr val="000000"/>
                </a:solidFill>
              </a:rPr>
              <a:t>Identity is location-independent. A component carries its name regardless of which registry it lives in.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>
                <a:solidFill>
                  <a:srgbClr val="0F6BFF"/>
                </a:solidFill>
              </a:rPr>
              <a:t>▪  </a:t>
            </a:r>
            <a:r>
              <a:rPr>
                <a:solidFill>
                  <a:srgbClr val="000000"/>
                </a:solidFill>
              </a:rPr>
              <a:t>Signatures are location-independent. Sign once at source; verify at the destination, or at any hop in between, with no callback upstream.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>
                <a:solidFill>
                  <a:srgbClr val="0F6BFF"/>
                </a:solidFill>
              </a:rPr>
              <a:t>▪  </a:t>
            </a:r>
            <a:r>
              <a:rPr>
                <a:solidFill>
                  <a:srgbClr val="000000"/>
                </a:solidFill>
              </a:rPr>
              <a:t>Day-2 ops happen inside the boundary. Subscribe to the component and pull upgrades on your schedule, scale across regions, all without reaching back upstream.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>
                <a:solidFill>
                  <a:srgbClr val="0F6BFF"/>
                </a:solidFill>
              </a:rPr>
              <a:t>▪  </a:t>
            </a:r>
            <a:r>
              <a:rPr>
                <a:solidFill>
                  <a:srgbClr val="000000"/>
                </a:solidFill>
              </a:rPr>
              <a:t>On transfer into a sovereign environment, a component can carry every artifact it needs along with it. The destination needs nothing more.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SOVEREIGN-READY — AIR-GAP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Trust travels with the component.</a:t>
            </a:r>
          </a:p>
        </p:txBody>
      </p:sp>
      <p:pic>
        <p:nvPicPr>
          <p:cNvPr id="4" name="Picture 3" descr="06-sovereign-airgap_15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149" y="3686175"/>
            <a:ext cx="13326226" cy="63341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SCAN — COMPLIANCE-NATIVE WITH OPEN DELIVERY GEAR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Compliance as a system property —</a:t>
            </a:r>
          </a:p>
          <a:p>
            <a:r>
              <a:t>not a quarterly retrofit.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>
                <a:solidFill>
                  <a:srgbClr val="0F6BFF"/>
                </a:solidFill>
              </a:rPr>
              <a:t>▪  </a:t>
            </a:r>
            <a:r>
              <a:rPr>
                <a:solidFill>
                  <a:srgbClr val="000000"/>
                </a:solidFill>
              </a:rPr>
              <a:t>Open Delivery Gear (ODG) is the OCM compliance automation engine.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>
                <a:solidFill>
                  <a:srgbClr val="0F6BFF"/>
                </a:solidFill>
              </a:rPr>
              <a:t>▪  </a:t>
            </a:r>
            <a:r>
              <a:rPr>
                <a:solidFill>
                  <a:srgbClr val="000000"/>
                </a:solidFill>
              </a:rPr>
              <a:t>The Compliance Dashboard is your entry point: every component, every finding, every signature in one view.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>
                <a:solidFill>
                  <a:srgbClr val="0F6BFF"/>
                </a:solidFill>
              </a:rPr>
              <a:t>▪  </a:t>
            </a:r>
            <a:r>
              <a:rPr>
                <a:solidFill>
                  <a:srgbClr val="000000"/>
                </a:solidFill>
              </a:rPr>
              <a:t>Continuous scans run asynchronously — even after release.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>
                <a:solidFill>
                  <a:srgbClr val="0F6BFF"/>
                </a:solidFill>
              </a:rPr>
              <a:t>▪  </a:t>
            </a:r>
            <a:r>
              <a:rPr>
                <a:solidFill>
                  <a:srgbClr val="000000"/>
                </a:solidFill>
              </a:rPr>
              <a:t>Findings get rescored against contextual risk, so your team patches what actually matters.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>
                <a:solidFill>
                  <a:srgbClr val="0F6BFF"/>
                </a:solidFill>
              </a:rPr>
              <a:t>▪  </a:t>
            </a:r>
            <a:r>
              <a:rPr>
                <a:solidFill>
                  <a:srgbClr val="000000"/>
                </a:solidFill>
              </a:rPr>
              <a:t>Every compliance signal correlates by component identity. Auditors get evidence, not spreadsheets.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OCM UNLOCKS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One model unlocks all of this.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Code signing across stacks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Sign once at source; verify everywhere, with no per-stack tooling.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Air-gapped delivery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Walk a complete component across an air gap; verify at destination.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Kubernetes-native deployment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OCM controllers deploy components directly into clusters.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r>
              <a:t>Asynchronous security scans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r>
              <a:t>Continuous scanning, even after release; findings tied to component identity.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t>One source of truth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r>
              <a:t>Rebuild any landscape from a single signed descriptor.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Automated compliance reporting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Reports composed from SBoD metadata — no spreadsheet drift.</a:t>
            </a:r>
          </a:p>
        </p:txBody>
      </p:sp>
      <p:pic>
        <p:nvPicPr>
          <p:cNvPr id="16" name="Picture 15" descr="lock_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5181600"/>
            <a:ext cx="381000" cy="381000"/>
          </a:xfrm>
          <a:prstGeom prst="rect">
            <a:avLst/>
          </a:prstGeom>
        </p:spPr>
      </p:pic>
      <p:pic>
        <p:nvPicPr>
          <p:cNvPr id="17" name="Picture 16" descr="cloud-upload_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5181600"/>
            <a:ext cx="381000" cy="381000"/>
          </a:xfrm>
          <a:prstGeom prst="rect">
            <a:avLst/>
          </a:prstGeom>
        </p:spPr>
      </p:pic>
      <p:pic>
        <p:nvPicPr>
          <p:cNvPr id="18" name="Picture 17" descr="rocket_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0" y="5181600"/>
            <a:ext cx="381000" cy="381000"/>
          </a:xfrm>
          <a:prstGeom prst="rect">
            <a:avLst/>
          </a:prstGeom>
        </p:spPr>
      </p:pic>
      <p:pic>
        <p:nvPicPr>
          <p:cNvPr id="19" name="Picture 18" descr="radar_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7600950"/>
            <a:ext cx="381000" cy="381000"/>
          </a:xfrm>
          <a:prstGeom prst="rect">
            <a:avLst/>
          </a:prstGeom>
        </p:spPr>
      </p:pic>
      <p:pic>
        <p:nvPicPr>
          <p:cNvPr id="20" name="Picture 19" descr="source-of-truth_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1800" y="7600950"/>
            <a:ext cx="381000" cy="381000"/>
          </a:xfrm>
          <a:prstGeom prst="rect">
            <a:avLst/>
          </a:prstGeom>
        </p:spPr>
      </p:pic>
      <p:pic>
        <p:nvPicPr>
          <p:cNvPr id="21" name="Picture 20" descr="report-analytics_7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92000" y="7600950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TRUSTED IN PRODUCTION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Aligned with NeoNephos.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857750"/>
            <a:ext cx="160020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 cap="all" spc="110">
                <a:solidFill>
                  <a:srgbClr val="0F6BFF"/>
                </a:solidFill>
                <a:latin typeface="Aptos"/>
              </a:rPr>
              <a:t>ADOPTED BY ENTERPRISES SHIPPING INTO REGULATED ENVIRONMENTS</a:t>
            </a:r>
          </a:p>
        </p:txBody>
      </p:sp>
      <p:pic>
        <p:nvPicPr>
          <p:cNvPr id="5" name="Picture 4" descr="sap-horizontal-color_640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201" y="5715000"/>
            <a:ext cx="1538422" cy="762000"/>
          </a:xfrm>
          <a:prstGeom prst="rect">
            <a:avLst/>
          </a:prstGeom>
        </p:spPr>
      </p:pic>
      <p:pic>
        <p:nvPicPr>
          <p:cNvPr id="6" name="Picture 5" descr="bwi-horizontal-color_640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7603" y="5715000"/>
            <a:ext cx="1643269" cy="762000"/>
          </a:xfrm>
          <a:prstGeom prst="rect">
            <a:avLst/>
          </a:prstGeom>
        </p:spPr>
      </p:pic>
      <p:pic>
        <p:nvPicPr>
          <p:cNvPr id="7" name="Picture 6" descr="sap-ns2-getlogovector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6673" y="5715000"/>
            <a:ext cx="2558778" cy="76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000" y="7048500"/>
            <a:ext cx="160020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 cap="all" spc="110">
                <a:solidFill>
                  <a:srgbClr val="0F6BFF"/>
                </a:solidFill>
                <a:latin typeface="Aptos"/>
              </a:rPr>
              <a:t>BUILT INTO THE OPEN-SOURCE ECOSYSTEM</a:t>
            </a:r>
          </a:p>
        </p:txBody>
      </p:sp>
      <p:pic>
        <p:nvPicPr>
          <p:cNvPr id="9" name="Picture 8" descr="gardener-horizontal-color_640_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8412" y="7955322"/>
            <a:ext cx="3048000" cy="662855"/>
          </a:xfrm>
          <a:prstGeom prst="rect">
            <a:avLst/>
          </a:prstGeom>
        </p:spPr>
      </p:pic>
      <p:pic>
        <p:nvPicPr>
          <p:cNvPr id="10" name="Picture 9" descr="konfidence-horizontal-light_640_cr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5237" y="8134848"/>
            <a:ext cx="3048000" cy="303803"/>
          </a:xfrm>
          <a:prstGeom prst="rect">
            <a:avLst/>
          </a:prstGeom>
        </p:spPr>
      </p:pic>
      <p:pic>
        <p:nvPicPr>
          <p:cNvPr id="11" name="Picture 10" descr="platform-mesh-horizontal-color_640_cro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92062" y="7922419"/>
            <a:ext cx="3048000" cy="7286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43000" y="9239250"/>
            <a:ext cx="160020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>
                <a:solidFill>
                  <a:srgbClr val="0A3A99"/>
                </a:solidFill>
                <a:latin typeface="Aptos"/>
              </a:rPr>
              <a:t>An open standard, neutrally governed — your stack stays portable, your dependencies stay yours.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Start delivering with confidence.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b="1">
                <a:solidFill>
                  <a:srgbClr val="5CD6FF"/>
                </a:solidFill>
              </a:rPr>
              <a:t>Try it</a:t>
            </a:r>
            <a:r>
              <a:rPr>
                <a:solidFill>
                  <a:srgbClr val="FFFFFF"/>
                </a:solidFill>
              </a:rPr>
              <a:t> — ocm.software</a:t>
            </a:r>
          </a:p>
          <a:p>
            <a:r>
              <a:rPr b="1">
                <a:solidFill>
                  <a:srgbClr val="5CD6FF"/>
                </a:solidFill>
              </a:rPr>
              <a:t>Build with us</a:t>
            </a:r>
            <a:r>
              <a:rPr>
                <a:solidFill>
                  <a:srgbClr val="FFFFFF"/>
                </a:solidFill>
              </a:rPr>
              <a:t> — github.com/open-component-model</a:t>
            </a:r>
          </a:p>
          <a:p>
            <a:r>
              <a:rPr b="1">
                <a:solidFill>
                  <a:srgbClr val="5CD6FF"/>
                </a:solidFill>
              </a:rPr>
              <a:t>Talk to us</a:t>
            </a:r>
            <a:r>
              <a:rPr>
                <a:solidFill>
                  <a:srgbClr val="FFFFFF"/>
                </a:solidFill>
              </a:rPr>
              <a:t> — community channels on the website</a:t>
            </a:r>
          </a:p>
        </p:txBody>
      </p:sp>
      <p:pic>
        <p:nvPicPr>
          <p:cNvPr id="4" name="Picture 3" descr="ocm-horizontal-white_4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029700"/>
            <a:ext cx="1905000" cy="723900"/>
          </a:xfrm>
          <a:prstGeom prst="rect">
            <a:avLst/>
          </a:prstGeom>
        </p:spPr>
      </p:pic>
      <p:pic>
        <p:nvPicPr>
          <p:cNvPr id="5" name="Picture 4" descr="neonephos-foundation-horizontal-white_4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3600" y="9258300"/>
            <a:ext cx="2540000" cy="495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CM">
  <a:themeElements>
    <a:clrScheme name="OCM">
      <a:dk1>
        <a:srgbClr val="000000"/>
      </a:dk1>
      <a:lt1>
        <a:srgbClr val="FFFFFF"/>
      </a:lt1>
      <a:dk2>
        <a:srgbClr val="0A3A99"/>
      </a:dk2>
      <a:lt2>
        <a:srgbClr val="F3F4F6"/>
      </a:lt2>
      <a:accent1>
        <a:srgbClr val="0F6BFF"/>
      </a:accent1>
      <a:accent2>
        <a:srgbClr val="0A3A99"/>
      </a:accent2>
      <a:accent3>
        <a:srgbClr val="5CD6FF"/>
      </a:accent3>
      <a:accent4>
        <a:srgbClr val="6B7280"/>
      </a:accent4>
      <a:accent5>
        <a:srgbClr val="0A1530"/>
      </a:accent5>
      <a:accent6>
        <a:srgbClr val="F3F4F6"/>
      </a:accent6>
      <a:hlink>
        <a:srgbClr val="0F6BFF"/>
      </a:hlink>
      <a:folHlink>
        <a:srgbClr val="0A3A99"/>
      </a:folHlink>
    </a:clrScheme>
    <a:fontScheme name="OCM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</a:schemeClr>
            </a:gs>
            <a:gs pos="50000">
              <a:schemeClr val="phClr">
                <a:tint val="98000"/>
                <a:satMod val="130000"/>
                <a:shade val="9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