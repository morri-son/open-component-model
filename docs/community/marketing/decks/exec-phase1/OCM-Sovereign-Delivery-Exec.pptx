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590675"/>
            <ns2:ext cx="14287500" cy="1762125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2876550"/>
            <ns2:ext cx="14287500" cy="1762125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72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133975"/>
            <ns2:ext cx="15087600" cy="676275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210300"/>
            <ns2:ext cx="14287500" cy="5524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0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762000" y="1714500"/>
            <ns2:ext cx="16764000" cy="2667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400" b="1" cap="all" spc="11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762000" y="2057400"/>
            <ns2:ext cx="16764000" cy="10477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762000" y="3810000"/>
            <ns1:ext cx="5381625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762000" y="4076700"/>
            <ns2:ext cx="5381625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762000" y="4533900"/>
            <ns2:ext cx="5381625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448425" y="3810000"/>
            <ns1:ext cx="5381625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448425" y="4076700"/>
            <ns2:ext cx="5381625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448425" y="4533900"/>
            <ns2:ext cx="5381625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34850" y="3810000"/>
            <ns1:ext cx="5381625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34850" y="4076700"/>
            <ns2:ext cx="5381625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34850" y="4533900"/>
            <ns2:ext cx="5381625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762000" y="9982200"/>
            <ns2:ext cx="16764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762000" y="1714500"/>
            <ns2:ext cx="16764000" cy="2667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762000" y="2057400"/>
            <ns2:ext cx="16764000" cy="10477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762000" y="4191000"/>
            <ns2:ext cx="16764000" cy="514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762000" y="9982200"/>
            <ns2:ext cx="16764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762000" y="1714500"/>
            <ns2:ext cx="16764000" cy="2667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762000" y="2057400"/>
            <ns2:ext cx="16764000" cy="10477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762000" y="381000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762000" y="381000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990600" y="464820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990600" y="499110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419850" y="381000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419850" y="381000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648450" y="464820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648450" y="499110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2077700" y="381000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2077700" y="381000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306300" y="464820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306300" y="499110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762000" y="661035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762000" y="661035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990600" y="744855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990600" y="779145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419850" y="661035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419850" y="661035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648450" y="744855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648450" y="779145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2077700" y="6610350"/>
            <ns1:ext cx="5429250" cy="2571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2077700" y="6610350"/>
            <ns1:ext cx="542925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306300" y="7448550"/>
            <ns2:ext cx="497205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306300" y="7791450"/>
            <ns2:ext cx="4972050" cy="1238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762000" y="9982200"/>
            <ns2:ext cx="16764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762000" y="1714500"/>
            <ns2:ext cx="16764000" cy="2667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762000" y="2057400"/>
            <ns2:ext cx="16764000" cy="10477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762000" y="3810000"/>
            <ns2:ext cx="8382000" cy="5524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3810000"/>
            <ns2:ext cx="8382000" cy="5524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762000" y="9982200"/>
            <ns2:ext cx="16764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762000" y="1714500"/>
            <ns2:ext cx="16764000" cy="2667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762000" y="2057400"/>
            <ns2:ext cx="16764000" cy="10477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762000" y="3810000"/>
            <ns2:ext cx="16764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762000" y="9982200"/>
            <ns2:ext cx="16764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Secure Delivery for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>Sovereign </a:t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Clouds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Deliver and deploy your software securely. Anywhere, at any scale.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 — V1 · SOVEREIGNTY-LED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GDPR.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Software delivery is fragmented.</a:t>
            </a:r>
          </a:p>
          <a:p>
            <a:r>
              <a:t>Compliance retrofits don't scale.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  <p:pic>
        <p:nvPicPr>
          <p:cNvPr id="5" name="Picture 4" descr="03-fragmented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191000"/>
            <a:ext cx="1175657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An SBOM tells you what's in your software. It was built for inventory.</a:t>
            </a:r>
          </a:p>
          <a:p>
            <a:r>
              <a:t>A Software Bill of Delivery (SBoD) tells you what you delivered, how to verify it, how to transport it, and how to operate it. It was built for delivery.</a:t>
            </a:r>
          </a:p>
          <a:p>
            <a: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/>
        </p:txBody>
      </p:sp>
      <p:pic>
        <p:nvPicPr>
          <p:cNvPr id="6" name="Picture 5" descr="04-sbom-inside-sbod_8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0" y="3810000"/>
            <a:ext cx="8191500" cy="36861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  <p:pic>
        <p:nvPicPr>
          <p:cNvPr id="5" name="Picture 4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1910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• Identity is location-independent. A component carries its name regardless of which registry it lives in.</a:t>
            </a:r>
          </a:p>
          <a:p>
            <a:r>
              <a:t>• Signatures are location-independent. Sign once at source; verify at the destination, or at any hop in between, with no callback upstream.</a:t>
            </a:r>
          </a:p>
          <a:p>
            <a:r>
              <a:t>• Day-2 ops happen inside the boundary. Subscribe to the component and pull upgrades on your schedule, scale across regions, all without reaching back upstream.</a:t>
            </a:r>
          </a:p>
          <a:p>
            <a:r>
              <a:t>• On transfer into a sovereign environment, a component can carry every artifact it needs along with it. The destination needs nothing more.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/>
        </p:txBody>
      </p:sp>
      <p:pic>
        <p:nvPicPr>
          <p:cNvPr id="6" name="Picture 5" descr="06-sovereign-airgap_8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0" y="3810000"/>
            <a:ext cx="8191500" cy="3590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project.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• Open Delivery Gear (ODG) is OCM's compliance automation engine.</a:t>
            </a:r>
          </a:p>
          <a:p>
            <a:r>
              <a:t>• The Compliance Dashboard is your entry point: every component, every finding, every signature in one view.</a:t>
            </a:r>
          </a:p>
          <a:p>
            <a:r>
              <a:t>• Continuous scans run asynchronously — even after release.</a:t>
            </a:r>
          </a:p>
          <a:p>
            <a:r>
              <a:t>• Findings get rescored against contextual risk, so your team patches what actually matters.</a:t>
            </a:r>
          </a:p>
          <a:p>
            <a:r>
              <a:t>• 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4038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4038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6300" y="4038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6838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8450" y="6838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06300" y="6838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619500"/>
            <a:ext cx="16764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6" name="Picture 5" descr="sap-horizontal-color_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898" y="4095750"/>
            <a:ext cx="1923029" cy="952500"/>
          </a:xfrm>
          <a:prstGeom prst="rect">
            <a:avLst/>
          </a:prstGeom>
        </p:spPr>
      </p:pic>
      <p:pic>
        <p:nvPicPr>
          <p:cNvPr id="7" name="Picture 6" descr="bwi-horizontal-color_6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568" y="4095750"/>
            <a:ext cx="1679338" cy="952500"/>
          </a:xfrm>
          <a:prstGeom prst="rect">
            <a:avLst/>
          </a:prstGeom>
        </p:spPr>
      </p:pic>
      <p:pic>
        <p:nvPicPr>
          <p:cNvPr id="8" name="Picture 7" descr="sap-ns2-getlogov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58812" y="4095750"/>
            <a:ext cx="1714500" cy="952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5905500"/>
            <a:ext cx="16764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10" name="Picture 9" descr="gardener-horizontal-color_6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6422231"/>
            <a:ext cx="3048000" cy="871538"/>
          </a:xfrm>
          <a:prstGeom prst="rect">
            <a:avLst/>
          </a:prstGeom>
        </p:spPr>
      </p:pic>
      <p:pic>
        <p:nvPicPr>
          <p:cNvPr id="11" name="Picture 10" descr="konfidence-horizontal-light_6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6679406"/>
            <a:ext cx="3048000" cy="357188"/>
          </a:xfrm>
          <a:prstGeom prst="rect">
            <a:avLst/>
          </a:prstGeom>
        </p:spPr>
      </p:pic>
      <p:pic>
        <p:nvPicPr>
          <p:cNvPr id="12" name="Picture 11" descr="platform-mesh-horizontal-color_6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6493669"/>
            <a:ext cx="3048000" cy="7286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8191500"/>
            <a:ext cx="16764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Try it — ocm.software</a:t>
            </a:r>
          </a:p>
          <a:p>
            <a:r>
              <a:rPr>
                <a:solidFill>
                  <a:srgbClr val="FFFFFF"/>
                </a:solidFill>
              </a:rPr>
              <a:t>Build with us — github.com/open-component-model</a:t>
            </a:r>
          </a:p>
          <a:p>
            <a:r>
              <a:rPr>
                <a:solidFill>
                  <a:srgbClr val="FFFFFF"/>
                </a:solidFill>
              </a:rPr>
              <a:t>Talk to us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