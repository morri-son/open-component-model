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"Your supply chain has / blind spots." (Gradient on "blind spots".) Subtitle: "Three minutes from now, you'll know what they are."</a:t>
            </a:r>
          </a:p>
          <a:p/>
          <a:p>
            <a:r>
              <a:t>**Speaker notes.**</a:t>
            </a:r>
          </a:p>
          <a:p/>
          <a:p>
            <a:r>
              <a:t>Open with the observation, not the company. People are tired of being sold to.</a:t>
            </a:r>
          </a:p>
          <a:p/>
          <a:p>
            <a:r>
              <a:t>&gt; "Software stopped being a thing you build and started being a thing you transport. Across registries, across borders, across air gaps. And every boundary it crosses, somebody asks: is this still the artifact you signed?"</a:t>
            </a:r>
          </a:p>
          <a:p/>
          <a:p>
            <a:r>
              <a:t>Pause. Let that land.</a:t>
            </a:r>
          </a:p>
          <a:p/>
          <a:p>
            <a:r>
              <a:t>&gt; "I'm here for fifteen minutes to show you what we've built so that question has a clean answer. It's called OCM — the Open Component Model. It's open source, governed by the NeoNephos Foundation. SAP stewards it; we're not selling it."</a:t>
            </a:r>
          </a:p>
          <a:p/>
          <a:p>
            <a:r>
              <a:t>Move on. Don't dwell on the brand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Three columns: IDENTITY DRIFT / NO RELEASE ENVELOPE / UNVERIFIED ARRIVAL. Subtitle: "Where today's delivery model can't see."</a:t>
            </a:r>
          </a:p>
          <a:p/>
          <a:p>
            <a:r>
              <a:t>**Speaker notes.**</a:t>
            </a:r>
          </a:p>
          <a:p/>
          <a:p>
            <a:r>
              <a:t>Discharge the contract you just made on slide 1. Three picturable failures the audience can recognise in their own delivery chain. The slide is intentionally sparse — let the audience read; you fill in the colour.</a:t>
            </a:r>
          </a:p>
          <a:p/>
          <a:p>
            <a:r>
              <a:t>&gt; "Three blind spots. Each one is a place the current model literally cannot see."</a:t>
            </a:r>
          </a:p>
          <a:p/>
          <a:p>
            <a:r>
              <a:t>**Column 1 — Identity drift.** "You signed an artifact at source. Then it moved — to a mirror, to a customer's registry, into an air gap. Each of those transfers changed its reference, because location is part of the name. Downstream verifies a reference you never signed — and most chains don't notice."</a:t>
            </a:r>
          </a:p>
          <a:p/>
          <a:p>
            <a:r>
              <a:t>**Column 2 — No release envelope.** "A release is twelve things — images, charts, configs, manifests, an SBOM. Today, those get signed separately, if at all. So when a regulator asks for proof that *the release* is what you said it is, you hand them twelve signatures and an explanation."</a:t>
            </a:r>
          </a:p>
          <a:p/>
          <a:p>
            <a:r>
              <a:t>**Column 3 — Unverified arrival.** "Sovereign-cloud and regulated environments forbid upstream traffic. So either verification ships with the release, or it doesn't happen. In most chains, it doesn't — and the gap shows up at audit time."</a:t>
            </a:r>
          </a:p>
          <a:p/>
          <a:p>
            <a:r>
              <a:t>&gt; "Those are the blind spots. Now — why now."</a:t>
            </a:r>
          </a:p>
          <a:p/>
          <a:p>
            <a:r>
              <a:t>Hand off to slide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Three columns: SOVEREIGNTY PRESSURE / REGULATION TIGHTENING / SUPPLY-CHAIN ATTACKS ARE REAL. Subtitle: "Sovereignty is no longer optional."</a:t>
            </a:r>
          </a:p>
          <a:p/>
          <a:p>
            <a:r>
              <a:t>**Speaker notes.**</a:t>
            </a:r>
          </a:p>
          <a:p/>
          <a:p>
            <a:r>
              <a:t>Don't read the columns. Frame them. The audience has just been shown what is broken; now name why it matters this quarter, not next year.</a:t>
            </a:r>
          </a:p>
          <a:p/>
          <a:p>
            <a:r>
              <a:t>&gt; "Three things are converging right now, and they're not going away."</a:t>
            </a:r>
          </a:p>
          <a:p/>
          <a:p>
            <a:r>
              <a:t>**Column 1 — Sovereignty pressure.** "The law draws boundaries — by jurisdiction, by sector, by air-gap.</a:t>
            </a:r>
          </a:p>
          <a:p>
            <a:r>
              <a:t>Software must be deliverable inside each one. If your delivery model can't survive 'no callback to source' inside</a:t>
            </a:r>
          </a:p>
          <a:p>
            <a:r>
              <a:t>a regulated environment, you're not in those markets anymore."</a:t>
            </a:r>
          </a:p>
          <a:p/>
          <a:p>
            <a:r>
              <a:t>**Column 2 — Regulation tightening.** "EU DORA, NIS2, CRA — all want provable supply-chain control.</a:t>
            </a:r>
          </a:p>
          <a:p>
            <a:r>
              <a:t>Not 'best effort'. Provable. Machine-readable evidence, at the artifact level, traceable end-to-end."</a:t>
            </a:r>
          </a:p>
          <a:p/>
          <a:p>
            <a:r>
              <a:t>**Column 3 — Supply-chain attacks.** "SolarWinds. xz. log4shell.</a:t>
            </a:r>
          </a:p>
          <a:p>
            <a:r>
              <a:t>These weren't theoretical risks — they were live in production.</a:t>
            </a:r>
          </a:p>
          <a:p>
            <a:r>
              <a:t>The lesson the industry took: signatures must survive the journey, or compliance is theatre."</a:t>
            </a:r>
          </a:p>
          <a:p/>
          <a:p>
            <a:r>
              <a:t>&gt; "This is what's pushing the industry toward something different. Not faster pipelines. Different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Hub-and-spoke diagram. OCM in the centre. Artifacts on the left (OCI / Helm / npm / Binary / Config / any artifact type). Boundaries on the right (EU / US / Sovereign Cloud). Compliance frameworks at the bottom (DORA / NIS2 / CRA).</a:t>
            </a:r>
          </a:p>
          <a:p/>
          <a:p>
            <a:r>
              <a:t>**Speaker notes.**</a:t>
            </a:r>
          </a:p>
          <a:p/>
          <a:p>
            <a:r>
              <a:t>Wait two seconds before talking. Let people read the diagram.</a:t>
            </a:r>
          </a:p>
          <a:p/>
          <a:p>
            <a:r>
              <a:t>&gt; "OCM is one model that ties three things together — your artifacts, your deployment boundaries, and the regulations you're delivering against."</a:t>
            </a:r>
          </a:p>
          <a:p/>
          <a:p>
            <a:r>
              <a:t>&gt; "On the left: every artifact type. Container images, Helm charts, configuration files, binaries. OCM doesn't care what shape your software comes in."</a:t>
            </a:r>
          </a:p>
          <a:p/>
          <a:p>
            <a:r>
              <a:t>&gt; "On the right: every boundary. EU, US, sovereign cloud, customer-owned. Same identity, same signature, regardless of where the component lives."</a:t>
            </a:r>
          </a:p>
          <a:p/>
          <a:p>
            <a:r>
              <a:t>&gt; "And underneath: every compliance regime. DORA, NIS2, CRA — plus the sector-specific ones. OCM gives you the evidence model the regulators are asking for."</a:t>
            </a:r>
          </a:p>
          <a:p/>
          <a:p>
            <a:r>
              <a:t>&gt; "Meet OCM. One identity, every boundary."</a:t>
            </a:r>
          </a:p>
          <a:p/>
          <a:p>
            <a:r>
              <a:t>That's the headline. Move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Title: THE SHIFT. Subtitle: "SBOM lists. SBOD delivers." Three bullets.</a:t>
            </a:r>
          </a:p>
          <a:p/>
          <a:p>
            <a:r>
              <a:t>**Speaker notes.**</a:t>
            </a:r>
          </a:p>
          <a:p/>
          <a:p>
            <a:r>
              <a:t>This slide does the conceptual work the rest of the deck builds on. Slow down here.</a:t>
            </a:r>
          </a:p>
          <a:p/>
          <a:p>
            <a:r>
              <a:t>&gt; "There's a category shift happening in how we think about delivery. SBOMs — Software Bills of Materials — were designed for inventory. They tell you what's inside a piece of software. That's useful, but it's not enough."</a:t>
            </a:r>
          </a:p>
          <a:p/>
          <a:p>
            <a:r>
              <a:t>&gt; "A Software Bill of Delivery — SBOD — tells you what you actually delivered. How to verify it, how to transport it, how to operate it. The container images, the Helm chart, the configuration, the manifest of how to deploy."</a:t>
            </a:r>
          </a:p>
          <a:p/>
          <a:p>
            <a:r>
              <a:t>&gt; "An SBOM lists. An SBOD delivers. The SBOM lives inside the SBOD."</a:t>
            </a:r>
          </a:p>
          <a:p/>
          <a:p>
            <a:r>
              <a:t>Read the third bullet only if the audience is reading it. Otherwise paraphrase:</a:t>
            </a:r>
          </a:p>
          <a:p/>
          <a:p>
            <a:r>
              <a:t>&gt; "The point is: OCM doesn't replace your SBOM tooling. It gives the SBOM an envelope."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SBOD diagram: artifact list (Docker images, Helm charts, K8s manifests, config files, SBOM) on the left, signature bracket on the right with "One digest covers all." Component identity (`github.com/acme/webshop:v1.0.0`) at the top.</a:t>
            </a:r>
          </a:p>
          <a:p/>
          <a:p>
            <a:r>
              <a:t>**Speaker notes.**</a:t>
            </a:r>
          </a:p>
          <a:p/>
          <a:p>
            <a:r>
              <a:t>The diagram is the point. Don't talk over it.</a:t>
            </a:r>
          </a:p>
          <a:p/>
          <a:p>
            <a:r>
              <a:t>&gt; "Visually: this is what an SBOD contains. Container images, charts, manifests, configs, the SBOM itself. One signed envelope. One identity at the top. Everything you delivered."</a:t>
            </a:r>
          </a:p>
          <a:p/>
          <a:p>
            <a:r>
              <a:t>Pause. Let people look.</a:t>
            </a:r>
          </a:p>
          <a:p/>
          <a:p>
            <a:r>
              <a:t>&gt; "If you take one thing from this talk, take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Three columns: SIGNING / TRANSPORT / COMPLIANCE. Each is two lines — "what you have today" then "what OCM adds".</a:t>
            </a:r>
          </a:p>
          <a:p/>
          <a:p>
            <a:r>
              <a:t>**Speaker notes.**</a:t>
            </a:r>
          </a:p>
          <a:p/>
          <a:p>
            <a:r>
              <a:t>This is the objection-handling slide. Almost everyone in the room is thinking "we already have signing / registries / scanners". Address that head-on.</a:t>
            </a:r>
          </a:p>
          <a:p/>
          <a:p>
            <a:r>
              <a:t>&gt; "I want to disarm something. You probably hear me say 'OCM' and think — we already have signing. We have registries. We have scanners. Why do I need another thing?"</a:t>
            </a:r>
          </a:p>
          <a:p/>
          <a:p>
            <a:r>
              <a:t>&gt; "OCM doesn't replace any of that. OCM composes around what you already have."</a:t>
            </a:r>
          </a:p>
          <a:p/>
          <a:p>
            <a:r>
              <a:t>**Walk through the columns. One sentence each. The slide gives you setup; you deliver the punchline.**</a:t>
            </a:r>
          </a:p>
          <a:p/>
          <a:p>
            <a:r>
              <a:t>&gt; "Signing: you sign artifacts today. OCM signs the release as a whole — one signature, every digest. So the signature you check at the destination is one check, not twelve."</a:t>
            </a:r>
          </a:p>
          <a:p/>
          <a:p>
            <a:r>
              <a:t>&gt; "Transport: your registries differ — by vendor, by location, sometimes air-gapped archives. OCM moves the release across all of them. The identity stays."</a:t>
            </a:r>
          </a:p>
          <a:p/>
          <a:p>
            <a:r>
              <a:t>&gt; "Compliance: your scanners look at one artifact at a time. OCM correlates findings to the release. Compliance becomes continuous — not a project that starts every quarter."</a:t>
            </a:r>
          </a:p>
          <a:p/>
          <a:p>
            <a:r>
              <a:t>&gt; "Same tools. New connective tissue."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Pack · Sign · Transport · Deploy → Sovereign Cloud diagram.</a:t>
            </a:r>
          </a:p>
          <a:p/>
          <a:p>
            <a:r>
              <a:t>**Speaker notes.**</a:t>
            </a:r>
          </a:p>
          <a:p/>
          <a:p>
            <a:r>
              <a:t>Big diagram, four verbs, this is the demo replacement.</a:t>
            </a:r>
          </a:p>
          <a:p/>
          <a:p>
            <a:r>
              <a:t>&gt; "Here's the whole flow on one slide. Four verbs."</a:t>
            </a:r>
          </a:p>
          <a:p/>
          <a:p>
            <a:r>
              <a:t>**Point at PACK.** "Pack. You bundle whatever your software actually needs — the image, the chart, the config — into one named, versioned component. One source of truth."</a:t>
            </a:r>
          </a:p>
          <a:p/>
          <a:p>
            <a:r>
              <a:t>**Point at SIGN.** "Sign. One signature covers every artifact in the bundle. By digest. So if anything changes, the signature breaks."</a:t>
            </a:r>
          </a:p>
          <a:p/>
          <a:p>
            <a:r>
              <a:t>**Point at TRANSPORT.** "Transport. The component moves across registry boundaries. Cloud to cloud, region to region, even into an air-gapped archive — without the signature breaking."</a:t>
            </a:r>
          </a:p>
          <a:p/>
          <a:p>
            <a:r>
              <a:t>**Point at DEPLOY.** "Deploy. At the destination, the receiver verifies the signature, unpacks the bundle, deploys it. GitOps or OCM K8s controllers — your choice. No callback upstream."</a:t>
            </a:r>
          </a:p>
          <a:p/>
          <a:p>
            <a:r>
              <a:t>&gt; "Pack, sign, transport, deploy. That's OCM in operation."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Title: SOVEREIGN-READY. Subtitle: "Trust, but verify." Four bullets, each anchor + characterisation + consequence.</a:t>
            </a:r>
          </a:p>
          <a:p/>
          <a:p>
            <a:r>
              <a:t>**Speaker notes.**</a:t>
            </a:r>
          </a:p>
          <a:p/>
          <a:p>
            <a:r>
              <a:t>This is the slide for the regulator-and-CISO conversation.</a:t>
            </a:r>
          </a:p>
          <a:p/>
          <a:p>
            <a:r>
              <a:t>&gt; "Sovereign-ready isn't a checkbox. It's a property of the delivery model. Four things have to be true."</a:t>
            </a:r>
          </a:p>
          <a:p/>
          <a:p>
            <a:r>
              <a:t>**Bullet 1 — Identity.** "Location-independent. The component carries its name regardless of registry. Same identity in your dev cluster and in a customer's air-gapped data centre."</a:t>
            </a:r>
          </a:p>
          <a:p/>
          <a:p>
            <a:r>
              <a:t>**Bullet 2 — Signatures.** "Location-independent. Sign once at source, verify anywhere downstream. No callback upstream."</a:t>
            </a:r>
          </a:p>
          <a:p/>
          <a:p>
            <a:r>
              <a:t>**Bullet 3 — Day-2 ops.** "Inside the boundary. Once a component is in the sovereign environment, subscribe to it, pull upgrades, scale across regions. Still no callback."</a:t>
            </a:r>
          </a:p>
          <a:p/>
          <a:p>
            <a:r>
              <a:t>**Bullet 4 — Transfer.** "Self-contained. Every artifact travels with the component. The destination needs nothing more."</a:t>
            </a:r>
          </a:p>
          <a:p/>
          <a:p>
            <a:r>
              <a:t>&gt; "Trust, but verify. The component is the trust boundary — not the registry, not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Air-gap diagram. Source side (left), trust boundary (middle), sovereign target (right). Local registry / K8s cluster / Auditor as three green checks on the destination side.</a:t>
            </a:r>
          </a:p>
          <a:p/>
          <a:p>
            <a:r>
              <a:t>**Speaker notes.**</a:t>
            </a:r>
          </a:p>
          <a:p/>
          <a:p>
            <a:r>
              <a:t>Reinforce the previous slide visually.</a:t>
            </a:r>
          </a:p>
          <a:p/>
          <a:p>
            <a:r>
              <a:t>&gt; "On the left: source side. You pack and sign. Public registry, your dev environment, doesn't matter."</a:t>
            </a:r>
          </a:p>
          <a:p/>
          <a:p>
            <a:r>
              <a:t>&gt; "Down the middle: the trust boundary. This is the air gap, the sovereign cloud edge, the regulated network perimeter. No traffic crosses it without explicit transfer."</a:t>
            </a:r>
          </a:p>
          <a:p/>
          <a:p>
            <a:r>
              <a:t>&gt; "On the right: sovereign target. The component lands. The local registry receives it. Verification happens locally — same signature, same identity, no upstream traffic. The K8s cluster pulls from the local registry. Auditor signs off based on the component's own evidence."</a:t>
            </a:r>
          </a:p>
          <a:p/>
          <a:p>
            <a:r>
              <a:t>&gt; "Same identity. Same signature. Any location. That's the property."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Title: SCAN. Subtitle: "Compliance as a system property — not a quarterly retrofit." Five bullets, the first introduces ODG.</a:t>
            </a:r>
          </a:p>
          <a:p/>
          <a:p>
            <a:r>
              <a:t>**Speaker notes.**</a:t>
            </a:r>
          </a:p>
          <a:p/>
          <a:p>
            <a:r>
              <a:t>Brief stop here. Don't go deep — this is the "and there's tooling around it" slide.</a:t>
            </a:r>
          </a:p>
          <a:p/>
          <a:p>
            <a:r>
              <a:t>&gt; "There's an open-source compliance engine that runs on top of OCM. It's called Open Delivery Gear — ODG. Built on the same primitives as the rest of OCM."</a:t>
            </a:r>
          </a:p>
          <a:p/>
          <a:p>
            <a:r>
              <a:t>&gt; "ODG scans every component continuously, even after release, and correlates findings by component identity. Auditors get evidence, not spreadsheets."</a:t>
            </a:r>
          </a:p>
          <a:p/>
          <a:p>
            <a:r>
              <a:t>&gt; "What that means in practice: when CVE-something-2026 drops at 11pm, you don't ask 'which of our products is affected'. You query the OCM coordinate system, you get a list, and you see the rescored risk for each one — patch what matters, not the noise."</a:t>
            </a:r>
          </a:p>
          <a:p/>
          <a:p>
            <a:r>
              <a:t>&gt; "Compliance becomes a property of the system. Not a Q3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Six tiles: Code signing across stacks · Air-gapped delivery · K8s-native deployment · Async security scans · One source of truth · Automated compliance reporting.</a:t>
            </a:r>
          </a:p>
          <a:p/>
          <a:p>
            <a:r>
              <a:t>**Speaker notes.**</a:t>
            </a:r>
          </a:p>
          <a:p/>
          <a:p>
            <a:r>
              <a:t>Don't read the tiles. The audience can read.</a:t>
            </a:r>
          </a:p>
          <a:p/>
          <a:p>
            <a:r>
              <a:t>&gt; "Six things you get from one shared model. Code signing across the whole stack, not per-tool. Air-gapped delivery as a built-in, not a workaround. Kubernetes-native deployment via OCM controllers. Continuous async security scans. A single signed source of truth you can rebuild any landscape from. And compliance reporting that flows from the SBOD itself — no spreadsheets."</a:t>
            </a:r>
          </a:p>
          <a:p/>
          <a:p>
            <a:r>
              <a:t>&gt; "All from one model. That's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Title: "SAP stewards. NeoNephos governs. / Production-grade. Sovereign-ready." Two-tier logo wall: top row BWI + SAP NS2 (production adopters), bottom row Gardener + Kyma + OpenControlPlane + Platform Mesh (peer projects). NeoNephos logo at the footer with "Aligned with".</a:t>
            </a:r>
          </a:p>
          <a:p/>
          <a:p>
            <a:r>
              <a:t>**Speaker notes.**</a:t>
            </a:r>
          </a:p>
          <a:p/>
          <a:p>
            <a:r>
              <a:t>Ground the credibility. Be honest about scale; don't oversell. The title carries four claims — let it speak; you fill in the colour.</a:t>
            </a:r>
          </a:p>
          <a:p/>
          <a:p>
            <a:r>
              <a:t>&gt; "OCM isn't a research project. SAP stewards the engineering investment. NeoNephos — the foundation — governs the standard. The result is in production today."</a:t>
            </a:r>
          </a:p>
          <a:p/>
          <a:p>
            <a:r>
              <a:t>**Point at the top row.** "BWI is Germany's federal IT service. SAP NS2 handles regulated US workloads. Both run on OCM. That's the production proof."</a:t>
            </a:r>
          </a:p>
          <a:p/>
          <a:p>
            <a:r>
              <a:t>**Point at the bottom row.** "And a peer ecosystem has converged around the model. Gardener — SAP's open-source Kubernetes orchestrator, in production for over five years. Kyma. OpenControlPlane. Platform Mesh. Each does something different; each builds on the OCM primitive."</a:t>
            </a:r>
          </a:p>
          <a:p/>
          <a:p>
            <a:r>
              <a:t>&gt; "Aligned with NeoNephos. Open source. Production-grade."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Title: "Pilot. Evaluate. Engage." Three action lines: Pilot / Evaluate / Engage.</a:t>
            </a:r>
          </a:p>
          <a:p/>
          <a:p>
            <a:r>
              <a:t>**Speaker notes.**</a:t>
            </a:r>
          </a:p>
          <a:p/>
          <a:p>
            <a:r>
              <a:t>Close with the ask. Plain language. The asks are exec-shaped — pilot a delivery, hear back from the team that ran it, bring your delivery problem to the standard while it's being shaped. The CLI and the GitHub repo are still in the footer for any platform lead in the room, but they are not the headline.</a:t>
            </a:r>
          </a:p>
          <a:p/>
          <a:p>
            <a:r>
              <a:t>&gt; "Three asks."</a:t>
            </a:r>
          </a:p>
          <a:p/>
          <a:p>
            <a:r>
              <a:t>&gt; "Pilot. Pick one regulated delivery you're already shipping. Pack it as an OCM component this quarter. Not a proof of concept in a sandbox — something real, something that's already going through compliance friction. That's where the early payoff is."</a:t>
            </a:r>
          </a:p>
          <a:p/>
          <a:p>
            <a:r>
              <a:t>&gt; "Evaluate. Have your platform-engineering and security leads brief you on what they found. The signal is in their faces, not in the slides. If the model fits your delivery, they'll come back saying so without prompting."</a:t>
            </a:r>
          </a:p>
          <a:p/>
          <a:p>
            <a:r>
              <a:t>&gt; "Engage. Bring your delivery problem to the steering conversation. The standard is open and being shaped right now. The reality of what you ship is the input we need. ocm.software for the entry point — github dot com slash open-component-model for the code — community Slack and steering meetings linked from the website."</a:t>
            </a:r>
          </a:p>
          <a:p/>
          <a:p>
            <a:r>
              <a:t>&gt; "Pilot. Evaluate. Engage. That's the ask. Thank you."</a:t>
            </a:r>
          </a:p>
          <a:p/>
          <a:p>
            <a:r>
              <a:t>(Then: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type="title" preserve="1" userDrawn="1">
  <p:cSld name="Hero">
    <p:bg>
      <p:bgPr>
        <a:solidFill>
          <a:srgbClr val="0A1530"/>
        </a:solidFill>
        <a:effectLst/>
      </p:bgPr>
    </p:bg>
    <p:spTree>
      <p:nvGrpSpPr>
        <p:cNvPr id="1" name=""/>
        <p:cNvGrpSpPr/>
        <p:nvPr/>
      </p:nvGrpSpPr>
      <p:grpSpPr>
        <a:xfrm>
          <a:off x="0" y="0"/>
          <a:ext cx="0" cy="0"/>
          <a:chOff x="0" y="0"/>
          <a:chExt cx="0" cy="0"/>
        </a:xfrm>
      </p:grpSpPr>
      <p:sp>
        <p:nvSpPr>
          <p:cNvPr id="10" name="Hero Title Line 1"/>
          <p:cNvSpPr>
            <a:spLocks noGrp="1"/>
          </p:cNvSpPr>
          <p:nvPr>
            <p:ph type="title" idx="1"/>
          </p:nvPr>
        </p:nvSpPr>
        <p:spPr>
          <a:xfrm>
            <a:off x="914400" y="1714500"/>
            <a:ext cx="16192500" cy="1524000"/>
          </a:xfrm>
          <a:prstGeom prst="rect">
            <a:avLst/>
          </a:prstGeom>
        </p:spPr>
        <p:txBody>
          <a:bodyPr wrap="square" rtlCol="0" anchor="t" lIns="0" tIns="0" rIns="0" bIns="0">
            <a:noAutofit/>
          </a:bodyPr>
          <a:lstStyle>
            <a:lvl1pPr marL="0" indent="0" algn="l">
              <a:buNone/>
              <a:defRPr sz="13200" b="1">
                <a:solidFill>
                  <a:srgbClr val="FFFFFF"/>
                </a:solidFill>
                <a:latin typeface="Aptos Display"/>
              </a:defRPr>
            </a:lvl1pPr>
          </a:lstStyle>
          <a:p>
            <a:r>
              <a:rPr lang="en-US"/>
              <a:t>Secure Delivery for</a:t>
            </a:r>
            <a:endParaRPr lang="en-US"/>
          </a:p>
        </p:txBody>
      </p:sp>
      <p:sp>
        <p:nvSpPr>
          <p:cNvPr id="11" name="Hero Title Line 2"/>
          <p:cNvSpPr>
            <a:spLocks noGrp="1"/>
          </p:cNvSpPr>
          <p:nvPr>
            <p:ph type="body" idx="2"/>
          </p:nvPr>
        </p:nvSpPr>
        <p:spPr>
          <a:xfrm>
            <a:off x="914400" y="3286125"/>
            <a:ext cx="16192500" cy="1524000"/>
          </a:xfrm>
          <a:prstGeom prst="rect">
            <a:avLst/>
          </a:prstGeom>
        </p:spPr>
        <p:txBody>
          <a:bodyPr wrap="square" rtlCol="0" anchor="t" lIns="0" tIns="0" rIns="0" bIns="0">
            <a:noAutofit/>
          </a:bodyPr>
          <a:lstStyle>
            <a:lvl1pPr marL="0" indent="0" algn="l">
              <a:buNone/>
              <a:defRPr sz="13200" b="1">
                <a:solidFill>
                  <a:srgbClr val="5CD6FF"/>
                </a:solidFill>
                <a:latin typeface="Aptos Display"/>
              </a:defRPr>
            </a:lvl1pPr>
          </a:lstStyle>
          <a:p>
            <a:r>
              <a:rPr lang="en-US"/>
              <a:t>Sovereign Clouds</a:t>
            </a:r>
            <a:endParaRPr lang="en-US"/>
          </a:p>
        </p:txBody>
      </p:sp>
      <p:sp>
        <p:nvSpPr>
          <p:cNvPr id="12" name="Hero Subtitle"/>
          <p:cNvSpPr>
            <a:spLocks noGrp="1"/>
          </p:cNvSpPr>
          <p:nvPr>
            <p:ph type="body" idx="3"/>
          </p:nvPr>
        </p:nvSpPr>
        <p:spPr>
          <a:xfrm>
            <a:off x="914400" y="5334000"/>
            <a:ext cx="16192500" cy="857250"/>
          </a:xfrm>
          <a:prstGeom prst="rect">
            <a:avLst/>
          </a:prstGeom>
        </p:spPr>
        <p:txBody>
          <a:bodyPr wrap="square" rtlCol="0" anchor="t" lIns="0" tIns="0" rIns="0" bIns="0">
            <a:noAutofit/>
          </a:bodyPr>
          <a:lstStyle>
            <a:lvl1pPr marL="0" indent="0" algn="l">
              <a:lnSpc>
                <a:spcPct val="114999"/>
              </a:lnSpc>
              <a:buNone/>
              <a:defRPr sz="3500">
                <a:solidFill>
                  <a:srgbClr val="5CD6FF"/>
                </a:solidFill>
                <a:latin typeface="Aptos"/>
              </a:defRPr>
            </a:lvl1pPr>
          </a:lstStyle>
          <a:p>
            <a:r>
              <a:rPr lang="en-US"/>
              <a:t>Subtitle — one sentence describing the deck.</a:t>
            </a:r>
            <a:endParaRPr lang="en-US"/>
          </a:p>
        </p:txBody>
      </p:sp>
      <p:sp>
        <p:nvSpPr>
          <p:cNvPr id="13" name="Hero Org Line"/>
          <p:cNvSpPr>
            <a:spLocks noGrp="1"/>
          </p:cNvSpPr>
          <p:nvPr>
            <p:ph type="body" idx="4"/>
          </p:nvPr>
        </p:nvSpPr>
        <p:spPr>
          <a:xfrm>
            <a:off x="914400" y="6572250"/>
            <a:ext cx="16192500" cy="571500"/>
          </a:xfrm>
          <a:prstGeom prst="rect">
            <a:avLst/>
          </a:prstGeom>
        </p:spPr>
        <p:txBody>
          <a:bodyPr wrap="square" rtlCol="0" anchor="t" lIns="0" tIns="0" rIns="0" bIns="0">
            <a:noAutofit/>
          </a:bodyPr>
          <a:lstStyle>
            <a:lvl1pPr marL="0" indent="0" algn="l">
              <a:buNone/>
              <a:defRPr sz="2800">
                <a:solidFill>
                  <a:srgbClr val="FFFFFF"/>
                </a:solidFill>
                <a:latin typeface="Aptos"/>
              </a:defRPr>
            </a:lvl1pPr>
          </a:lstStyle>
          <a:p>
            <a:r>
              <a:rPr lang="en-US"/>
              <a:t>Open Component Model — open source, NeoNephos Foundation.</a:t>
            </a:r>
            <a:endParaRPr lang="en-US"/>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type="obj" preserve="1" userDrawn="1">
  <p:cSld name="CTA">
    <p:bg>
      <p:bgPr>
        <a:solidFill>
          <a:srgbClr val="0A1530"/>
        </a:solidFill>
        <a:effectLst/>
      </p:bgPr>
    </p:bg>
    <p:spTree>
      <p:nvGrpSpPr>
        <p:cNvPr id="1" name=""/>
        <p:cNvGrpSpPr/>
        <p:nvPr/>
      </p:nvGrpSpPr>
      <p:grpSpPr>
        <a:xfrm>
          <a:off x="0" y="0"/>
          <a:ext cx="0" cy="0"/>
          <a:chOff x="0" y="0"/>
          <a:chExt cx="0" cy="0"/>
        </a:xfrm>
      </p:grpSpPr>
      <p:sp>
        <p:nvSpPr>
          <p:cNvPr id="10" name="CTA Title"/>
          <p:cNvSpPr>
            <a:spLocks noGrp="1"/>
          </p:cNvSpPr>
          <p:nvPr>
            <p:ph type="title" idx="1"/>
          </p:nvPr>
        </p:nvSpPr>
        <p:spPr>
          <a:xfrm>
            <a:off x="914400" y="3048000"/>
            <a:ext cx="16192500" cy="952500"/>
          </a:xfrm>
          <a:prstGeom prst="rect">
            <a:avLst/>
          </a:prstGeom>
        </p:spPr>
        <p:txBody>
          <a:bodyPr wrap="square" rtlCol="0" anchor="t" lIns="0" tIns="0" rIns="0" bIns="0"/>
          <a:lstStyle>
            <a:lvl1pPr marL="0" indent="0" algn="l">
              <a:buNone/>
              <a:defRPr sz="6400" b="1">
                <a:solidFill>
                  <a:srgbClr val="FFFFFF"/>
                </a:solidFill>
                <a:latin typeface="Aptos Display"/>
              </a:defRPr>
            </a:lvl1pPr>
          </a:lstStyle>
          <a:p>
            <a:r>
              <a:rPr lang="en-US"/>
              <a:t>Call to action</a:t>
            </a:r>
            <a:endParaRPr lang="en-US"/>
          </a:p>
        </p:txBody>
      </p:sp>
      <p:sp>
        <p:nvSpPr>
          <p:cNvPr id="11" name="CTA Body"/>
          <p:cNvSpPr>
            <a:spLocks noGrp="1"/>
          </p:cNvSpPr>
          <p:nvPr>
            <p:ph type="body" idx="2"/>
          </p:nvPr>
        </p:nvSpPr>
        <p:spPr>
          <a:xfrm>
            <a:off x="914400" y="4381500"/>
            <a:ext cx="16192500" cy="3810000"/>
          </a:xfrm>
          <a:prstGeom prst="rect">
            <a:avLst/>
          </a:prstGeom>
        </p:spPr>
        <p:txBody>
          <a:bodyPr wrap="square" rtlCol="0" anchor="t" lIns="0" tIns="0" rIns="0" bIns="0"/>
          <a:lstStyle>
            <a:lvl1pPr marL="0" indent="0" algn="l">
              <a:buNone/>
              <a:defRPr sz="2500">
                <a:solidFill>
                  <a:srgbClr val="FFFFFF"/>
                </a:solidFill>
                <a:latin typeface="Aptos"/>
              </a:defRPr>
            </a:lvl1pPr>
          </a:lstStyle>
          <a:p>
            <a:r>
              <a:rPr lang="en-US"/>
              <a:t>Three-line CTA bullets go here.</a:t>
            </a:r>
            <a:endParaRPr lang="en-US"/>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type="obj" preserve="1" userDrawn="1">
  <p:cSld name="Content / 3-Colum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Col1 Rule"/>
          <p:cNvSpPr/>
          <p:nvPr/>
        </p:nvSpPr>
        <p:spPr>
          <a:xfrm>
            <a:off x="1143000" y="4953000"/>
            <a:ext cx="4972050" cy="38100"/>
          </a:xfrm>
          <a:prstGeom prst="rect">
            <a:avLst/>
          </a:prstGeom>
          <a:solidFill>
            <a:srgbClr val="0F6BFF"/>
          </a:solidFill>
          <a:ln>
            <a:noFill/>
          </a:ln>
        </p:spPr>
        <p:txBody>
          <a:bodyPr rtlCol="0" anchor="ctr"/>
          <a:lstStyle/>
          <a:p>
            <a:endParaRPr lang="en-US"/>
          </a:p>
        </p:txBody>
      </p:sp>
      <p:sp>
        <p:nvSpPr>
          <p:cNvPr id="13" name="Col1 Header"/>
          <p:cNvSpPr>
            <a:spLocks noGrp="1"/>
          </p:cNvSpPr>
          <p:nvPr>
            <p:ph type="body" idx="10"/>
          </p:nvPr>
        </p:nvSpPr>
        <p:spPr>
          <a:xfrm>
            <a:off x="114300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1 HEADER</a:t>
            </a:r>
            <a:endParaRPr lang="en-US"/>
          </a:p>
        </p:txBody>
      </p:sp>
      <p:sp>
        <p:nvSpPr>
          <p:cNvPr id="14" name="Col1 Body"/>
          <p:cNvSpPr>
            <a:spLocks noGrp="1"/>
          </p:cNvSpPr>
          <p:nvPr>
            <p:ph type="body" idx="11"/>
          </p:nvPr>
        </p:nvSpPr>
        <p:spPr>
          <a:xfrm>
            <a:off x="114300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1 body. Replace with one or two short sentences.</a:t>
            </a:r>
            <a:endParaRPr lang="en-US"/>
          </a:p>
        </p:txBody>
      </p:sp>
      <p:sp>
        <p:nvSpPr>
          <p:cNvPr id="15" name="Col2 Rule"/>
          <p:cNvSpPr/>
          <p:nvPr/>
        </p:nvSpPr>
        <p:spPr>
          <a:xfrm>
            <a:off x="6648450" y="4953000"/>
            <a:ext cx="4972050" cy="38100"/>
          </a:xfrm>
          <a:prstGeom prst="rect">
            <a:avLst/>
          </a:prstGeom>
          <a:solidFill>
            <a:srgbClr val="0F6BFF"/>
          </a:solidFill>
          <a:ln>
            <a:noFill/>
          </a:ln>
        </p:spPr>
        <p:txBody>
          <a:bodyPr rtlCol="0" anchor="ctr"/>
          <a:lstStyle/>
          <a:p>
            <a:endParaRPr lang="en-US"/>
          </a:p>
        </p:txBody>
      </p:sp>
      <p:sp>
        <p:nvSpPr>
          <p:cNvPr id="16" name="Col2 Header"/>
          <p:cNvSpPr>
            <a:spLocks noGrp="1"/>
          </p:cNvSpPr>
          <p:nvPr>
            <p:ph type="body" idx="12"/>
          </p:nvPr>
        </p:nvSpPr>
        <p:spPr>
          <a:xfrm>
            <a:off x="664845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2 HEADER</a:t>
            </a:r>
            <a:endParaRPr lang="en-US"/>
          </a:p>
        </p:txBody>
      </p:sp>
      <p:sp>
        <p:nvSpPr>
          <p:cNvPr id="17" name="Col2 Body"/>
          <p:cNvSpPr>
            <a:spLocks noGrp="1"/>
          </p:cNvSpPr>
          <p:nvPr>
            <p:ph type="body" idx="13"/>
          </p:nvPr>
        </p:nvSpPr>
        <p:spPr>
          <a:xfrm>
            <a:off x="664845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2 body. Replace with one or two short sentences.</a:t>
            </a:r>
            <a:endParaRPr lang="en-US"/>
          </a:p>
        </p:txBody>
      </p:sp>
      <p:sp>
        <p:nvSpPr>
          <p:cNvPr id="18" name="Col3 Rule"/>
          <p:cNvSpPr/>
          <p:nvPr/>
        </p:nvSpPr>
        <p:spPr>
          <a:xfrm>
            <a:off x="12153900" y="4953000"/>
            <a:ext cx="4972050" cy="38100"/>
          </a:xfrm>
          <a:prstGeom prst="rect">
            <a:avLst/>
          </a:prstGeom>
          <a:solidFill>
            <a:srgbClr val="0F6BFF"/>
          </a:solidFill>
          <a:ln>
            <a:noFill/>
          </a:ln>
        </p:spPr>
        <p:txBody>
          <a:bodyPr rtlCol="0" anchor="ctr"/>
          <a:lstStyle/>
          <a:p>
            <a:endParaRPr lang="en-US"/>
          </a:p>
        </p:txBody>
      </p:sp>
      <p:sp>
        <p:nvSpPr>
          <p:cNvPr id="19" name="Col3 Header"/>
          <p:cNvSpPr>
            <a:spLocks noGrp="1"/>
          </p:cNvSpPr>
          <p:nvPr>
            <p:ph type="body" idx="14"/>
          </p:nvPr>
        </p:nvSpPr>
        <p:spPr>
          <a:xfrm>
            <a:off x="12153900" y="5105400"/>
            <a:ext cx="4972050" cy="533400"/>
          </a:xfrm>
          <a:prstGeom prst="rect">
            <a:avLst/>
          </a:prstGeom>
        </p:spPr>
        <p:txBody>
          <a:bodyPr wrap="square" rtlCol="0" anchor="t" lIns="0" tIns="0" rIns="0" bIns="0">
            <a:noAutofit/>
          </a:bodyPr>
          <a:lstStyle>
            <a:lvl1pPr marL="0" indent="0" algn="l">
              <a:buNone/>
              <a:defRPr sz="2300" b="1" cap="all" spc="130">
                <a:solidFill>
                  <a:srgbClr val="0F6BFF"/>
                </a:solidFill>
                <a:latin typeface="Aptos"/>
              </a:defRPr>
            </a:lvl1pPr>
          </a:lstStyle>
          <a:p>
            <a:r>
              <a:rPr lang="en-US"/>
              <a:t>COLUMN 3 HEADER</a:t>
            </a:r>
            <a:endParaRPr lang="en-US"/>
          </a:p>
        </p:txBody>
      </p:sp>
      <p:sp>
        <p:nvSpPr>
          <p:cNvPr id="20" name="Col3 Body"/>
          <p:cNvSpPr>
            <a:spLocks noGrp="1"/>
          </p:cNvSpPr>
          <p:nvPr>
            <p:ph type="body" idx="15"/>
          </p:nvPr>
        </p:nvSpPr>
        <p:spPr>
          <a:xfrm>
            <a:off x="12153900" y="5753100"/>
            <a:ext cx="497205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Column 3 body. Replace with one or two short sentences.</a:t>
            </a:r>
            <a:endParaRPr lang="en-US"/>
          </a:p>
        </p:txBody>
      </p:sp>
      <p:sp>
        <p:nvSpPr>
          <p:cNvPr id="21"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type="obj" preserve="1" userDrawn="1">
  <p:cSld name="Content / Diagram">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7143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1219200"/>
            <a:ext cx="16002000" cy="762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Diagram"/>
          <p:cNvSpPr>
            <a:spLocks noGrp="1"/>
          </p:cNvSpPr>
          <p:nvPr>
            <p:ph type="pic" idx="10"/>
          </p:nvPr>
        </p:nvSpPr>
        <p:spPr>
          <a:xfrm>
            <a:off x="571500" y="2286000"/>
            <a:ext cx="17145000" cy="7429500"/>
          </a:xfrm>
          <a:prstGeom prst="rect">
            <a:avLst/>
          </a:prstGeom>
        </p:spPr>
        <p:txBody>
          <a:bodyPr rtlCol="0" anchor="ctr"/>
          <a:lstStyle/>
          <a:p>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type="obj" preserve="1" userDrawn="1">
  <p:cSld name="Content / Diagram Compact">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762000"/>
            <a:ext cx="16002000" cy="381000"/>
          </a:xfrm>
          <a:prstGeom prst="rect">
            <a:avLst/>
          </a:prstGeom>
        </p:spPr>
        <p:txBody>
          <a:bodyPr wrap="square" rtlCol="0" anchor="t" lIns="0" tIns="0" rIns="0" bIns="0"/>
          <a:lstStyle>
            <a:lvl1pPr marL="0" indent="0" algn="l">
              <a:buNone/>
              <a:defRPr sz="26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1238250"/>
            <a:ext cx="16002000" cy="952500"/>
          </a:xfrm>
          <a:prstGeom prst="rect">
            <a:avLst/>
          </a:prstGeom>
        </p:spPr>
        <p:txBody>
          <a:bodyPr wrap="square" rtlCol="0" anchor="t" lIns="0" tIns="0" rIns="0" bIns="0"/>
          <a:lstStyle>
            <a:lvl1pPr marL="0" indent="0" algn="l">
              <a:lnSpc>
                <a:spcPct val="90000"/>
              </a:lnSpc>
              <a:buNone/>
              <a:defRPr sz="5600" b="1">
                <a:solidFill>
                  <a:srgbClr val="000000"/>
                </a:solidFill>
                <a:latin typeface="Aptos Display"/>
              </a:defRPr>
            </a:lvl1pPr>
          </a:lstStyle>
          <a:p>
            <a:r>
              <a:rPr lang="en-US"/>
              <a:t>Section title goes here.</a:t>
            </a:r>
            <a:endParaRPr lang="en-US"/>
          </a:p>
        </p:txBody>
      </p:sp>
      <p:sp>
        <p:nvSpPr>
          <p:cNvPr id="12" name="Diagram"/>
          <p:cNvSpPr>
            <a:spLocks noGrp="1"/>
          </p:cNvSpPr>
          <p:nvPr>
            <p:ph type="pic" idx="10"/>
          </p:nvPr>
        </p:nvSpPr>
        <p:spPr>
          <a:xfrm>
            <a:off x="571500" y="2476500"/>
            <a:ext cx="17145000" cy="7239000"/>
          </a:xfrm>
          <a:prstGeom prst="rect">
            <a:avLst/>
          </a:prstGeom>
        </p:spPr>
        <p:txBody>
          <a:bodyPr rtlCol="0" anchor="ctr"/>
          <a:lstStyle/>
          <a:p>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type="obj" preserve="1" userDrawn="1">
  <p:cSld name="Content / Tiles">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Tile1 Bg"/>
          <p:cNvSpPr/>
          <p:nvPr/>
        </p:nvSpPr>
        <p:spPr>
          <a:xfrm>
            <a:off x="1143000" y="4953000"/>
            <a:ext cx="5181600" cy="2190750"/>
          </a:xfrm>
          <a:prstGeom prst="rect">
            <a:avLst/>
          </a:prstGeom>
          <a:solidFill>
            <a:srgbClr val="F3F4F6"/>
          </a:solidFill>
          <a:ln>
            <a:noFill/>
          </a:ln>
        </p:spPr>
        <p:txBody>
          <a:bodyPr rtlCol="0" anchor="ctr"/>
          <a:lstStyle/>
          <a:p>
            <a:endParaRPr lang="en-US"/>
          </a:p>
        </p:txBody>
      </p:sp>
      <p:sp>
        <p:nvSpPr>
          <p:cNvPr id="13" name="Tile1 Rule"/>
          <p:cNvSpPr/>
          <p:nvPr/>
        </p:nvSpPr>
        <p:spPr>
          <a:xfrm>
            <a:off x="1143000" y="4953000"/>
            <a:ext cx="5181600" cy="28575"/>
          </a:xfrm>
          <a:prstGeom prst="rect">
            <a:avLst/>
          </a:prstGeom>
          <a:solidFill>
            <a:srgbClr val="0F6BFF"/>
          </a:solidFill>
          <a:ln>
            <a:noFill/>
          </a:ln>
        </p:spPr>
        <p:txBody>
          <a:bodyPr rtlCol="0" anchor="ctr"/>
          <a:lstStyle/>
          <a:p>
            <a:endParaRPr lang="en-US"/>
          </a:p>
        </p:txBody>
      </p:sp>
      <p:sp>
        <p:nvSpPr>
          <p:cNvPr id="14" name="Tile1 Label"/>
          <p:cNvSpPr>
            <a:spLocks noGrp="1"/>
          </p:cNvSpPr>
          <p:nvPr>
            <p:ph type="body" idx="20"/>
          </p:nvPr>
        </p:nvSpPr>
        <p:spPr>
          <a:xfrm>
            <a:off x="19812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1 label</a:t>
            </a:r>
            <a:endParaRPr lang="en-US"/>
          </a:p>
        </p:txBody>
      </p:sp>
      <p:sp>
        <p:nvSpPr>
          <p:cNvPr id="15" name="Tile1 Body"/>
          <p:cNvSpPr>
            <a:spLocks noGrp="1"/>
          </p:cNvSpPr>
          <p:nvPr>
            <p:ph type="body" idx="21"/>
          </p:nvPr>
        </p:nvSpPr>
        <p:spPr>
          <a:xfrm>
            <a:off x="13716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16" name="Tile2 Bg"/>
          <p:cNvSpPr/>
          <p:nvPr/>
        </p:nvSpPr>
        <p:spPr>
          <a:xfrm>
            <a:off x="6553200" y="4953000"/>
            <a:ext cx="5181600" cy="2190750"/>
          </a:xfrm>
          <a:prstGeom prst="rect">
            <a:avLst/>
          </a:prstGeom>
          <a:solidFill>
            <a:srgbClr val="F3F4F6"/>
          </a:solidFill>
          <a:ln>
            <a:noFill/>
          </a:ln>
        </p:spPr>
        <p:txBody>
          <a:bodyPr rtlCol="0" anchor="ctr"/>
          <a:lstStyle/>
          <a:p>
            <a:endParaRPr lang="en-US"/>
          </a:p>
        </p:txBody>
      </p:sp>
      <p:sp>
        <p:nvSpPr>
          <p:cNvPr id="17" name="Tile2 Rule"/>
          <p:cNvSpPr/>
          <p:nvPr/>
        </p:nvSpPr>
        <p:spPr>
          <a:xfrm>
            <a:off x="6553200" y="4953000"/>
            <a:ext cx="5181600" cy="28575"/>
          </a:xfrm>
          <a:prstGeom prst="rect">
            <a:avLst/>
          </a:prstGeom>
          <a:solidFill>
            <a:srgbClr val="0F6BFF"/>
          </a:solidFill>
          <a:ln>
            <a:noFill/>
          </a:ln>
        </p:spPr>
        <p:txBody>
          <a:bodyPr rtlCol="0" anchor="ctr"/>
          <a:lstStyle/>
          <a:p>
            <a:endParaRPr lang="en-US"/>
          </a:p>
        </p:txBody>
      </p:sp>
      <p:sp>
        <p:nvSpPr>
          <p:cNvPr id="18" name="Tile2 Label"/>
          <p:cNvSpPr>
            <a:spLocks noGrp="1"/>
          </p:cNvSpPr>
          <p:nvPr>
            <p:ph type="body" idx="22"/>
          </p:nvPr>
        </p:nvSpPr>
        <p:spPr>
          <a:xfrm>
            <a:off x="73914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2 label</a:t>
            </a:r>
            <a:endParaRPr lang="en-US"/>
          </a:p>
        </p:txBody>
      </p:sp>
      <p:sp>
        <p:nvSpPr>
          <p:cNvPr id="19" name="Tile2 Body"/>
          <p:cNvSpPr>
            <a:spLocks noGrp="1"/>
          </p:cNvSpPr>
          <p:nvPr>
            <p:ph type="body" idx="23"/>
          </p:nvPr>
        </p:nvSpPr>
        <p:spPr>
          <a:xfrm>
            <a:off x="67818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0" name="Tile3 Bg"/>
          <p:cNvSpPr/>
          <p:nvPr/>
        </p:nvSpPr>
        <p:spPr>
          <a:xfrm>
            <a:off x="11963400" y="4953000"/>
            <a:ext cx="5181600" cy="2190750"/>
          </a:xfrm>
          <a:prstGeom prst="rect">
            <a:avLst/>
          </a:prstGeom>
          <a:solidFill>
            <a:srgbClr val="F3F4F6"/>
          </a:solidFill>
          <a:ln>
            <a:noFill/>
          </a:ln>
        </p:spPr>
        <p:txBody>
          <a:bodyPr rtlCol="0" anchor="ctr"/>
          <a:lstStyle/>
          <a:p>
            <a:endParaRPr lang="en-US"/>
          </a:p>
        </p:txBody>
      </p:sp>
      <p:sp>
        <p:nvSpPr>
          <p:cNvPr id="21" name="Tile3 Rule"/>
          <p:cNvSpPr/>
          <p:nvPr/>
        </p:nvSpPr>
        <p:spPr>
          <a:xfrm>
            <a:off x="11963400" y="4953000"/>
            <a:ext cx="5181600" cy="28575"/>
          </a:xfrm>
          <a:prstGeom prst="rect">
            <a:avLst/>
          </a:prstGeom>
          <a:solidFill>
            <a:srgbClr val="0F6BFF"/>
          </a:solidFill>
          <a:ln>
            <a:noFill/>
          </a:ln>
        </p:spPr>
        <p:txBody>
          <a:bodyPr rtlCol="0" anchor="ctr"/>
          <a:lstStyle/>
          <a:p>
            <a:endParaRPr lang="en-US"/>
          </a:p>
        </p:txBody>
      </p:sp>
      <p:sp>
        <p:nvSpPr>
          <p:cNvPr id="22" name="Tile3 Label"/>
          <p:cNvSpPr>
            <a:spLocks noGrp="1"/>
          </p:cNvSpPr>
          <p:nvPr>
            <p:ph type="body" idx="24"/>
          </p:nvPr>
        </p:nvSpPr>
        <p:spPr>
          <a:xfrm>
            <a:off x="12801600" y="518160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3 label</a:t>
            </a:r>
            <a:endParaRPr lang="en-US"/>
          </a:p>
        </p:txBody>
      </p:sp>
      <p:sp>
        <p:nvSpPr>
          <p:cNvPr id="23" name="Tile3 Body"/>
          <p:cNvSpPr>
            <a:spLocks noGrp="1"/>
          </p:cNvSpPr>
          <p:nvPr>
            <p:ph type="body" idx="25"/>
          </p:nvPr>
        </p:nvSpPr>
        <p:spPr>
          <a:xfrm>
            <a:off x="12192000" y="586740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4" name="Tile4 Bg"/>
          <p:cNvSpPr/>
          <p:nvPr/>
        </p:nvSpPr>
        <p:spPr>
          <a:xfrm>
            <a:off x="1143000" y="7372350"/>
            <a:ext cx="5181600" cy="2190750"/>
          </a:xfrm>
          <a:prstGeom prst="rect">
            <a:avLst/>
          </a:prstGeom>
          <a:solidFill>
            <a:srgbClr val="F3F4F6"/>
          </a:solidFill>
          <a:ln>
            <a:noFill/>
          </a:ln>
        </p:spPr>
        <p:txBody>
          <a:bodyPr rtlCol="0" anchor="ctr"/>
          <a:lstStyle/>
          <a:p>
            <a:endParaRPr lang="en-US"/>
          </a:p>
        </p:txBody>
      </p:sp>
      <p:sp>
        <p:nvSpPr>
          <p:cNvPr id="25" name="Tile4 Rule"/>
          <p:cNvSpPr/>
          <p:nvPr/>
        </p:nvSpPr>
        <p:spPr>
          <a:xfrm>
            <a:off x="1143000" y="7372350"/>
            <a:ext cx="5181600" cy="28575"/>
          </a:xfrm>
          <a:prstGeom prst="rect">
            <a:avLst/>
          </a:prstGeom>
          <a:solidFill>
            <a:srgbClr val="0F6BFF"/>
          </a:solidFill>
          <a:ln>
            <a:noFill/>
          </a:ln>
        </p:spPr>
        <p:txBody>
          <a:bodyPr rtlCol="0" anchor="ctr"/>
          <a:lstStyle/>
          <a:p>
            <a:endParaRPr lang="en-US"/>
          </a:p>
        </p:txBody>
      </p:sp>
      <p:sp>
        <p:nvSpPr>
          <p:cNvPr id="26" name="Tile4 Label"/>
          <p:cNvSpPr>
            <a:spLocks noGrp="1"/>
          </p:cNvSpPr>
          <p:nvPr>
            <p:ph type="body" idx="26"/>
          </p:nvPr>
        </p:nvSpPr>
        <p:spPr>
          <a:xfrm>
            <a:off x="19812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4 label</a:t>
            </a:r>
            <a:endParaRPr lang="en-US"/>
          </a:p>
        </p:txBody>
      </p:sp>
      <p:sp>
        <p:nvSpPr>
          <p:cNvPr id="27" name="Tile4 Body"/>
          <p:cNvSpPr>
            <a:spLocks noGrp="1"/>
          </p:cNvSpPr>
          <p:nvPr>
            <p:ph type="body" idx="27"/>
          </p:nvPr>
        </p:nvSpPr>
        <p:spPr>
          <a:xfrm>
            <a:off x="13716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28" name="Tile5 Bg"/>
          <p:cNvSpPr/>
          <p:nvPr/>
        </p:nvSpPr>
        <p:spPr>
          <a:xfrm>
            <a:off x="6553200" y="7372350"/>
            <a:ext cx="5181600" cy="2190750"/>
          </a:xfrm>
          <a:prstGeom prst="rect">
            <a:avLst/>
          </a:prstGeom>
          <a:solidFill>
            <a:srgbClr val="F3F4F6"/>
          </a:solidFill>
          <a:ln>
            <a:noFill/>
          </a:ln>
        </p:spPr>
        <p:txBody>
          <a:bodyPr rtlCol="0" anchor="ctr"/>
          <a:lstStyle/>
          <a:p>
            <a:endParaRPr lang="en-US"/>
          </a:p>
        </p:txBody>
      </p:sp>
      <p:sp>
        <p:nvSpPr>
          <p:cNvPr id="29" name="Tile5 Rule"/>
          <p:cNvSpPr/>
          <p:nvPr/>
        </p:nvSpPr>
        <p:spPr>
          <a:xfrm>
            <a:off x="6553200" y="7372350"/>
            <a:ext cx="5181600" cy="28575"/>
          </a:xfrm>
          <a:prstGeom prst="rect">
            <a:avLst/>
          </a:prstGeom>
          <a:solidFill>
            <a:srgbClr val="0F6BFF"/>
          </a:solidFill>
          <a:ln>
            <a:noFill/>
          </a:ln>
        </p:spPr>
        <p:txBody>
          <a:bodyPr rtlCol="0" anchor="ctr"/>
          <a:lstStyle/>
          <a:p>
            <a:endParaRPr lang="en-US"/>
          </a:p>
        </p:txBody>
      </p:sp>
      <p:sp>
        <p:nvSpPr>
          <p:cNvPr id="30" name="Tile5 Label"/>
          <p:cNvSpPr>
            <a:spLocks noGrp="1"/>
          </p:cNvSpPr>
          <p:nvPr>
            <p:ph type="body" idx="28"/>
          </p:nvPr>
        </p:nvSpPr>
        <p:spPr>
          <a:xfrm>
            <a:off x="73914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5 label</a:t>
            </a:r>
            <a:endParaRPr lang="en-US"/>
          </a:p>
        </p:txBody>
      </p:sp>
      <p:sp>
        <p:nvSpPr>
          <p:cNvPr id="31" name="Tile5 Body"/>
          <p:cNvSpPr>
            <a:spLocks noGrp="1"/>
          </p:cNvSpPr>
          <p:nvPr>
            <p:ph type="body" idx="29"/>
          </p:nvPr>
        </p:nvSpPr>
        <p:spPr>
          <a:xfrm>
            <a:off x="67818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32" name="Tile6 Bg"/>
          <p:cNvSpPr/>
          <p:nvPr/>
        </p:nvSpPr>
        <p:spPr>
          <a:xfrm>
            <a:off x="11963400" y="7372350"/>
            <a:ext cx="5181600" cy="2190750"/>
          </a:xfrm>
          <a:prstGeom prst="rect">
            <a:avLst/>
          </a:prstGeom>
          <a:solidFill>
            <a:srgbClr val="F3F4F6"/>
          </a:solidFill>
          <a:ln>
            <a:noFill/>
          </a:ln>
        </p:spPr>
        <p:txBody>
          <a:bodyPr rtlCol="0" anchor="ctr"/>
          <a:lstStyle/>
          <a:p>
            <a:endParaRPr lang="en-US"/>
          </a:p>
        </p:txBody>
      </p:sp>
      <p:sp>
        <p:nvSpPr>
          <p:cNvPr id="33" name="Tile6 Rule"/>
          <p:cNvSpPr/>
          <p:nvPr/>
        </p:nvSpPr>
        <p:spPr>
          <a:xfrm>
            <a:off x="11963400" y="7372350"/>
            <a:ext cx="5181600" cy="28575"/>
          </a:xfrm>
          <a:prstGeom prst="rect">
            <a:avLst/>
          </a:prstGeom>
          <a:solidFill>
            <a:srgbClr val="0F6BFF"/>
          </a:solidFill>
          <a:ln>
            <a:noFill/>
          </a:ln>
        </p:spPr>
        <p:txBody>
          <a:bodyPr rtlCol="0" anchor="ctr"/>
          <a:lstStyle/>
          <a:p>
            <a:endParaRPr lang="en-US"/>
          </a:p>
        </p:txBody>
      </p:sp>
      <p:sp>
        <p:nvSpPr>
          <p:cNvPr id="34" name="Tile6 Label"/>
          <p:cNvSpPr>
            <a:spLocks noGrp="1"/>
          </p:cNvSpPr>
          <p:nvPr>
            <p:ph type="body" idx="30"/>
          </p:nvPr>
        </p:nvSpPr>
        <p:spPr>
          <a:xfrm>
            <a:off x="12801600" y="7600950"/>
            <a:ext cx="4114800" cy="457200"/>
          </a:xfrm>
          <a:prstGeom prst="rect">
            <a:avLst/>
          </a:prstGeom>
        </p:spPr>
        <p:txBody>
          <a:bodyPr wrap="square" rtlCol="0" anchor="ctr" lIns="0" tIns="0" rIns="0" bIns="0"/>
          <a:lstStyle>
            <a:lvl1pPr marL="0" indent="0" algn="l">
              <a:buNone/>
              <a:defRPr sz="2100" b="1">
                <a:solidFill>
                  <a:srgbClr val="0F6BFF"/>
                </a:solidFill>
                <a:latin typeface="Aptos"/>
              </a:defRPr>
            </a:lvl1pPr>
          </a:lstStyle>
          <a:p>
            <a:r>
              <a:rPr lang="en-US"/>
              <a:t>Tile 6 label</a:t>
            </a:r>
            <a:endParaRPr lang="en-US"/>
          </a:p>
        </p:txBody>
      </p:sp>
      <p:sp>
        <p:nvSpPr>
          <p:cNvPr id="35" name="Tile6 Body"/>
          <p:cNvSpPr>
            <a:spLocks noGrp="1"/>
          </p:cNvSpPr>
          <p:nvPr>
            <p:ph type="body" idx="31"/>
          </p:nvPr>
        </p:nvSpPr>
        <p:spPr>
          <a:xfrm>
            <a:off x="12192000" y="8286750"/>
            <a:ext cx="4724400" cy="1085850"/>
          </a:xfrm>
          <a:prstGeom prst="rect">
            <a:avLst/>
          </a:prstGeom>
        </p:spPr>
        <p:txBody>
          <a:bodyPr wrap="square" rtlCol="0" anchor="t" lIns="0" tIns="0" rIns="0" bIns="0"/>
          <a:lstStyle>
            <a:lvl1pPr marL="0" indent="0" algn="l">
              <a:buNone/>
              <a:defRPr sz="2100">
                <a:solidFill>
                  <a:srgbClr val="000000"/>
                </a:solidFill>
                <a:latin typeface="Aptos"/>
              </a:defRPr>
            </a:lvl1pPr>
          </a:lstStyle>
          <a:p>
            <a:r>
              <a:rPr lang="en-US"/>
              <a:t>One short sentence describing this tile.</a:t>
            </a:r>
            <a:endParaRPr lang="en-US"/>
          </a:p>
        </p:txBody>
      </p:sp>
      <p:sp>
        <p:nvSpPr>
          <p:cNvPr id="36"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type="twoObj" preserve="1" userDrawn="1">
  <p:cSld name="Content / 2-Colum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Left Body"/>
          <p:cNvSpPr>
            <a:spLocks noGrp="1"/>
          </p:cNvSpPr>
          <p:nvPr>
            <p:ph type="body" idx="10"/>
          </p:nvPr>
        </p:nvSpPr>
        <p:spPr>
          <a:xfrm>
            <a:off x="1143000" y="4953000"/>
            <a:ext cx="78105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Left column body.</a:t>
            </a:r>
            <a:endParaRPr lang="en-US"/>
          </a:p>
        </p:txBody>
      </p:sp>
      <p:sp>
        <p:nvSpPr>
          <p:cNvPr id="13" name="Right Body"/>
          <p:cNvSpPr>
            <a:spLocks noGrp="1"/>
          </p:cNvSpPr>
          <p:nvPr>
            <p:ph type="body" idx="11"/>
          </p:nvPr>
        </p:nvSpPr>
        <p:spPr>
          <a:xfrm>
            <a:off x="9334500" y="4953000"/>
            <a:ext cx="78105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Right column body.</a:t>
            </a:r>
            <a:endParaRPr lang="en-US"/>
          </a:p>
        </p:txBody>
      </p:sp>
      <p:sp>
        <p:nvSpPr>
          <p:cNvPr id="14"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type="secHead" preserve="1" userDrawn="1">
  <p:cSld name="Section Divider">
    <p:bg>
      <p:bgPr>
        <a:solidFill>
          <a:srgbClr val="0F6BFF"/>
        </a:solidFill>
        <a:effectLst/>
      </p:bgPr>
    </p:bg>
    <p:spTree>
      <p:nvGrpSpPr>
        <p:cNvPr id="1" name=""/>
        <p:cNvGrpSpPr/>
        <p:nvPr/>
      </p:nvGrpSpPr>
      <p:grpSpPr>
        <a:xfrm>
          <a:off x="0" y="0"/>
          <a:ext cx="0" cy="0"/>
          <a:chOff x="0" y="0"/>
          <a:chExt cx="0" cy="0"/>
        </a:xfrm>
      </p:grpSpPr>
      <p:sp>
        <p:nvSpPr>
          <p:cNvPr id="10" name="Section Title"/>
          <p:cNvSpPr>
            <a:spLocks noGrp="1"/>
          </p:cNvSpPr>
          <p:nvPr>
            <p:ph type="title" idx="1"/>
          </p:nvPr>
        </p:nvSpPr>
        <p:spPr>
          <a:xfrm>
            <a:off x="762000" y="4381500"/>
            <a:ext cx="16764000" cy="1905000"/>
          </a:xfrm>
          <a:prstGeom prst="rect">
            <a:avLst/>
          </a:prstGeom>
        </p:spPr>
        <p:txBody>
          <a:bodyPr wrap="square" rtlCol="0" anchor="ctr" lIns="0" tIns="0" rIns="0" bIns="0"/>
          <a:lstStyle>
            <a:lvl1pPr marL="0" indent="0" algn="ctr">
              <a:buNone/>
              <a:defRPr sz="8300" b="1">
                <a:solidFill>
                  <a:srgbClr val="FFFFFF"/>
                </a:solidFill>
                <a:latin typeface="Aptos Display"/>
              </a:defRPr>
            </a:lvl1pPr>
          </a:lstStyle>
          <a:p>
            <a:r>
              <a:rPr lang="en-US"/>
              <a:t>Section</a:t>
            </a:r>
            <a:endParaRPr lang="en-US"/>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type="obj" preserve="1" userDrawn="1">
  <p:cSld name="Plain">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Body"/>
          <p:cNvSpPr>
            <a:spLocks noGrp="1"/>
          </p:cNvSpPr>
          <p:nvPr>
            <p:ph type="body" idx="10"/>
          </p:nvPr>
        </p:nvSpPr>
        <p:spPr>
          <a:xfrm>
            <a:off x="1143000" y="5524500"/>
            <a:ext cx="16002000" cy="38100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Body text.</a:t>
            </a:r>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type="obj" preserve="1" userDrawn="1">
  <p:cSld name="Plain / Compact">
    <p:bg>
      <p:bgPr>
        <a:solidFill>
          <a:srgbClr val="FFFFFF"/>
        </a:solidFill>
        <a:effectLst/>
      </p:bgPr>
    </p:bg>
    <p:spTree>
      <p:nvGrpSpPr>
        <p:cNvPr id="1" name=""/>
        <p:cNvGrpSpPr/>
        <p:nvPr/>
      </p:nvGrpSpPr>
      <p:grpSpPr>
        <a:xfrm>
          <a:off x="0" y="0"/>
          <a:ext cx="0" cy="0"/>
          <a:chOff x="0" y="0"/>
          <a:chExt cx="0" cy="0"/>
        </a:xfrm>
      </p:grpSpPr>
      <p:sp>
        <p:nvSpPr>
          <p:cNvPr id="10" name="Eyebrow"/>
          <p:cNvSpPr>
            <a:spLocks noGrp="1"/>
          </p:cNvSpPr>
          <p:nvPr>
            <p:ph type="body" idx="1"/>
          </p:nvPr>
        </p:nvSpPr>
        <p:spPr>
          <a:xfrm>
            <a:off x="1143000" y="2428875"/>
            <a:ext cx="16002000" cy="457200"/>
          </a:xfrm>
          <a:prstGeom prst="rect">
            <a:avLst/>
          </a:prstGeom>
        </p:spPr>
        <p:txBody>
          <a:bodyPr wrap="square" rtlCol="0" anchor="t" lIns="0" tIns="0" rIns="0" bIns="0"/>
          <a:lstStyle>
            <a:lvl1pPr marL="0" indent="0" algn="l">
              <a:buNone/>
              <a:defRPr sz="3200" b="1" cap="all" spc="140">
                <a:solidFill>
                  <a:srgbClr val="0F6BFF"/>
                </a:solidFill>
                <a:latin typeface="Aptos"/>
              </a:defRPr>
            </a:lvl1pPr>
          </a:lstStyle>
          <a:p>
            <a:r>
              <a:rPr lang="en-US"/>
              <a:t>EYEBROW</a:t>
            </a:r>
            <a:endParaRPr lang="en-US"/>
          </a:p>
        </p:txBody>
      </p:sp>
      <p:sp>
        <p:nvSpPr>
          <p:cNvPr id="11" name="Title"/>
          <p:cNvSpPr>
            <a:spLocks noGrp="1"/>
          </p:cNvSpPr>
          <p:nvPr>
            <p:ph type="title" idx="2"/>
          </p:nvPr>
        </p:nvSpPr>
        <p:spPr>
          <a:xfrm>
            <a:off x="1143000" y="2933700"/>
            <a:ext cx="16002000" cy="1905000"/>
          </a:xfrm>
          <a:prstGeom prst="rect">
            <a:avLst/>
          </a:prstGeom>
        </p:spPr>
        <p:txBody>
          <a:bodyPr wrap="square" rtlCol="0" anchor="t" lIns="0" tIns="0" rIns="0" bIns="0"/>
          <a:lstStyle>
            <a:lvl1pPr marL="0" indent="0" algn="l">
              <a:lnSpc>
                <a:spcPct val="90000"/>
              </a:lnSpc>
              <a:buNone/>
              <a:defRPr sz="7400" b="1">
                <a:solidFill>
                  <a:srgbClr val="000000"/>
                </a:solidFill>
                <a:latin typeface="Aptos Display"/>
              </a:defRPr>
            </a:lvl1pPr>
          </a:lstStyle>
          <a:p>
            <a:r>
              <a:rPr lang="en-US"/>
              <a:t>Section title goes here.</a:t>
            </a:r>
            <a:endParaRPr lang="en-US"/>
          </a:p>
        </p:txBody>
      </p:sp>
      <p:sp>
        <p:nvSpPr>
          <p:cNvPr id="12" name="Body"/>
          <p:cNvSpPr>
            <a:spLocks noGrp="1"/>
          </p:cNvSpPr>
          <p:nvPr>
            <p:ph type="body" idx="10"/>
          </p:nvPr>
        </p:nvSpPr>
        <p:spPr>
          <a:xfrm>
            <a:off x="1143000" y="4953000"/>
            <a:ext cx="16002000" cy="4381500"/>
          </a:xfrm>
          <a:prstGeom prst="rect">
            <a:avLst/>
          </a:prstGeom>
        </p:spPr>
        <p:txBody>
          <a:bodyPr wrap="square" rtlCol="0" anchor="t" lIns="0" tIns="0" rIns="0" bIns="0"/>
          <a:lstStyle>
            <a:lvl1pPr marL="0" indent="0" algn="l">
              <a:buNone/>
              <a:defRPr sz="2500">
                <a:solidFill>
                  <a:srgbClr val="000000"/>
                </a:solidFill>
                <a:latin typeface="Aptos"/>
              </a:defRPr>
            </a:lvl1pPr>
          </a:lstStyle>
          <a:p>
            <a:r>
              <a:rPr lang="en-US"/>
              <a:t>Body text.</a:t>
            </a:r>
            <a:endParaRPr lang="en-US"/>
          </a:p>
        </p:txBody>
      </p:sp>
      <p:sp>
        <p:nvSpPr>
          <p:cNvPr id="13" name="Footer"/>
          <p:cNvSpPr>
            <a:spLocks noGrp="1"/>
          </p:cNvSpPr>
          <p:nvPr/>
        </p:nvSpPr>
        <p:spPr>
          <a:xfrm>
            <a:off x="1143000" y="9982200"/>
            <a:ext cx="16002000" cy="228600"/>
          </a:xfrm>
          <a:prstGeom prst="rect">
            <a:avLst/>
          </a:prstGeom>
        </p:spPr>
        <p:txBody>
          <a:bodyPr wrap="square" rtlCol="0" anchor="t" lIns="0" tIns="0" rIns="0" bIns="0"/>
          <a:lstStyle>
            <a:lvl1pPr marL="0" indent="0" algn="l">
              <a:buNone/>
              <a:defRPr sz="1000" cap="all" spc="50">
                <a:solidFill>
                  <a:srgbClr val="6B7280"/>
                </a:solidFill>
                <a:latin typeface="Aptos"/>
              </a:defRPr>
            </a:lvl1pPr>
          </a:lstStyle>
          <a:p>
            <a:r>
              <a:rPr lang="en-US"/>
              <a:t>OPEN COMPONENT MODEL · OCM.SOFTWARE</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4.png"/><Relationship Id="rId3" Type="http://schemas.openxmlformats.org/officeDocument/2006/relationships/hyperlink" Target="https://www.bwi.de" TargetMode="External"/><Relationship Id="rId4" Type="http://schemas.openxmlformats.org/officeDocument/2006/relationships/image" Target="../media/image15.png"/><Relationship Id="rId5" Type="http://schemas.openxmlformats.org/officeDocument/2006/relationships/hyperlink" Target="https://sapns2.com" TargetMode="External"/><Relationship Id="rId6" Type="http://schemas.openxmlformats.org/officeDocument/2006/relationships/image" Target="../media/image16.png"/><Relationship Id="rId7" Type="http://schemas.openxmlformats.org/officeDocument/2006/relationships/hyperlink" Target="https://gardener.cloud" TargetMode="External"/><Relationship Id="rId8" Type="http://schemas.openxmlformats.org/officeDocument/2006/relationships/image" Target="../media/image17.png"/><Relationship Id="rId9" Type="http://schemas.openxmlformats.org/officeDocument/2006/relationships/hyperlink" Target="https://kyma-project.io" TargetMode="External"/><Relationship Id="rId10" Type="http://schemas.openxmlformats.org/officeDocument/2006/relationships/image" Target="../media/image18.png"/><Relationship Id="rId11" Type="http://schemas.openxmlformats.org/officeDocument/2006/relationships/hyperlink" Target="https://open-control-plane.io" TargetMode="External"/><Relationship Id="rId12" Type="http://schemas.openxmlformats.org/officeDocument/2006/relationships/image" Target="../media/image19.png"/><Relationship Id="rId13" Type="http://schemas.openxmlformats.org/officeDocument/2006/relationships/hyperlink" Target="https://platform-mesh.io" TargetMode="External"/><Relationship Id="rId14" Type="http://schemas.openxmlformats.org/officeDocument/2006/relationships/image" Target="../media/image20.png"/><Relationship Id="rId15" Type="http://schemas.openxmlformats.org/officeDocument/2006/relationships/hyperlink" Target="https://neonephos.org" TargetMode="Externa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Your supply chain has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blind spots.</a:t>
            </a:r>
          </a:p>
        </p:txBody>
      </p:sp>
      <p:sp>
        <p:nvSpPr>
          <p:cNvPr id="4" name="Text Placeholder 3"/>
          <p:cNvSpPr>
            <a:spLocks noGrp="1"/>
          </p:cNvSpPr>
          <p:nvPr>
            <p:ph type="body" idx="3"/>
          </p:nvPr>
        </p:nvSpPr>
        <p:spPr/>
        <p:txBody>
          <a:bodyPr/>
          <a:lstStyle/>
          <a:p>
            <a:r>
              <a:rPr>
                <a:solidFill>
                  <a:srgbClr val="5CD6FF"/>
                </a:solidFill>
              </a:rPr>
              <a:t>Three minutes from now, you'll know what they are.</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THREE BLIND SPOTS</a:t>
            </a:r>
          </a:p>
        </p:txBody>
      </p:sp>
      <p:sp>
        <p:nvSpPr>
          <p:cNvPr id="3" name="Title 2"/>
          <p:cNvSpPr>
            <a:spLocks noGrp="1"/>
          </p:cNvSpPr>
          <p:nvPr>
            <p:ph type="title" idx="2"/>
          </p:nvPr>
        </p:nvSpPr>
        <p:spPr/>
        <p:txBody>
          <a:bodyPr/>
          <a:lstStyle/>
          <a:p>
            <a:r>
              <a:t>Where today's delivery model can't see.</a:t>
            </a:r>
          </a:p>
        </p:txBody>
      </p:sp>
      <p:sp>
        <p:nvSpPr>
          <p:cNvPr id="4" name="Text Placeholder 3"/>
          <p:cNvSpPr>
            <a:spLocks noGrp="1"/>
          </p:cNvSpPr>
          <p:nvPr>
            <p:ph type="body" idx="10"/>
          </p:nvPr>
        </p:nvSpPr>
        <p:spPr/>
        <p:txBody>
          <a:bodyPr/>
          <a:lstStyle/>
          <a:p>
            <a:r>
              <a:t>IDENTITY DRIFT</a:t>
            </a:r>
          </a:p>
        </p:txBody>
      </p:sp>
      <p:sp>
        <p:nvSpPr>
          <p:cNvPr id="5" name="Text Placeholder 4"/>
          <p:cNvSpPr>
            <a:spLocks noGrp="1"/>
          </p:cNvSpPr>
          <p:nvPr>
            <p:ph type="body" idx="11"/>
          </p:nvPr>
        </p:nvSpPr>
        <p:spPr/>
        <p:txBody>
          <a:bodyPr/>
          <a:lstStyle/>
          <a:p>
            <a:r>
              <a:t>You signed the artifact at source.</a:t>
            </a:r>
          </a:p>
          <a:p>
            <a:r>
              <a:t>Each transfer changes its reference. Downstream verifies a reference you never signed.</a:t>
            </a:r>
          </a:p>
        </p:txBody>
      </p:sp>
      <p:sp>
        <p:nvSpPr>
          <p:cNvPr id="6" name="Text Placeholder 5"/>
          <p:cNvSpPr>
            <a:spLocks noGrp="1"/>
          </p:cNvSpPr>
          <p:nvPr>
            <p:ph type="body" idx="12"/>
          </p:nvPr>
        </p:nvSpPr>
        <p:spPr/>
        <p:txBody>
          <a:bodyPr/>
          <a:lstStyle/>
          <a:p>
            <a:r>
              <a:t>NO RELEASE ENVELOPE</a:t>
            </a:r>
          </a:p>
        </p:txBody>
      </p:sp>
      <p:sp>
        <p:nvSpPr>
          <p:cNvPr id="7" name="Text Placeholder 6"/>
          <p:cNvSpPr>
            <a:spLocks noGrp="1"/>
          </p:cNvSpPr>
          <p:nvPr>
            <p:ph type="body" idx="13"/>
          </p:nvPr>
        </p:nvSpPr>
        <p:spPr/>
        <p:txBody>
          <a:bodyPr/>
          <a:lstStyle/>
          <a:p>
            <a:r>
              <a:t>You sign artifacts. You don't sign the release.</a:t>
            </a:r>
          </a:p>
          <a:p>
            <a:r>
              <a:t>Twelve pieces, twelve signatures — if you're lucky.</a:t>
            </a:r>
          </a:p>
        </p:txBody>
      </p:sp>
      <p:sp>
        <p:nvSpPr>
          <p:cNvPr id="8" name="Text Placeholder 7"/>
          <p:cNvSpPr>
            <a:spLocks noGrp="1"/>
          </p:cNvSpPr>
          <p:nvPr>
            <p:ph type="body" idx="14"/>
          </p:nvPr>
        </p:nvSpPr>
        <p:spPr/>
        <p:txBody>
          <a:bodyPr/>
          <a:lstStyle/>
          <a:p>
            <a:r>
              <a:t>UNVERIFIED ARRIVAL</a:t>
            </a:r>
          </a:p>
        </p:txBody>
      </p:sp>
      <p:sp>
        <p:nvSpPr>
          <p:cNvPr id="9" name="Text Placeholder 8"/>
          <p:cNvSpPr>
            <a:spLocks noGrp="1"/>
          </p:cNvSpPr>
          <p:nvPr>
            <p:ph type="body" idx="15"/>
          </p:nvPr>
        </p:nvSpPr>
        <p:spPr/>
        <p:txBody>
          <a:bodyPr/>
          <a:lstStyle/>
          <a:p>
            <a:r>
              <a:t>Sovereign zones forbid upstream traffic.</a:t>
            </a:r>
          </a:p>
          <a:p>
            <a:r>
              <a:t>Verification ships with the release — or it doesn't happen.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a:t>
            </a:r>
          </a:p>
        </p:txBody>
      </p:sp>
      <p:sp>
        <p:nvSpPr>
          <p:cNvPr id="3" name="Title 2"/>
          <p:cNvSpPr>
            <a:spLocks noGrp="1"/>
          </p:cNvSpPr>
          <p:nvPr>
            <p:ph type="title" idx="2"/>
          </p:nvPr>
        </p:nvSpPr>
        <p:spPr/>
        <p:txBody>
          <a:bodyPr/>
          <a:lstStyle/>
          <a:p>
            <a:r>
              <a:t>Sovereignty is no longer optional</a:t>
            </a:r>
          </a:p>
        </p:txBody>
      </p:sp>
      <p:sp>
        <p:nvSpPr>
          <p:cNvPr id="4" name="Text Placeholder 3"/>
          <p:cNvSpPr>
            <a:spLocks noGrp="1"/>
          </p:cNvSpPr>
          <p:nvPr>
            <p:ph type="body" idx="10"/>
          </p:nvPr>
        </p:nvSpPr>
        <p:spPr/>
        <p:txBody>
          <a:bodyPr/>
          <a:lstStyle/>
          <a:p>
            <a:r>
              <a:t>SOVEREIGNTY PRESSURE</a:t>
            </a:r>
          </a:p>
        </p:txBody>
      </p:sp>
      <p:sp>
        <p:nvSpPr>
          <p:cNvPr id="5" name="Text Placeholder 4"/>
          <p:cNvSpPr>
            <a:spLocks noGrp="1"/>
          </p:cNvSpPr>
          <p:nvPr>
            <p:ph type="body" idx="11"/>
          </p:nvPr>
        </p:nvSpPr>
        <p:spPr/>
        <p:txBody>
          <a:bodyPr/>
          <a:lstStyle/>
          <a:p>
            <a:r>
              <a:t>The law draws boundaries — jurisdiction, sector, air-gap.</a:t>
            </a:r>
          </a:p>
          <a:p>
            <a:r>
              <a:t>Software must be deliverable inside each one.</a:t>
            </a:r>
          </a:p>
        </p:txBody>
      </p:sp>
      <p:sp>
        <p:nvSpPr>
          <p:cNvPr id="6" name="Text Placeholder 5"/>
          <p:cNvSpPr>
            <a:spLocks noGrp="1"/>
          </p:cNvSpPr>
          <p:nvPr>
            <p:ph type="body" idx="12"/>
          </p:nvPr>
        </p:nvSpPr>
        <p:spPr/>
        <p:txBody>
          <a:bodyPr/>
          <a:lstStyle/>
          <a:p>
            <a:r>
              <a:t>REGULATION TIGHTENING</a:t>
            </a:r>
          </a:p>
        </p:txBody>
      </p:sp>
      <p:sp>
        <p:nvSpPr>
          <p:cNvPr id="7" name="Text Placeholder 6"/>
          <p:cNvSpPr>
            <a:spLocks noGrp="1"/>
          </p:cNvSpPr>
          <p:nvPr>
            <p:ph type="body" idx="13"/>
          </p:nvPr>
        </p:nvSpPr>
        <p:spPr/>
        <p:txBody>
          <a:bodyPr/>
          <a:lstStyle/>
          <a:p>
            <a:r>
              <a:t>EU DORA · NIS2 · CRA. Provable supply-chain control, not best effort.</a:t>
            </a:r>
          </a:p>
        </p:txBody>
      </p:sp>
      <p:sp>
        <p:nvSpPr>
          <p:cNvPr id="8" name="Text Placeholder 7"/>
          <p:cNvSpPr>
            <a:spLocks noGrp="1"/>
          </p:cNvSpPr>
          <p:nvPr>
            <p:ph type="body" idx="14"/>
          </p:nvPr>
        </p:nvSpPr>
        <p:spPr/>
        <p:txBody>
          <a:bodyPr/>
          <a:lstStyle/>
          <a:p>
            <a:r>
              <a:t>SUPPLY-CHAIN ATTACKS ARE REAL</a:t>
            </a:r>
          </a:p>
        </p:txBody>
      </p:sp>
      <p:sp>
        <p:nvSpPr>
          <p:cNvPr id="9" name="Text Placeholder 8"/>
          <p:cNvSpPr>
            <a:spLocks noGrp="1"/>
          </p:cNvSpPr>
          <p:nvPr>
            <p:ph type="body" idx="15"/>
          </p:nvPr>
        </p:nvSpPr>
        <p:spPr/>
        <p:txBody>
          <a:bodyPr/>
          <a:lstStyle/>
          <a:p>
            <a:r>
              <a:t>SolarWinds. xz. log4shell. Signatures must survive the journey, or compliance is theatre.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00.png"/>
          <p:cNvPicPr>
            <a:picLocks noChangeAspect="1"/>
          </p:cNvPicPr>
          <p:nvPr/>
        </p:nvPicPr>
        <p:blipFill>
          <a:blip r:embed="rId2"/>
          <a:stretch>
            <a:fillRect/>
          </a:stretch>
        </p:blipFill>
        <p:spPr>
          <a:xfrm>
            <a:off x="571500" y="3271837"/>
            <a:ext cx="17145000" cy="545782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SBOM — what's inside your software. Built for inventory.</a:t>
            </a:r>
          </a:p>
          <a:p>
            <a:pPr>
              <a:spcBef>
                <a:spcPts val="800"/>
              </a:spcBef>
              <a:spcAft>
                <a:spcPts val="800"/>
              </a:spcAft>
            </a:pPr>
            <a:r>
              <a:rPr b="1">
                <a:solidFill>
                  <a:srgbClr val="0F6BFF"/>
                </a:solidFill>
              </a:rPr>
              <a:t>▪  </a:t>
            </a:r>
            <a:r>
              <a:rPr>
                <a:solidFill>
                  <a:srgbClr val="000000"/>
                </a:solidFill>
              </a:rPr>
              <a:t>A Software Bill of Delivery (SBOD) — what you delivered, how to verify, transport, operate. Built for delivery.</a:t>
            </a:r>
          </a:p>
          <a:p>
            <a:pPr>
              <a:spcBef>
                <a:spcPts val="800"/>
              </a:spcBef>
              <a:spcAft>
                <a:spcPts val="800"/>
              </a:spcAft>
            </a:pPr>
            <a:r>
              <a:rPr b="1">
                <a:solidFill>
                  <a:srgbClr val="0F6BFF"/>
                </a:solidFill>
              </a:rPr>
              <a:t>▪  </a:t>
            </a:r>
            <a:r>
              <a:rPr>
                <a:solidFill>
                  <a:srgbClr val="000000"/>
                </a:solidFill>
              </a:rPr>
              <a:t>SBOD contains SBOM. OCM doesn't replace your SBOM tooling — OCM gives the SBOM an envelope.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SBOM lists. SBOD delivers.</a:t>
            </a:r>
          </a:p>
        </p:txBody>
      </p:sp>
      <p:pic>
        <p:nvPicPr>
          <p:cNvPr id="4" name="Picture 3" descr="04-sbom-inside-sbod_1800.png"/>
          <p:cNvPicPr>
            <a:picLocks noChangeAspect="1"/>
          </p:cNvPicPr>
          <p:nvPr/>
        </p:nvPicPr>
        <p:blipFill>
          <a:blip r:embed="rId2"/>
          <a:stretch>
            <a:fillRect/>
          </a:stretch>
        </p:blipFill>
        <p:spPr>
          <a:xfrm>
            <a:off x="889000" y="2286000"/>
            <a:ext cx="16510000" cy="74295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Composes around your existing stack.</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You sign artifacts.</a:t>
            </a:r>
          </a:p>
          <a:p>
            <a:r>
              <a:t>OCM signs the release.</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Your registries differ.</a:t>
            </a:r>
          </a:p>
          <a:p>
            <a:r>
              <a:t>OCM moves the release across them.</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Your scanners see one artifact at a time.</a:t>
            </a:r>
          </a:p>
          <a:p>
            <a:r>
              <a:t>OCM correlates findings to the release.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800.png"/>
          <p:cNvPicPr>
            <a:picLocks noChangeAspect="1"/>
          </p:cNvPicPr>
          <p:nvPr/>
        </p:nvPicPr>
        <p:blipFill>
          <a:blip r:embed="rId2"/>
          <a:stretch>
            <a:fillRect/>
          </a:stretch>
        </p:blipFill>
        <p:spPr>
          <a:xfrm>
            <a:off x="571500" y="3586162"/>
            <a:ext cx="17145000" cy="482917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 location-independent. The component carries its name regardless of registry.</a:t>
            </a:r>
          </a:p>
          <a:p>
            <a:pPr>
              <a:spcBef>
                <a:spcPts val="800"/>
              </a:spcBef>
              <a:spcAft>
                <a:spcPts val="800"/>
              </a:spcAft>
            </a:pPr>
            <a:r>
              <a:rPr b="1">
                <a:solidFill>
                  <a:srgbClr val="0F6BFF"/>
                </a:solidFill>
              </a:rPr>
              <a:t>▪  </a:t>
            </a:r>
            <a:r>
              <a:rPr>
                <a:solidFill>
                  <a:srgbClr val="000000"/>
                </a:solidFill>
              </a:rPr>
              <a:t>Signatures — location-independent. Sign once at source, verify anywhere downstream. No callback upstream.</a:t>
            </a:r>
          </a:p>
          <a:p>
            <a:pPr>
              <a:spcBef>
                <a:spcPts val="800"/>
              </a:spcBef>
              <a:spcAft>
                <a:spcPts val="800"/>
              </a:spcAft>
            </a:pPr>
            <a:r>
              <a:rPr b="1">
                <a:solidFill>
                  <a:srgbClr val="0F6BFF"/>
                </a:solidFill>
              </a:rPr>
              <a:t>▪  </a:t>
            </a:r>
            <a:r>
              <a:rPr>
                <a:solidFill>
                  <a:srgbClr val="000000"/>
                </a:solidFill>
              </a:rPr>
              <a:t>Day-2 ops — happen inside the boundary. Subscribe, pull upgrades, scale across regions. Still no callback.</a:t>
            </a:r>
          </a:p>
          <a:p>
            <a:pPr>
              <a:spcBef>
                <a:spcPts val="800"/>
              </a:spcBef>
              <a:spcAft>
                <a:spcPts val="800"/>
              </a:spcAft>
            </a:pPr>
            <a:r>
              <a:rPr b="1">
                <a:solidFill>
                  <a:srgbClr val="0F6BFF"/>
                </a:solidFill>
              </a:rPr>
              <a:t>▪  </a:t>
            </a:r>
            <a:r>
              <a:rPr>
                <a:solidFill>
                  <a:srgbClr val="000000"/>
                </a:solidFill>
              </a:rPr>
              <a:t>Transfer — self-contained. Every artifact travels with the component.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800.png"/>
          <p:cNvPicPr>
            <a:picLocks noChangeAspect="1"/>
          </p:cNvPicPr>
          <p:nvPr/>
        </p:nvPicPr>
        <p:blipFill>
          <a:blip r:embed="rId2"/>
          <a:stretch>
            <a:fillRect/>
          </a:stretch>
        </p:blipFill>
        <p:spPr>
          <a:xfrm>
            <a:off x="1323474" y="2286000"/>
            <a:ext cx="15641052" cy="74295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 OCM's compliance automation engine, built on the same primitives.</a:t>
            </a:r>
          </a:p>
          <a:p>
            <a:pPr>
              <a:spcBef>
                <a:spcPts val="800"/>
              </a:spcBef>
              <a:spcAft>
                <a:spcPts val="800"/>
              </a:spcAft>
            </a:pPr>
            <a:r>
              <a:rPr b="1">
                <a:solidFill>
                  <a:srgbClr val="0F6BFF"/>
                </a:solidFill>
              </a:rPr>
              <a:t>▪  </a:t>
            </a:r>
            <a:r>
              <a:rPr>
                <a:solidFill>
                  <a:srgbClr val="000000"/>
                </a:solidFill>
              </a:rPr>
              <a:t>The Compliance Dashboard — every component, every finding, one view.</a:t>
            </a:r>
          </a:p>
          <a:p>
            <a:pPr>
              <a:spcBef>
                <a:spcPts val="800"/>
              </a:spcBef>
              <a:spcAft>
                <a:spcPts val="800"/>
              </a:spcAft>
            </a:pPr>
            <a:r>
              <a:rPr b="1">
                <a:solidFill>
                  <a:srgbClr val="0F6BFF"/>
                </a:solidFill>
              </a:rPr>
              <a:t>▪  </a:t>
            </a:r>
            <a:r>
              <a:rPr>
                <a:solidFill>
                  <a:srgbClr val="000000"/>
                </a:solidFill>
              </a:rPr>
              <a:t>Continuous scans — asynchronous, even post-release.</a:t>
            </a:r>
          </a:p>
          <a:p>
            <a:pPr>
              <a:spcBef>
                <a:spcPts val="800"/>
              </a:spcBef>
              <a:spcAft>
                <a:spcPts val="800"/>
              </a:spcAft>
            </a:pPr>
            <a:r>
              <a:rPr b="1">
                <a:solidFill>
                  <a:srgbClr val="0F6BFF"/>
                </a:solidFill>
              </a:rPr>
              <a:t>▪  </a:t>
            </a:r>
            <a:r>
              <a:rPr>
                <a:solidFill>
                  <a:srgbClr val="000000"/>
                </a:solidFill>
              </a:rPr>
              <a:t>Contextual rescoring — patch what matters, not the noise.</a:t>
            </a:r>
          </a:p>
          <a:p>
            <a:pPr>
              <a:spcBef>
                <a:spcPts val="800"/>
              </a:spcBef>
              <a:spcAft>
                <a:spcPts val="800"/>
              </a:spcAft>
            </a:pPr>
            <a:r>
              <a:rPr b="1">
                <a:solidFill>
                  <a:srgbClr val="0F6BFF"/>
                </a:solidFill>
              </a:rPr>
              <a:t>▪  </a:t>
            </a:r>
            <a:r>
              <a:rPr>
                <a:solidFill>
                  <a:srgbClr val="000000"/>
                </a:solidFill>
              </a:rPr>
              <a:t>Identity-correlated evidence — auditors get answers, not spreadsheets.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a:t>
            </a:r>
          </a:p>
        </p:txBody>
      </p:sp>
      <p:sp>
        <p:nvSpPr>
          <p:cNvPr id="3" name="Title 2"/>
          <p:cNvSpPr>
            <a:spLocks noGrp="1"/>
          </p:cNvSpPr>
          <p:nvPr>
            <p:ph type="title" idx="2"/>
          </p:nvPr>
        </p:nvSpPr>
        <p:spPr/>
        <p:txBody>
          <a:bodyPr/>
          <a:lstStyle/>
          <a:p>
            <a:r>
              <a:t>One model unlocks all of this.</a:t>
            </a:r>
          </a:p>
        </p:txBody>
      </p:sp>
      <p:sp>
        <p:nvSpPr>
          <p:cNvPr id="4" name="Text Placeholder 3"/>
          <p:cNvSpPr>
            <a:spLocks noGrp="1"/>
          </p:cNvSpPr>
          <p:nvPr>
            <p:ph type="body" idx="20"/>
          </p:nvPr>
        </p:nvSpPr>
        <p:spPr/>
        <p:txBody>
          <a:bodyPr/>
          <a:lstStyle/>
          <a:p>
            <a:r>
              <a:t>Code signing across stacks</a:t>
            </a:r>
          </a:p>
        </p:txBody>
      </p:sp>
      <p:sp>
        <p:nvSpPr>
          <p:cNvPr id="5" name="Text Placeholder 4"/>
          <p:cNvSpPr>
            <a:spLocks noGrp="1"/>
          </p:cNvSpPr>
          <p:nvPr>
            <p:ph type="body" idx="21"/>
          </p:nvPr>
        </p:nvSpPr>
        <p:spPr/>
        <p:txBody>
          <a:bodyPr/>
          <a:lstStyle/>
          <a:p>
            <a:r>
              <a:t>Sign once at source; verify everywhere, with no per-stack tooling.</a:t>
            </a:r>
          </a:p>
        </p:txBody>
      </p:sp>
      <p:sp>
        <p:nvSpPr>
          <p:cNvPr id="6" name="Text Placeholder 5"/>
          <p:cNvSpPr>
            <a:spLocks noGrp="1"/>
          </p:cNvSpPr>
          <p:nvPr>
            <p:ph type="body" idx="22"/>
          </p:nvPr>
        </p:nvSpPr>
        <p:spPr/>
        <p:txBody>
          <a:bodyPr/>
          <a:lstStyle/>
          <a:p>
            <a:r>
              <a:t>Air-gapped delivery</a:t>
            </a:r>
          </a:p>
        </p:txBody>
      </p:sp>
      <p:sp>
        <p:nvSpPr>
          <p:cNvPr id="7" name="Text Placeholder 6"/>
          <p:cNvSpPr>
            <a:spLocks noGrp="1"/>
          </p:cNvSpPr>
          <p:nvPr>
            <p:ph type="body" idx="23"/>
          </p:nvPr>
        </p:nvSpPr>
        <p:spPr/>
        <p:txBody>
          <a:bodyPr/>
          <a:lstStyle/>
          <a:p>
            <a:r>
              <a:t>Walk a complete component across an air gap; verify at destination.</a:t>
            </a:r>
          </a:p>
        </p:txBody>
      </p:sp>
      <p:sp>
        <p:nvSpPr>
          <p:cNvPr id="8" name="Text Placeholder 7"/>
          <p:cNvSpPr>
            <a:spLocks noGrp="1"/>
          </p:cNvSpPr>
          <p:nvPr>
            <p:ph type="body" idx="24"/>
          </p:nvPr>
        </p:nvSpPr>
        <p:spPr/>
        <p:txBody>
          <a:bodyPr/>
          <a:lstStyle/>
          <a:p>
            <a:r>
              <a:t>Kubernetes-native deployment</a:t>
            </a:r>
          </a:p>
        </p:txBody>
      </p:sp>
      <p:sp>
        <p:nvSpPr>
          <p:cNvPr id="9" name="Text Placeholder 8"/>
          <p:cNvSpPr>
            <a:spLocks noGrp="1"/>
          </p:cNvSpPr>
          <p:nvPr>
            <p:ph type="body" idx="25"/>
          </p:nvPr>
        </p:nvSpPr>
        <p:spPr/>
        <p:txBody>
          <a:bodyPr/>
          <a:lstStyle/>
          <a:p>
            <a:r>
              <a:t>OCM controllers deploy components directly into clusters.</a:t>
            </a:r>
          </a:p>
        </p:txBody>
      </p:sp>
      <p:sp>
        <p:nvSpPr>
          <p:cNvPr id="10" name="Text Placeholder 9"/>
          <p:cNvSpPr>
            <a:spLocks noGrp="1"/>
          </p:cNvSpPr>
          <p:nvPr>
            <p:ph type="body" idx="26"/>
          </p:nvPr>
        </p:nvSpPr>
        <p:spPr/>
        <p:txBody>
          <a:bodyPr/>
          <a:lstStyle/>
          <a:p>
            <a:r>
              <a:t>Asynchronous security scans</a:t>
            </a:r>
          </a:p>
        </p:txBody>
      </p:sp>
      <p:sp>
        <p:nvSpPr>
          <p:cNvPr id="11" name="Text Placeholder 10"/>
          <p:cNvSpPr>
            <a:spLocks noGrp="1"/>
          </p:cNvSpPr>
          <p:nvPr>
            <p:ph type="body" idx="27"/>
          </p:nvPr>
        </p:nvSpPr>
        <p:spPr/>
        <p:txBody>
          <a:bodyPr/>
          <a:lstStyle/>
          <a:p>
            <a:r>
              <a:t>Continuous scanning, even after release; findings tied to component identity.</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Rebuild any landscape from a single signed descriptor.</a:t>
            </a:r>
          </a:p>
        </p:txBody>
      </p:sp>
      <p:sp>
        <p:nvSpPr>
          <p:cNvPr id="14" name="Text Placeholder 13"/>
          <p:cNvSpPr>
            <a:spLocks noGrp="1"/>
          </p:cNvSpPr>
          <p:nvPr>
            <p:ph type="body" idx="30"/>
          </p:nvPr>
        </p:nvSpPr>
        <p:spPr/>
        <p:txBody>
          <a:bodyPr/>
          <a:lstStyle/>
          <a:p>
            <a:r>
              <a:t>Automated compliance reporting</a:t>
            </a:r>
          </a:p>
        </p:txBody>
      </p:sp>
      <p:sp>
        <p:nvSpPr>
          <p:cNvPr id="15" name="Text Placeholder 14"/>
          <p:cNvSpPr>
            <a:spLocks noGrp="1"/>
          </p:cNvSpPr>
          <p:nvPr>
            <p:ph type="body" idx="31"/>
          </p:nvPr>
        </p:nvSpPr>
        <p:spPr/>
        <p:txBody>
          <a:bodyPr/>
          <a:lstStyle/>
          <a:p>
            <a:r>
              <a:t>Reports composed from SBOD metadata — no spreadsheet drift.</a:t>
            </a:r>
          </a:p>
        </p:txBody>
      </p:sp>
      <p:pic>
        <p:nvPicPr>
          <p:cNvPr id="16" name="Picture 15" descr="lock_96_0F6BFF.png"/>
          <p:cNvPicPr>
            <a:picLocks noChangeAspect="1"/>
          </p:cNvPicPr>
          <p:nvPr/>
        </p:nvPicPr>
        <p:blipFill>
          <a:blip r:embed="rId2"/>
          <a:stretch>
            <a:fillRect/>
          </a:stretch>
        </p:blipFill>
        <p:spPr>
          <a:xfrm>
            <a:off x="1371600" y="5181600"/>
            <a:ext cx="457200" cy="457200"/>
          </a:xfrm>
          <a:prstGeom prst="rect">
            <a:avLst/>
          </a:prstGeom>
        </p:spPr>
      </p:pic>
      <p:pic>
        <p:nvPicPr>
          <p:cNvPr id="17" name="Picture 16" descr="package-export_96_0F6BFF.png"/>
          <p:cNvPicPr>
            <a:picLocks noChangeAspect="1"/>
          </p:cNvPicPr>
          <p:nvPr/>
        </p:nvPicPr>
        <p:blipFill>
          <a:blip r:embed="rId3"/>
          <a:stretch>
            <a:fillRect/>
          </a:stretch>
        </p:blipFill>
        <p:spPr>
          <a:xfrm>
            <a:off x="6781800" y="5181600"/>
            <a:ext cx="457200" cy="457200"/>
          </a:xfrm>
          <a:prstGeom prst="rect">
            <a:avLst/>
          </a:prstGeom>
        </p:spPr>
      </p:pic>
      <p:pic>
        <p:nvPicPr>
          <p:cNvPr id="18" name="Picture 17" descr="rocket_96_0F6BFF.png"/>
          <p:cNvPicPr>
            <a:picLocks noChangeAspect="1"/>
          </p:cNvPicPr>
          <p:nvPr/>
        </p:nvPicPr>
        <p:blipFill>
          <a:blip r:embed="rId4"/>
          <a:stretch>
            <a:fillRect/>
          </a:stretch>
        </p:blipFill>
        <p:spPr>
          <a:xfrm>
            <a:off x="12192000" y="5181600"/>
            <a:ext cx="457200" cy="457200"/>
          </a:xfrm>
          <a:prstGeom prst="rect">
            <a:avLst/>
          </a:prstGeom>
        </p:spPr>
      </p:pic>
      <p:pic>
        <p:nvPicPr>
          <p:cNvPr id="19" name="Picture 18" descr="radar_96_0F6BFF.png"/>
          <p:cNvPicPr>
            <a:picLocks noChangeAspect="1"/>
          </p:cNvPicPr>
          <p:nvPr/>
        </p:nvPicPr>
        <p:blipFill>
          <a:blip r:embed="rId5"/>
          <a:stretch>
            <a:fillRect/>
          </a:stretch>
        </p:blipFill>
        <p:spPr>
          <a:xfrm>
            <a:off x="1371600" y="7600950"/>
            <a:ext cx="457200" cy="457200"/>
          </a:xfrm>
          <a:prstGeom prst="rect">
            <a:avLst/>
          </a:prstGeom>
        </p:spPr>
      </p:pic>
      <p:pic>
        <p:nvPicPr>
          <p:cNvPr id="20" name="Picture 19" descr="source-of-truth_96_0F6BFF.png"/>
          <p:cNvPicPr>
            <a:picLocks noChangeAspect="1"/>
          </p:cNvPicPr>
          <p:nvPr/>
        </p:nvPicPr>
        <p:blipFill>
          <a:blip r:embed="rId6"/>
          <a:stretch>
            <a:fillRect/>
          </a:stretch>
        </p:blipFill>
        <p:spPr>
          <a:xfrm>
            <a:off x="6781800" y="7600950"/>
            <a:ext cx="457200" cy="457200"/>
          </a:xfrm>
          <a:prstGeom prst="rect">
            <a:avLst/>
          </a:prstGeom>
        </p:spPr>
      </p:pic>
      <p:pic>
        <p:nvPicPr>
          <p:cNvPr id="21" name="Picture 20" descr="report-analytics_96_0F6BFF.png"/>
          <p:cNvPicPr>
            <a:picLocks noChangeAspect="1"/>
          </p:cNvPicPr>
          <p:nvPr/>
        </p:nvPicPr>
        <p:blipFill>
          <a:blip r:embed="rId7"/>
          <a:stretch>
            <a:fillRect/>
          </a:stretch>
        </p:blipFill>
        <p:spPr>
          <a:xfrm>
            <a:off x="12192000" y="7600950"/>
            <a:ext cx="457200" cy="4572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TRUSTED IN PRODUCTION</a:t>
            </a:r>
          </a:p>
        </p:txBody>
      </p:sp>
      <p:sp>
        <p:nvSpPr>
          <p:cNvPr id="3" name="Title 2"/>
          <p:cNvSpPr>
            <a:spLocks noGrp="1"/>
          </p:cNvSpPr>
          <p:nvPr>
            <p:ph type="title" idx="2"/>
          </p:nvPr>
        </p:nvSpPr>
        <p:spPr/>
        <p:txBody>
          <a:bodyPr/>
          <a:lstStyle/>
          <a:p>
            <a:r>
              <a:t>SAP stewards. NeoNephos governs.</a:t>
            </a:r>
          </a:p>
          <a:p>
            <a:r>
              <a:t>Production-grade. Sovereign-ready.</a:t>
            </a:r>
          </a:p>
        </p:txBody>
      </p:sp>
      <p:pic>
        <p:nvPicPr>
          <p:cNvPr id="4" name="Picture 3" descr="bwi-horizontal-color_720_crop.png">
            <a:hlinkClick r:id="rId3"/>
          </p:cNvPr>
          <p:cNvPicPr>
            <a:picLocks noChangeAspect="1"/>
          </p:cNvPicPr>
          <p:nvPr/>
        </p:nvPicPr>
        <p:blipFill>
          <a:blip r:embed="rId2"/>
          <a:stretch>
            <a:fillRect/>
          </a:stretch>
        </p:blipFill>
        <p:spPr>
          <a:xfrm>
            <a:off x="4200968" y="5000625"/>
            <a:ext cx="2266063" cy="1047750"/>
          </a:xfrm>
          <a:prstGeom prst="rect">
            <a:avLst/>
          </a:prstGeom>
        </p:spPr>
      </p:pic>
      <p:pic>
        <p:nvPicPr>
          <p:cNvPr id="5" name="Picture 4" descr="sap-ns2-getlogovector_crop.png">
            <a:hlinkClick r:id="rId5"/>
          </p:cNvPr>
          <p:cNvPicPr>
            <a:picLocks noChangeAspect="1"/>
          </p:cNvPicPr>
          <p:nvPr/>
        </p:nvPicPr>
        <p:blipFill>
          <a:blip r:embed="rId4"/>
          <a:stretch>
            <a:fillRect/>
          </a:stretch>
        </p:blipFill>
        <p:spPr>
          <a:xfrm>
            <a:off x="11239500" y="5013925"/>
            <a:ext cx="3429000" cy="1021150"/>
          </a:xfrm>
          <a:prstGeom prst="rect">
            <a:avLst/>
          </a:prstGeom>
        </p:spPr>
      </p:pic>
      <p:pic>
        <p:nvPicPr>
          <p:cNvPr id="6" name="Picture 5" descr="gardener-horizontal-color_640_crop.png">
            <a:hlinkClick r:id="rId7"/>
          </p:cNvPr>
          <p:cNvPicPr>
            <a:picLocks noChangeAspect="1"/>
          </p:cNvPicPr>
          <p:nvPr/>
        </p:nvPicPr>
        <p:blipFill>
          <a:blip r:embed="rId6"/>
          <a:stretch>
            <a:fillRect/>
          </a:stretch>
        </p:blipFill>
        <p:spPr>
          <a:xfrm>
            <a:off x="1905000" y="7098072"/>
            <a:ext cx="3048000" cy="662855"/>
          </a:xfrm>
          <a:prstGeom prst="rect">
            <a:avLst/>
          </a:prstGeom>
        </p:spPr>
      </p:pic>
      <p:pic>
        <p:nvPicPr>
          <p:cNvPr id="7" name="Picture 6" descr="kyma-icon-color_640_crop.png">
            <a:hlinkClick r:id="rId9"/>
          </p:cNvPr>
          <p:cNvPicPr>
            <a:picLocks noChangeAspect="1"/>
          </p:cNvPicPr>
          <p:nvPr/>
        </p:nvPicPr>
        <p:blipFill>
          <a:blip r:embed="rId8"/>
          <a:stretch>
            <a:fillRect/>
          </a:stretch>
        </p:blipFill>
        <p:spPr>
          <a:xfrm>
            <a:off x="6771409" y="6972300"/>
            <a:ext cx="935181" cy="914400"/>
          </a:xfrm>
          <a:prstGeom prst="rect">
            <a:avLst/>
          </a:prstGeom>
        </p:spPr>
      </p:pic>
      <p:sp>
        <p:nvSpPr>
          <p:cNvPr id="8" name="TextBox 7"/>
          <p:cNvSpPr txBox="1"/>
          <p:nvPr/>
        </p:nvSpPr>
        <p:spPr>
          <a:xfrm>
            <a:off x="5334000" y="8058150"/>
            <a:ext cx="3810000" cy="266700"/>
          </a:xfrm>
          <a:prstGeom prst="rect">
            <a:avLst/>
          </a:prstGeom>
          <a:noFill/>
        </p:spPr>
        <p:txBody>
          <a:bodyPr wrap="none" lIns="0" rIns="0" tIns="0" bIns="0">
            <a:spAutoFit/>
          </a:bodyPr>
          <a:lstStyle/>
          <a:p>
            <a:pPr algn="ctr"/>
            <a:r>
              <a:rPr sz="1800">
                <a:solidFill>
                  <a:srgbClr val="6B7280"/>
                </a:solidFill>
                <a:latin typeface="Aptos"/>
              </a:rPr>
              <a:t>Kyma</a:t>
            </a:r>
          </a:p>
        </p:txBody>
      </p:sp>
      <p:pic>
        <p:nvPicPr>
          <p:cNvPr id="9" name="Picture 8" descr="opencontrolplane-icon-color_640_crop.png">
            <a:hlinkClick r:id="rId11"/>
          </p:cNvPr>
          <p:cNvPicPr>
            <a:picLocks noChangeAspect="1"/>
          </p:cNvPicPr>
          <p:nvPr/>
        </p:nvPicPr>
        <p:blipFill>
          <a:blip r:embed="rId10"/>
          <a:stretch>
            <a:fillRect/>
          </a:stretch>
        </p:blipFill>
        <p:spPr>
          <a:xfrm>
            <a:off x="10664927" y="6972300"/>
            <a:ext cx="768145" cy="914400"/>
          </a:xfrm>
          <a:prstGeom prst="rect">
            <a:avLst/>
          </a:prstGeom>
        </p:spPr>
      </p:pic>
      <p:sp>
        <p:nvSpPr>
          <p:cNvPr id="10" name="TextBox 9"/>
          <p:cNvSpPr txBox="1"/>
          <p:nvPr/>
        </p:nvSpPr>
        <p:spPr>
          <a:xfrm>
            <a:off x="9144000" y="8058150"/>
            <a:ext cx="3810000" cy="266700"/>
          </a:xfrm>
          <a:prstGeom prst="rect">
            <a:avLst/>
          </a:prstGeom>
          <a:noFill/>
        </p:spPr>
        <p:txBody>
          <a:bodyPr wrap="none" lIns="0" rIns="0" tIns="0" bIns="0">
            <a:spAutoFit/>
          </a:bodyPr>
          <a:lstStyle/>
          <a:p>
            <a:pPr algn="ctr"/>
            <a:r>
              <a:rPr sz="1800">
                <a:solidFill>
                  <a:srgbClr val="6B7280"/>
                </a:solidFill>
                <a:latin typeface="Aptos"/>
              </a:rPr>
              <a:t>OpenControlPlane</a:t>
            </a:r>
          </a:p>
        </p:txBody>
      </p:sp>
      <p:pic>
        <p:nvPicPr>
          <p:cNvPr id="11" name="Picture 10" descr="platform-mesh-horizontal-color_640_crop.png">
            <a:hlinkClick r:id="rId13"/>
          </p:cNvPr>
          <p:cNvPicPr>
            <a:picLocks noChangeAspect="1"/>
          </p:cNvPicPr>
          <p:nvPr/>
        </p:nvPicPr>
        <p:blipFill>
          <a:blip r:embed="rId12"/>
          <a:stretch>
            <a:fillRect/>
          </a:stretch>
        </p:blipFill>
        <p:spPr>
          <a:xfrm>
            <a:off x="13335000" y="7065169"/>
            <a:ext cx="3048000" cy="728662"/>
          </a:xfrm>
          <a:prstGeom prst="rect">
            <a:avLst/>
          </a:prstGeom>
        </p:spPr>
      </p:pic>
      <p:pic>
        <p:nvPicPr>
          <p:cNvPr id="12" name="Picture 11" descr="neonephos-foundation-horizontal-color_600.png">
            <a:hlinkClick r:id="rId15"/>
          </p:cNvPr>
          <p:cNvPicPr>
            <a:picLocks noChangeAspect="1"/>
          </p:cNvPicPr>
          <p:nvPr/>
        </p:nvPicPr>
        <p:blipFill>
          <a:blip r:embed="rId14"/>
          <a:stretch>
            <a:fillRect/>
          </a:stretch>
        </p:blipFill>
        <p:spPr>
          <a:xfrm>
            <a:off x="8848114" y="8782050"/>
            <a:ext cx="1953846" cy="381000"/>
          </a:xfrm>
          <a:prstGeom prst="rect">
            <a:avLst/>
          </a:prstGeom>
        </p:spPr>
      </p:pic>
      <p:sp>
        <p:nvSpPr>
          <p:cNvPr id="13" name="TextBox 12"/>
          <p:cNvSpPr txBox="1"/>
          <p:nvPr/>
        </p:nvSpPr>
        <p:spPr>
          <a:xfrm>
            <a:off x="7257439" y="8763000"/>
            <a:ext cx="1438275" cy="476250"/>
          </a:xfrm>
          <a:prstGeom prst="rect">
            <a:avLst/>
          </a:prstGeom>
          <a:noFill/>
        </p:spPr>
        <p:txBody>
          <a:bodyPr wrap="none" lIns="0" rIns="0" tIns="0" bIns="0">
            <a:spAutoFit/>
          </a:bodyPr>
          <a:lstStyle/>
          <a:p>
            <a:pPr algn="r"/>
            <a:r>
              <a:rPr sz="2000" i="0">
                <a:solidFill>
                  <a:srgbClr val="0A3A99"/>
                </a:solidFill>
                <a:latin typeface="Aptos"/>
              </a:rPr>
              <a:t>Aligned with </a:t>
            </a:r>
          </a:p>
        </p:txBody>
      </p:sp>
      <p:sp>
        <p:nvSpPr>
          <p:cNvPr id="14" name="TextBox 13"/>
          <p:cNvSpPr txBox="1"/>
          <p:nvPr/>
        </p:nvSpPr>
        <p:spPr>
          <a:xfrm>
            <a:off x="7258050" y="9220200"/>
            <a:ext cx="3771900" cy="266700"/>
          </a:xfrm>
          <a:prstGeom prst="rect">
            <a:avLst/>
          </a:prstGeom>
          <a:noFill/>
        </p:spPr>
        <p:txBody>
          <a:bodyPr wrap="none" lIns="0" rIns="0" tIns="0" bIns="0">
            <a:spAutoFit/>
          </a:bodyPr>
          <a:lstStyle/>
          <a:p>
            <a:pPr algn="ctr"/>
            <a:r>
              <a:rPr sz="2000">
                <a:solidFill>
                  <a:srgbClr val="6B7280"/>
                </a:solidFill>
                <a:latin typeface="Aptos"/>
              </a:rPr>
              <a:t>NeoNephos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Pilot. Evaluate. Engage.</a:t>
            </a:r>
          </a:p>
        </p:txBody>
      </p:sp>
      <p:sp>
        <p:nvSpPr>
          <p:cNvPr id="3" name="Text Placeholder 2"/>
          <p:cNvSpPr>
            <a:spLocks noGrp="1"/>
          </p:cNvSpPr>
          <p:nvPr>
            <p:ph type="body" idx="2"/>
          </p:nvPr>
        </p:nvSpPr>
        <p:spPr/>
        <p:txBody>
          <a:bodyPr/>
          <a:lstStyle/>
          <a:p>
            <a:r>
              <a:rPr b="1">
                <a:solidFill>
                  <a:srgbClr val="5CD6FF"/>
                </a:solidFill>
              </a:rPr>
              <a:t>Pilot</a:t>
            </a:r>
            <a:r>
              <a:rPr>
                <a:solidFill>
                  <a:srgbClr val="FFFFFF"/>
                </a:solidFill>
              </a:rPr>
              <a:t> — pack one regulated delivery this quarter</a:t>
            </a:r>
          </a:p>
          <a:p>
            <a:r>
              <a:rPr b="1">
                <a:solidFill>
                  <a:srgbClr val="5CD6FF"/>
                </a:solidFill>
              </a:rPr>
              <a:t>Evaluate</a:t>
            </a:r>
            <a:r>
              <a:rPr>
                <a:solidFill>
                  <a:srgbClr val="FFFFFF"/>
                </a:solidFill>
              </a:rPr>
              <a:t> — hear back from your platform and security leads</a:t>
            </a:r>
          </a:p>
          <a:p>
            <a:r>
              <a:rPr b="1">
                <a:solidFill>
                  <a:srgbClr val="5CD6FF"/>
                </a:solidFill>
              </a:rPr>
              <a:t>Engage</a:t>
            </a:r>
            <a:r>
              <a:rPr>
                <a:solidFill>
                  <a:srgbClr val="FFFFFF"/>
                </a:solidFill>
              </a:rPr>
              <a:t> — ocm.software · github.com/open-component-model</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APPENDIX — ABBREVIATIONS</a:t>
            </a:r>
          </a:p>
        </p:txBody>
      </p:sp>
      <p:sp>
        <p:nvSpPr>
          <p:cNvPr id="3" name="Title 2"/>
          <p:cNvSpPr>
            <a:spLocks noGrp="1"/>
          </p:cNvSpPr>
          <p:nvPr>
            <p:ph type="title" idx="2"/>
          </p:nvPr>
        </p:nvSpPr>
        <p:spPr/>
        <p:txBody>
          <a:bodyPr/>
          <a:lstStyle/>
          <a:p>
            <a:r>
              <a:t>Quick reference for the acronyms used in this deck.</a:t>
            </a:r>
          </a:p>
        </p:txBody>
      </p:sp>
      <p:sp>
        <p:nvSpPr>
          <p:cNvPr id="4" name="TextBox 3"/>
          <p:cNvSpPr txBox="1"/>
          <p:nvPr/>
        </p:nvSpPr>
        <p:spPr>
          <a:xfrm>
            <a:off x="1143000" y="4953000"/>
            <a:ext cx="7715250" cy="4572000"/>
          </a:xfrm>
          <a:prstGeom prst="rect">
            <a:avLst/>
          </a:prstGeom>
          <a:noFill/>
        </p:spPr>
        <p:txBody>
          <a:bodyPr wrap="square" lIns="0" rIns="0" tIns="0" bIns="0">
            <a:spAutoFit/>
          </a:bodyPr>
          <a:lstStyle/>
          <a:p>
            <a:pPr>
              <a:spcBef>
                <a:spcPts val="200"/>
              </a:spcBef>
              <a:spcAft>
                <a:spcPts val="600"/>
              </a:spcAft>
            </a:pPr>
            <a:r>
              <a:rPr sz="1400" b="1">
                <a:solidFill>
                  <a:srgbClr val="0F6BFF"/>
                </a:solidFill>
                <a:latin typeface="Aptos"/>
              </a:rPr>
              <a:t>BSI C5</a:t>
            </a:r>
            <a:r>
              <a:rPr sz="1300">
                <a:solidFill>
                  <a:srgbClr val="000000"/>
                </a:solidFill>
                <a:latin typeface="Aptos"/>
              </a:rPr>
              <a:t>  —  Bundesamt für Sicherheit in der Informationstechnik — Cloud Computing Compliance Criteria Catalogue.</a:t>
            </a:r>
          </a:p>
          <a:p>
            <a:pPr>
              <a:spcBef>
                <a:spcPts val="200"/>
              </a:spcBef>
              <a:spcAft>
                <a:spcPts val="600"/>
              </a:spcAft>
            </a:pPr>
            <a:r>
              <a:rPr sz="1400" b="1">
                <a:solidFill>
                  <a:srgbClr val="0F6BFF"/>
                </a:solidFill>
                <a:latin typeface="Aptos"/>
              </a:rPr>
              <a:t>BTP</a:t>
            </a:r>
            <a:r>
              <a:rPr sz="1300">
                <a:solidFill>
                  <a:srgbClr val="000000"/>
                </a:solidFill>
                <a:latin typeface="Aptos"/>
              </a:rPr>
              <a:t>  —  SAP Business Technology Platform.</a:t>
            </a:r>
          </a:p>
          <a:p>
            <a:pPr>
              <a:spcBef>
                <a:spcPts val="200"/>
              </a:spcBef>
              <a:spcAft>
                <a:spcPts val="600"/>
              </a:spcAft>
            </a:pPr>
            <a:r>
              <a:rPr sz="1400" b="1">
                <a:solidFill>
                  <a:srgbClr val="0F6BFF"/>
                </a:solidFill>
                <a:latin typeface="Aptos"/>
              </a:rPr>
              <a:t>CRA</a:t>
            </a:r>
            <a:r>
              <a:rPr sz="1300">
                <a:solidFill>
                  <a:srgbClr val="000000"/>
                </a:solidFill>
                <a:latin typeface="Aptos"/>
              </a:rPr>
              <a:t>  —  Cyber Resilience Act — EU regulation on cybersecurity for products with digital elements.</a:t>
            </a:r>
          </a:p>
          <a:p>
            <a:pPr>
              <a:spcBef>
                <a:spcPts val="200"/>
              </a:spcBef>
              <a:spcAft>
                <a:spcPts val="600"/>
              </a:spcAft>
            </a:pPr>
            <a:r>
              <a:rPr sz="1400" b="1">
                <a:solidFill>
                  <a:srgbClr val="0F6BFF"/>
                </a:solidFill>
                <a:latin typeface="Aptos"/>
              </a:rPr>
              <a:t>DORA</a:t>
            </a:r>
            <a:r>
              <a:rPr sz="1300">
                <a:solidFill>
                  <a:srgbClr val="000000"/>
                </a:solidFill>
                <a:latin typeface="Aptos"/>
              </a:rPr>
              <a:t>  —  Digital Operational Resilience Act — EU regulation for ICT risk in financial services.</a:t>
            </a:r>
          </a:p>
          <a:p>
            <a:pPr>
              <a:spcBef>
                <a:spcPts val="200"/>
              </a:spcBef>
              <a:spcAft>
                <a:spcPts val="600"/>
              </a:spcAft>
            </a:pPr>
            <a:r>
              <a:rPr sz="1400" b="1">
                <a:solidFill>
                  <a:srgbClr val="0F6BFF"/>
                </a:solidFill>
                <a:latin typeface="Aptos"/>
              </a:rPr>
              <a:t>FedRAMP</a:t>
            </a:r>
            <a:r>
              <a:rPr sz="1300">
                <a:solidFill>
                  <a:srgbClr val="000000"/>
                </a:solidFill>
                <a:latin typeface="Aptos"/>
              </a:rPr>
              <a:t>  —  Federal Risk and Authorization Management Program — US standardised cloud security assessment.</a:t>
            </a:r>
          </a:p>
          <a:p>
            <a:pPr>
              <a:spcBef>
                <a:spcPts val="200"/>
              </a:spcBef>
              <a:spcAft>
                <a:spcPts val="600"/>
              </a:spcAft>
            </a:pPr>
            <a:r>
              <a:rPr sz="1400" b="1">
                <a:solidFill>
                  <a:srgbClr val="0F6BFF"/>
                </a:solidFill>
                <a:latin typeface="Aptos"/>
              </a:rPr>
              <a:t>FISMA</a:t>
            </a:r>
            <a:r>
              <a:rPr sz="1300">
                <a:solidFill>
                  <a:srgbClr val="000000"/>
                </a:solidFill>
                <a:latin typeface="Aptos"/>
              </a:rPr>
              <a:t>  —  Federal Information Security Modernization Act — US federal information security mandate.</a:t>
            </a:r>
          </a:p>
          <a:p>
            <a:pPr>
              <a:spcBef>
                <a:spcPts val="200"/>
              </a:spcBef>
              <a:spcAft>
                <a:spcPts val="600"/>
              </a:spcAft>
            </a:pPr>
            <a:r>
              <a:rPr sz="1400" b="1">
                <a:solidFill>
                  <a:srgbClr val="0F6BFF"/>
                </a:solidFill>
                <a:latin typeface="Aptos"/>
              </a:rPr>
              <a:t>Grype</a:t>
            </a:r>
            <a:r>
              <a:rPr sz="1300">
                <a:solidFill>
                  <a:srgbClr val="000000"/>
                </a:solidFill>
                <a:latin typeface="Aptos"/>
              </a:rPr>
              <a:t>  —  Open-source vulnerability scanner for container images and filesystems (Anchore).</a:t>
            </a:r>
          </a:p>
          <a:p>
            <a:pPr>
              <a:spcBef>
                <a:spcPts val="200"/>
              </a:spcBef>
              <a:spcAft>
                <a:spcPts val="600"/>
              </a:spcAft>
            </a:pPr>
            <a:r>
              <a:rPr sz="1400" b="1">
                <a:solidFill>
                  <a:srgbClr val="0F6BFF"/>
                </a:solidFill>
                <a:latin typeface="Aptos"/>
              </a:rPr>
              <a:t>Helm</a:t>
            </a:r>
            <a:r>
              <a:rPr sz="1300">
                <a:solidFill>
                  <a:srgbClr val="000000"/>
                </a:solidFill>
                <a:latin typeface="Aptos"/>
              </a:rPr>
              <a:t>  —  Package manager for Kubernetes; reference artifact type for OCM.</a:t>
            </a:r>
          </a:p>
          <a:p>
            <a:pPr>
              <a:spcBef>
                <a:spcPts val="200"/>
              </a:spcBef>
              <a:spcAft>
                <a:spcPts val="600"/>
              </a:spcAft>
            </a:pPr>
            <a:r>
              <a:rPr sz="1400" b="1">
                <a:solidFill>
                  <a:srgbClr val="0F6BFF"/>
                </a:solidFill>
                <a:latin typeface="Aptos"/>
              </a:rPr>
              <a:t>LoB</a:t>
            </a:r>
            <a:r>
              <a:rPr sz="1300">
                <a:solidFill>
                  <a:srgbClr val="000000"/>
                </a:solidFill>
                <a:latin typeface="Aptos"/>
              </a:rPr>
              <a:t>  —  Line of Business — SAP organisational unit owning a product portfolio.</a:t>
            </a:r>
          </a:p>
          <a:p>
            <a:pPr>
              <a:spcBef>
                <a:spcPts val="200"/>
              </a:spcBef>
              <a:spcAft>
                <a:spcPts val="600"/>
              </a:spcAft>
            </a:pPr>
            <a:r>
              <a:rPr sz="1400" b="1">
                <a:solidFill>
                  <a:srgbClr val="0F6BFF"/>
                </a:solidFill>
                <a:latin typeface="Aptos"/>
              </a:rPr>
              <a:t>NeoNephos</a:t>
            </a:r>
            <a:r>
              <a:rPr sz="1300">
                <a:solidFill>
                  <a:srgbClr val="000000"/>
                </a:solidFill>
                <a:latin typeface="Aptos"/>
              </a:rPr>
              <a:t>  —  European foundation for sovereign cloud open-source projects, hosted under the Linux Foundation.</a:t>
            </a:r>
          </a:p>
          <a:p>
            <a:pPr>
              <a:spcBef>
                <a:spcPts val="200"/>
              </a:spcBef>
              <a:spcAft>
                <a:spcPts val="600"/>
              </a:spcAft>
            </a:pPr>
            <a:r>
              <a:rPr sz="1400" b="1">
                <a:solidFill>
                  <a:srgbClr val="0F6BFF"/>
                </a:solidFill>
                <a:latin typeface="Aptos"/>
              </a:rPr>
              <a:t>NIS2</a:t>
            </a:r>
            <a:r>
              <a:rPr sz="1300">
                <a:solidFill>
                  <a:srgbClr val="000000"/>
                </a:solidFill>
                <a:latin typeface="Aptos"/>
              </a:rPr>
              <a:t>  —  Network and Information Security Directive 2 — EU baseline for cybersecurity of essential entities.</a:t>
            </a:r>
          </a:p>
          <a:p>
            <a:pPr>
              <a:spcBef>
                <a:spcPts val="200"/>
              </a:spcBef>
              <a:spcAft>
                <a:spcPts val="600"/>
              </a:spcAft>
            </a:pPr>
            <a:r>
              <a:rPr sz="1400" b="1">
                <a:solidFill>
                  <a:srgbClr val="0F6BFF"/>
                </a:solidFill>
                <a:latin typeface="Aptos"/>
              </a:rPr>
              <a:t>OCI</a:t>
            </a:r>
            <a:r>
              <a:rPr sz="1300">
                <a:solidFill>
                  <a:srgbClr val="000000"/>
                </a:solidFill>
                <a:latin typeface="Aptos"/>
              </a:rPr>
              <a:t>  —  Open Container Initiative — open standards for container image format and distribution.</a:t>
            </a:r>
          </a:p>
        </p:txBody>
      </p:sp>
      <p:sp>
        <p:nvSpPr>
          <p:cNvPr id="5" name="TextBox 4"/>
          <p:cNvSpPr txBox="1"/>
          <p:nvPr/>
        </p:nvSpPr>
        <p:spPr>
          <a:xfrm>
            <a:off x="9429750" y="4953000"/>
            <a:ext cx="7715250" cy="4572000"/>
          </a:xfrm>
          <a:prstGeom prst="rect">
            <a:avLst/>
          </a:prstGeom>
          <a:noFill/>
        </p:spPr>
        <p:txBody>
          <a:bodyPr wrap="square" lIns="0" rIns="0" tIns="0" bIns="0">
            <a:spAutoFit/>
          </a:bodyPr>
          <a:lstStyle/>
          <a:p>
            <a:pPr>
              <a:spcBef>
                <a:spcPts val="200"/>
              </a:spcBef>
              <a:spcAft>
                <a:spcPts val="600"/>
              </a:spcAft>
            </a:pPr>
            <a:r>
              <a:rPr sz="1400" b="1">
                <a:solidFill>
                  <a:srgbClr val="0F6BFF"/>
                </a:solidFill>
                <a:latin typeface="Aptos"/>
              </a:rPr>
              <a:t>OCM</a:t>
            </a:r>
            <a:r>
              <a:rPr sz="1300">
                <a:solidFill>
                  <a:srgbClr val="000000"/>
                </a:solidFill>
                <a:latin typeface="Aptos"/>
              </a:rPr>
              <a:t>  —  Open Component Model — vendor-neutral specification for signed, transportable software components.</a:t>
            </a:r>
          </a:p>
          <a:p>
            <a:pPr>
              <a:spcBef>
                <a:spcPts val="200"/>
              </a:spcBef>
              <a:spcAft>
                <a:spcPts val="600"/>
              </a:spcAft>
            </a:pPr>
            <a:r>
              <a:rPr sz="1400" b="1">
                <a:solidFill>
                  <a:srgbClr val="0F6BFF"/>
                </a:solidFill>
                <a:latin typeface="Aptos"/>
              </a:rPr>
              <a:t>ODG</a:t>
            </a:r>
            <a:r>
              <a:rPr sz="1300">
                <a:solidFill>
                  <a:srgbClr val="000000"/>
                </a:solidFill>
                <a:latin typeface="Aptos"/>
              </a:rPr>
              <a:t>  —  Open Delivery Gear — OCM-native compliance automation engine and dashboard.</a:t>
            </a:r>
          </a:p>
          <a:p>
            <a:pPr>
              <a:spcBef>
                <a:spcPts val="200"/>
              </a:spcBef>
              <a:spcAft>
                <a:spcPts val="600"/>
              </a:spcAft>
            </a:pPr>
            <a:r>
              <a:rPr sz="1400" b="1">
                <a:solidFill>
                  <a:srgbClr val="0F6BFF"/>
                </a:solidFill>
                <a:latin typeface="Aptos"/>
              </a:rPr>
              <a:t>OSS</a:t>
            </a:r>
            <a:r>
              <a:rPr sz="1300">
                <a:solidFill>
                  <a:srgbClr val="000000"/>
                </a:solidFill>
                <a:latin typeface="Aptos"/>
              </a:rPr>
              <a:t>  —  Open Source Software.</a:t>
            </a:r>
          </a:p>
          <a:p>
            <a:pPr>
              <a:spcBef>
                <a:spcPts val="200"/>
              </a:spcBef>
              <a:spcAft>
                <a:spcPts val="600"/>
              </a:spcAft>
            </a:pPr>
            <a:r>
              <a:rPr sz="1400" b="1">
                <a:solidFill>
                  <a:srgbClr val="0F6BFF"/>
                </a:solidFill>
                <a:latin typeface="Aptos"/>
              </a:rPr>
              <a:t>PKI</a:t>
            </a:r>
            <a:r>
              <a:rPr sz="1300">
                <a:solidFill>
                  <a:srgbClr val="000000"/>
                </a:solidFill>
                <a:latin typeface="Aptos"/>
              </a:rPr>
              <a:t>  —  Public Key Infrastructure — framework for managing certificates and signing keys.</a:t>
            </a:r>
          </a:p>
          <a:p>
            <a:pPr>
              <a:spcBef>
                <a:spcPts val="200"/>
              </a:spcBef>
              <a:spcAft>
                <a:spcPts val="600"/>
              </a:spcAft>
            </a:pPr>
            <a:r>
              <a:rPr sz="1400" b="1">
                <a:solidFill>
                  <a:srgbClr val="0F6BFF"/>
                </a:solidFill>
                <a:latin typeface="Aptos"/>
              </a:rPr>
              <a:t>SBOD</a:t>
            </a:r>
            <a:r>
              <a:rPr sz="1300">
                <a:solidFill>
                  <a:srgbClr val="000000"/>
                </a:solidFill>
                <a:latin typeface="Aptos"/>
              </a:rPr>
              <a:t>  —  Software Bill of Delivery — the OCM component descriptor, signed and traceable. Containing all artifacts and metadata for delivery and deployment.</a:t>
            </a:r>
          </a:p>
          <a:p>
            <a:pPr>
              <a:spcBef>
                <a:spcPts val="200"/>
              </a:spcBef>
              <a:spcAft>
                <a:spcPts val="600"/>
              </a:spcAft>
            </a:pPr>
            <a:r>
              <a:rPr sz="1400" b="1">
                <a:solidFill>
                  <a:srgbClr val="0F6BFF"/>
                </a:solidFill>
                <a:latin typeface="Aptos"/>
              </a:rPr>
              <a:t>SBOM</a:t>
            </a:r>
            <a:r>
              <a:rPr sz="1300">
                <a:solidFill>
                  <a:srgbClr val="000000"/>
                </a:solidFill>
                <a:latin typeface="Aptos"/>
              </a:rPr>
              <a:t>  —  Software Bill of Materials — inventory of components and dependencies inside a software artifact.</a:t>
            </a:r>
          </a:p>
          <a:p>
            <a:pPr>
              <a:spcBef>
                <a:spcPts val="200"/>
              </a:spcBef>
              <a:spcAft>
                <a:spcPts val="600"/>
              </a:spcAft>
            </a:pPr>
            <a:r>
              <a:rPr sz="1400" b="1">
                <a:solidFill>
                  <a:srgbClr val="0F6BFF"/>
                </a:solidFill>
                <a:latin typeface="Aptos"/>
              </a:rPr>
              <a:t>SecNumCloud</a:t>
            </a:r>
            <a:r>
              <a:rPr sz="1300">
                <a:solidFill>
                  <a:srgbClr val="000000"/>
                </a:solidFill>
                <a:latin typeface="Aptos"/>
              </a:rPr>
              <a:t>  —  French cloud security qualification scheme operated by ANSSI.</a:t>
            </a:r>
          </a:p>
          <a:p>
            <a:pPr>
              <a:spcBef>
                <a:spcPts val="200"/>
              </a:spcBef>
              <a:spcAft>
                <a:spcPts val="600"/>
              </a:spcAft>
            </a:pPr>
            <a:r>
              <a:rPr sz="1400" b="1">
                <a:solidFill>
                  <a:srgbClr val="0F6BFF"/>
                </a:solidFill>
                <a:latin typeface="Aptos"/>
              </a:rPr>
              <a:t>Sigstore</a:t>
            </a:r>
            <a:r>
              <a:rPr sz="1300">
                <a:solidFill>
                  <a:srgbClr val="000000"/>
                </a:solidFill>
                <a:latin typeface="Aptos"/>
              </a:rPr>
              <a:t>  —  Open-source project for keyless software signing using OIDC identities.</a:t>
            </a:r>
          </a:p>
          <a:p>
            <a:pPr>
              <a:spcBef>
                <a:spcPts val="200"/>
              </a:spcBef>
              <a:spcAft>
                <a:spcPts val="600"/>
              </a:spcAft>
            </a:pPr>
            <a:r>
              <a:rPr sz="1400" b="1">
                <a:solidFill>
                  <a:srgbClr val="0F6BFF"/>
                </a:solidFill>
                <a:latin typeface="Aptos"/>
              </a:rPr>
              <a:t>SPDX</a:t>
            </a:r>
            <a:r>
              <a:rPr sz="1300">
                <a:solidFill>
                  <a:srgbClr val="000000"/>
                </a:solidFill>
                <a:latin typeface="Aptos"/>
              </a:rPr>
              <a:t>  —  Software Package Data Exchange — ISO/IEC 5962 standard format for SBOM data.</a:t>
            </a:r>
          </a:p>
          <a:p>
            <a:pPr>
              <a:spcBef>
                <a:spcPts val="200"/>
              </a:spcBef>
              <a:spcAft>
                <a:spcPts val="600"/>
              </a:spcAft>
            </a:pPr>
            <a:r>
              <a:rPr sz="1400" b="1">
                <a:solidFill>
                  <a:srgbClr val="0F6BFF"/>
                </a:solidFill>
                <a:latin typeface="Aptos"/>
              </a:rPr>
              <a:t>SWID</a:t>
            </a:r>
            <a:r>
              <a:rPr sz="1300">
                <a:solidFill>
                  <a:srgbClr val="000000"/>
                </a:solidFill>
                <a:latin typeface="Aptos"/>
              </a:rPr>
              <a:t>  —  Software Identification Tags — ISO/IEC 19770-2 standard for software inventory.</a:t>
            </a:r>
          </a:p>
          <a:p>
            <a:pPr>
              <a:spcBef>
                <a:spcPts val="200"/>
              </a:spcBef>
              <a:spcAft>
                <a:spcPts val="600"/>
              </a:spcAft>
            </a:pPr>
            <a:r>
              <a:rPr sz="1400" b="1">
                <a:solidFill>
                  <a:srgbClr val="0F6BFF"/>
                </a:solidFill>
                <a:latin typeface="Aptos"/>
              </a:rPr>
              <a:t>Trivy</a:t>
            </a:r>
            <a:r>
              <a:rPr sz="1300">
                <a:solidFill>
                  <a:srgbClr val="000000"/>
                </a:solidFill>
                <a:latin typeface="Aptos"/>
              </a:rPr>
              <a:t>  —  Open-source security scanner for containers, IaC, and code (Aqua Security).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 (1/2)</a:t>
            </a:r>
          </a:p>
        </p:txBody>
      </p:sp>
      <p:sp>
        <p:nvSpPr>
          <p:cNvPr id="3" name="Title 2"/>
          <p:cNvSpPr>
            <a:spLocks noGrp="1"/>
          </p:cNvSpPr>
          <p:nvPr>
            <p:ph type="title" idx="2"/>
          </p:nvPr>
        </p:nvSpPr>
        <p:spPr/>
        <p:txBody>
          <a:bodyPr/>
          <a:lstStyle/>
          <a:p>
            <a:r>
              <a:t>Logos and trademarks belong to their respective owners.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SAP, SAP NS2 — trademarks of SAP SE / SAP National Security Services. Editorial use only; no endorsement implied. sap.com · sapns2.com</a:t>
            </a:r>
          </a:p>
          <a:p>
            <a:pPr>
              <a:spcBef>
                <a:spcPts val="800"/>
              </a:spcBef>
              <a:spcAft>
                <a:spcPts val="800"/>
              </a:spcAft>
            </a:pPr>
            <a:r>
              <a:rPr b="1">
                <a:solidFill>
                  <a:srgbClr val="0F6BFF"/>
                </a:solidFill>
              </a:rPr>
              <a:t>▪  </a:t>
            </a:r>
            <a:r>
              <a:rPr>
                <a:solidFill>
                  <a:srgbClr val="000000"/>
                </a:solidFill>
              </a:rPr>
              <a:t>BWI — trademark of BWI GmbH (Bundeswehr-IT). Editorial use of the Wikimedia public-domain wordmark; verify against BWI press conditions before external publication. bwi.de</a:t>
            </a:r>
          </a:p>
          <a:p>
            <a:pPr>
              <a:spcBef>
                <a:spcPts val="800"/>
              </a:spcBef>
              <a:spcAft>
                <a:spcPts val="800"/>
              </a:spcAft>
            </a:pPr>
            <a:r>
              <a:rPr b="1">
                <a:solidFill>
                  <a:srgbClr val="0F6BFF"/>
                </a:solidFill>
              </a:rPr>
              <a:t>▪  </a:t>
            </a:r>
            <a:r>
              <a:rPr>
                <a:solidFill>
                  <a:srgbClr val="000000"/>
                </a:solidFill>
              </a:rPr>
              <a:t>Gardener, Platform Mesh, NeoNephos Foundation — Linux Foundation Europe artwork; usage governed by the Linux Foundation trademark usage guidelines (linuxfoundation.org/legal/trademark-usage). gardener.cloud · platform-mesh.io · neonephos.org</a:t>
            </a:r>
          </a:p>
          <a:p>
            <a:pPr>
              <a:spcBef>
                <a:spcPts val="800"/>
              </a:spcBef>
              <a:spcAft>
                <a:spcPts val="800"/>
              </a:spcAft>
            </a:pPr>
            <a:r>
              <a:rPr b="1">
                <a:solidFill>
                  <a:srgbClr val="0F6BFF"/>
                </a:solidFill>
              </a:rPr>
              <a:t>▪  </a:t>
            </a:r>
            <a:r>
              <a:rPr>
                <a:solidFill>
                  <a:srgbClr val="000000"/>
                </a:solidFill>
              </a:rPr>
              <a:t>Konfidence — SAP-supported open project; logo from konfidence.cloud. Editorial use only; verify with the Konfidence project before external publication. konfidence.cloud</a:t>
            </a:r>
          </a:p>
          <a:p>
            <a:pPr>
              <a:spcBef>
                <a:spcPts val="800"/>
              </a:spcBef>
              <a:spcAft>
                <a:spcPts val="800"/>
              </a:spcAft>
            </a:pPr>
            <a:r>
              <a:rPr b="1">
                <a:solidFill>
                  <a:srgbClr val="0F6BFF"/>
                </a:solidFill>
              </a:rPr>
              <a:t>▪  </a:t>
            </a:r>
            <a:r>
              <a:rPr>
                <a:solidFill>
                  <a:srgbClr val="000000"/>
                </a:solidFill>
              </a:rPr>
              <a:t>OpenControlPlane — open-source project at open-control-plane.io. Editorial use only; verify with the project before external publication. open-control-plane.io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 (2/2)</a:t>
            </a:r>
          </a:p>
        </p:txBody>
      </p:sp>
      <p:sp>
        <p:nvSpPr>
          <p:cNvPr id="3" name="Title 2"/>
          <p:cNvSpPr>
            <a:spLocks noGrp="1"/>
          </p:cNvSpPr>
          <p:nvPr>
            <p:ph type="title" idx="2"/>
          </p:nvPr>
        </p:nvSpPr>
        <p:spPr/>
        <p:txBody>
          <a:bodyPr/>
          <a:lstStyle/>
          <a:p>
            <a:r>
              <a:t>Third-party trademarks named for technical reference.</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Kyma — SAP-originated open-source project at kyma-project.io. Editorial use only. kyma-project.io</a:t>
            </a:r>
          </a:p>
          <a:p>
            <a:pPr>
              <a:spcBef>
                <a:spcPts val="800"/>
              </a:spcBef>
              <a:spcAft>
                <a:spcPts val="800"/>
              </a:spcAft>
            </a:pPr>
            <a:r>
              <a:rPr b="1">
                <a:solidFill>
                  <a:srgbClr val="0F6BFF"/>
                </a:solidFill>
              </a:rPr>
              <a:t>▪  </a:t>
            </a:r>
            <a:r>
              <a:rPr>
                <a:solidFill>
                  <a:srgbClr val="000000"/>
                </a:solidFill>
              </a:rPr>
              <a:t>Trivy, Grype, Sigstore, Helm, OCI, Kubernetes, kro, Flux, Argo CD — third-party trademarks named for technical reference; ownership remains with their respective projects and organisations.</a:t>
            </a:r>
          </a:p>
        </p:txBody>
      </p:sp>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Display"/>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