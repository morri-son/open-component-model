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71450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286125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334000"/>
            <ns2:ext cx="161925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657225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571500" y="4381500"/>
            <ns2:ext cx="17145000" cy="571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981200" y="518160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586740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7391400" y="518160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586740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801600" y="518160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586740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981200" y="760095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28675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7391400" y="760095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28675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801600" y="760095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28675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hyperlink" Target="https://neonephos.org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www.sap.com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www.bwi.de" TargetMode="External"/><Relationship Id="rId8" Type="http://schemas.openxmlformats.org/officeDocument/2006/relationships/image" Target="../media/image17.png"/><Relationship Id="rId9" Type="http://schemas.openxmlformats.org/officeDocument/2006/relationships/hyperlink" Target="https://sapns2.com" TargetMode="External"/><Relationship Id="rId10" Type="http://schemas.openxmlformats.org/officeDocument/2006/relationships/image" Target="../media/image18.png"/><Relationship Id="rId11" Type="http://schemas.openxmlformats.org/officeDocument/2006/relationships/hyperlink" Target="https://gardener.cloud" TargetMode="External"/><Relationship Id="rId12" Type="http://schemas.openxmlformats.org/officeDocument/2006/relationships/image" Target="../media/image19.png"/><Relationship Id="rId13" Type="http://schemas.openxmlformats.org/officeDocument/2006/relationships/hyperlink" Target="https://konfidence.cloud" TargetMode="External"/><Relationship Id="rId14" Type="http://schemas.openxmlformats.org/officeDocument/2006/relationships/image" Target="../media/image20.png"/><Relationship Id="rId15" Type="http://schemas.openxmlformats.org/officeDocument/2006/relationships/hyperlink" Target="https://open-control-plane.io" TargetMode="External"/><Relationship Id="rId16" Type="http://schemas.openxmlformats.org/officeDocument/2006/relationships/image" Target="../media/image21.png"/><Relationship Id="rId17" Type="http://schemas.openxmlformats.org/officeDocument/2006/relationships/hyperlink" Target="https://platform-mesh.io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Your supply chain has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blind spots.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Three minutes from now, you'll know what they are.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CRA.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ANSWER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Meet OCM. One identity, every boundary.</a:t>
            </a:r>
          </a:p>
        </p:txBody>
      </p:sp>
      <p:pic>
        <p:nvPicPr>
          <p:cNvPr id="4" name="Picture 3" descr="03-meet-ocm-hub-and-spoke_1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6775" y="4191000"/>
            <a:ext cx="18002250" cy="5734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verify, transport, and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44" y="3952875"/>
            <a:ext cx="14056811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OCM COMPOSES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doesn't replace your tools. It gives them an envelope to compose around.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SIGNING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Keyless (Sigstore) or key-based (your PKI) signs one artifact at a time. OCM gives them the complete SBoD to sign — one signature covers every artifact in the delivery, by digest.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TRANSPORT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S3, OCI and Helm registries — each stores artifacts differently. OCM transports a signed envelope of artifacts across any boundary: registry to registry, registry to air-gapped archive. The signature travels intact.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COMPLIANCE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Trivy, Grype, your SBOM tools — each scans in isolation. OCM (via Open Delivery Gear) correlates every finding by component identity. Compliance is a system output, not a quarterly project.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5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149" y="3686175"/>
            <a:ext cx="13326226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retrofit.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the OCM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96_0F6B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457200" cy="457200"/>
          </a:xfrm>
          <a:prstGeom prst="rect">
            <a:avLst/>
          </a:prstGeom>
        </p:spPr>
      </p:pic>
      <p:pic>
        <p:nvPicPr>
          <p:cNvPr id="17" name="Picture 16" descr="package-export_96_0F6B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457200" cy="457200"/>
          </a:xfrm>
          <a:prstGeom prst="rect">
            <a:avLst/>
          </a:prstGeom>
        </p:spPr>
      </p:pic>
      <p:pic>
        <p:nvPicPr>
          <p:cNvPr id="18" name="Picture 17" descr="rocket_96_0F6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457200" cy="457200"/>
          </a:xfrm>
          <a:prstGeom prst="rect">
            <a:avLst/>
          </a:prstGeom>
        </p:spPr>
      </p:pic>
      <p:pic>
        <p:nvPicPr>
          <p:cNvPr id="19" name="Picture 18" descr="radar_96_0F6B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457200" cy="457200"/>
          </a:xfrm>
          <a:prstGeom prst="rect">
            <a:avLst/>
          </a:prstGeom>
        </p:spPr>
      </p:pic>
      <p:pic>
        <p:nvPicPr>
          <p:cNvPr id="20" name="Picture 19" descr="source-of-truth_96_0F6B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457200" cy="457200"/>
          </a:xfrm>
          <a:prstGeom prst="rect">
            <a:avLst/>
          </a:prstGeom>
        </p:spPr>
      </p:pic>
      <p:pic>
        <p:nvPicPr>
          <p:cNvPr id="21" name="Picture 20" descr="report-analytics_96_0F6B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85775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 AND THE OPEN-SOURCE ECOSYSTEM</a:t>
            </a:r>
          </a:p>
        </p:txBody>
      </p:sp>
      <p:pic>
        <p:nvPicPr>
          <p:cNvPr id="5" name="Picture 4" descr="neonephos-foundation-horizontal-color_520_crop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0" y="5858888"/>
            <a:ext cx="2476500" cy="4742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24000" y="672465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3"/>
              </a:rPr>
              <a:t>NeoNephos</a:t>
            </a:r>
          </a:p>
        </p:txBody>
      </p:sp>
      <p:pic>
        <p:nvPicPr>
          <p:cNvPr id="7" name="Picture 6" descr="sap-horizontal-color_520_crop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884" y="5753100"/>
            <a:ext cx="1382232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0" y="672465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5"/>
              </a:rPr>
              <a:t>SAP</a:t>
            </a:r>
          </a:p>
        </p:txBody>
      </p:sp>
      <p:pic>
        <p:nvPicPr>
          <p:cNvPr id="9" name="Picture 8" descr="bwi-horizontal-color_520_crop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189" y="5753100"/>
            <a:ext cx="1481621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0" y="672465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7"/>
              </a:rPr>
              <a:t>BWI</a:t>
            </a:r>
          </a:p>
        </p:txBody>
      </p:sp>
      <p:pic>
        <p:nvPicPr>
          <p:cNvPr id="11" name="Picture 10" descr="sap-ns2-getlogovector_crop.pn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707550" y="5753100"/>
            <a:ext cx="2302900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954000" y="672465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9"/>
              </a:rPr>
              <a:t>SAP NS2</a:t>
            </a:r>
          </a:p>
        </p:txBody>
      </p:sp>
      <p:pic>
        <p:nvPicPr>
          <p:cNvPr id="13" name="Picture 12" descr="gardener-horizontal-color_520_crop.pn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90750" y="8208680"/>
            <a:ext cx="2476500" cy="5371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9105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1"/>
              </a:rPr>
              <a:t>Gardener</a:t>
            </a:r>
          </a:p>
        </p:txBody>
      </p:sp>
      <p:pic>
        <p:nvPicPr>
          <p:cNvPr id="15" name="Picture 14" descr="konfidence-horizontal-light_520_crop.png">
            <a:hlinkClick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0750" y="8352426"/>
            <a:ext cx="2476500" cy="24964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34000" y="9105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3"/>
              </a:rPr>
              <a:t>Konfidence</a:t>
            </a:r>
          </a:p>
        </p:txBody>
      </p:sp>
      <p:pic>
        <p:nvPicPr>
          <p:cNvPr id="17" name="Picture 16" descr="opencontrolplane-icon-color_520_crop.png">
            <a:hlinkClick r:id="rId15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61077" y="8134350"/>
            <a:ext cx="575845" cy="685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0" y="9105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5"/>
              </a:rPr>
              <a:t>OpenControlPlane</a:t>
            </a:r>
          </a:p>
        </p:txBody>
      </p:sp>
      <p:pic>
        <p:nvPicPr>
          <p:cNvPr id="19" name="Picture 18" descr="platform-mesh-horizontal-color_520_crop.png">
            <a:hlinkClick r:id="rId17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620750" y="8181975"/>
            <a:ext cx="2476500" cy="5905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54000" y="9105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7"/>
              </a:rPr>
              <a:t>Platform Mesh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— ABBREVIATIONS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Quick reference for the acronyms used in this deck.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29000"/>
            <a:ext cx="771525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CRA</a:t>
            </a:r>
            <a:r>
              <a:rPr sz="1300">
                <a:solidFill>
                  <a:srgbClr val="000000"/>
                </a:solidFill>
                <a:latin typeface="Aptos"/>
              </a:rPr>
              <a:t>  —  Cyber Resilience Act — EU regulation on cybersecurity for products with digital elements.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DORA</a:t>
            </a:r>
            <a:r>
              <a:rPr sz="1300">
                <a:solidFill>
                  <a:srgbClr val="000000"/>
                </a:solidFill>
                <a:latin typeface="Aptos"/>
              </a:rPr>
              <a:t>  —  Digital Operational Resilience Act — EU regulation for ICT risk in financial services.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NIS2</a:t>
            </a:r>
            <a:r>
              <a:rPr sz="1300">
                <a:solidFill>
                  <a:srgbClr val="000000"/>
                </a:solidFill>
                <a:latin typeface="Aptos"/>
              </a:rPr>
              <a:t>  —  Network and Information Security Directive 2 — EU baseline for cybersecurity of essential entities.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FedRAMP</a:t>
            </a:r>
            <a:r>
              <a:rPr sz="1300">
                <a:solidFill>
                  <a:srgbClr val="000000"/>
                </a:solidFill>
                <a:latin typeface="Aptos"/>
              </a:rPr>
              <a:t>  —  Federal Risk and Authorization Management Program — US standardised cloud security assessment.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FISMA</a:t>
            </a:r>
            <a:r>
              <a:rPr sz="1300">
                <a:solidFill>
                  <a:srgbClr val="000000"/>
                </a:solidFill>
                <a:latin typeface="Aptos"/>
              </a:rPr>
              <a:t>  —  Federal Information Security Modernization Act — US federal information security mandate.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BSI C5</a:t>
            </a:r>
            <a:r>
              <a:rPr sz="1300">
                <a:solidFill>
                  <a:srgbClr val="000000"/>
                </a:solidFill>
                <a:latin typeface="Aptos"/>
              </a:rPr>
              <a:t>  —  Bundesamt für Sicherheit in der Informationstechnik — Cloud Computing Compliance Criteria Catalogue.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SecNumCloud</a:t>
            </a:r>
            <a:r>
              <a:rPr sz="1300">
                <a:solidFill>
                  <a:srgbClr val="000000"/>
                </a:solidFill>
                <a:latin typeface="Aptos"/>
              </a:rPr>
              <a:t>  —  French cloud security qualification scheme operated by ANSSI.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OCM</a:t>
            </a:r>
            <a:r>
              <a:rPr sz="1300">
                <a:solidFill>
                  <a:srgbClr val="000000"/>
                </a:solidFill>
                <a:latin typeface="Aptos"/>
              </a:rPr>
              <a:t>  —  Open Component Model — vendor-neutral specification for signed, transportable software components.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ODG</a:t>
            </a:r>
            <a:r>
              <a:rPr sz="1300">
                <a:solidFill>
                  <a:srgbClr val="000000"/>
                </a:solidFill>
                <a:latin typeface="Aptos"/>
              </a:rPr>
              <a:t>  —  Open Delivery Gear — OCM-native compliance automation engine and dashboard.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OCI</a:t>
            </a:r>
            <a:r>
              <a:rPr sz="1300">
                <a:solidFill>
                  <a:srgbClr val="000000"/>
                </a:solidFill>
                <a:latin typeface="Aptos"/>
              </a:rPr>
              <a:t>  —  Open Container Initiative — open standards for container image format and distribution.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SBOM</a:t>
            </a:r>
            <a:r>
              <a:rPr sz="1300">
                <a:solidFill>
                  <a:srgbClr val="000000"/>
                </a:solidFill>
                <a:latin typeface="Aptos"/>
              </a:rPr>
              <a:t>  —  Software Bill of Materials — inventory of components and dependencies inside a software artifact.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SBoD</a:t>
            </a:r>
            <a:r>
              <a:rPr sz="1300">
                <a:solidFill>
                  <a:srgbClr val="000000"/>
                </a:solidFill>
                <a:latin typeface="Aptos"/>
              </a:rPr>
              <a:t>  —  Signed Bill of Delivery — OCM's signed envelope describing what was actually delivered, where, and by whom.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29750" y="3429000"/>
            <a:ext cx="771525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SPDX</a:t>
            </a:r>
            <a:r>
              <a:rPr sz="1300">
                <a:solidFill>
                  <a:srgbClr val="000000"/>
                </a:solidFill>
                <a:latin typeface="Aptos"/>
              </a:rPr>
              <a:t>  —  Software Package Data Exchange — ISO/IEC 5962 standard format for SBOM data.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SWID</a:t>
            </a:r>
            <a:r>
              <a:rPr sz="1300">
                <a:solidFill>
                  <a:srgbClr val="000000"/>
                </a:solidFill>
                <a:latin typeface="Aptos"/>
              </a:rPr>
              <a:t>  —  Software Identification Tags — ISO/IEC 19770-2 standard for software inventory.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PKI</a:t>
            </a:r>
            <a:r>
              <a:rPr sz="1300">
                <a:solidFill>
                  <a:srgbClr val="000000"/>
                </a:solidFill>
                <a:latin typeface="Aptos"/>
              </a:rPr>
              <a:t>  —  Public Key Infrastructure — framework for managing certificates and signing keys.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Sigstore</a:t>
            </a:r>
            <a:r>
              <a:rPr sz="1300">
                <a:solidFill>
                  <a:srgbClr val="000000"/>
                </a:solidFill>
                <a:latin typeface="Aptos"/>
              </a:rPr>
              <a:t>  —  Open-source project for keyless software signing using OIDC identities.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LoB</a:t>
            </a:r>
            <a:r>
              <a:rPr sz="1300">
                <a:solidFill>
                  <a:srgbClr val="000000"/>
                </a:solidFill>
                <a:latin typeface="Aptos"/>
              </a:rPr>
              <a:t>  —  Line of Business — SAP organisational unit owning a product portfolio.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BTP</a:t>
            </a:r>
            <a:r>
              <a:rPr sz="1300">
                <a:solidFill>
                  <a:srgbClr val="000000"/>
                </a:solidFill>
                <a:latin typeface="Aptos"/>
              </a:rPr>
              <a:t>  —  SAP Business Technology Platform.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OSS</a:t>
            </a:r>
            <a:r>
              <a:rPr sz="1300">
                <a:solidFill>
                  <a:srgbClr val="000000"/>
                </a:solidFill>
                <a:latin typeface="Aptos"/>
              </a:rPr>
              <a:t>  —  Open Source Software.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NeoNephos</a:t>
            </a:r>
            <a:r>
              <a:rPr sz="1300">
                <a:solidFill>
                  <a:srgbClr val="000000"/>
                </a:solidFill>
                <a:latin typeface="Aptos"/>
              </a:rPr>
              <a:t>  —  European foundation for sovereign cloud open-source projects, hosted under the Linux Foundation.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Grype</a:t>
            </a:r>
            <a:r>
              <a:rPr sz="1300">
                <a:solidFill>
                  <a:srgbClr val="000000"/>
                </a:solidFill>
                <a:latin typeface="Aptos"/>
              </a:rPr>
              <a:t>  —  Open-source vulnerability scanner for container images and filesystems (Anchore).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Trivy</a:t>
            </a:r>
            <a:r>
              <a:rPr sz="1300">
                <a:solidFill>
                  <a:srgbClr val="000000"/>
                </a:solidFill>
                <a:latin typeface="Aptos"/>
              </a:rPr>
              <a:t>  —  Open-source security scanner for containers, IaC, and code (Aqua Security).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Helm</a:t>
            </a:r>
            <a:r>
              <a:rPr sz="1300">
                <a:solidFill>
                  <a:srgbClr val="000000"/>
                </a:solidFill>
                <a:latin typeface="Aptos"/>
              </a:rPr>
              <a:t>  —  Package manager for Kubernetes; reference artifact type for OCM.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TRADEMARK &amp; LICENSE NOTICES (1/2)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Logos and trademarks belong to their respective owners.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SAP, SAP NS2 — trademarks of SAP SE / SAP National Security Services. Editorial use only; no endorsement implied. sap.com · sapns2.com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BWI — trademark of BWI GmbH (Bundeswehr-IT). Editorial use of the Wikimedia public-domain wordmark; verify against BWI press conditions before external publication. bwi.de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Gardener, Platform Mesh, NeoNephos Foundation — Linux Foundation Europe artwork; usage governed by the Linux Foundation trademark usage guidelines (linuxfoundation.org/legal/trademark-usage). gardener.cloud · platform-mesh.io · neonephos.org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Konfidence — SAP-supported open project; logo from konfidence.cloud. Editorial use only; verify with the Konfidence project before external publication. konfidence.cloud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OpenControlPlane — open-source project at open-control-plane.io. Editorial use only; verify with the project before external publication. open-control-plane.io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TRADEMARK &amp; LICENSE NOTICES (2/2)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Third-party trademarks named for technical reference.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Kyma — SAP-originated open-source project at kyma-project.io. Editorial use only. kyma-project.io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Trivy, Grype, Sigstore, Helm, OCI, Kubernetes, kro, Flux, Argo CD — third-party trademarks named for technical reference; ownership remains with their respective projects and organisations.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Full sourcing record: assets/adopters/LICENSING.md in the OCM marketing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