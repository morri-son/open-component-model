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590675"/>
            <ns2:ext cx="161925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Secure Delivery for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3067050"/>
            <ns2:ext cx="161925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Sovereign Clouds</ns6:t>
            </ns6:r>
            <ns6:endParaRPr lang="en-US"/>
          </ns6:p>
        </ns0:txBody>
      </ns0:sp>
      <ns0:sp xmlns:ns0="http://schemas.openxmlformats.org/presentationml/2006/main">
        <ns0:nvSpPr>
          <ns0:cNvPr id="12" name="Hero Subtitle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5257800"/>
            <ns2:ext cx="16192500" cy="57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36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3" name="Hero Org Lin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6067425"/>
            <ns2:ext cx="16192500" cy="476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CTA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3048000"/>
            <ns2:ext cx="16192500" cy="952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56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Call to action</ns6:t>
            </ns6:r>
            <ns6:endParaRPr lang="en-US"/>
          </ns6:p>
        </ns0:txBody>
      </ns0:sp>
      <ns0:sp xmlns:ns0="http://schemas.openxmlformats.org/presentationml/2006/main">
        <ns0:nvSpPr>
          <ns0:cNvPr id="11" name="CTA Body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4381500"/>
            <ns2:ext cx="161925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Three-line CTA bullets go here.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Col1 Rule"/>
          <ns0:cNvSpPr/>
          <ns0:nvPr/>
        </ns0:nvSpPr>
        <ns0:spPr>
          <ns1:xfrm xmlns:ns1="http://schemas.openxmlformats.org/drawingml/2006/main">
            <ns1:off x="11430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Col1 Header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105400"/>
            <ns2:ext cx="4972050" cy="3429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HEADER</ns6:t>
            </ns6:r>
            <ns6:endParaRPr lang="en-US"/>
          </ns6:p>
        </ns0:txBody>
      </ns0:sp>
      <ns0:sp xmlns:ns0="http://schemas.openxmlformats.org/presentationml/2006/main">
        <ns0:nvSpPr>
          <ns0:cNvPr id="14" name="Col1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1143000" y="5524500"/>
            <ns2:ext cx="4972050" cy="4572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5" name="Col2 Rule"/>
          <ns0:cNvSpPr/>
          <ns0:nvPr/>
        </ns0:nvSpPr>
        <ns0:spPr>
          <ns1:xfrm xmlns:ns1="http://schemas.openxmlformats.org/drawingml/2006/main">
            <ns1:off x="664845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6" name="Col2 Header"/>
          <ns0:cNvSpPr>
            <ns1:spLocks xmlns:ns1="http://schemas.openxmlformats.org/drawingml/2006/main" noGrp="1"/>
          </ns0:cNvSpPr>
          <ns0:nvPr>
            <ns0:ph type="body" idx="12"/>
          </ns0:nvPr>
        </ns0:nvSpPr>
        <ns0:spPr>
          <ns2:xfrm xmlns:ns2="http://schemas.openxmlformats.org/drawingml/2006/main">
            <ns2:off x="6648450" y="5105400"/>
            <ns2:ext cx="4972050" cy="3429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HEADER</ns6:t>
            </ns6:r>
            <ns6:endParaRPr lang="en-US"/>
          </ns6:p>
        </ns0:txBody>
      </ns0:sp>
      <ns0:sp xmlns:ns0="http://schemas.openxmlformats.org/presentationml/2006/main">
        <ns0:nvSpPr>
          <ns0:cNvPr id="17" name="Col2 Body"/>
          <ns0:cNvSpPr>
            <ns1:spLocks xmlns:ns1="http://schemas.openxmlformats.org/drawingml/2006/main" noGrp="1"/>
          </ns0:cNvSpPr>
          <ns0:nvPr>
            <ns0:ph type="body" idx="13"/>
          </ns0:nvPr>
        </ns0:nvSpPr>
        <ns0:spPr>
          <ns2:xfrm xmlns:ns2="http://schemas.openxmlformats.org/drawingml/2006/main">
            <ns2:off x="6648450" y="5524500"/>
            <ns2:ext cx="4972050" cy="4572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8" name="Col3 Rule"/>
          <ns0:cNvSpPr/>
          <ns0:nvPr/>
        </ns0:nvSpPr>
        <ns0:spPr>
          <ns1:xfrm xmlns:ns1="http://schemas.openxmlformats.org/drawingml/2006/main">
            <ns1:off x="121539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9" name="Col3 Header"/>
          <ns0:cNvSpPr>
            <ns1:spLocks xmlns:ns1="http://schemas.openxmlformats.org/drawingml/2006/main" noGrp="1"/>
          </ns0:cNvSpPr>
          <ns0:nvPr>
            <ns0:ph type="body" idx="14"/>
          </ns0:nvPr>
        </ns0:nvSpPr>
        <ns0:spPr>
          <ns2:xfrm xmlns:ns2="http://schemas.openxmlformats.org/drawingml/2006/main">
            <ns2:off x="12153900" y="5105400"/>
            <ns2:ext cx="4972050" cy="3429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HEADER</ns6:t>
            </ns6:r>
            <ns6:endParaRPr lang="en-US"/>
          </ns6:p>
        </ns0:txBody>
      </ns0:sp>
      <ns0:sp xmlns:ns0="http://schemas.openxmlformats.org/presentationml/2006/main">
        <ns0:nvSpPr>
          <ns0:cNvPr id="20" name="Col3 Body"/>
          <ns0:cNvSpPr>
            <ns1:spLocks xmlns:ns1="http://schemas.openxmlformats.org/drawingml/2006/main" noGrp="1"/>
          </ns0:cNvSpPr>
          <ns0:nvPr>
            <ns0:ph type="body" idx="15"/>
          </ns0:nvPr>
        </ns0:nvSpPr>
        <ns0:spPr>
          <ns2:xfrm xmlns:ns2="http://schemas.openxmlformats.org/drawingml/2006/main">
            <ns2:off x="12153900" y="5524500"/>
            <ns2:ext cx="4972050" cy="4572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21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Diagram"/>
          <ns0:cNvSpPr>
            <ns1:spLocks xmlns:ns1="http://schemas.openxmlformats.org/drawingml/2006/main" noGrp="1"/>
          </ns0:cNvSpPr>
          <ns0:nvPr>
            <ns0:ph type="pic" idx="10"/>
          </ns0:nvPr>
        </ns0:nvSpPr>
        <ns0:spPr>
          <ns2:xfrm xmlns:ns2="http://schemas.openxmlformats.org/drawingml/2006/main">
            <ns2:off x="1143000" y="4953000"/>
            <ns2:ext cx="160020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rtlCol="0" anchor="ctr"/>
          <ns5:lstStyle xmlns:ns5="http://schemas.openxmlformats.org/drawingml/2006/main"/>
          <ns6:p xmlns:ns6="http://schemas.openxmlformats.org/drawingml/2006/main"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Tile1 Bg"/>
          <ns0:cNvSpPr/>
          <ns0:nvPr/>
        </ns0:nvSpPr>
        <ns0:spPr>
          <ns1:xfrm xmlns:ns1="http://schemas.openxmlformats.org/drawingml/2006/main">
            <ns1:off x="11430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Tile1 Rule"/>
          <ns0:cNvSpPr/>
          <ns0:nvPr/>
        </ns0:nvSpPr>
        <ns0:spPr>
          <ns1:xfrm xmlns:ns1="http://schemas.openxmlformats.org/drawingml/2006/main">
            <ns1:off x="11430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4" name="Tile1 Label"/>
          <ns0:cNvSpPr>
            <ns1:spLocks xmlns:ns1="http://schemas.openxmlformats.org/drawingml/2006/main" noGrp="1"/>
          </ns0:cNvSpPr>
          <ns0:nvPr>
            <ns0:ph type="body" idx="20"/>
          </ns0:nvPr>
        </ns0:nvSpPr>
        <ns0:spPr>
          <ns2:xfrm xmlns:ns2="http://schemas.openxmlformats.org/drawingml/2006/main">
            <ns2:off x="13716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1 label</ns6:t>
            </ns6:r>
            <ns6:endParaRPr lang="en-US"/>
          </ns6:p>
        </ns0:txBody>
      </ns0:sp>
      <ns0:sp xmlns:ns0="http://schemas.openxmlformats.org/presentationml/2006/main">
        <ns0:nvSpPr>
          <ns0:cNvPr id="15" name="Tile1 Body"/>
          <ns0:cNvSpPr>
            <ns1:spLocks xmlns:ns1="http://schemas.openxmlformats.org/drawingml/2006/main" noGrp="1"/>
          </ns0:cNvSpPr>
          <ns0:nvPr>
            <ns0:ph type="body" idx="21"/>
          </ns0:nvPr>
        </ns0:nvSpPr>
        <ns0:spPr>
          <ns2:xfrm xmlns:ns2="http://schemas.openxmlformats.org/drawingml/2006/main">
            <ns2:off x="13716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16" name="Tile2 Bg"/>
          <ns0:cNvSpPr/>
          <ns0:nvPr/>
        </ns0:nvSpPr>
        <ns0:spPr>
          <ns1:xfrm xmlns:ns1="http://schemas.openxmlformats.org/drawingml/2006/main">
            <ns1:off x="65532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7" name="Tile2 Rule"/>
          <ns0:cNvSpPr/>
          <ns0:nvPr/>
        </ns0:nvSpPr>
        <ns0:spPr>
          <ns1:xfrm xmlns:ns1="http://schemas.openxmlformats.org/drawingml/2006/main">
            <ns1:off x="65532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8" name="Tile2 Label"/>
          <ns0:cNvSpPr>
            <ns1:spLocks xmlns:ns1="http://schemas.openxmlformats.org/drawingml/2006/main" noGrp="1"/>
          </ns0:cNvSpPr>
          <ns0:nvPr>
            <ns0:ph type="body" idx="22"/>
          </ns0:nvPr>
        </ns0:nvSpPr>
        <ns0:spPr>
          <ns2:xfrm xmlns:ns2="http://schemas.openxmlformats.org/drawingml/2006/main">
            <ns2:off x="67818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2 label</ns6:t>
            </ns6:r>
            <ns6:endParaRPr lang="en-US"/>
          </ns6:p>
        </ns0:txBody>
      </ns0:sp>
      <ns0:sp xmlns:ns0="http://schemas.openxmlformats.org/presentationml/2006/main">
        <ns0:nvSpPr>
          <ns0:cNvPr id="19" name="Tile2 Body"/>
          <ns0:cNvSpPr>
            <ns1:spLocks xmlns:ns1="http://schemas.openxmlformats.org/drawingml/2006/main" noGrp="1"/>
          </ns0:cNvSpPr>
          <ns0:nvPr>
            <ns0:ph type="body" idx="23"/>
          </ns0:nvPr>
        </ns0:nvSpPr>
        <ns0:spPr>
          <ns2:xfrm xmlns:ns2="http://schemas.openxmlformats.org/drawingml/2006/main">
            <ns2:off x="67818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0" name="Tile3 Bg"/>
          <ns0:cNvSpPr/>
          <ns0:nvPr/>
        </ns0:nvSpPr>
        <ns0:spPr>
          <ns1:xfrm xmlns:ns1="http://schemas.openxmlformats.org/drawingml/2006/main">
            <ns1:off x="119634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1" name="Tile3 Rule"/>
          <ns0:cNvSpPr/>
          <ns0:nvPr/>
        </ns0:nvSpPr>
        <ns0:spPr>
          <ns1:xfrm xmlns:ns1="http://schemas.openxmlformats.org/drawingml/2006/main">
            <ns1:off x="119634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2" name="Tile3 Label"/>
          <ns0:cNvSpPr>
            <ns1:spLocks xmlns:ns1="http://schemas.openxmlformats.org/drawingml/2006/main" noGrp="1"/>
          </ns0:cNvSpPr>
          <ns0:nvPr>
            <ns0:ph type="body" idx="24"/>
          </ns0:nvPr>
        </ns0:nvSpPr>
        <ns0:spPr>
          <ns2:xfrm xmlns:ns2="http://schemas.openxmlformats.org/drawingml/2006/main">
            <ns2:off x="121920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3 label</ns6:t>
            </ns6:r>
            <ns6:endParaRPr lang="en-US"/>
          </ns6:p>
        </ns0:txBody>
      </ns0:sp>
      <ns0:sp xmlns:ns0="http://schemas.openxmlformats.org/presentationml/2006/main">
        <ns0:nvSpPr>
          <ns0:cNvPr id="23" name="Tile3 Body"/>
          <ns0:cNvSpPr>
            <ns1:spLocks xmlns:ns1="http://schemas.openxmlformats.org/drawingml/2006/main" noGrp="1"/>
          </ns0:cNvSpPr>
          <ns0:nvPr>
            <ns0:ph type="body" idx="25"/>
          </ns0:nvPr>
        </ns0:nvSpPr>
        <ns0:spPr>
          <ns2:xfrm xmlns:ns2="http://schemas.openxmlformats.org/drawingml/2006/main">
            <ns2:off x="121920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4" name="Tile4 Bg"/>
          <ns0:cNvSpPr/>
          <ns0:nvPr/>
        </ns0:nvSpPr>
        <ns0:spPr>
          <ns1:xfrm xmlns:ns1="http://schemas.openxmlformats.org/drawingml/2006/main">
            <ns1:off x="11430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5" name="Tile4 Rule"/>
          <ns0:cNvSpPr/>
          <ns0:nvPr/>
        </ns0:nvSpPr>
        <ns0:spPr>
          <ns1:xfrm xmlns:ns1="http://schemas.openxmlformats.org/drawingml/2006/main">
            <ns1:off x="11430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6" name="Tile4 Label"/>
          <ns0:cNvSpPr>
            <ns1:spLocks xmlns:ns1="http://schemas.openxmlformats.org/drawingml/2006/main" noGrp="1"/>
          </ns0:cNvSpPr>
          <ns0:nvPr>
            <ns0:ph type="body" idx="26"/>
          </ns0:nvPr>
        </ns0:nvSpPr>
        <ns0:spPr>
          <ns2:xfrm xmlns:ns2="http://schemas.openxmlformats.org/drawingml/2006/main">
            <ns2:off x="13716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4 label</ns6:t>
            </ns6:r>
            <ns6:endParaRPr lang="en-US"/>
          </ns6:p>
        </ns0:txBody>
      </ns0:sp>
      <ns0:sp xmlns:ns0="http://schemas.openxmlformats.org/presentationml/2006/main">
        <ns0:nvSpPr>
          <ns0:cNvPr id="27" name="Tile4 Body"/>
          <ns0:cNvSpPr>
            <ns1:spLocks xmlns:ns1="http://schemas.openxmlformats.org/drawingml/2006/main" noGrp="1"/>
          </ns0:cNvSpPr>
          <ns0:nvPr>
            <ns0:ph type="body" idx="27"/>
          </ns0:nvPr>
        </ns0:nvSpPr>
        <ns0:spPr>
          <ns2:xfrm xmlns:ns2="http://schemas.openxmlformats.org/drawingml/2006/main">
            <ns2:off x="13716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8" name="Tile5 Bg"/>
          <ns0:cNvSpPr/>
          <ns0:nvPr/>
        </ns0:nvSpPr>
        <ns0:spPr>
          <ns1:xfrm xmlns:ns1="http://schemas.openxmlformats.org/drawingml/2006/main">
            <ns1:off x="65532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9" name="Tile5 Rule"/>
          <ns0:cNvSpPr/>
          <ns0:nvPr/>
        </ns0:nvSpPr>
        <ns0:spPr>
          <ns1:xfrm xmlns:ns1="http://schemas.openxmlformats.org/drawingml/2006/main">
            <ns1:off x="65532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0" name="Tile5 Label"/>
          <ns0:cNvSpPr>
            <ns1:spLocks xmlns:ns1="http://schemas.openxmlformats.org/drawingml/2006/main" noGrp="1"/>
          </ns0:cNvSpPr>
          <ns0:nvPr>
            <ns0:ph type="body" idx="28"/>
          </ns0:nvPr>
        </ns0:nvSpPr>
        <ns0:spPr>
          <ns2:xfrm xmlns:ns2="http://schemas.openxmlformats.org/drawingml/2006/main">
            <ns2:off x="67818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5 label</ns6:t>
            </ns6:r>
            <ns6:endParaRPr lang="en-US"/>
          </ns6:p>
        </ns0:txBody>
      </ns0:sp>
      <ns0:sp xmlns:ns0="http://schemas.openxmlformats.org/presentationml/2006/main">
        <ns0:nvSpPr>
          <ns0:cNvPr id="31" name="Tile5 Body"/>
          <ns0:cNvSpPr>
            <ns1:spLocks xmlns:ns1="http://schemas.openxmlformats.org/drawingml/2006/main" noGrp="1"/>
          </ns0:cNvSpPr>
          <ns0:nvPr>
            <ns0:ph type="body" idx="29"/>
          </ns0:nvPr>
        </ns0:nvSpPr>
        <ns0:spPr>
          <ns2:xfrm xmlns:ns2="http://schemas.openxmlformats.org/drawingml/2006/main">
            <ns2:off x="67818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2" name="Tile6 Bg"/>
          <ns0:cNvSpPr/>
          <ns0:nvPr/>
        </ns0:nvSpPr>
        <ns0:spPr>
          <ns1:xfrm xmlns:ns1="http://schemas.openxmlformats.org/drawingml/2006/main">
            <ns1:off x="119634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3" name="Tile6 Rule"/>
          <ns0:cNvSpPr/>
          <ns0:nvPr/>
        </ns0:nvSpPr>
        <ns0:spPr>
          <ns1:xfrm xmlns:ns1="http://schemas.openxmlformats.org/drawingml/2006/main">
            <ns1:off x="119634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4" name="Tile6 Label"/>
          <ns0:cNvSpPr>
            <ns1:spLocks xmlns:ns1="http://schemas.openxmlformats.org/drawingml/2006/main" noGrp="1"/>
          </ns0:cNvSpPr>
          <ns0:nvPr>
            <ns0:ph type="body" idx="30"/>
          </ns0:nvPr>
        </ns0:nvSpPr>
        <ns0:spPr>
          <ns2:xfrm xmlns:ns2="http://schemas.openxmlformats.org/drawingml/2006/main">
            <ns2:off x="121920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6 label</ns6:t>
            </ns6:r>
            <ns6:endParaRPr lang="en-US"/>
          </ns6:p>
        </ns0:txBody>
      </ns0:sp>
      <ns0:sp xmlns:ns0="http://schemas.openxmlformats.org/presentationml/2006/main">
        <ns0:nvSpPr>
          <ns0:cNvPr id="35" name="Tile6 Body"/>
          <ns0:cNvSpPr>
            <ns1:spLocks xmlns:ns1="http://schemas.openxmlformats.org/drawingml/2006/main" noGrp="1"/>
          </ns0:cNvSpPr>
          <ns0:nvPr>
            <ns0:ph type="body" idx="31"/>
          </ns0:nvPr>
        </ns0:nvSpPr>
        <ns0:spPr>
          <ns2:xfrm xmlns:ns2="http://schemas.openxmlformats.org/drawingml/2006/main">
            <ns2:off x="121920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6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Left 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Left column body.</ns6:t>
            </ns6:r>
            <ns6:endParaRPr lang="en-US"/>
          </ns6:p>
        </ns0:txBody>
      </ns0:sp>
      <ns0:sp xmlns:ns0="http://schemas.openxmlformats.org/presentationml/2006/main">
        <ns0:nvSpPr>
          <ns0:cNvPr id="13" name="Right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93345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Right column body.</ns6:t>
            </ns6:r>
            <ns6:endParaRPr lang="en-US"/>
          </ns6:p>
        </ns0:txBody>
      </ns0:sp>
      <ns0:sp xmlns:ns0="http://schemas.openxmlformats.org/presentationml/2006/main">
        <ns0:nvSpPr>
          <ns0:cNvPr id="14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Section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762000" y="4381500"/>
            <ns2:ext cx="16764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ctr">
              <ns5:buNone/>
              <ns5:defRPr sz="72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524500"/>
            <ns2:ext cx="160020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 /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160020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OCM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Secure Delivery for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/>
            </a:r>
            <a:r>
              <a:rPr>
                <a:gradFill flip="none" rotWithShape="1">
                  <a:gsLst>
                    <a:gs pos="0">
                      <a:srgbClr val="FFFFFF"/>
                    </a:gs>
                    <a:gs pos="35000">
                      <a:srgbClr val="5CD6FF"/>
                    </a:gs>
                    <a:gs pos="75000">
                      <a:srgbClr val="0F6BFF"/>
                    </a:gs>
                  </a:gsLst>
                  <a:lin ang="0" scaled="1"/>
                </a:gradFill>
              </a:rPr>
              <a:t>Sovereign Clouds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olidFill>
                  <a:srgbClr val="5CD6FF"/>
                </a:solidFill>
              </a:rPr>
              <a:t>Deliver and deploy your software securely. Anywhere, at any scale.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Open Component Model — open source, NeoNephos Foundation.</a:t>
            </a:r>
          </a:p>
        </p:txBody>
      </p:sp>
      <p:pic>
        <p:nvPicPr>
          <p:cNvPr id="7" name="Picture 6" descr="ocm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8" name="Picture 7" descr="neonephos-foundation-horizontal-white_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Sovereignty is no longer optional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SOVEREIGNTY PRESSURE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Wherever the law puts the boundary — by jurisdiction, sector, or air-gap — software must be deliverable, verifiable, and operable inside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REGULATION TIGHTENING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EU DORA · NIS2 · GDPR. Provable supply-chain control, not best effort.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SUPPLY-CHAIN ATTACKS ARE REAL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SolarWinds. xz. log4shell. Signatures must survive the journey, or compliance is theatre.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Software delivery is fragmented.</a:t>
            </a:r>
          </a:p>
          <a:p>
            <a:r>
              <a:t>Compliance retrofits don't scale.</a:t>
            </a:r>
          </a:p>
        </p:txBody>
      </p:sp>
      <p:pic>
        <p:nvPicPr>
          <p:cNvPr id="4" name="Picture 3" descr="03-fragmented_16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429" y="4953000"/>
            <a:ext cx="11321142" cy="4953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SBOM lists. SBoD delivers.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An SBOM tells you what's in your software. It was built for inventory.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 Software Bill of Delivery (SBoD) tells you what you delivered, how to verify it, how to transport it, and how to operate it. It was built for delivery.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SBoD contains the SBOM. OCM doesn't replace your SBOM tooling — it gives the SBOM an envelope that's compliance-native, signed once, and travels intact across any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 — SBOM INSIDE SBoD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An envelope, not a list.</a:t>
            </a:r>
          </a:p>
        </p:txBody>
      </p:sp>
      <p:pic>
        <p:nvPicPr>
          <p:cNvPr id="4" name="Picture 3" descr="04-sbom-inside-sbod_16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667" y="4953000"/>
            <a:ext cx="11006666" cy="4953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OCM IN ONE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Pack · Sign · Transport · Deploy</a:t>
            </a:r>
          </a:p>
        </p:txBody>
      </p:sp>
      <p:pic>
        <p:nvPicPr>
          <p:cNvPr id="4" name="Picture 3" descr="05-pack-sign-transport-deploy-v2_16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953000"/>
            <a:ext cx="16002000" cy="45053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Trust, but verify.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Identity is location-independent. A component carries its name regardless of which registry it lives in.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Signatures are location-independent. Sign once at source; verify at the destination, or at any hop in between, with no callback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Day-2 ops happen inside the boundary. Subscribe to the component and pull upgrades on your schedule, scale across regions, all without reaching 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On transfer into a sovereign environment, a component can carry every artifact it needs along with it. The destination needs nothing more.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 — AIR-GAP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 travels with the component.</a:t>
            </a:r>
          </a:p>
        </p:txBody>
      </p:sp>
      <p:pic>
        <p:nvPicPr>
          <p:cNvPr id="4" name="Picture 3" descr="06-sovereign-airgap_16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429" y="4953000"/>
            <a:ext cx="11321142" cy="4953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SCAN — COMPLIANCE-NATIVE WITH OPEN DELIVERY GEAR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Compliance as a system property —</a:t>
            </a:r>
          </a:p>
          <a:p>
            <a:r>
              <a:t>not a quarterly project.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 Delivery Gear (ODG) is OCM's compliance automation engine.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Compliance Dashboard is your entry point: every component, every finding, every signature in one view.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Continuous scans run asynchronously — even after release.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Findings get rescored against contextual risk, so your team patches what actually matters.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Every compliance signal correlates by component identity. Auditors get evidence, not spreadsheets.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OCM UNLOCKS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One model unlocks all of this.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Code signing across stacks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Sign once at source; verify everywhere, with no per-stack tooling.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Air-gapped delivery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Walk a complete component across an air gap; verify at destination.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Kubernetes-native deployment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OCM controllers deploy components directly into clusters.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Asynchronous security scans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Continuous scanning, even after release; findings tied to component identity.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One source of truth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Rebuild any landscape from a single signed descriptor.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Automated compliance reporting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Reports composed from SBoD metadata — no spreadsheet drift.</a:t>
            </a:r>
          </a:p>
        </p:txBody>
      </p:sp>
      <p:pic>
        <p:nvPicPr>
          <p:cNvPr id="16" name="Picture 15" descr="lock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181600"/>
            <a:ext cx="381000" cy="381000"/>
          </a:xfrm>
          <a:prstGeom prst="rect">
            <a:avLst/>
          </a:prstGeom>
        </p:spPr>
      </p:pic>
      <p:pic>
        <p:nvPicPr>
          <p:cNvPr id="17" name="Picture 16" descr="cloud-upload_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5181600"/>
            <a:ext cx="381000" cy="381000"/>
          </a:xfrm>
          <a:prstGeom prst="rect">
            <a:avLst/>
          </a:prstGeom>
        </p:spPr>
      </p:pic>
      <p:pic>
        <p:nvPicPr>
          <p:cNvPr id="18" name="Picture 17" descr="rocket_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0" y="5181600"/>
            <a:ext cx="381000" cy="381000"/>
          </a:xfrm>
          <a:prstGeom prst="rect">
            <a:avLst/>
          </a:prstGeom>
        </p:spPr>
      </p:pic>
      <p:pic>
        <p:nvPicPr>
          <p:cNvPr id="19" name="Picture 18" descr="radar_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7600950"/>
            <a:ext cx="381000" cy="381000"/>
          </a:xfrm>
          <a:prstGeom prst="rect">
            <a:avLst/>
          </a:prstGeom>
        </p:spPr>
      </p:pic>
      <p:pic>
        <p:nvPicPr>
          <p:cNvPr id="20" name="Picture 19" descr="source-of-truth_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1800" y="7600950"/>
            <a:ext cx="381000" cy="381000"/>
          </a:xfrm>
          <a:prstGeom prst="rect">
            <a:avLst/>
          </a:prstGeom>
        </p:spPr>
      </p:pic>
      <p:pic>
        <p:nvPicPr>
          <p:cNvPr id="21" name="Picture 20" descr="report-analytics_7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0" y="7600950"/>
            <a:ext cx="381000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TRUSTED IN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Aligned with NeoNephos.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85775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ADOPTED BY ENTERPRISES SHIPPING INTO REGULATED ENVIRONMENTS</a:t>
            </a:r>
          </a:p>
        </p:txBody>
      </p:sp>
      <p:pic>
        <p:nvPicPr>
          <p:cNvPr id="5" name="Picture 4" descr="sap-horizontal-color_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201" y="5715000"/>
            <a:ext cx="1538422" cy="762000"/>
          </a:xfrm>
          <a:prstGeom prst="rect">
            <a:avLst/>
          </a:prstGeom>
        </p:spPr>
      </p:pic>
      <p:pic>
        <p:nvPicPr>
          <p:cNvPr id="6" name="Picture 5" descr="bwi-horizontal-color_6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502" y="5715000"/>
            <a:ext cx="1343471" cy="762000"/>
          </a:xfrm>
          <a:prstGeom prst="rect">
            <a:avLst/>
          </a:prstGeom>
        </p:spPr>
      </p:pic>
      <p:pic>
        <p:nvPicPr>
          <p:cNvPr id="7" name="Picture 6" descr="sap-ns2-getlogov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30262" y="5715000"/>
            <a:ext cx="1371600" cy="76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704850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BUILT INTO THE OPEN-SOURCE ECOSYSTEM</a:t>
            </a:r>
          </a:p>
        </p:txBody>
      </p:sp>
      <p:pic>
        <p:nvPicPr>
          <p:cNvPr id="9" name="Picture 8" descr="gardener-horizontal-color_6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9953" y="7905750"/>
            <a:ext cx="2664918" cy="762000"/>
          </a:xfrm>
          <a:prstGeom prst="rect">
            <a:avLst/>
          </a:prstGeom>
        </p:spPr>
      </p:pic>
      <p:pic>
        <p:nvPicPr>
          <p:cNvPr id="10" name="Picture 9" descr="konfidence-horizontal-light_6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5237" y="8108156"/>
            <a:ext cx="3048000" cy="357187"/>
          </a:xfrm>
          <a:prstGeom prst="rect">
            <a:avLst/>
          </a:prstGeom>
        </p:spPr>
      </p:pic>
      <p:pic>
        <p:nvPicPr>
          <p:cNvPr id="11" name="Picture 10" descr="platform-mesh-horizontal-color_64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92062" y="7922419"/>
            <a:ext cx="3048000" cy="72866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3000" y="9239250"/>
            <a:ext cx="16002000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>
                <a:solidFill>
                  <a:srgbClr val="0A3A99"/>
                </a:solidFill>
                <a:latin typeface="Aptos"/>
              </a:rPr>
              <a:t>An open standard, neutrally governed — your stack stays portable, your dependencies stay yours.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Start delivering with confidence.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b="1">
                <a:solidFill>
                  <a:srgbClr val="5CD6FF"/>
                </a:solidFill>
              </a:rPr>
              <a:t>Try it</a:t>
            </a:r>
            <a:r>
              <a:rPr>
                <a:solidFill>
                  <a:srgbClr val="FFFFFF"/>
                </a:solidFill>
              </a:rPr>
              <a:t> — ocm.software</a:t>
            </a:r>
          </a:p>
          <a:p>
            <a:r>
              <a:rPr b="1">
                <a:solidFill>
                  <a:srgbClr val="5CD6FF"/>
                </a:solidFill>
              </a:rPr>
              <a:t>Build with us</a:t>
            </a:r>
            <a:r>
              <a:rPr>
                <a:solidFill>
                  <a:srgbClr val="FFFFFF"/>
                </a:solidFill>
              </a:rPr>
              <a:t> — github.com/open-component-model</a:t>
            </a:r>
          </a:p>
          <a:p>
            <a:r>
              <a:rPr b="1">
                <a:solidFill>
                  <a:srgbClr val="5CD6FF"/>
                </a:solidFill>
              </a:rPr>
              <a:t>Talk to us</a:t>
            </a:r>
            <a:r>
              <a:rPr>
                <a:solidFill>
                  <a:srgbClr val="FFFFFF"/>
                </a:solidFill>
              </a:rPr>
              <a:t> — community channels on the website</a:t>
            </a:r>
          </a:p>
        </p:txBody>
      </p:sp>
      <p:pic>
        <p:nvPicPr>
          <p:cNvPr id="4" name="Picture 3" descr="ocm-horizontal-white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5" name="Picture 4" descr="neonephos-foundation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