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714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52425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334000"/>
            <ns2:ext cx="16192500" cy="85725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657225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4.png"/><Relationship Id="rId3" Type="http://schemas.openxmlformats.org/officeDocument/2006/relationships/hyperlink" Target="https://gardener.cloud" TargetMode="External"/><Relationship Id="rId4" Type="http://schemas.openxmlformats.org/officeDocument/2006/relationships/image" Target="../media/image15.png"/><Relationship Id="rId5" Type="http://schemas.openxmlformats.org/officeDocument/2006/relationships/hyperlink" Target="https://kyma-project.io" TargetMode="External"/><Relationship Id="rId6" Type="http://schemas.openxmlformats.org/officeDocument/2006/relationships/image" Target="../media/image16.png"/><Relationship Id="rId7" Type="http://schemas.openxmlformats.org/officeDocument/2006/relationships/hyperlink" Target="https://open-control-plane.io" TargetMode="External"/><Relationship Id="rId8" Type="http://schemas.openxmlformats.org/officeDocument/2006/relationships/image" Target="../media/image17.png"/><Relationship Id="rId9" Type="http://schemas.openxmlformats.org/officeDocument/2006/relationships/hyperlink" Target="https://konfidence.cloud" TargetMode="External"/><Relationship Id="rId10" Type="http://schemas.openxmlformats.org/officeDocument/2006/relationships/image" Target="../media/image18.png"/><Relationship Id="rId11" Type="http://schemas.openxmlformats.org/officeDocument/2006/relationships/hyperlink" Target="https://neonephos.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Every LoB rebuilds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the same delivery stack.</a:t>
            </a:r>
          </a:p>
        </p:txBody>
      </p:sp>
      <p:sp>
        <p:nvSpPr>
          <p:cNvPr id="4" name="Text Placeholder 3"/>
          <p:cNvSpPr>
            <a:spLocks noGrp="1"/>
          </p:cNvSpPr>
          <p:nvPr>
            <p:ph type="body" idx="3"/>
          </p:nvPr>
        </p:nvSpPr>
        <p:spPr/>
        <p:txBody>
          <a:bodyPr/>
          <a:lstStyle/>
          <a:p>
            <a:r>
              <a:rPr>
                <a:solidFill>
                  <a:srgbClr val="5CD6FF"/>
                </a:solidFill>
              </a:rPr>
              <a:t>OCM is the shared standard. Each LoB still ships — but on the same model.</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OpenControlPlane, Konfidence, Hyperspace, RBSC, CSI) shares the primitive.</a:t>
            </a:r>
          </a:p>
        </p:txBody>
      </p:sp>
      <p:sp>
        <p:nvSpPr>
          <p:cNvPr id="6" name="Text Placeholder 5"/>
          <p:cNvSpPr>
            <a:spLocks noGrp="1"/>
          </p:cNvSpPr>
          <p:nvPr>
            <p:ph type="body" idx="12"/>
          </p:nvPr>
        </p:nvSpPr>
        <p:spPr/>
        <p:txBody>
          <a:bodyPr/>
          <a:lstStyle/>
          <a:p>
            <a:r>
              <a:t>THE WINDOW IS CLOSING</a:t>
            </a:r>
          </a:p>
        </p:txBody>
      </p:sp>
      <p:sp>
        <p:nvSpPr>
          <p:cNvPr id="7" name="Text Placeholder 6"/>
          <p:cNvSpPr>
            <a:spLocks noGrp="1"/>
          </p:cNvSpPr>
          <p:nvPr>
            <p:ph type="body" idx="13"/>
          </p:nvPr>
        </p:nvSpPr>
        <p:spPr/>
        <p:txBody>
          <a:bodyPr/>
          <a:lstStyle/>
          <a:p>
            <a:r>
              <a:t>Adoption is consolidating. NeoNephos governance, CRA enforcement, sovereign-cloud market formation — the rails are being laid now.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SAP doesn't.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90.png"/>
          <p:cNvPicPr>
            <a:picLocks noChangeAspect="1"/>
          </p:cNvPicPr>
          <p:nvPr/>
        </p:nvPicPr>
        <p:blipFill>
          <a:blip r:embed="rId2"/>
          <a:stretch>
            <a:fillRect/>
          </a:stretch>
        </p:blipFill>
        <p:spPr>
          <a:xfrm>
            <a:off x="-866775" y="4191000"/>
            <a:ext cx="18002250" cy="57340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(Software Bill of Materials)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an envelope to compose around.</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Keyless (Sigstore) or key-based (your PKI) signs one artifact at a time. OCM gives them the complete SBoD to sign — one signature covers every artifact in the delivery, by digest.</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S3, OCI and Helm registries — each stores artifacts differently. OCM transports a signed envelope of artifacts across any boundary: registry to registry, registry to air-gapped archive. The signature travels intact.</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Trivy, Grype, your SBOM tools — each scans in isolation. OCM (via Open Delivery Gear) correlates every finding by component identity. Compliance is a system output, not a quarterly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519.png"/>
          <p:cNvPicPr>
            <a:picLocks noChangeAspect="1"/>
          </p:cNvPicPr>
          <p:nvPr/>
        </p:nvPicPr>
        <p:blipFill>
          <a:blip r:embed="rId2"/>
          <a:stretch>
            <a:fillRect/>
          </a:stretch>
        </p:blipFill>
        <p:spPr>
          <a:xfrm>
            <a:off x="1914149" y="3686175"/>
            <a:ext cx="13326226" cy="633412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the OCM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
        <p:nvSpPr>
          <p:cNvPr id="5" name="TextBox 4"/>
          <p:cNvSpPr txBox="1"/>
          <p:nvPr/>
        </p:nvSpPr>
        <p:spPr>
          <a:xfrm>
            <a:off x="1143000" y="9715500"/>
            <a:ext cx="16002000" cy="381000"/>
          </a:xfrm>
          <a:prstGeom prst="rect">
            <a:avLst/>
          </a:prstGeom>
          <a:noFill/>
        </p:spPr>
        <p:txBody>
          <a:bodyPr wrap="none" lIns="0" rIns="0" tIns="0" bIns="0">
            <a:spAutoFit/>
          </a:bodyPr>
          <a:lstStyle/>
          <a:p>
            <a:pPr algn="ctr"/>
            <a:r>
              <a:rPr sz="1300">
                <a:solidFill>
                  <a:srgbClr val="6B7280"/>
                </a:solidFill>
                <a:latin typeface="Aptos"/>
              </a:rPr>
              <a:t>github.com/open-component-model/open-delivery-gear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once, ship everywhere. Validated end-to-end in OCM's open-source sovereign conformance scenario.</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DORA-aligned reporting from one shared primitive — ODG correlates findings by component identity,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Blast radius is one query — “which deployments contain OCM component X?” — answered via the OCM coordinate system.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compounds with Gardener, OpenControlPlane, Konfidence, NeoNephos — the open-peer ecosystem.</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Box 3"/>
          <p:cNvSpPr txBox="1"/>
          <p:nvPr/>
        </p:nvSpPr>
        <p:spPr>
          <a:xfrm>
            <a:off x="1143000" y="4857750"/>
            <a:ext cx="16002000" cy="342900"/>
          </a:xfrm>
          <a:prstGeom prst="rect">
            <a:avLst/>
          </a:prstGeom>
          <a:noFill/>
        </p:spPr>
        <p:txBody>
          <a:bodyPr wrap="none" lIns="0" rIns="0" tIns="0" bIns="0">
            <a:spAutoFit/>
          </a:bodyPr>
          <a:lstStyle/>
          <a:p>
            <a:r>
              <a:rPr sz="1800" b="1" cap="all" spc="110">
                <a:solidFill>
                  <a:srgbClr val="0F6BFF"/>
                </a:solidFill>
                <a:latin typeface="Aptos"/>
              </a:rPr>
              <a:t>OPEN PEER PROJECTS BUILDING ON OCM</a:t>
            </a:r>
          </a:p>
        </p:txBody>
      </p:sp>
      <p:pic>
        <p:nvPicPr>
          <p:cNvPr id="5" name="Picture 4" descr="gardener-horizontal-color_640.png">
            <a:hlinkClick r:id="rId3"/>
          </p:cNvPr>
          <p:cNvPicPr>
            <a:picLocks noChangeAspect="1"/>
          </p:cNvPicPr>
          <p:nvPr/>
        </p:nvPicPr>
        <p:blipFill>
          <a:blip r:embed="rId2"/>
          <a:stretch>
            <a:fillRect/>
          </a:stretch>
        </p:blipFill>
        <p:spPr>
          <a:xfrm>
            <a:off x="1715541" y="6096000"/>
            <a:ext cx="2664918" cy="762000"/>
          </a:xfrm>
          <a:prstGeom prst="rect">
            <a:avLst/>
          </a:prstGeom>
        </p:spPr>
      </p:pic>
      <p:pic>
        <p:nvPicPr>
          <p:cNvPr id="6" name="Picture 5" descr="kyma-icon-color_640.png">
            <a:hlinkClick r:id="rId5"/>
          </p:cNvPr>
          <p:cNvPicPr>
            <a:picLocks noChangeAspect="1"/>
          </p:cNvPicPr>
          <p:nvPr/>
        </p:nvPicPr>
        <p:blipFill>
          <a:blip r:embed="rId4"/>
          <a:stretch>
            <a:fillRect/>
          </a:stretch>
        </p:blipFill>
        <p:spPr>
          <a:xfrm>
            <a:off x="5702710" y="6096000"/>
            <a:ext cx="786580" cy="762000"/>
          </a:xfrm>
          <a:prstGeom prst="rect">
            <a:avLst/>
          </a:prstGeom>
        </p:spPr>
      </p:pic>
      <p:pic>
        <p:nvPicPr>
          <p:cNvPr id="7" name="Picture 6" descr="opencontrolplane-icon-color_640.png">
            <a:hlinkClick r:id="rId7"/>
          </p:cNvPr>
          <p:cNvPicPr>
            <a:picLocks noChangeAspect="1"/>
          </p:cNvPicPr>
          <p:nvPr/>
        </p:nvPicPr>
        <p:blipFill>
          <a:blip r:embed="rId6"/>
          <a:stretch>
            <a:fillRect/>
          </a:stretch>
        </p:blipFill>
        <p:spPr>
          <a:xfrm>
            <a:off x="8816258" y="6096000"/>
            <a:ext cx="655483" cy="762000"/>
          </a:xfrm>
          <a:prstGeom prst="rect">
            <a:avLst/>
          </a:prstGeom>
        </p:spPr>
      </p:pic>
      <p:pic>
        <p:nvPicPr>
          <p:cNvPr id="8" name="Picture 7" descr="konfidence-horizontal-light_640.png">
            <a:hlinkClick r:id="rId9"/>
          </p:cNvPr>
          <p:cNvPicPr>
            <a:picLocks noChangeAspect="1"/>
          </p:cNvPicPr>
          <p:nvPr/>
        </p:nvPicPr>
        <p:blipFill>
          <a:blip r:embed="rId8"/>
          <a:stretch>
            <a:fillRect/>
          </a:stretch>
        </p:blipFill>
        <p:spPr>
          <a:xfrm>
            <a:off x="10668000" y="6298406"/>
            <a:ext cx="3048000" cy="357187"/>
          </a:xfrm>
          <a:prstGeom prst="rect">
            <a:avLst/>
          </a:prstGeom>
        </p:spPr>
      </p:pic>
      <p:pic>
        <p:nvPicPr>
          <p:cNvPr id="9" name="Picture 8" descr="neonephos-foundation-horizontal-color_640.png">
            <a:hlinkClick r:id="rId11"/>
          </p:cNvPr>
          <p:cNvPicPr>
            <a:picLocks noChangeAspect="1"/>
          </p:cNvPicPr>
          <p:nvPr/>
        </p:nvPicPr>
        <p:blipFill>
          <a:blip r:embed="rId10"/>
          <a:stretch>
            <a:fillRect/>
          </a:stretch>
        </p:blipFill>
        <p:spPr>
          <a:xfrm>
            <a:off x="13716000" y="6181725"/>
            <a:ext cx="3048000" cy="590550"/>
          </a:xfrm>
          <a:prstGeom prst="rect">
            <a:avLst/>
          </a:prstGeom>
        </p:spPr>
      </p:pic>
      <p:sp>
        <p:nvSpPr>
          <p:cNvPr id="10" name="TextBox 9"/>
          <p:cNvSpPr txBox="1"/>
          <p:nvPr/>
        </p:nvSpPr>
        <p:spPr>
          <a:xfrm>
            <a:off x="1143000" y="8096250"/>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And forthcoming: every NeoNephos foundation project as it lands.</a:t>
            </a:r>
          </a:p>
        </p:txBody>
      </p:sp>
      <p:sp>
        <p:nvSpPr>
          <p:cNvPr id="11" name="TextBox 10"/>
          <p:cNvSpPr txBox="1"/>
          <p:nvPr/>
        </p:nvSpPr>
        <p:spPr>
          <a:xfrm>
            <a:off x="1143000" y="9715500"/>
            <a:ext cx="16002000" cy="381000"/>
          </a:xfrm>
          <a:prstGeom prst="rect">
            <a:avLst/>
          </a:prstGeom>
          <a:noFill/>
        </p:spPr>
        <p:txBody>
          <a:bodyPr wrap="none" lIns="0" rIns="0" tIns="0" bIns="0">
            <a:spAutoFit/>
          </a:bodyPr>
          <a:lstStyle/>
          <a:p>
            <a:pPr algn="ctr"/>
            <a:r>
              <a:rPr sz="1300">
                <a:solidFill>
                  <a:srgbClr val="6B7280"/>
                </a:solidFill>
                <a:latin typeface="Aptos"/>
              </a:rPr>
              <a:t>gardener.cloud · kyma-project.io · open-control-plane.io · konfidence.cloud · neonephos.org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a:t>
            </a:r>
          </a:p>
        </p:txBody>
      </p:sp>
      <p:sp>
        <p:nvSpPr>
          <p:cNvPr id="3" name="Title 2"/>
          <p:cNvSpPr>
            <a:spLocks noGrp="1"/>
          </p:cNvSpPr>
          <p:nvPr>
            <p:ph type="title" idx="2"/>
          </p:nvPr>
        </p:nvSpPr>
        <p:spPr/>
        <p:txBody>
          <a:bodyPr/>
          <a:lstStyle/>
          <a:p>
            <a:r>
              <a:t>Logos and trademarks belong to their respective owners.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SAP, SAP NS2 — trademarks of SAP SE / SAP National Security Services. Editorial use only; no endorsement implied. sap.com · sapns2.com</a:t>
            </a:r>
          </a:p>
          <a:p>
            <a:pPr>
              <a:spcBef>
                <a:spcPts val="800"/>
              </a:spcBef>
              <a:spcAft>
                <a:spcPts val="800"/>
              </a:spcAft>
            </a:pPr>
            <a:r>
              <a:rPr b="1">
                <a:solidFill>
                  <a:srgbClr val="0F6BFF"/>
                </a:solidFill>
              </a:rPr>
              <a:t>▪  </a:t>
            </a:r>
            <a:r>
              <a:rPr>
                <a:solidFill>
                  <a:srgbClr val="000000"/>
                </a:solidFill>
              </a:rPr>
              <a:t>BWI — trademark of BWI GmbH (Bundeswehr-IT). Editorial use of the Wikimedia public-domain wordmark; verify against BWI press conditions before external publication. bwi.de</a:t>
            </a:r>
          </a:p>
          <a:p>
            <a:pPr>
              <a:spcBef>
                <a:spcPts val="800"/>
              </a:spcBef>
              <a:spcAft>
                <a:spcPts val="800"/>
              </a:spcAft>
            </a:pPr>
            <a:r>
              <a:rPr b="1">
                <a:solidFill>
                  <a:srgbClr val="0F6BFF"/>
                </a:solidFill>
              </a:rPr>
              <a:t>▪  </a:t>
            </a:r>
            <a:r>
              <a:rPr>
                <a:solidFill>
                  <a:srgbClr val="000000"/>
                </a:solidFill>
              </a:rPr>
              <a:t>Gardener, Platform Mesh, NeoNephos Foundation — Linux Foundation Europe artwork; usage governed by the Linux Foundation trademark usage guidelines (linuxfoundation.org/legal/trademark-usage). gardener.cloud · platform-mesh.io · neonephos.org</a:t>
            </a:r>
          </a:p>
          <a:p>
            <a:pPr>
              <a:spcBef>
                <a:spcPts val="800"/>
              </a:spcBef>
              <a:spcAft>
                <a:spcPts val="800"/>
              </a:spcAft>
            </a:pPr>
            <a:r>
              <a:rPr b="1">
                <a:solidFill>
                  <a:srgbClr val="0F6BFF"/>
                </a:solidFill>
              </a:rPr>
              <a:t>▪  </a:t>
            </a:r>
            <a:r>
              <a:rPr>
                <a:solidFill>
                  <a:srgbClr val="000000"/>
                </a:solidFill>
              </a:rPr>
              <a:t>Konfidence — SAP-supported open project; logo from konfidence.cloud. Editorial use only; verify with the Konfidence project before external publication. konfidence.cloud</a:t>
            </a:r>
          </a:p>
          <a:p>
            <a:pPr>
              <a:spcBef>
                <a:spcPts val="800"/>
              </a:spcBef>
              <a:spcAft>
                <a:spcPts val="800"/>
              </a:spcAft>
            </a:pPr>
            <a:r>
              <a:rPr b="1">
                <a:solidFill>
                  <a:srgbClr val="0F6BFF"/>
                </a:solidFill>
              </a:rPr>
              <a:t>▪  </a:t>
            </a:r>
            <a:r>
              <a:rPr>
                <a:solidFill>
                  <a:srgbClr val="000000"/>
                </a:solidFill>
              </a:rPr>
              <a:t>OpenControlPlane — open-source project at open-control-plane.io. Editorial use only; verify with the project before external publication. open-control-plane.io</a:t>
            </a:r>
          </a:p>
          <a:p>
            <a:pPr>
              <a:spcBef>
                <a:spcPts val="800"/>
              </a:spcBef>
              <a:spcAft>
                <a:spcPts val="800"/>
              </a:spcAft>
            </a:pPr>
            <a:r>
              <a:rPr b="1">
                <a:solidFill>
                  <a:srgbClr val="0F6BFF"/>
                </a:solidFill>
              </a:rPr>
              <a:t>▪  </a:t>
            </a:r>
            <a:r>
              <a:rPr>
                <a:solidFill>
                  <a:srgbClr val="000000"/>
                </a:solidFill>
              </a:rPr>
              <a:t>Kyma — SAP-originated open-source project at kyma-project.io. Editorial use only. kyma-project.io</a:t>
            </a:r>
          </a:p>
          <a:p>
            <a:pPr>
              <a:spcBef>
                <a:spcPts val="800"/>
              </a:spcBef>
              <a:spcAft>
                <a:spcPts val="800"/>
              </a:spcAft>
            </a:pPr>
            <a:r>
              <a:rPr b="1">
                <a:solidFill>
                  <a:srgbClr val="0F6BFF"/>
                </a:solidFill>
              </a:rPr>
              <a:t>▪  </a:t>
            </a:r>
            <a:r>
              <a:rPr>
                <a:solidFill>
                  <a:srgbClr val="000000"/>
                </a:solidFill>
              </a:rPr>
              <a:t>Hyperspace, RBSC, CSI, Greenhouse, Steampunk — internal SAP delivery infrastructure named for context; not third-party marks.</a:t>
            </a:r>
          </a:p>
          <a:p>
            <a:pPr>
              <a:spcBef>
                <a:spcPts val="800"/>
              </a:spcBef>
              <a:spcAft>
                <a:spcPts val="800"/>
              </a:spcAft>
            </a:pPr>
            <a:r>
              <a:rPr b="1">
                <a:solidFill>
                  <a:srgbClr val="0F6BFF"/>
                </a:solidFill>
              </a:rPr>
              <a:t>▪  </a:t>
            </a:r>
            <a:r>
              <a:rPr>
                <a:solidFill>
                  <a:srgbClr val="000000"/>
                </a:solidFill>
              </a:rPr>
              <a:t>Trivy, Grype, Sigstore, Helm, OCI, Kubernetes, kro, Flux, Argo CD — third-party trademarks named for technical reference; ownership remains with their respective projects and organisations.</a:t>
            </a:r>
          </a:p>
          <a:p>
            <a:pPr>
              <a:spcBef>
                <a:spcPts val="800"/>
              </a:spcBef>
              <a:spcAft>
                <a:spcPts val="800"/>
              </a:spcAft>
            </a:pPr>
            <a:r>
              <a:rPr b="1">
                <a:solidFill>
                  <a:srgbClr val="0F6BFF"/>
                </a:solidFill>
              </a:rPr>
              <a:t>▪  </a:t>
            </a:r>
            <a:r>
              <a:rPr>
                <a:solidFill>
                  <a:srgbClr val="000000"/>
                </a:solidFill>
              </a:rPr>
              <a:t>Full sourcing record: assets/adopters/LICENSING.md in the OCM marketing repository.</a:t>
            </a:r>
          </a:p>
        </p:txBody>
      </p:sp>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