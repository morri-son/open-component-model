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userDrawn="1">
  <p:cSld name="Hero">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524000"/>
            <ns2:ext cx="16192500" cy="1905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Secure Delivery for</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361950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Sovereign Clouds</ns6:t>
            </ns6:r>
            <ns6:endParaRPr lang="en-US"/>
          </ns6:p>
        </ns0:txBody>
      </ns0:sp>
      <ns0:sp xmlns:ns0="http://schemas.openxmlformats.org/presentationml/2006/main">
        <ns0:nvSpPr>
          <ns0:cNvPr id="12" name="Hero Subtitle"/>
          <ns0:cNvSpPr>
            <ns1:spLocks xmlns:ns1="http://schemas.openxmlformats.org/drawingml/2006/main" noGrp="1"/>
          </ns0:cNvSpPr>
          <ns0:nvPr>
            <ns0:ph type="body" idx="3"/>
          </ns0:nvPr>
        </ns0:nvSpPr>
        <ns0:spPr>
          <ns2:xfrm xmlns:ns2="http://schemas.openxmlformats.org/drawingml/2006/main">
            <ns2:off x="914400" y="5715000"/>
            <ns2:ext cx="16192500" cy="1143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3" name="Hero Org Line"/>
          <ns0:cNvSpPr>
            <ns1:spLocks xmlns:ns1="http://schemas.openxmlformats.org/drawingml/2006/main" noGrp="1"/>
          </ns0:cNvSpPr>
          <ns0:nvPr>
            <ns0:ph type="body" idx="4"/>
          </ns0:nvPr>
        </ns0:nvSpPr>
        <ns0:spPr>
          <ns2:xfrm xmlns:ns2="http://schemas.openxmlformats.org/drawingml/2006/main">
            <ns2:off x="914400" y="819150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userDrawn="1">
  <p:cSld name="Hero / 3-Line">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14300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Three minutes from now,</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257175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you'll know what your</ns6:t>
            </ns6:r>
            <ns6:endParaRPr lang="en-US"/>
          </ns6:p>
        </ns0:txBody>
      </ns0:sp>
      <ns0:sp xmlns:ns0="http://schemas.openxmlformats.org/presentationml/2006/main">
        <ns0:nvSpPr>
          <ns0:cNvPr id="12" name="Hero Title Line 3 (Gradient)"/>
          <ns0:cNvSpPr>
            <ns1:spLocks xmlns:ns1="http://schemas.openxmlformats.org/drawingml/2006/main" noGrp="1"/>
          </ns0:cNvSpPr>
          <ns0:nvPr>
            <ns0:ph type="body" idx="3"/>
          </ns0:nvPr>
        </ns0:nvSpPr>
        <ns0:spPr>
          <ns2:xfrm xmlns:ns2="http://schemas.openxmlformats.org/drawingml/2006/main">
            <ns2:off x="914400" y="400050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supply chain doesn't</ns6:t>
            </ns6:r>
            <ns6:endParaRPr lang="en-US"/>
          </ns6:p>
        </ns0:txBody>
      </ns0:sp>
      <ns0:sp xmlns:ns0="http://schemas.openxmlformats.org/presentationml/2006/main">
        <ns0:nvSpPr>
          <ns0:cNvPr id="13" name="Hero Subtitle"/>
          <ns0:cNvSpPr>
            <ns1:spLocks xmlns:ns1="http://schemas.openxmlformats.org/drawingml/2006/main" noGrp="1"/>
          </ns0:cNvSpPr>
          <ns0:nvPr>
            <ns0:ph type="body" idx="4"/>
          </ns0:nvPr>
        </ns0:nvSpPr>
        <ns0:spPr>
          <ns2:xfrm xmlns:ns2="http://schemas.openxmlformats.org/drawingml/2006/main">
            <ns2:off x="914400" y="5905500"/>
            <ns2:ext cx="16192500" cy="1143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4" name="Hero Org Line"/>
          <ns0:cNvSpPr>
            <ns1:spLocks xmlns:ns1="http://schemas.openxmlformats.org/drawingml/2006/main" noGrp="1"/>
          </ns0:cNvSpPr>
          <ns0:nvPr>
            <ns0:ph type="body" idx="5"/>
          </ns0:nvPr>
        </ns0:nvSpPr>
        <ns0:spPr>
          <ns2:xfrm xmlns:ns2="http://schemas.openxmlformats.org/drawingml/2006/main">
            <ns2:off x="914400" y="819150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userDrawn="1">
  <p:cSld name="CTA">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CTA Title"/>
          <ns0:cNvSpPr>
            <ns1:spLocks xmlns:ns1="http://schemas.openxmlformats.org/drawingml/2006/main" noGrp="1"/>
          </ns0:cNvSpPr>
          <ns0:nvPr>
            <ns0:ph type="title" idx="1"/>
          </ns0:nvPr>
        </ns0:nvSpPr>
        <ns0:spPr>
          <ns2:xfrm xmlns:ns2="http://schemas.openxmlformats.org/drawingml/2006/main">
            <ns2:off x="914400" y="3048000"/>
            <ns2:ext cx="16192500" cy="952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5600" b="1">
                <ns5:solidFill>
                  <ns5:srgbClr val="FFFFFF"/>
                </ns5:solidFill>
                <ns5:latin typeface="Aptos Display"/>
              </ns5:defRPr>
            </ns5:lvl1pPr>
          </ns5:lstStyle>
          <ns6:p xmlns:ns6="http://schemas.openxmlformats.org/drawingml/2006/main">
            <ns6:r>
              <ns6:rPr lang="en-US"/>
              <ns6:t>Call to action</ns6:t>
            </ns6:r>
            <ns6:endParaRPr lang="en-US"/>
          </ns6:p>
        </ns0:txBody>
      </ns0:sp>
      <ns0:sp xmlns:ns0="http://schemas.openxmlformats.org/presentationml/2006/main">
        <ns0:nvSpPr>
          <ns0:cNvPr id="11" name="CTA Body"/>
          <ns0:cNvSpPr>
            <ns1:spLocks xmlns:ns1="http://schemas.openxmlformats.org/drawingml/2006/main" noGrp="1"/>
          </ns0:cNvSpPr>
          <ns0:nvPr>
            <ns0:ph type="body" idx="2"/>
          </ns0:nvPr>
        </ns0:nvSpPr>
        <ns0:spPr>
          <ns2:xfrm xmlns:ns2="http://schemas.openxmlformats.org/drawingml/2006/main">
            <ns2:off x="914400" y="4381500"/>
            <ns2:ext cx="161925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FFFFFF"/>
                </ns5:solidFill>
                <ns5:latin typeface="Aptos"/>
              </ns5:defRPr>
            </ns5:lvl1pPr>
          </ns5:lstStyle>
          <ns6:p xmlns:ns6="http://schemas.openxmlformats.org/drawingml/2006/main">
            <ns6:r>
              <ns6:rPr lang="en-US"/>
              <ns6:t>Three-line CTA bullets go here.</ns6:t>
            </ns6:r>
            <ns6:endParaRPr lang="en-US"/>
          </ns6:p>
        </ns0:txBody>
      </ns0: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userDrawn="1">
  <p:cSld name="Content / 3-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Col1 Rule"/>
          <ns0:cNvSpPr/>
          <ns0:nvPr/>
        </ns0:nvSpPr>
        <ns0:spPr>
          <ns1:xfrm xmlns:ns1="http://schemas.openxmlformats.org/drawingml/2006/main">
            <ns1:off x="11430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Col1 Header"/>
          <ns0:cNvSpPr>
            <ns1:spLocks xmlns:ns1="http://schemas.openxmlformats.org/drawingml/2006/main" noGrp="1"/>
          </ns0:cNvSpPr>
          <ns0:nvPr>
            <ns0:ph type="body" idx="10"/>
          </ns0:nvPr>
        </ns0:nvSpPr>
        <ns0:spPr>
          <ns2:xfrm xmlns:ns2="http://schemas.openxmlformats.org/drawingml/2006/main">
            <ns2:off x="11430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1 HEADER</ns6:t>
            </ns6:r>
            <ns6:endParaRPr lang="en-US"/>
          </ns6:p>
        </ns0:txBody>
      </ns0:sp>
      <ns0:sp xmlns:ns0="http://schemas.openxmlformats.org/presentationml/2006/main">
        <ns0:nvSpPr>
          <ns0:cNvPr id="14" name="Col1 Body"/>
          <ns0:cNvSpPr>
            <ns1:spLocks xmlns:ns1="http://schemas.openxmlformats.org/drawingml/2006/main" noGrp="1"/>
          </ns0:cNvSpPr>
          <ns0:nvPr>
            <ns0:ph type="body" idx="11"/>
          </ns0:nvPr>
        </ns0:nvSpPr>
        <ns0:spPr>
          <ns2:xfrm xmlns:ns2="http://schemas.openxmlformats.org/drawingml/2006/main">
            <ns2:off x="1143000" y="5905500"/>
            <ns2:ext cx="4972050" cy="42291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1 body. Replace with one or two short sentences.</ns6:t>
            </ns6:r>
            <ns6:endParaRPr lang="en-US"/>
          </ns6:p>
        </ns0:txBody>
      </ns0:sp>
      <ns0:sp xmlns:ns0="http://schemas.openxmlformats.org/presentationml/2006/main">
        <ns0:nvSpPr>
          <ns0:cNvPr id="15" name="Col2 Rule"/>
          <ns0:cNvSpPr/>
          <ns0:nvPr/>
        </ns0:nvSpPr>
        <ns0:spPr>
          <ns1:xfrm xmlns:ns1="http://schemas.openxmlformats.org/drawingml/2006/main">
            <ns1:off x="664845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6" name="Col2 Header"/>
          <ns0:cNvSpPr>
            <ns1:spLocks xmlns:ns1="http://schemas.openxmlformats.org/drawingml/2006/main" noGrp="1"/>
          </ns0:cNvSpPr>
          <ns0:nvPr>
            <ns0:ph type="body" idx="12"/>
          </ns0:nvPr>
        </ns0:nvSpPr>
        <ns0:spPr>
          <ns2:xfrm xmlns:ns2="http://schemas.openxmlformats.org/drawingml/2006/main">
            <ns2:off x="664845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2 HEADER</ns6:t>
            </ns6:r>
            <ns6:endParaRPr lang="en-US"/>
          </ns6:p>
        </ns0:txBody>
      </ns0:sp>
      <ns0:sp xmlns:ns0="http://schemas.openxmlformats.org/presentationml/2006/main">
        <ns0:nvSpPr>
          <ns0:cNvPr id="17" name="Col2 Body"/>
          <ns0:cNvSpPr>
            <ns1:spLocks xmlns:ns1="http://schemas.openxmlformats.org/drawingml/2006/main" noGrp="1"/>
          </ns0:cNvSpPr>
          <ns0:nvPr>
            <ns0:ph type="body" idx="13"/>
          </ns0:nvPr>
        </ns0:nvSpPr>
        <ns0:spPr>
          <ns2:xfrm xmlns:ns2="http://schemas.openxmlformats.org/drawingml/2006/main">
            <ns2:off x="6648450" y="5905500"/>
            <ns2:ext cx="4972050" cy="42291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2 body. Replace with one or two short sentences.</ns6:t>
            </ns6:r>
            <ns6:endParaRPr lang="en-US"/>
          </ns6:p>
        </ns0:txBody>
      </ns0:sp>
      <ns0:sp xmlns:ns0="http://schemas.openxmlformats.org/presentationml/2006/main">
        <ns0:nvSpPr>
          <ns0:cNvPr id="18" name="Col3 Rule"/>
          <ns0:cNvSpPr/>
          <ns0:nvPr/>
        </ns0:nvSpPr>
        <ns0:spPr>
          <ns1:xfrm xmlns:ns1="http://schemas.openxmlformats.org/drawingml/2006/main">
            <ns1:off x="121539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9" name="Col3 Header"/>
          <ns0:cNvSpPr>
            <ns1:spLocks xmlns:ns1="http://schemas.openxmlformats.org/drawingml/2006/main" noGrp="1"/>
          </ns0:cNvSpPr>
          <ns0:nvPr>
            <ns0:ph type="body" idx="14"/>
          </ns0:nvPr>
        </ns0:nvSpPr>
        <ns0:spPr>
          <ns2:xfrm xmlns:ns2="http://schemas.openxmlformats.org/drawingml/2006/main">
            <ns2:off x="121539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3 HEADER</ns6:t>
            </ns6:r>
            <ns6:endParaRPr lang="en-US"/>
          </ns6:p>
        </ns0:txBody>
      </ns0:sp>
      <ns0:sp xmlns:ns0="http://schemas.openxmlformats.org/presentationml/2006/main">
        <ns0:nvSpPr>
          <ns0:cNvPr id="20" name="Col3 Body"/>
          <ns0:cNvSpPr>
            <ns1:spLocks xmlns:ns1="http://schemas.openxmlformats.org/drawingml/2006/main" noGrp="1"/>
          </ns0:cNvSpPr>
          <ns0:nvPr>
            <ns0:ph type="body" idx="15"/>
          </ns0:nvPr>
        </ns0:nvSpPr>
        <ns0:spPr>
          <ns2:xfrm xmlns:ns2="http://schemas.openxmlformats.org/drawingml/2006/main">
            <ns2:off x="12153900" y="5905500"/>
            <ns2:ext cx="4972050" cy="42291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3 body. Replace with one or two short sentences.</ns6:t>
            </ns6:r>
            <ns6:endParaRPr lang="en-US"/>
          </ns6:p>
        </ns0:txBody>
      </ns0:sp>
      <ns0:sp xmlns:ns0="http://schemas.openxmlformats.org/presentationml/2006/main">
        <ns0:nvSpPr>
          <ns0:cNvPr id="21"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userDrawn="1">
  <p:cSld name="Content / Diagram">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143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Diagram"/>
          <ns0:cNvSpPr>
            <ns1:spLocks xmlns:ns1="http://schemas.openxmlformats.org/drawingml/2006/main" noGrp="1"/>
          </ns0:cNvSpPr>
          <ns0:nvPr>
            <ns0:ph type="pic" idx="10"/>
          </ns0:nvPr>
        </ns0:nvSpPr>
        <ns0:spPr>
          <ns2:xfrm xmlns:ns2="http://schemas.openxmlformats.org/drawingml/2006/main">
            <ns2:off x="571500" y="4381500"/>
            <ns2:ext cx="17145000" cy="5715000"/>
          </ns2:xfrm>
          <ns3:prstGeom xmlns:ns3="http://schemas.openxmlformats.org/drawingml/2006/main" prst="rect">
            <ns3:avLst/>
          </ns3:prstGeom>
        </ns0:spPr>
        <ns0:txBody>
          <ns4:bodyPr xmlns:ns4="http://schemas.openxmlformats.org/drawingml/2006/main" rtlCol="0" anchor="ctr"/>
          <ns5:lstStyle xmlns:ns5="http://schemas.openxmlformats.org/drawingml/2006/main"/>
          <ns6:p xmlns:ns6="http://schemas.openxmlformats.org/drawingml/2006/main">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userDrawn="1">
  <p:cSld name="Content / Tiles">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Tile1 Bg"/>
          <ns0:cNvSpPr/>
          <ns0:nvPr/>
        </ns0:nvSpPr>
        <ns0:spPr>
          <ns1:xfrm xmlns:ns1="http://schemas.openxmlformats.org/drawingml/2006/main">
            <ns1:off x="11430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Tile1 Rule"/>
          <ns0:cNvSpPr/>
          <ns0:nvPr/>
        </ns0:nvSpPr>
        <ns0:spPr>
          <ns1:xfrm xmlns:ns1="http://schemas.openxmlformats.org/drawingml/2006/main">
            <ns1:off x="11430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4" name="Tile1 Label"/>
          <ns0:cNvSpPr>
            <ns1:spLocks xmlns:ns1="http://schemas.openxmlformats.org/drawingml/2006/main" noGrp="1"/>
          </ns0:cNvSpPr>
          <ns0:nvPr>
            <ns0:ph type="body" idx="20"/>
          </ns0:nvPr>
        </ns0:nvSpPr>
        <ns0:spPr>
          <ns2:xfrm xmlns:ns2="http://schemas.openxmlformats.org/drawingml/2006/main">
            <ns2:off x="13716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1 label</ns6:t>
            </ns6:r>
            <ns6:endParaRPr lang="en-US"/>
          </ns6:p>
        </ns0:txBody>
      </ns0:sp>
      <ns0:sp xmlns:ns0="http://schemas.openxmlformats.org/presentationml/2006/main">
        <ns0:nvSpPr>
          <ns0:cNvPr id="15" name="Tile1 Body"/>
          <ns0:cNvSpPr>
            <ns1:spLocks xmlns:ns1="http://schemas.openxmlformats.org/drawingml/2006/main" noGrp="1"/>
          </ns0:cNvSpPr>
          <ns0:nvPr>
            <ns0:ph type="body" idx="21"/>
          </ns0:nvPr>
        </ns0:nvSpPr>
        <ns0:spPr>
          <ns2:xfrm xmlns:ns2="http://schemas.openxmlformats.org/drawingml/2006/main">
            <ns2:off x="13716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16" name="Tile2 Bg"/>
          <ns0:cNvSpPr/>
          <ns0:nvPr/>
        </ns0:nvSpPr>
        <ns0:spPr>
          <ns1:xfrm xmlns:ns1="http://schemas.openxmlformats.org/drawingml/2006/main">
            <ns1:off x="65532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7" name="Tile2 Rule"/>
          <ns0:cNvSpPr/>
          <ns0:nvPr/>
        </ns0:nvSpPr>
        <ns0:spPr>
          <ns1:xfrm xmlns:ns1="http://schemas.openxmlformats.org/drawingml/2006/main">
            <ns1:off x="65532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8" name="Tile2 Label"/>
          <ns0:cNvSpPr>
            <ns1:spLocks xmlns:ns1="http://schemas.openxmlformats.org/drawingml/2006/main" noGrp="1"/>
          </ns0:cNvSpPr>
          <ns0:nvPr>
            <ns0:ph type="body" idx="22"/>
          </ns0:nvPr>
        </ns0:nvSpPr>
        <ns0:spPr>
          <ns2:xfrm xmlns:ns2="http://schemas.openxmlformats.org/drawingml/2006/main">
            <ns2:off x="67818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2 label</ns6:t>
            </ns6:r>
            <ns6:endParaRPr lang="en-US"/>
          </ns6:p>
        </ns0:txBody>
      </ns0:sp>
      <ns0:sp xmlns:ns0="http://schemas.openxmlformats.org/presentationml/2006/main">
        <ns0:nvSpPr>
          <ns0:cNvPr id="19" name="Tile2 Body"/>
          <ns0:cNvSpPr>
            <ns1:spLocks xmlns:ns1="http://schemas.openxmlformats.org/drawingml/2006/main" noGrp="1"/>
          </ns0:cNvSpPr>
          <ns0:nvPr>
            <ns0:ph type="body" idx="23"/>
          </ns0:nvPr>
        </ns0:nvSpPr>
        <ns0:spPr>
          <ns2:xfrm xmlns:ns2="http://schemas.openxmlformats.org/drawingml/2006/main">
            <ns2:off x="67818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0" name="Tile3 Bg"/>
          <ns0:cNvSpPr/>
          <ns0:nvPr/>
        </ns0:nvSpPr>
        <ns0:spPr>
          <ns1:xfrm xmlns:ns1="http://schemas.openxmlformats.org/drawingml/2006/main">
            <ns1:off x="119634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1" name="Tile3 Rule"/>
          <ns0:cNvSpPr/>
          <ns0:nvPr/>
        </ns0:nvSpPr>
        <ns0:spPr>
          <ns1:xfrm xmlns:ns1="http://schemas.openxmlformats.org/drawingml/2006/main">
            <ns1:off x="119634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2" name="Tile3 Label"/>
          <ns0:cNvSpPr>
            <ns1:spLocks xmlns:ns1="http://schemas.openxmlformats.org/drawingml/2006/main" noGrp="1"/>
          </ns0:cNvSpPr>
          <ns0:nvPr>
            <ns0:ph type="body" idx="24"/>
          </ns0:nvPr>
        </ns0:nvSpPr>
        <ns0:spPr>
          <ns2:xfrm xmlns:ns2="http://schemas.openxmlformats.org/drawingml/2006/main">
            <ns2:off x="121920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3 label</ns6:t>
            </ns6:r>
            <ns6:endParaRPr lang="en-US"/>
          </ns6:p>
        </ns0:txBody>
      </ns0:sp>
      <ns0:sp xmlns:ns0="http://schemas.openxmlformats.org/presentationml/2006/main">
        <ns0:nvSpPr>
          <ns0:cNvPr id="23" name="Tile3 Body"/>
          <ns0:cNvSpPr>
            <ns1:spLocks xmlns:ns1="http://schemas.openxmlformats.org/drawingml/2006/main" noGrp="1"/>
          </ns0:cNvSpPr>
          <ns0:nvPr>
            <ns0:ph type="body" idx="25"/>
          </ns0:nvPr>
        </ns0:nvSpPr>
        <ns0:spPr>
          <ns2:xfrm xmlns:ns2="http://schemas.openxmlformats.org/drawingml/2006/main">
            <ns2:off x="121920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4" name="Tile4 Bg"/>
          <ns0:cNvSpPr/>
          <ns0:nvPr/>
        </ns0:nvSpPr>
        <ns0:spPr>
          <ns1:xfrm xmlns:ns1="http://schemas.openxmlformats.org/drawingml/2006/main">
            <ns1:off x="11430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5" name="Tile4 Rule"/>
          <ns0:cNvSpPr/>
          <ns0:nvPr/>
        </ns0:nvSpPr>
        <ns0:spPr>
          <ns1:xfrm xmlns:ns1="http://schemas.openxmlformats.org/drawingml/2006/main">
            <ns1:off x="11430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6" name="Tile4 Label"/>
          <ns0:cNvSpPr>
            <ns1:spLocks xmlns:ns1="http://schemas.openxmlformats.org/drawingml/2006/main" noGrp="1"/>
          </ns0:cNvSpPr>
          <ns0:nvPr>
            <ns0:ph type="body" idx="26"/>
          </ns0:nvPr>
        </ns0:nvSpPr>
        <ns0:spPr>
          <ns2:xfrm xmlns:ns2="http://schemas.openxmlformats.org/drawingml/2006/main">
            <ns2:off x="13716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4 label</ns6:t>
            </ns6:r>
            <ns6:endParaRPr lang="en-US"/>
          </ns6:p>
        </ns0:txBody>
      </ns0:sp>
      <ns0:sp xmlns:ns0="http://schemas.openxmlformats.org/presentationml/2006/main">
        <ns0:nvSpPr>
          <ns0:cNvPr id="27" name="Tile4 Body"/>
          <ns0:cNvSpPr>
            <ns1:spLocks xmlns:ns1="http://schemas.openxmlformats.org/drawingml/2006/main" noGrp="1"/>
          </ns0:cNvSpPr>
          <ns0:nvPr>
            <ns0:ph type="body" idx="27"/>
          </ns0:nvPr>
        </ns0:nvSpPr>
        <ns0:spPr>
          <ns2:xfrm xmlns:ns2="http://schemas.openxmlformats.org/drawingml/2006/main">
            <ns2:off x="13716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8" name="Tile5 Bg"/>
          <ns0:cNvSpPr/>
          <ns0:nvPr/>
        </ns0:nvSpPr>
        <ns0:spPr>
          <ns1:xfrm xmlns:ns1="http://schemas.openxmlformats.org/drawingml/2006/main">
            <ns1:off x="65532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9" name="Tile5 Rule"/>
          <ns0:cNvSpPr/>
          <ns0:nvPr/>
        </ns0:nvSpPr>
        <ns0:spPr>
          <ns1:xfrm xmlns:ns1="http://schemas.openxmlformats.org/drawingml/2006/main">
            <ns1:off x="65532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0" name="Tile5 Label"/>
          <ns0:cNvSpPr>
            <ns1:spLocks xmlns:ns1="http://schemas.openxmlformats.org/drawingml/2006/main" noGrp="1"/>
          </ns0:cNvSpPr>
          <ns0:nvPr>
            <ns0:ph type="body" idx="28"/>
          </ns0:nvPr>
        </ns0:nvSpPr>
        <ns0:spPr>
          <ns2:xfrm xmlns:ns2="http://schemas.openxmlformats.org/drawingml/2006/main">
            <ns2:off x="67818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5 label</ns6:t>
            </ns6:r>
            <ns6:endParaRPr lang="en-US"/>
          </ns6:p>
        </ns0:txBody>
      </ns0:sp>
      <ns0:sp xmlns:ns0="http://schemas.openxmlformats.org/presentationml/2006/main">
        <ns0:nvSpPr>
          <ns0:cNvPr id="31" name="Tile5 Body"/>
          <ns0:cNvSpPr>
            <ns1:spLocks xmlns:ns1="http://schemas.openxmlformats.org/drawingml/2006/main" noGrp="1"/>
          </ns0:cNvSpPr>
          <ns0:nvPr>
            <ns0:ph type="body" idx="29"/>
          </ns0:nvPr>
        </ns0:nvSpPr>
        <ns0:spPr>
          <ns2:xfrm xmlns:ns2="http://schemas.openxmlformats.org/drawingml/2006/main">
            <ns2:off x="67818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2" name="Tile6 Bg"/>
          <ns0:cNvSpPr/>
          <ns0:nvPr/>
        </ns0:nvSpPr>
        <ns0:spPr>
          <ns1:xfrm xmlns:ns1="http://schemas.openxmlformats.org/drawingml/2006/main">
            <ns1:off x="119634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3" name="Tile6 Rule"/>
          <ns0:cNvSpPr/>
          <ns0:nvPr/>
        </ns0:nvSpPr>
        <ns0:spPr>
          <ns1:xfrm xmlns:ns1="http://schemas.openxmlformats.org/drawingml/2006/main">
            <ns1:off x="119634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4" name="Tile6 Label"/>
          <ns0:cNvSpPr>
            <ns1:spLocks xmlns:ns1="http://schemas.openxmlformats.org/drawingml/2006/main" noGrp="1"/>
          </ns0:cNvSpPr>
          <ns0:nvPr>
            <ns0:ph type="body" idx="30"/>
          </ns0:nvPr>
        </ns0:nvSpPr>
        <ns0:spPr>
          <ns2:xfrm xmlns:ns2="http://schemas.openxmlformats.org/drawingml/2006/main">
            <ns2:off x="121920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6 label</ns6:t>
            </ns6:r>
            <ns6:endParaRPr lang="en-US"/>
          </ns6:p>
        </ns0:txBody>
      </ns0:sp>
      <ns0:sp xmlns:ns0="http://schemas.openxmlformats.org/presentationml/2006/main">
        <ns0:nvSpPr>
          <ns0:cNvPr id="35" name="Tile6 Body"/>
          <ns0:cNvSpPr>
            <ns1:spLocks xmlns:ns1="http://schemas.openxmlformats.org/drawingml/2006/main" noGrp="1"/>
          </ns0:cNvSpPr>
          <ns0:nvPr>
            <ns0:ph type="body" idx="31"/>
          </ns0:nvPr>
        </ns0:nvSpPr>
        <ns0:spPr>
          <ns2:xfrm xmlns:ns2="http://schemas.openxmlformats.org/drawingml/2006/main">
            <ns2:off x="121920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6"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userDrawn="1">
  <p:cSld name="Content / 2-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Left Body"/>
          <ns0:cNvSpPr>
            <ns1:spLocks xmlns:ns1="http://schemas.openxmlformats.org/drawingml/2006/main" noGrp="1"/>
          </ns0:cNvSpPr>
          <ns0:nvPr>
            <ns0:ph type="body" idx="10"/>
          </ns0:nvPr>
        </ns0:nvSpPr>
        <ns0:spPr>
          <ns2:xfrm xmlns:ns2="http://schemas.openxmlformats.org/drawingml/2006/main">
            <ns2:off x="11430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Left column body.</ns6:t>
            </ns6:r>
            <ns6:endParaRPr lang="en-US"/>
          </ns6:p>
        </ns0:txBody>
      </ns0:sp>
      <ns0:sp xmlns:ns0="http://schemas.openxmlformats.org/presentationml/2006/main">
        <ns0:nvSpPr>
          <ns0:cNvPr id="13" name="Right Body"/>
          <ns0:cNvSpPr>
            <ns1:spLocks xmlns:ns1="http://schemas.openxmlformats.org/drawingml/2006/main" noGrp="1"/>
          </ns0:cNvSpPr>
          <ns0:nvPr>
            <ns0:ph type="body" idx="11"/>
          </ns0:nvPr>
        </ns0:nvSpPr>
        <ns0:spPr>
          <ns2:xfrm xmlns:ns2="http://schemas.openxmlformats.org/drawingml/2006/main">
            <ns2:off x="93345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Right column body.</ns6:t>
            </ns6:r>
            <ns6:endParaRPr lang="en-US"/>
          </ns6:p>
        </ns0:txBody>
      </ns0:sp>
      <ns0:sp xmlns:ns0="http://schemas.openxmlformats.org/presentationml/2006/main">
        <ns0:nvSpPr>
          <ns0:cNvPr id="14"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userDrawn="1">
  <p:cSld name="Section Divider">
    <p:bg>
      <p:bgPr>
        <a:solidFill>
          <a:srgbClr val="0F6BFF"/>
        </a:solidFill>
        <a:effectLst/>
      </p:bgPr>
    </p:bg>
    <p:spTree>
      <p:nvGrpSpPr>
        <p:cNvPr id="1" name=""/>
        <p:cNvGrpSpPr/>
        <p:nvPr/>
      </p:nvGrpSpPr>
      <p:grpSpPr>
        <a:xfrm>
          <a:off x="0" y="0"/>
          <a:ext cx="0" cy="0"/>
          <a:chOff x="0" y="0"/>
          <a:chExt cx="0" cy="0"/>
        </a:xfrm>
      </p:grpSpPr>
      <ns0:sp xmlns:ns0="http://schemas.openxmlformats.org/presentationml/2006/main">
        <ns0:nvSpPr>
          <ns0:cNvPr id="10" name="Section Title"/>
          <ns0:cNvSpPr>
            <ns1:spLocks xmlns:ns1="http://schemas.openxmlformats.org/drawingml/2006/main" noGrp="1"/>
          </ns0:cNvSpPr>
          <ns0:nvPr>
            <ns0:ph type="title" idx="1"/>
          </ns0:nvPr>
        </ns0:nvSpPr>
        <ns0:spPr>
          <ns2:xfrm xmlns:ns2="http://schemas.openxmlformats.org/drawingml/2006/main">
            <ns2:off x="762000" y="4381500"/>
            <ns2:ext cx="16764000" cy="1905000"/>
          </ns2:xfrm>
          <ns3:prstGeom xmlns:ns3="http://schemas.openxmlformats.org/drawingml/2006/main" prst="rect">
            <ns3:avLst/>
          </ns3:prstGeom>
        </ns0:spPr>
        <ns0:txBody>
          <ns4:bodyPr xmlns:ns4="http://schemas.openxmlformats.org/drawingml/2006/main" wrap="square" rtlCol="0" anchor="ctr" lIns="0" tIns="0" rIns="0" bIns="0"/>
          <ns5:lstStyle xmlns:ns5="http://schemas.openxmlformats.org/drawingml/2006/main">
            <ns5:lvl1pPr marL="0" indent="0" algn="ctr">
              <ns5:buNone/>
              <ns5:defRPr sz="7200" b="1">
                <ns5:solidFill>
                  <ns5:srgbClr val="FFFFFF"/>
                </ns5:solidFill>
                <ns5:latin typeface="Aptos Display"/>
              </ns5:defRPr>
            </ns5:lvl1pPr>
          </ns5:lstStyle>
          <ns6:p xmlns:ns6="http://schemas.openxmlformats.org/drawingml/2006/main">
            <ns6:r>
              <ns6:rPr lang="en-US"/>
              <ns6:t>Section</ns6:t>
            </ns6:r>
            <ns6:endParaRPr lang="en-US"/>
          </ns6:p>
        </ns0:txBody>
      </ns0: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userDrawn="1">
  <p:cSld name="Plai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5524500"/>
            <ns2:ext cx="160020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userDrawn="1">
  <p:cSld name="Plain / Compact">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4953000"/>
            <ns2:ext cx="160020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r>
              <a:rPr>
                <a:solidFill>
                  <a:srgbClr val="FFFFFF"/>
                </a:solidFill>
              </a:rPr>
              <a:t>Why OCM matters more now —</a:t>
            </a:r>
          </a:p>
        </p:txBody>
      </p:sp>
      <p:sp>
        <p:nvSpPr>
          <p:cNvPr id="3" name="Text Placeholder 2"/>
          <p:cNvSpPr>
            <a:spLocks noGrp="1"/>
          </p:cNvSpPr>
          <p:nvPr>
            <p:ph type="body" idx="2"/>
          </p:nvPr>
        </p:nvSpPr>
        <p:spPr/>
        <p:txBody>
          <a:bodyPr/>
          <a:lstStyle/>
          <a:p>
            <a:pPr algn="l"/>
            <a:r>
              <a:rPr>
                <a:solidFill>
                  <a:srgbClr val="FFFFFF"/>
                </a:solidFill>
              </a:rPr>
              <a:t>and </a:t>
            </a:r>
            <a:r>
              <a:rPr>
                <a:gradFill flip="none" rotWithShape="1">
                  <a:gsLst>
                    <a:gs pos="0">
                      <a:srgbClr val="FFFFFF"/>
                    </a:gs>
                    <a:gs pos="35000">
                      <a:srgbClr val="5CD6FF"/>
                    </a:gs>
                    <a:gs pos="75000">
                      <a:srgbClr val="0F6BFF"/>
                    </a:gs>
                  </a:gsLst>
                  <a:lin ang="0" scaled="1"/>
                </a:gradFill>
              </a:rPr>
              <a:t>what we lose by walking away</a:t>
            </a:r>
          </a:p>
        </p:txBody>
      </p:sp>
      <p:sp>
        <p:nvSpPr>
          <p:cNvPr id="4" name="Text Placeholder 3"/>
          <p:cNvSpPr>
            <a:spLocks noGrp="1"/>
          </p:cNvSpPr>
          <p:nvPr>
            <p:ph type="body" idx="3"/>
          </p:nvPr>
        </p:nvSpPr>
        <p:spPr/>
        <p:txBody>
          <a:bodyPr/>
          <a:lstStyle/>
          <a:p>
            <a:r>
              <a:rPr>
                <a:solidFill>
                  <a:srgbClr val="5CD6FF"/>
                </a:solidFill>
              </a:rPr>
              <a:t>Compounding strategic position in the open standard for regulated delivery.</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 Stewarded by SAP.</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WHY NOW — INTERNAL</a:t>
            </a:r>
          </a:p>
        </p:txBody>
      </p:sp>
      <p:sp>
        <p:nvSpPr>
          <p:cNvPr id="3" name="Title 2"/>
          <p:cNvSpPr>
            <a:spLocks noGrp="1"/>
          </p:cNvSpPr>
          <p:nvPr>
            <p:ph type="title" idx="2"/>
          </p:nvPr>
        </p:nvSpPr>
        <p:spPr/>
        <p:txBody>
          <a:bodyPr/>
          <a:lstStyle/>
          <a:p>
            <a:r>
              <a:t>Compliance and sovereignty are given. The strategic position is not.</a:t>
            </a:r>
          </a:p>
        </p:txBody>
      </p:sp>
      <p:sp>
        <p:nvSpPr>
          <p:cNvPr id="4" name="Text Placeholder 3"/>
          <p:cNvSpPr>
            <a:spLocks noGrp="1"/>
          </p:cNvSpPr>
          <p:nvPr>
            <p:ph type="body" idx="10"/>
          </p:nvPr>
        </p:nvSpPr>
        <p:spPr/>
        <p:txBody>
          <a:bodyPr/>
          <a:lstStyle/>
          <a:p>
            <a:r>
              <a:t>ECOSYSTEM VELOCITY IS REAL</a:t>
            </a:r>
          </a:p>
        </p:txBody>
      </p:sp>
      <p:sp>
        <p:nvSpPr>
          <p:cNvPr id="5" name="Text Placeholder 4"/>
          <p:cNvSpPr>
            <a:spLocks noGrp="1"/>
          </p:cNvSpPr>
          <p:nvPr>
            <p:ph type="body" idx="11"/>
          </p:nvPr>
        </p:nvSpPr>
        <p:spPr/>
        <p:txBody>
          <a:bodyPr/>
          <a:lstStyle/>
          <a:p>
            <a:r>
              <a:t>OCM-shaped abstractions are landing in adjacent OSS projects. NeoNephos is operationalizing. The peer ecosystem (Gardener, Kyma, Konfidence, OCP, Hyperspace, RBSC, CSI) shares the primitive.</a:t>
            </a:r>
          </a:p>
        </p:txBody>
      </p:sp>
      <p:sp>
        <p:nvSpPr>
          <p:cNvPr id="6" name="Text Placeholder 5"/>
          <p:cNvSpPr>
            <a:spLocks noGrp="1"/>
          </p:cNvSpPr>
          <p:nvPr>
            <p:ph type="body" idx="12"/>
          </p:nvPr>
        </p:nvSpPr>
        <p:spPr/>
        <p:txBody>
          <a:bodyPr/>
          <a:lstStyle/>
          <a:p>
            <a:r>
              <a:t>THE STANDARDIZATION WINDOW IS CLOSING</a:t>
            </a:r>
          </a:p>
        </p:txBody>
      </p:sp>
      <p:sp>
        <p:nvSpPr>
          <p:cNvPr id="7" name="Text Placeholder 6"/>
          <p:cNvSpPr>
            <a:spLocks noGrp="1"/>
          </p:cNvSpPr>
          <p:nvPr>
            <p:ph type="body" idx="13"/>
          </p:nvPr>
        </p:nvSpPr>
        <p:spPr/>
        <p:txBody>
          <a:bodyPr/>
          <a:lstStyle/>
          <a:p>
            <a:r>
              <a:t>Adoption is consolidating. Late entrants pay migration cost; early stewards keep optionality.</a:t>
            </a:r>
          </a:p>
        </p:txBody>
      </p:sp>
      <p:sp>
        <p:nvSpPr>
          <p:cNvPr id="8" name="Text Placeholder 7"/>
          <p:cNvSpPr>
            <a:spLocks noGrp="1"/>
          </p:cNvSpPr>
          <p:nvPr>
            <p:ph type="body" idx="14"/>
          </p:nvPr>
        </p:nvSpPr>
        <p:spPr/>
        <p:txBody>
          <a:bodyPr/>
          <a:lstStyle/>
          <a:p>
            <a:r>
              <a:t>DISINVESTMENT HAS A COST</a:t>
            </a:r>
          </a:p>
        </p:txBody>
      </p:sp>
      <p:sp>
        <p:nvSpPr>
          <p:cNvPr id="9" name="Text Placeholder 8"/>
          <p:cNvSpPr>
            <a:spLocks noGrp="1"/>
          </p:cNvSpPr>
          <p:nvPr>
            <p:ph type="body" idx="15"/>
          </p:nvPr>
        </p:nvSpPr>
        <p:spPr/>
        <p:txBody>
          <a:bodyPr/>
          <a:lstStyle/>
          <a:p>
            <a:r>
              <a:t>Walking away costs more than staying. Each LoB that builds its own retrofit pays the cost OCM was supposed to amortize. Competitors who keep investing get the standard built around their preferences, not SAP's.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ANSWER</a:t>
            </a:r>
          </a:p>
        </p:txBody>
      </p:sp>
      <p:sp>
        <p:nvSpPr>
          <p:cNvPr id="3" name="Title 2"/>
          <p:cNvSpPr>
            <a:spLocks noGrp="1"/>
          </p:cNvSpPr>
          <p:nvPr>
            <p:ph type="title" idx="2"/>
          </p:nvPr>
        </p:nvSpPr>
        <p:spPr/>
        <p:txBody>
          <a:bodyPr/>
          <a:lstStyle/>
          <a:p>
            <a:r>
              <a:t>Meet OCM. One identity, every boundary.</a:t>
            </a:r>
          </a:p>
        </p:txBody>
      </p:sp>
      <p:pic>
        <p:nvPicPr>
          <p:cNvPr id="4" name="Picture 3" descr="03-meet-ocm-hub-and-spoke_1680.png"/>
          <p:cNvPicPr>
            <a:picLocks noChangeAspect="1"/>
          </p:cNvPicPr>
          <p:nvPr/>
        </p:nvPicPr>
        <p:blipFill>
          <a:blip r:embed="rId2"/>
          <a:stretch>
            <a:fillRect/>
          </a:stretch>
        </p:blipFill>
        <p:spPr>
          <a:xfrm>
            <a:off x="1143000" y="4953000"/>
            <a:ext cx="16002000" cy="49149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a:t>
            </a:r>
          </a:p>
        </p:txBody>
      </p:sp>
      <p:sp>
        <p:nvSpPr>
          <p:cNvPr id="3" name="Title 2"/>
          <p:cNvSpPr>
            <a:spLocks noGrp="1"/>
          </p:cNvSpPr>
          <p:nvPr>
            <p:ph type="title" idx="2"/>
          </p:nvPr>
        </p:nvSpPr>
        <p:spPr/>
        <p:txBody>
          <a:bodyPr/>
          <a:lstStyle/>
          <a:p>
            <a:r>
              <a:t>SBOM lists. SBoD delivers.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An SBOM tells you what's in your software. It was built for inventory.</a:t>
            </a:r>
          </a:p>
          <a:p>
            <a:pPr>
              <a:spcBef>
                <a:spcPts val="800"/>
              </a:spcBef>
              <a:spcAft>
                <a:spcPts val="800"/>
              </a:spcAft>
            </a:pPr>
            <a:r>
              <a:rPr b="1">
                <a:solidFill>
                  <a:srgbClr val="0F6BFF"/>
                </a:solidFill>
              </a:rPr>
              <a:t>▪  </a:t>
            </a:r>
            <a:r>
              <a:rPr>
                <a:solidFill>
                  <a:srgbClr val="000000"/>
                </a:solidFill>
              </a:rPr>
              <a:t>A Software Bill of Delivery (SBoD) tells you what you delivered, how to verify it, how to transport it, and how to operate it. It was built for delivery.</a:t>
            </a:r>
          </a:p>
          <a:p>
            <a:pPr>
              <a:spcBef>
                <a:spcPts val="800"/>
              </a:spcBef>
              <a:spcAft>
                <a:spcPts val="800"/>
              </a:spcAft>
            </a:pPr>
            <a:r>
              <a:rPr b="1">
                <a:solidFill>
                  <a:srgbClr val="0F6BFF"/>
                </a:solidFill>
              </a:rPr>
              <a:t>▪  </a:t>
            </a:r>
            <a:r>
              <a:rPr>
                <a:solidFill>
                  <a:srgbClr val="000000"/>
                </a:solidFill>
              </a:rPr>
              <a:t>The SBoD contains the SBOM. OCM doesn't replace your SBOM tooling — it gives the SBOM an envelope that's compliance-native, signed once, and travels intact across any boundary.</a:t>
            </a:r>
          </a:p>
          <a:p>
            <a:pPr>
              <a:spcBef>
                <a:spcPts val="800"/>
              </a:spcBef>
              <a:spcAft>
                <a:spcPts val="800"/>
              </a:spcAft>
            </a:pPr>
            <a:r>
              <a:rPr b="1">
                <a:solidFill>
                  <a:srgbClr val="0F6BFF"/>
                </a:solidFill>
              </a:rPr>
              <a:t>▪  </a:t>
            </a:r>
            <a:r>
              <a:rPr>
                <a:solidFill>
                  <a:srgbClr val="000000"/>
                </a:solidFill>
              </a:rPr>
              <a:t>SBoD is the category SAP led the definition of — now standardised through NeoNephos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 — SBOM INSIDE SBoD</a:t>
            </a:r>
          </a:p>
        </p:txBody>
      </p:sp>
      <p:sp>
        <p:nvSpPr>
          <p:cNvPr id="3" name="Title 2"/>
          <p:cNvSpPr>
            <a:spLocks noGrp="1"/>
          </p:cNvSpPr>
          <p:nvPr>
            <p:ph type="title" idx="2"/>
          </p:nvPr>
        </p:nvSpPr>
        <p:spPr/>
        <p:txBody>
          <a:bodyPr/>
          <a:lstStyle/>
          <a:p>
            <a:r>
              <a:t>An envelope, not a list.</a:t>
            </a:r>
          </a:p>
        </p:txBody>
      </p:sp>
      <p:pic>
        <p:nvPicPr>
          <p:cNvPr id="4" name="Picture 3" descr="04-sbom-inside-sbod_1680.png"/>
          <p:cNvPicPr>
            <a:picLocks noChangeAspect="1"/>
          </p:cNvPicPr>
          <p:nvPr/>
        </p:nvPicPr>
        <p:blipFill>
          <a:blip r:embed="rId2"/>
          <a:stretch>
            <a:fillRect/>
          </a:stretch>
        </p:blipFill>
        <p:spPr>
          <a:xfrm>
            <a:off x="3640667" y="4953000"/>
            <a:ext cx="11006666" cy="4953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HOW OCM COMPOSES</a:t>
            </a:r>
          </a:p>
        </p:txBody>
      </p:sp>
      <p:sp>
        <p:nvSpPr>
          <p:cNvPr id="3" name="Title 2"/>
          <p:cNvSpPr>
            <a:spLocks noGrp="1"/>
          </p:cNvSpPr>
          <p:nvPr>
            <p:ph type="title" idx="2"/>
          </p:nvPr>
        </p:nvSpPr>
        <p:spPr/>
        <p:txBody>
          <a:bodyPr/>
          <a:lstStyle/>
          <a:p>
            <a:r>
              <a:t>OCM doesn't replace your tools. It gives them something to sign together.</a:t>
            </a:r>
          </a:p>
        </p:txBody>
      </p:sp>
      <p:sp>
        <p:nvSpPr>
          <p:cNvPr id="4" name="Text Placeholder 3"/>
          <p:cNvSpPr>
            <a:spLocks noGrp="1"/>
          </p:cNvSpPr>
          <p:nvPr>
            <p:ph type="body" idx="10"/>
          </p:nvPr>
        </p:nvSpPr>
        <p:spPr/>
        <p:txBody>
          <a:bodyPr/>
          <a:lstStyle/>
          <a:p>
            <a:r>
              <a:t>KEYLESS (SIGSTORE) / KEY-BASED (YOUR PKI)</a:t>
            </a:r>
          </a:p>
        </p:txBody>
      </p:sp>
      <p:sp>
        <p:nvSpPr>
          <p:cNvPr id="5" name="Text Placeholder 4"/>
          <p:cNvSpPr>
            <a:spLocks noGrp="1"/>
          </p:cNvSpPr>
          <p:nvPr>
            <p:ph type="body" idx="11"/>
          </p:nvPr>
        </p:nvSpPr>
        <p:spPr/>
        <p:txBody>
          <a:bodyPr/>
          <a:lstStyle/>
          <a:p>
            <a:r>
              <a:t>Only signs one artifact. OCM gives them the complete SBoD to sign. One signature, covering every artifact in the delivery, by digest. Your existing keys still work.</a:t>
            </a:r>
          </a:p>
        </p:txBody>
      </p:sp>
      <p:sp>
        <p:nvSpPr>
          <p:cNvPr id="6" name="Text Placeholder 5"/>
          <p:cNvSpPr>
            <a:spLocks noGrp="1"/>
          </p:cNvSpPr>
          <p:nvPr>
            <p:ph type="body" idx="12"/>
          </p:nvPr>
        </p:nvSpPr>
        <p:spPr/>
        <p:txBody>
          <a:bodyPr/>
          <a:lstStyle/>
          <a:p>
            <a:r>
              <a:t>YOUR SBOM TOOL OR FORMAT (SYFT, CYCLONEDX, SPDX)</a:t>
            </a:r>
          </a:p>
        </p:txBody>
      </p:sp>
      <p:sp>
        <p:nvSpPr>
          <p:cNvPr id="7" name="Text Placeholder 6"/>
          <p:cNvSpPr>
            <a:spLocks noGrp="1"/>
          </p:cNvSpPr>
          <p:nvPr>
            <p:ph type="body" idx="13"/>
          </p:nvPr>
        </p:nvSpPr>
        <p:spPr/>
        <p:txBody>
          <a:bodyPr/>
          <a:lstStyle/>
          <a:p>
            <a:r>
              <a:t>Lists what's in your software. The SBoD contains or references it. Your SBOM tool is unchanged; the SBOM now travels with the signature.</a:t>
            </a:r>
          </a:p>
        </p:txBody>
      </p:sp>
      <p:sp>
        <p:nvSpPr>
          <p:cNvPr id="8" name="Text Placeholder 7"/>
          <p:cNvSpPr>
            <a:spLocks noGrp="1"/>
          </p:cNvSpPr>
          <p:nvPr>
            <p:ph type="body" idx="14"/>
          </p:nvPr>
        </p:nvSpPr>
        <p:spPr/>
        <p:txBody>
          <a:bodyPr/>
          <a:lstStyle/>
          <a:p>
            <a:r>
              <a:t>A BIT OF OCI + SIGSTORE + YOUR OWN SCRIPTS</a:t>
            </a:r>
          </a:p>
        </p:txBody>
      </p:sp>
      <p:sp>
        <p:nvSpPr>
          <p:cNvPr id="9" name="Text Placeholder 8"/>
          <p:cNvSpPr>
            <a:spLocks noGrp="1"/>
          </p:cNvSpPr>
          <p:nvPr>
            <p:ph type="body" idx="15"/>
          </p:nvPr>
        </p:nvSpPr>
        <p:spPr/>
        <p:txBody>
          <a:bodyPr/>
          <a:lstStyle/>
          <a:p>
            <a:r>
              <a:t>Can almost get you there, in pieces. OCM is the standardised version, openly governed, with conformance tests and the SBoD vocabulary your auditors are starting to expect.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OCM IN ONE PICTURE</a:t>
            </a:r>
          </a:p>
        </p:txBody>
      </p:sp>
      <p:sp>
        <p:nvSpPr>
          <p:cNvPr id="3" name="Title 2"/>
          <p:cNvSpPr>
            <a:spLocks noGrp="1"/>
          </p:cNvSpPr>
          <p:nvPr>
            <p:ph type="title" idx="2"/>
          </p:nvPr>
        </p:nvSpPr>
        <p:spPr/>
        <p:txBody>
          <a:bodyPr/>
          <a:lstStyle/>
          <a:p>
            <a:r>
              <a:t>Pack · Sign · Transport · Deploy</a:t>
            </a:r>
          </a:p>
        </p:txBody>
      </p:sp>
      <p:pic>
        <p:nvPicPr>
          <p:cNvPr id="4" name="Picture 3" descr="05-pack-sign-transport-deploy-v2_1680.png"/>
          <p:cNvPicPr>
            <a:picLocks noChangeAspect="1"/>
          </p:cNvPicPr>
          <p:nvPr/>
        </p:nvPicPr>
        <p:blipFill>
          <a:blip r:embed="rId2"/>
          <a:stretch>
            <a:fillRect/>
          </a:stretch>
        </p:blipFill>
        <p:spPr>
          <a:xfrm>
            <a:off x="1143000" y="4953000"/>
            <a:ext cx="16002000" cy="45053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a:t>
            </a:r>
          </a:p>
        </p:txBody>
      </p:sp>
      <p:sp>
        <p:nvSpPr>
          <p:cNvPr id="3" name="Title 2"/>
          <p:cNvSpPr>
            <a:spLocks noGrp="1"/>
          </p:cNvSpPr>
          <p:nvPr>
            <p:ph type="title" idx="2"/>
          </p:nvPr>
        </p:nvSpPr>
        <p:spPr/>
        <p:txBody>
          <a:bodyPr/>
          <a:lstStyle/>
          <a:p>
            <a:r>
              <a:t>Trust, but verify.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Identity is location-independent. A component carries its name regardless of which registry it lives in.</a:t>
            </a:r>
          </a:p>
          <a:p>
            <a:pPr>
              <a:spcBef>
                <a:spcPts val="800"/>
              </a:spcBef>
              <a:spcAft>
                <a:spcPts val="800"/>
              </a:spcAft>
            </a:pPr>
            <a:r>
              <a:rPr b="1">
                <a:solidFill>
                  <a:srgbClr val="0F6BFF"/>
                </a:solidFill>
              </a:rPr>
              <a:t>▪  </a:t>
            </a:r>
            <a:r>
              <a:rPr>
                <a:solidFill>
                  <a:srgbClr val="000000"/>
                </a:solidFill>
              </a:rPr>
              <a:t>Signatures are location-independent. Sign once at source; verify at the destination, or at any hop in between, with no callback upstream.</a:t>
            </a:r>
          </a:p>
          <a:p>
            <a:pPr>
              <a:spcBef>
                <a:spcPts val="800"/>
              </a:spcBef>
              <a:spcAft>
                <a:spcPts val="800"/>
              </a:spcAft>
            </a:pPr>
            <a:r>
              <a:rPr b="1">
                <a:solidFill>
                  <a:srgbClr val="0F6BFF"/>
                </a:solidFill>
              </a:rPr>
              <a:t>▪  </a:t>
            </a:r>
            <a:r>
              <a:rPr>
                <a:solidFill>
                  <a:srgbClr val="000000"/>
                </a:solidFill>
              </a:rPr>
              <a:t>Day-2 ops happen inside the boundary. Subscribe to the component and pull upgrades on your schedule, scale across regions, all without reaching back upstream.</a:t>
            </a:r>
          </a:p>
          <a:p>
            <a:pPr>
              <a:spcBef>
                <a:spcPts val="800"/>
              </a:spcBef>
              <a:spcAft>
                <a:spcPts val="800"/>
              </a:spcAft>
            </a:pPr>
            <a:r>
              <a:rPr b="1">
                <a:solidFill>
                  <a:srgbClr val="0F6BFF"/>
                </a:solidFill>
              </a:rPr>
              <a:t>▪  </a:t>
            </a:r>
            <a:r>
              <a:rPr>
                <a:solidFill>
                  <a:srgbClr val="000000"/>
                </a:solidFill>
              </a:rPr>
              <a:t>On transfer into a sovereign environment, a component can carry every artifact it needs along with it. The destination needs nothing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 — AIR-GAP</a:t>
            </a:r>
          </a:p>
        </p:txBody>
      </p:sp>
      <p:sp>
        <p:nvSpPr>
          <p:cNvPr id="3" name="Title 2"/>
          <p:cNvSpPr>
            <a:spLocks noGrp="1"/>
          </p:cNvSpPr>
          <p:nvPr>
            <p:ph type="title" idx="2"/>
          </p:nvPr>
        </p:nvSpPr>
        <p:spPr/>
        <p:txBody>
          <a:bodyPr/>
          <a:lstStyle/>
          <a:p>
            <a:r>
              <a:t>Trust travels with the component.</a:t>
            </a:r>
          </a:p>
        </p:txBody>
      </p:sp>
      <p:pic>
        <p:nvPicPr>
          <p:cNvPr id="4" name="Picture 3" descr="06-sovereign-airgap_1680.png"/>
          <p:cNvPicPr>
            <a:picLocks noChangeAspect="1"/>
          </p:cNvPicPr>
          <p:nvPr/>
        </p:nvPicPr>
        <p:blipFill>
          <a:blip r:embed="rId2"/>
          <a:stretch>
            <a:fillRect/>
          </a:stretch>
        </p:blipFill>
        <p:spPr>
          <a:xfrm>
            <a:off x="3483429" y="4953000"/>
            <a:ext cx="11321142" cy="4953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SCAN — COMPLIANCE-NATIVE WITH OPEN DELIVERY GEAR</a:t>
            </a:r>
          </a:p>
        </p:txBody>
      </p:sp>
      <p:sp>
        <p:nvSpPr>
          <p:cNvPr id="3" name="Title 2"/>
          <p:cNvSpPr>
            <a:spLocks noGrp="1"/>
          </p:cNvSpPr>
          <p:nvPr>
            <p:ph type="title" idx="2"/>
          </p:nvPr>
        </p:nvSpPr>
        <p:spPr/>
        <p:txBody>
          <a:bodyPr/>
          <a:lstStyle/>
          <a:p>
            <a:r>
              <a:t>Compliance as a system property —</a:t>
            </a:r>
          </a:p>
          <a:p>
            <a:r>
              <a:t>not a quarterly retrofit.</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Open Delivery Gear (ODG) is OCM's compliance automation engine.</a:t>
            </a:r>
          </a:p>
          <a:p>
            <a:pPr>
              <a:spcBef>
                <a:spcPts val="800"/>
              </a:spcBef>
              <a:spcAft>
                <a:spcPts val="800"/>
              </a:spcAft>
            </a:pPr>
            <a:r>
              <a:rPr b="1">
                <a:solidFill>
                  <a:srgbClr val="0F6BFF"/>
                </a:solidFill>
              </a:rPr>
              <a:t>▪  </a:t>
            </a:r>
            <a:r>
              <a:rPr>
                <a:solidFill>
                  <a:srgbClr val="000000"/>
                </a:solidFill>
              </a:rPr>
              <a:t>The Compliance Dashboard is your entry point: every component, every finding, every signature in one view.</a:t>
            </a:r>
          </a:p>
          <a:p>
            <a:pPr>
              <a:spcBef>
                <a:spcPts val="800"/>
              </a:spcBef>
              <a:spcAft>
                <a:spcPts val="800"/>
              </a:spcAft>
            </a:pPr>
            <a:r>
              <a:rPr b="1">
                <a:solidFill>
                  <a:srgbClr val="0F6BFF"/>
                </a:solidFill>
              </a:rPr>
              <a:t>▪  </a:t>
            </a:r>
            <a:r>
              <a:rPr>
                <a:solidFill>
                  <a:srgbClr val="000000"/>
                </a:solidFill>
              </a:rPr>
              <a:t>Continuous scans run asynchronously — even after release.</a:t>
            </a:r>
          </a:p>
          <a:p>
            <a:pPr>
              <a:spcBef>
                <a:spcPts val="800"/>
              </a:spcBef>
              <a:spcAft>
                <a:spcPts val="800"/>
              </a:spcAft>
            </a:pPr>
            <a:r>
              <a:rPr b="1">
                <a:solidFill>
                  <a:srgbClr val="0F6BFF"/>
                </a:solidFill>
              </a:rPr>
              <a:t>▪  </a:t>
            </a:r>
            <a:r>
              <a:rPr>
                <a:solidFill>
                  <a:srgbClr val="000000"/>
                </a:solidFill>
              </a:rPr>
              <a:t>Findings get rescored against contextual risk, so your team patches what actually matters.</a:t>
            </a:r>
          </a:p>
          <a:p>
            <a:pPr>
              <a:spcBef>
                <a:spcPts val="800"/>
              </a:spcBef>
              <a:spcAft>
                <a:spcPts val="800"/>
              </a:spcAft>
            </a:pPr>
            <a:r>
              <a:rPr b="1">
                <a:solidFill>
                  <a:srgbClr val="0F6BFF"/>
                </a:solidFill>
              </a:rPr>
              <a:t>▪  </a:t>
            </a:r>
            <a:r>
              <a:rPr>
                <a:solidFill>
                  <a:srgbClr val="000000"/>
                </a:solidFill>
              </a:rPr>
              <a:t>Every compliance signal correlates by component identity. Auditors get evidence, not spreadsheets.</a:t>
            </a:r>
          </a:p>
          <a:p>
            <a:pPr>
              <a:spcBef>
                <a:spcPts val="800"/>
              </a:spcBef>
              <a:spcAft>
                <a:spcPts val="800"/>
              </a:spcAft>
            </a:pPr>
            <a:r>
              <a:rPr b="1">
                <a:solidFill>
                  <a:srgbClr val="0F6BFF"/>
                </a:solidFill>
              </a:rPr>
              <a:t>▪  </a:t>
            </a:r>
            <a:r>
              <a:rPr>
                <a:solidFill>
                  <a:srgbClr val="000000"/>
                </a:solidFill>
              </a:rPr>
              <a:t>Every SAP LoB gets compliance correlation by component identity, without each LoB building its own retrofit.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 OCM UNLOCKS FOR SAP</a:t>
            </a:r>
          </a:p>
        </p:txBody>
      </p:sp>
      <p:sp>
        <p:nvSpPr>
          <p:cNvPr id="3" name="Title 2"/>
          <p:cNvSpPr>
            <a:spLocks noGrp="1"/>
          </p:cNvSpPr>
          <p:nvPr>
            <p:ph type="title" idx="2"/>
          </p:nvPr>
        </p:nvSpPr>
        <p:spPr/>
        <p:txBody>
          <a:bodyPr/>
          <a:lstStyle/>
          <a:p>
            <a:r>
              <a:t>Six outcomes from one shared primitive.</a:t>
            </a:r>
          </a:p>
        </p:txBody>
      </p:sp>
      <p:sp>
        <p:nvSpPr>
          <p:cNvPr id="4" name="Text Placeholder 3"/>
          <p:cNvSpPr>
            <a:spLocks noGrp="1"/>
          </p:cNvSpPr>
          <p:nvPr>
            <p:ph type="body" idx="20"/>
          </p:nvPr>
        </p:nvSpPr>
        <p:spPr/>
        <p:txBody>
          <a:bodyPr/>
          <a:lstStyle/>
          <a:p>
            <a:r>
              <a:t>Faster sovereign delivery</a:t>
            </a:r>
          </a:p>
        </p:txBody>
      </p:sp>
      <p:sp>
        <p:nvSpPr>
          <p:cNvPr id="5" name="Text Placeholder 4"/>
          <p:cNvSpPr>
            <a:spLocks noGrp="1"/>
          </p:cNvSpPr>
          <p:nvPr>
            <p:ph type="body" idx="21"/>
          </p:nvPr>
        </p:nvSpPr>
        <p:spPr/>
        <p:txBody>
          <a:bodyPr/>
          <a:lstStyle/>
          <a:p>
            <a:r>
              <a:t>Pack a complete component once. From source into a regulated sovereign environment — every operator, every region, every air-gap.</a:t>
            </a:r>
          </a:p>
        </p:txBody>
      </p:sp>
      <p:sp>
        <p:nvSpPr>
          <p:cNvPr id="6" name="Text Placeholder 5"/>
          <p:cNvSpPr>
            <a:spLocks noGrp="1"/>
          </p:cNvSpPr>
          <p:nvPr>
            <p:ph type="body" idx="22"/>
          </p:nvPr>
        </p:nvSpPr>
        <p:spPr/>
        <p:txBody>
          <a:bodyPr/>
          <a:lstStyle/>
          <a:p>
            <a:r>
              <a:t>Compliance leverage across LoBs</a:t>
            </a:r>
          </a:p>
        </p:txBody>
      </p:sp>
      <p:sp>
        <p:nvSpPr>
          <p:cNvPr id="7" name="Text Placeholder 6"/>
          <p:cNvSpPr>
            <a:spLocks noGrp="1"/>
          </p:cNvSpPr>
          <p:nvPr>
            <p:ph type="body" idx="23"/>
          </p:nvPr>
        </p:nvSpPr>
        <p:spPr/>
        <p:txBody>
          <a:bodyPr/>
          <a:lstStyle/>
          <a:p>
            <a:r>
              <a:t>Each LoB gets DORA-aligned reporting from one shared primitive — not built N times.</a:t>
            </a:r>
          </a:p>
        </p:txBody>
      </p:sp>
      <p:sp>
        <p:nvSpPr>
          <p:cNvPr id="8" name="Text Placeholder 7"/>
          <p:cNvSpPr>
            <a:spLocks noGrp="1"/>
          </p:cNvSpPr>
          <p:nvPr>
            <p:ph type="body" idx="24"/>
          </p:nvPr>
        </p:nvSpPr>
        <p:spPr/>
        <p:txBody>
          <a:bodyPr/>
          <a:lstStyle/>
          <a:p>
            <a:r>
              <a:t>Integration after acquisition</a:t>
            </a:r>
          </a:p>
        </p:txBody>
      </p:sp>
      <p:sp>
        <p:nvSpPr>
          <p:cNvPr id="9" name="Text Placeholder 8"/>
          <p:cNvSpPr>
            <a:spLocks noGrp="1"/>
          </p:cNvSpPr>
          <p:nvPr>
            <p:ph type="body" idx="25"/>
          </p:nvPr>
        </p:nvSpPr>
        <p:spPr/>
        <p:txBody>
          <a:bodyPr/>
          <a:lstStyle/>
          <a:p>
            <a:r>
              <a:t>Acquired teams' signing schemes converge on one mechanism. The retire-list shrinks every quarter.</a:t>
            </a:r>
          </a:p>
        </p:txBody>
      </p:sp>
      <p:sp>
        <p:nvSpPr>
          <p:cNvPr id="10" name="Text Placeholder 9"/>
          <p:cNvSpPr>
            <a:spLocks noGrp="1"/>
          </p:cNvSpPr>
          <p:nvPr>
            <p:ph type="body" idx="26"/>
          </p:nvPr>
        </p:nvSpPr>
        <p:spPr/>
        <p:txBody>
          <a:bodyPr/>
          <a:lstStyle/>
          <a:p>
            <a:r>
              <a:t>Cross-LoB security correlation</a:t>
            </a:r>
          </a:p>
        </p:txBody>
      </p:sp>
      <p:sp>
        <p:nvSpPr>
          <p:cNvPr id="11" name="Text Placeholder 10"/>
          <p:cNvSpPr>
            <a:spLocks noGrp="1"/>
          </p:cNvSpPr>
          <p:nvPr>
            <p:ph type="body" idx="27"/>
          </p:nvPr>
        </p:nvSpPr>
        <p:spPr/>
        <p:txBody>
          <a:bodyPr/>
          <a:lstStyle/>
          <a:p>
            <a:r>
              <a:t>An incident's blast radius is one query — “which deployments contain OCM component X?” — across every LoB on OCM.</a:t>
            </a:r>
          </a:p>
        </p:txBody>
      </p:sp>
      <p:sp>
        <p:nvSpPr>
          <p:cNvPr id="12" name="Text Placeholder 11"/>
          <p:cNvSpPr>
            <a:spLocks noGrp="1"/>
          </p:cNvSpPr>
          <p:nvPr>
            <p:ph type="body" idx="28"/>
          </p:nvPr>
        </p:nvSpPr>
        <p:spPr/>
        <p:txBody>
          <a:bodyPr/>
          <a:lstStyle/>
          <a:p>
            <a:r>
              <a:t>One source of truth</a:t>
            </a:r>
          </a:p>
        </p:txBody>
      </p:sp>
      <p:sp>
        <p:nvSpPr>
          <p:cNvPr id="13" name="Text Placeholder 12"/>
          <p:cNvSpPr>
            <a:spLocks noGrp="1"/>
          </p:cNvSpPr>
          <p:nvPr>
            <p:ph type="body" idx="29"/>
          </p:nvPr>
        </p:nvSpPr>
        <p:spPr/>
        <p:txBody>
          <a:bodyPr/>
          <a:lstStyle/>
          <a:p>
            <a:r>
              <a:t>One signed descriptor per delivery. Rebuild any landscape. Audit prep is composition, not archaeology.</a:t>
            </a:r>
          </a:p>
        </p:txBody>
      </p:sp>
      <p:sp>
        <p:nvSpPr>
          <p:cNvPr id="14" name="Text Placeholder 13"/>
          <p:cNvSpPr>
            <a:spLocks noGrp="1"/>
          </p:cNvSpPr>
          <p:nvPr>
            <p:ph type="body" idx="30"/>
          </p:nvPr>
        </p:nvSpPr>
        <p:spPr/>
        <p:txBody>
          <a:bodyPr/>
          <a:lstStyle/>
          <a:p>
            <a:r>
              <a:t>Ecosystem stewardship</a:t>
            </a:r>
          </a:p>
        </p:txBody>
      </p:sp>
      <p:sp>
        <p:nvSpPr>
          <p:cNvPr id="15" name="Text Placeholder 14"/>
          <p:cNvSpPr>
            <a:spLocks noGrp="1"/>
          </p:cNvSpPr>
          <p:nvPr>
            <p:ph type="body" idx="31"/>
          </p:nvPr>
        </p:nvSpPr>
        <p:spPr/>
        <p:txBody>
          <a:bodyPr/>
          <a:lstStyle/>
          <a:p>
            <a:r>
              <a:t>SAP investment in OCM compounds with the open-peer ecosystem (Gardener, Konfidence, OCP, NeoNephos).</a:t>
            </a:r>
          </a:p>
        </p:txBody>
      </p:sp>
      <p:pic>
        <p:nvPicPr>
          <p:cNvPr id="16" name="Picture 15" descr="cloud-upload_72.png"/>
          <p:cNvPicPr>
            <a:picLocks noChangeAspect="1"/>
          </p:cNvPicPr>
          <p:nvPr/>
        </p:nvPicPr>
        <p:blipFill>
          <a:blip r:embed="rId2"/>
          <a:stretch>
            <a:fillRect/>
          </a:stretch>
        </p:blipFill>
        <p:spPr>
          <a:xfrm>
            <a:off x="1371600" y="5181600"/>
            <a:ext cx="381000" cy="381000"/>
          </a:xfrm>
          <a:prstGeom prst="rect">
            <a:avLst/>
          </a:prstGeom>
        </p:spPr>
      </p:pic>
      <p:pic>
        <p:nvPicPr>
          <p:cNvPr id="17" name="Picture 16" descr="report-analytics_72.png"/>
          <p:cNvPicPr>
            <a:picLocks noChangeAspect="1"/>
          </p:cNvPicPr>
          <p:nvPr/>
        </p:nvPicPr>
        <p:blipFill>
          <a:blip r:embed="rId3"/>
          <a:stretch>
            <a:fillRect/>
          </a:stretch>
        </p:blipFill>
        <p:spPr>
          <a:xfrm>
            <a:off x="6781800" y="5181600"/>
            <a:ext cx="381000" cy="381000"/>
          </a:xfrm>
          <a:prstGeom prst="rect">
            <a:avLst/>
          </a:prstGeom>
        </p:spPr>
      </p:pic>
      <p:pic>
        <p:nvPicPr>
          <p:cNvPr id="18" name="Picture 17" descr="rocket_72.png"/>
          <p:cNvPicPr>
            <a:picLocks noChangeAspect="1"/>
          </p:cNvPicPr>
          <p:nvPr/>
        </p:nvPicPr>
        <p:blipFill>
          <a:blip r:embed="rId4"/>
          <a:stretch>
            <a:fillRect/>
          </a:stretch>
        </p:blipFill>
        <p:spPr>
          <a:xfrm>
            <a:off x="12192000" y="5181600"/>
            <a:ext cx="381000" cy="381000"/>
          </a:xfrm>
          <a:prstGeom prst="rect">
            <a:avLst/>
          </a:prstGeom>
        </p:spPr>
      </p:pic>
      <p:pic>
        <p:nvPicPr>
          <p:cNvPr id="19" name="Picture 18" descr="radar_72.png"/>
          <p:cNvPicPr>
            <a:picLocks noChangeAspect="1"/>
          </p:cNvPicPr>
          <p:nvPr/>
        </p:nvPicPr>
        <p:blipFill>
          <a:blip r:embed="rId5"/>
          <a:stretch>
            <a:fillRect/>
          </a:stretch>
        </p:blipFill>
        <p:spPr>
          <a:xfrm>
            <a:off x="1371600" y="7600950"/>
            <a:ext cx="381000" cy="381000"/>
          </a:xfrm>
          <a:prstGeom prst="rect">
            <a:avLst/>
          </a:prstGeom>
        </p:spPr>
      </p:pic>
      <p:pic>
        <p:nvPicPr>
          <p:cNvPr id="20" name="Picture 19" descr="source-of-truth_72.png"/>
          <p:cNvPicPr>
            <a:picLocks noChangeAspect="1"/>
          </p:cNvPicPr>
          <p:nvPr/>
        </p:nvPicPr>
        <p:blipFill>
          <a:blip r:embed="rId6"/>
          <a:stretch>
            <a:fillRect/>
          </a:stretch>
        </p:blipFill>
        <p:spPr>
          <a:xfrm>
            <a:off x="6781800" y="7600950"/>
            <a:ext cx="381000" cy="381000"/>
          </a:xfrm>
          <a:prstGeom prst="rect">
            <a:avLst/>
          </a:prstGeom>
        </p:spPr>
      </p:pic>
      <p:pic>
        <p:nvPicPr>
          <p:cNvPr id="21" name="Picture 20" descr="lock_72.png"/>
          <p:cNvPicPr>
            <a:picLocks noChangeAspect="1"/>
          </p:cNvPicPr>
          <p:nvPr/>
        </p:nvPicPr>
        <p:blipFill>
          <a:blip r:embed="rId7"/>
          <a:stretch>
            <a:fillRect/>
          </a:stretch>
        </p:blipFill>
        <p:spPr>
          <a:xfrm>
            <a:off x="12192000" y="7600950"/>
            <a:ext cx="381000" cy="381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OPEN ECOSYSTEM</a:t>
            </a:r>
          </a:p>
        </p:txBody>
      </p:sp>
      <p:sp>
        <p:nvSpPr>
          <p:cNvPr id="3" name="Title 2"/>
          <p:cNvSpPr>
            <a:spLocks noGrp="1"/>
          </p:cNvSpPr>
          <p:nvPr>
            <p:ph type="title" idx="2"/>
          </p:nvPr>
        </p:nvSpPr>
        <p:spPr/>
        <p:txBody>
          <a:bodyPr/>
          <a:lstStyle/>
          <a:p>
            <a:r>
              <a:t>Peer in the open ecosystem.</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Gardener — Kubernetes-as-a-service, open ecosystem.</a:t>
            </a:r>
          </a:p>
          <a:p>
            <a:pPr>
              <a:spcBef>
                <a:spcPts val="800"/>
              </a:spcBef>
              <a:spcAft>
                <a:spcPts val="800"/>
              </a:spcAft>
            </a:pPr>
            <a:r>
              <a:rPr b="1">
                <a:solidFill>
                  <a:srgbClr val="0F6BFF"/>
                </a:solidFill>
              </a:rPr>
              <a:t>▪  </a:t>
            </a:r>
            <a:r>
              <a:rPr>
                <a:solidFill>
                  <a:srgbClr val="000000"/>
                </a:solidFill>
              </a:rPr>
              <a:t>Kyma — SAP's open-source Kubernetes-based runtime.</a:t>
            </a:r>
          </a:p>
          <a:p>
            <a:pPr>
              <a:spcBef>
                <a:spcPts val="800"/>
              </a:spcBef>
              <a:spcAft>
                <a:spcPts val="800"/>
              </a:spcAft>
            </a:pPr>
            <a:r>
              <a:rPr b="1">
                <a:solidFill>
                  <a:srgbClr val="0F6BFF"/>
                </a:solidFill>
              </a:rPr>
              <a:t>▪  </a:t>
            </a:r>
            <a:r>
              <a:rPr>
                <a:solidFill>
                  <a:srgbClr val="000000"/>
                </a:solidFill>
              </a:rPr>
              <a:t>Konfidence — a development and delivery framework (SAP-originated, now open source).</a:t>
            </a:r>
          </a:p>
          <a:p>
            <a:pPr>
              <a:spcBef>
                <a:spcPts val="800"/>
              </a:spcBef>
              <a:spcAft>
                <a:spcPts val="800"/>
              </a:spcAft>
            </a:pPr>
            <a:r>
              <a:rPr b="1">
                <a:solidFill>
                  <a:srgbClr val="0F6BFF"/>
                </a:solidFill>
              </a:rPr>
              <a:t>▪  </a:t>
            </a:r>
            <a:r>
              <a:rPr>
                <a:solidFill>
                  <a:srgbClr val="000000"/>
                </a:solidFill>
              </a:rPr>
              <a:t>Open Control Plane (OCP) — a platform that lets you create and manage Kubernetes-based ControlPlanes for your teams.</a:t>
            </a:r>
          </a:p>
          <a:p>
            <a:pPr>
              <a:spcBef>
                <a:spcPts val="800"/>
              </a:spcBef>
              <a:spcAft>
                <a:spcPts val="800"/>
              </a:spcAft>
            </a:pPr>
            <a:r>
              <a:rPr b="1">
                <a:solidFill>
                  <a:srgbClr val="0F6BFF"/>
                </a:solidFill>
              </a:rPr>
              <a:t>▪  </a:t>
            </a:r>
            <a:r>
              <a:rPr>
                <a:solidFill>
                  <a:srgbClr val="000000"/>
                </a:solidFill>
              </a:rPr>
              <a:t>And forthcoming: every NeoNephos foundation project as it lands.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INTERNAL SAP</a:t>
            </a:r>
          </a:p>
        </p:txBody>
      </p:sp>
      <p:sp>
        <p:nvSpPr>
          <p:cNvPr id="3" name="Title 2"/>
          <p:cNvSpPr>
            <a:spLocks noGrp="1"/>
          </p:cNvSpPr>
          <p:nvPr>
            <p:ph type="title" idx="2"/>
          </p:nvPr>
        </p:nvSpPr>
        <p:spPr/>
        <p:txBody>
          <a:bodyPr/>
          <a:lstStyle/>
          <a:p>
            <a:r>
              <a:t>Backbone of internal SAP delivery.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Hyperspace — hosts the internal Dev Portal, lifecycle processes, and the shipment / delivery of SAP products. Direct OCM consumer.</a:t>
            </a:r>
          </a:p>
          <a:p>
            <a:pPr>
              <a:spcBef>
                <a:spcPts val="800"/>
              </a:spcBef>
              <a:spcAft>
                <a:spcPts val="800"/>
              </a:spcAft>
            </a:pPr>
            <a:r>
              <a:rPr b="1">
                <a:solidFill>
                  <a:srgbClr val="0F6BFF"/>
                </a:solidFill>
              </a:rPr>
              <a:t>▪  </a:t>
            </a:r>
            <a:r>
              <a:rPr>
                <a:solidFill>
                  <a:srgbClr val="000000"/>
                </a:solidFill>
              </a:rPr>
              <a:t>Release-Based Shipment Channel (RBSC) — internal SAP delivery infrastructure converging on OCM.</a:t>
            </a:r>
          </a:p>
          <a:p>
            <a:pPr>
              <a:spcBef>
                <a:spcPts val="800"/>
              </a:spcBef>
              <a:spcAft>
                <a:spcPts val="800"/>
              </a:spcAft>
            </a:pPr>
            <a:r>
              <a:rPr b="1">
                <a:solidFill>
                  <a:srgbClr val="0F6BFF"/>
                </a:solidFill>
              </a:rPr>
              <a:t>▪  </a:t>
            </a:r>
            <a:r>
              <a:rPr>
                <a:solidFill>
                  <a:srgbClr val="000000"/>
                </a:solidFill>
              </a:rPr>
              <a:t>Common Service Infrastructure (CSI) — the largest internal-services footprint shared across SAP.</a:t>
            </a:r>
          </a:p>
          <a:p>
            <a:pPr>
              <a:spcBef>
                <a:spcPts val="800"/>
              </a:spcBef>
              <a:spcAft>
                <a:spcPts val="800"/>
              </a:spcAft>
            </a:pPr>
            <a:r>
              <a:rPr b="1">
                <a:solidFill>
                  <a:srgbClr val="0F6BFF"/>
                </a:solidFill>
              </a:rPr>
              <a:t>▪  </a:t>
            </a:r>
            <a:r>
              <a:rPr>
                <a:solidFill>
                  <a:srgbClr val="000000"/>
                </a:solidFill>
              </a:rPr>
              <a:t>Greenhouse — a cloud operations platform that streamlines management of large-scale, distributed infrastructure.</a:t>
            </a:r>
          </a:p>
          <a:p>
            <a:pPr>
              <a:spcBef>
                <a:spcPts val="800"/>
              </a:spcBef>
              <a:spcAft>
                <a:spcPts val="800"/>
              </a:spcAft>
            </a:pPr>
            <a:r>
              <a:rPr b="1">
                <a:solidFill>
                  <a:srgbClr val="0F6BFF"/>
                </a:solidFill>
              </a:rPr>
              <a:t>▪  </a:t>
            </a:r>
            <a:r>
              <a:rPr>
                <a:solidFill>
                  <a:srgbClr val="000000"/>
                </a:solidFill>
              </a:rPr>
              <a:t>Steampunk — internal name for SAP BTP ABAP Environment (PaaS within SAP BTP); large user of OCM and ODG.</a:t>
            </a:r>
          </a:p>
        </p:txBody>
      </p:sp>
      <p:sp>
        <p:nvSpPr>
          <p:cNvPr id="5" name="TextBox 4"/>
          <p:cNvSpPr txBox="1"/>
          <p:nvPr/>
        </p:nvSpPr>
        <p:spPr>
          <a:xfrm>
            <a:off x="1143000" y="9001125"/>
            <a:ext cx="16002000" cy="762000"/>
          </a:xfrm>
          <a:prstGeom prst="rect">
            <a:avLst/>
          </a:prstGeom>
          <a:noFill/>
        </p:spPr>
        <p:txBody>
          <a:bodyPr wrap="square" lIns="0" rIns="0" tIns="0" bIns="0">
            <a:spAutoFit/>
          </a:bodyPr>
          <a:lstStyle/>
          <a:p>
            <a:pPr algn="ctr">
              <a:lnSpc>
                <a:spcPct val="130000"/>
              </a:lnSpc>
            </a:pPr>
            <a:r>
              <a:rPr sz="1600" i="1">
                <a:solidFill>
                  <a:srgbClr val="0A3A99"/>
                </a:solidFill>
                <a:latin typeface="Aptos"/>
              </a:rPr>
              <a:t>Stewardship is leverage. Disinvestment forfeits it. The window for shaping the open standard for regulated delivery is closing — what compounds for SAP today migrates elsewhere if we step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Sponsor. Scale. Standardize.</a:t>
            </a:r>
          </a:p>
        </p:txBody>
      </p:sp>
      <p:sp>
        <p:nvSpPr>
          <p:cNvPr id="3" name="Text Placeholder 2"/>
          <p:cNvSpPr>
            <a:spLocks noGrp="1"/>
          </p:cNvSpPr>
          <p:nvPr>
            <p:ph type="body" idx="2"/>
          </p:nvPr>
        </p:nvSpPr>
        <p:spPr/>
        <p:txBody>
          <a:bodyPr/>
          <a:lstStyle/>
          <a:p>
            <a:r>
              <a:rPr b="1">
                <a:solidFill>
                  <a:srgbClr val="5CD6FF"/>
                </a:solidFill>
              </a:rPr>
              <a:t>Sponsor</a:t>
            </a:r>
            <a:r>
              <a:rPr>
                <a:solidFill>
                  <a:srgbClr val="FFFFFF"/>
                </a:solidFill>
              </a:rPr>
              <a:t> — Allocate engineering capacity to OCM stewardship in your LoB.</a:t>
            </a:r>
          </a:p>
          <a:p>
            <a:r>
              <a:rPr b="1">
                <a:solidFill>
                  <a:srgbClr val="5CD6FF"/>
                </a:solidFill>
              </a:rPr>
              <a:t>Scale</a:t>
            </a:r>
            <a:r>
              <a:rPr>
                <a:solidFill>
                  <a:srgbClr val="FFFFFF"/>
                </a:solidFill>
              </a:rPr>
              <a:t> — Pack one regulated component delivery as an OCM component this quarter.</a:t>
            </a:r>
          </a:p>
          <a:p>
            <a:r>
              <a:rPr b="1">
                <a:solidFill>
                  <a:srgbClr val="5CD6FF"/>
                </a:solidFill>
              </a:rPr>
              <a:t>Standardize</a:t>
            </a:r>
            <a:r>
              <a:rPr>
                <a:solidFill>
                  <a:srgbClr val="FFFFFF"/>
                </a:solidFill>
              </a:rPr>
              <a:t> — Bring your LoB into the OCM steering conversation — SAP Slack #sap-tech-ocm.</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