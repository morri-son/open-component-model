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524000"/>
            <ns2:ext cx="16192500" cy="1905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619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7150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userDrawn="1">
  <p:cSld name="Hero / 3-Line">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1430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Three minutes from now,</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257175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you'll know what your</ns6:t>
            </ns6:r>
            <ns6:endParaRPr lang="en-US"/>
          </ns6:p>
        </ns0:txBody>
      </ns0:sp>
      <ns0:sp xmlns:ns0="http://schemas.openxmlformats.org/presentationml/2006/main">
        <ns0:nvSpPr>
          <ns0:cNvPr id="12" name="Hero Title Line 3 (Gradient)"/>
          <ns0:cNvSpPr>
            <ns1:spLocks xmlns:ns1="http://schemas.openxmlformats.org/drawingml/2006/main" noGrp="1"/>
          </ns0:cNvSpPr>
          <ns0:nvPr>
            <ns0:ph type="body" idx="3"/>
          </ns0:nvPr>
        </ns0:nvSpPr>
        <ns0:spPr>
          <ns2:xfrm xmlns:ns2="http://schemas.openxmlformats.org/drawingml/2006/main">
            <ns2:off x="914400" y="40005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supply chain doesn't</ns6:t>
            </ns6:r>
            <ns6:endParaRPr lang="en-US"/>
          </ns6:p>
        </ns0:txBody>
      </ns0:sp>
      <ns0:sp xmlns:ns0="http://schemas.openxmlformats.org/presentationml/2006/main">
        <ns0:nvSpPr>
          <ns0:cNvPr id="13" name="Hero Subtitle"/>
          <ns0:cNvSpPr>
            <ns1:spLocks xmlns:ns1="http://schemas.openxmlformats.org/drawingml/2006/main" noGrp="1"/>
          </ns0:cNvSpPr>
          <ns0:nvPr>
            <ns0:ph type="body" idx="4"/>
          </ns0:nvPr>
        </ns0:nvSpPr>
        <ns0:spPr>
          <ns2:xfrm xmlns:ns2="http://schemas.openxmlformats.org/drawingml/2006/main">
            <ns2:off x="914400" y="59055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4" name="Hero Org Line"/>
          <ns0:cNvSpPr>
            <ns1:spLocks xmlns:ns1="http://schemas.openxmlformats.org/drawingml/2006/main" noGrp="1"/>
          </ns0:cNvSpPr>
          <ns0:nvPr>
            <ns0:ph type="body" idx="5"/>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Why OCM matters more now —</a:t>
            </a:r>
          </a:p>
        </p:txBody>
      </p:sp>
      <p:sp>
        <p:nvSpPr>
          <p:cNvPr id="3" name="Text Placeholder 2"/>
          <p:cNvSpPr>
            <a:spLocks noGrp="1"/>
          </p:cNvSpPr>
          <p:nvPr>
            <p:ph type="body" idx="2"/>
          </p:nvPr>
        </p:nvSpPr>
        <p:spPr/>
        <p:txBody>
          <a:bodyPr/>
          <a:lstStyle/>
          <a:p>
            <a:pPr algn="l"/>
            <a:r>
              <a:rPr>
                <a:solidFill>
                  <a:srgbClr val="FFFFFF"/>
                </a:solidFill>
              </a:rPr>
              <a:t>and </a:t>
            </a:r>
            <a:r>
              <a:rPr>
                <a:gradFill flip="none" rotWithShape="1">
                  <a:gsLst>
                    <a:gs pos="0">
                      <a:srgbClr val="FFFFFF"/>
                    </a:gs>
                    <a:gs pos="35000">
                      <a:srgbClr val="5CD6FF"/>
                    </a:gs>
                    <a:gs pos="75000">
                      <a:srgbClr val="0F6BFF"/>
                    </a:gs>
                  </a:gsLst>
                  <a:lin ang="0" scaled="1"/>
                </a:gradFill>
              </a:rPr>
              <a:t>what we lose by walking away</a:t>
            </a:r>
          </a:p>
        </p:txBody>
      </p:sp>
      <p:sp>
        <p:nvSpPr>
          <p:cNvPr id="4" name="Text Placeholder 3"/>
          <p:cNvSpPr>
            <a:spLocks noGrp="1"/>
          </p:cNvSpPr>
          <p:nvPr>
            <p:ph type="body" idx="3"/>
          </p:nvPr>
        </p:nvSpPr>
        <p:spPr/>
        <p:txBody>
          <a:bodyPr/>
          <a:lstStyle/>
          <a:p>
            <a:r>
              <a:rPr>
                <a:solidFill>
                  <a:srgbClr val="5CD6FF"/>
                </a:solidFill>
              </a:rPr>
              <a:t>Compounding strategic position in the open standard for regulated delivery.</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Konfidence, OCP, Hyperspace, RBSC, CSI) shares the primitive.</a:t>
            </a:r>
          </a:p>
        </p:txBody>
      </p:sp>
      <p:sp>
        <p:nvSpPr>
          <p:cNvPr id="6" name="Text Placeholder 5"/>
          <p:cNvSpPr>
            <a:spLocks noGrp="1"/>
          </p:cNvSpPr>
          <p:nvPr>
            <p:ph type="body" idx="12"/>
          </p:nvPr>
        </p:nvSpPr>
        <p:spPr/>
        <p:txBody>
          <a:bodyPr/>
          <a:lstStyle/>
          <a:p>
            <a:r>
              <a:t>THE STANDARDIZATION WINDOW IS CLOSING</a:t>
            </a:r>
          </a:p>
        </p:txBody>
      </p:sp>
      <p:sp>
        <p:nvSpPr>
          <p:cNvPr id="7" name="Text Placeholder 6"/>
          <p:cNvSpPr>
            <a:spLocks noGrp="1"/>
          </p:cNvSpPr>
          <p:nvPr>
            <p:ph type="body" idx="13"/>
          </p:nvPr>
        </p:nvSpPr>
        <p:spPr/>
        <p:txBody>
          <a:bodyPr/>
          <a:lstStyle/>
          <a:p>
            <a:r>
              <a:t>Adoption is consolidating.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not SAP's.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680.png"/>
          <p:cNvPicPr>
            <a:picLocks noChangeAspect="1"/>
          </p:cNvPicPr>
          <p:nvPr/>
        </p:nvPicPr>
        <p:blipFill>
          <a:blip r:embed="rId2"/>
          <a:stretch>
            <a:fillRect/>
          </a:stretch>
        </p:blipFill>
        <p:spPr>
          <a:xfrm>
            <a:off x="1143000" y="4953000"/>
            <a:ext cx="16002000" cy="49149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something to sign together.</a:t>
            </a:r>
          </a:p>
        </p:txBody>
      </p:sp>
      <p:sp>
        <p:nvSpPr>
          <p:cNvPr id="4" name="Text Placeholder 3"/>
          <p:cNvSpPr>
            <a:spLocks noGrp="1"/>
          </p:cNvSpPr>
          <p:nvPr>
            <p:ph type="body" idx="10"/>
          </p:nvPr>
        </p:nvSpPr>
        <p:spPr/>
        <p:txBody>
          <a:bodyPr/>
          <a:lstStyle/>
          <a:p>
            <a:r>
              <a:t>KEYLESS (SIGSTORE) / KEY-BASED (YOUR PKI)</a:t>
            </a:r>
          </a:p>
        </p:txBody>
      </p:sp>
      <p:sp>
        <p:nvSpPr>
          <p:cNvPr id="5" name="Text Placeholder 4"/>
          <p:cNvSpPr>
            <a:spLocks noGrp="1"/>
          </p:cNvSpPr>
          <p:nvPr>
            <p:ph type="body" idx="11"/>
          </p:nvPr>
        </p:nvSpPr>
        <p:spPr/>
        <p:txBody>
          <a:bodyPr/>
          <a:lstStyle/>
          <a:p>
            <a:r>
              <a:t>Only signs one artifact. OCM gives them the complete SBoD to sign. One signature, covering every artifact in the delivery, by digest. Your existing keys still work.</a:t>
            </a:r>
          </a:p>
        </p:txBody>
      </p:sp>
      <p:sp>
        <p:nvSpPr>
          <p:cNvPr id="6" name="Text Placeholder 5"/>
          <p:cNvSpPr>
            <a:spLocks noGrp="1"/>
          </p:cNvSpPr>
          <p:nvPr>
            <p:ph type="body" idx="12"/>
          </p:nvPr>
        </p:nvSpPr>
        <p:spPr/>
        <p:txBody>
          <a:bodyPr/>
          <a:lstStyle/>
          <a:p>
            <a:r>
              <a:t>YOUR SBOM TOOL OR FORMAT (SYFT, CYCLONEDX, SPDX)</a:t>
            </a:r>
          </a:p>
        </p:txBody>
      </p:sp>
      <p:sp>
        <p:nvSpPr>
          <p:cNvPr id="7" name="Text Placeholder 6"/>
          <p:cNvSpPr>
            <a:spLocks noGrp="1"/>
          </p:cNvSpPr>
          <p:nvPr>
            <p:ph type="body" idx="13"/>
          </p:nvPr>
        </p:nvSpPr>
        <p:spPr/>
        <p:txBody>
          <a:bodyPr/>
          <a:lstStyle/>
          <a:p>
            <a:r>
              <a:t>Lists what's in your software. The SBoD contains or references it. Your SBOM tool is unchanged; the SBOM now travels with the signature.</a:t>
            </a:r>
          </a:p>
        </p:txBody>
      </p:sp>
      <p:sp>
        <p:nvSpPr>
          <p:cNvPr id="8" name="Text Placeholder 7"/>
          <p:cNvSpPr>
            <a:spLocks noGrp="1"/>
          </p:cNvSpPr>
          <p:nvPr>
            <p:ph type="body" idx="14"/>
          </p:nvPr>
        </p:nvSpPr>
        <p:spPr/>
        <p:txBody>
          <a:bodyPr/>
          <a:lstStyle/>
          <a:p>
            <a:r>
              <a:t>A BIT OF OCI + SIGSTORE + YOUR OWN SCRIPTS</a:t>
            </a:r>
          </a:p>
        </p:txBody>
      </p:sp>
      <p:sp>
        <p:nvSpPr>
          <p:cNvPr id="9" name="Text Placeholder 8"/>
          <p:cNvSpPr>
            <a:spLocks noGrp="1"/>
          </p:cNvSpPr>
          <p:nvPr>
            <p:ph type="body" idx="15"/>
          </p:nvPr>
        </p:nvSpPr>
        <p:spPr/>
        <p:txBody>
          <a:bodyPr/>
          <a:lstStyle/>
          <a:p>
            <a:r>
              <a:t>Can almost get you there, in pieces. OCM is the standardised version, openly governed, with conformance tests and the SBoD vocabulary your auditors are starting to expect.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680.png"/>
          <p:cNvPicPr>
            <a:picLocks noChangeAspect="1"/>
          </p:cNvPicPr>
          <p:nvPr/>
        </p:nvPicPr>
        <p:blipFill>
          <a:blip r:embed="rId2"/>
          <a:stretch>
            <a:fillRect/>
          </a:stretch>
        </p:blipFill>
        <p:spPr>
          <a:xfrm>
            <a:off x="3483429" y="4953000"/>
            <a:ext cx="11321142" cy="4953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OCM's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a complete component once. From source into a regulated sovereign environment — every operator, every region, every air-gap.</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Each LoB gets DORA-aligned reporting from one shared primitive —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An incident's blast radius is one query — “which deployments contain OCM component X?” — across every LoB on OCM.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in OCM compounds with the open-peer ecosystem (Gardener, Konfidence, OCP, NeoNephos).</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SAP's open-source Kubernetes-based runtime.</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Open Control Plane (OCP) — a platform that lets you create and manage Kubernetes-based ControlPlanes for your teams.</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