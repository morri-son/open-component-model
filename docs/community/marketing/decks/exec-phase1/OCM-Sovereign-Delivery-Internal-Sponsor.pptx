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714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52425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33400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57225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Every LoB rebuilds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the same delivery stack.</a:t>
            </a:r>
          </a:p>
        </p:txBody>
      </p:sp>
      <p:sp>
        <p:nvSpPr>
          <p:cNvPr id="4" name="Text Placeholder 3"/>
          <p:cNvSpPr>
            <a:spLocks noGrp="1"/>
          </p:cNvSpPr>
          <p:nvPr>
            <p:ph type="body" idx="3"/>
          </p:nvPr>
        </p:nvSpPr>
        <p:spPr/>
        <p:txBody>
          <a:bodyPr/>
          <a:lstStyle/>
          <a:p>
            <a:r>
              <a:rPr>
                <a:solidFill>
                  <a:srgbClr val="5CD6FF"/>
                </a:solidFill>
              </a:rPr>
              <a:t>OCM is the shared standard. Each LoB still ships — but on the same model.</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OpenControlPlane, Konfidence,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SAP doesn't.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(Software Bill of Materials)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Helm registries, S3, OCI — each moves artifacts. OCM moves a signed envelope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519.png"/>
          <p:cNvPicPr>
            <a:picLocks noChangeAspect="1"/>
          </p:cNvPicPr>
          <p:nvPr/>
        </p:nvPicPr>
        <p:blipFill>
          <a:blip r:embed="rId2"/>
          <a:stretch>
            <a:fillRect/>
          </a:stretch>
        </p:blipFill>
        <p:spPr>
          <a:xfrm>
            <a:off x="1914149" y="3686175"/>
            <a:ext cx="13326226" cy="633412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the OCM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
        <p:nvSpPr>
          <p:cNvPr id="5" name="TextBox 4"/>
          <p:cNvSpPr txBox="1"/>
          <p:nvPr/>
        </p:nvSpPr>
        <p:spPr>
          <a:xfrm>
            <a:off x="1143000" y="9715500"/>
            <a:ext cx="16002000" cy="381000"/>
          </a:xfrm>
          <a:prstGeom prst="rect">
            <a:avLst/>
          </a:prstGeom>
          <a:noFill/>
        </p:spPr>
        <p:txBody>
          <a:bodyPr wrap="none" lIns="0" rIns="0" tIns="0" bIns="0">
            <a:spAutoFit/>
          </a:bodyPr>
          <a:lstStyle/>
          <a:p>
            <a:pPr algn="ctr"/>
            <a:r>
              <a:rPr sz="1300">
                <a:solidFill>
                  <a:srgbClr val="6B7280"/>
                </a:solidFill>
                <a:latin typeface="Aptos"/>
              </a:rPr>
              <a:t>github.com/open-component-model/open-delivery-gear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once, ship everywhere. Validated end-to-end in OCM's open-source sovereign conformance scenario.</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DORA-aligned reporting from one shared primitive — ODG correlates findings by component identity,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Blast radius is one query — “which deployments contain OCM component X?” — answered via the OCM coordinate system.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compounds with Gardener, OpenControlPlane, Konfidence, NeoNephos — the open-peer ecosystem.</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SAP-originated open-source Kubernetes-based runtime.</a:t>
            </a:r>
          </a:p>
          <a:p>
            <a:pPr>
              <a:spcBef>
                <a:spcPts val="800"/>
              </a:spcBef>
              <a:spcAft>
                <a:spcPts val="800"/>
              </a:spcAft>
            </a:pPr>
            <a:r>
              <a:rPr b="1">
                <a:solidFill>
                  <a:srgbClr val="0F6BFF"/>
                </a:solidFill>
              </a:rPr>
              <a:t>▪  </a:t>
            </a:r>
            <a:r>
              <a:rPr>
                <a:solidFill>
                  <a:srgbClr val="000000"/>
                </a:solidFill>
              </a:rPr>
              <a:t>OpenControlPlane — a platform for creating and managing Kubernetes-based ControlPlanes for your teams (open-control-plane.io).</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
        <p:nvSpPr>
          <p:cNvPr id="5" name="TextBox 4"/>
          <p:cNvSpPr txBox="1"/>
          <p:nvPr/>
        </p:nvSpPr>
        <p:spPr>
          <a:xfrm>
            <a:off x="1143000" y="9715500"/>
            <a:ext cx="16002000" cy="381000"/>
          </a:xfrm>
          <a:prstGeom prst="rect">
            <a:avLst/>
          </a:prstGeom>
          <a:noFill/>
        </p:spPr>
        <p:txBody>
          <a:bodyPr wrap="none" lIns="0" rIns="0" tIns="0" bIns="0">
            <a:spAutoFit/>
          </a:bodyPr>
          <a:lstStyle/>
          <a:p>
            <a:pPr algn="ctr"/>
            <a:r>
              <a:rPr sz="1300">
                <a:solidFill>
                  <a:srgbClr val="6B7280"/>
                </a:solidFill>
                <a:latin typeface="Aptos"/>
              </a:rPr>
              <a:t>gardener.cloud · kyma-project.io · open-control-plane.io · konfidence.cloud · neonephos.org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