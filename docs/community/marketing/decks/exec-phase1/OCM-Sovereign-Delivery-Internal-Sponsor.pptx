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userDrawn="1">
  <p:cSld name="Hero">
    <p:bg>
      <p:bgPr>
        <a:solidFill>
          <a:srgbClr val="0A1530"/>
        </a:solidFill>
        <a:effectLst/>
      </p:bgPr>
    </p:bg>
    <p:spTree>
      <p:nvGrpSpPr>
        <p:cNvPr id="1" name=""/>
        <p:cNvGrpSpPr/>
        <p:nvPr/>
      </p:nvGrpSpPr>
      <p:grpSpPr>
        <a:xfrm>
          <a:off x="0" y="0"/>
          <a:ext cx="0" cy="0"/>
          <a:chOff x="0" y="0"/>
          <a:chExt cx="0" cy="0"/>
        </a:xfrm>
      </p:grpSpPr>
      <ns0:sp xmlns:ns0="http://schemas.openxmlformats.org/presentationml/2006/main">
        <ns0:nvSpPr>
          <ns0:cNvPr id="10" name="Hero Title Line 1"/>
          <ns0:cNvSpPr>
            <ns1:spLocks xmlns:ns1="http://schemas.openxmlformats.org/drawingml/2006/main" noGrp="1"/>
          </ns0:cNvSpPr>
          <ns0:nvPr>
            <ns0:ph type="title" idx="1"/>
          </ns0:nvPr>
        </ns0:nvSpPr>
        <ns0:spPr>
          <ns2:xfrm xmlns:ns2="http://schemas.openxmlformats.org/drawingml/2006/main">
            <ns2:off x="914400" y="1714500"/>
            <ns2:ext cx="16192500" cy="1524000"/>
          </ns2:xfrm>
          <ns3:prstGeom xmlns:ns3="http://schemas.openxmlformats.org/drawingml/2006/main" prst="rect">
            <ns3:avLst/>
          </ns3:prstGeom>
        </ns0:spPr>
        <ns0:txBody>
          <ns4:bodyPr xmlns:ns4="http://schemas.openxmlformats.org/drawingml/2006/main" wrap="square" rtlCol="0" anchor="t" lIns="0" tIns="0" rIns="0" bIns="0">
            <ns4:noAutofit/>
          </ns4:bodyPr>
          <ns5:lstStyle xmlns:ns5="http://schemas.openxmlformats.org/drawingml/2006/main">
            <ns5:lvl1pPr marL="0" indent="0" algn="l">
              <ns5:buNone/>
              <ns5:defRPr sz="11500" b="1">
                <ns5:solidFill>
                  <ns5:srgbClr val="FFFFFF"/>
                </ns5:solidFill>
                <ns5:latin typeface="Aptos Display"/>
              </ns5:defRPr>
            </ns5:lvl1pPr>
          </ns5:lstStyle>
          <ns6:p xmlns:ns6="http://schemas.openxmlformats.org/drawingml/2006/main">
            <ns6:r>
              <ns6:rPr lang="en-US"/>
              <ns6:t>Secure Delivery for</ns6:t>
            </ns6:r>
            <ns6:endParaRPr lang="en-US"/>
          </ns6:p>
        </ns0:txBody>
      </ns0:sp>
      <ns0:sp xmlns:ns0="http://schemas.openxmlformats.org/presentationml/2006/main">
        <ns0:nvSpPr>
          <ns0:cNvPr id="11" name="Hero Title Line 2"/>
          <ns0:cNvSpPr>
            <ns1:spLocks xmlns:ns1="http://schemas.openxmlformats.org/drawingml/2006/main" noGrp="1"/>
          </ns0:cNvSpPr>
          <ns0:nvPr>
            <ns0:ph type="body" idx="2"/>
          </ns0:nvPr>
        </ns0:nvSpPr>
        <ns0:spPr>
          <ns2:xfrm xmlns:ns2="http://schemas.openxmlformats.org/drawingml/2006/main">
            <ns2:off x="914400" y="3286125"/>
            <ns2:ext cx="16192500" cy="1524000"/>
          </ns2:xfrm>
          <ns3:prstGeom xmlns:ns3="http://schemas.openxmlformats.org/drawingml/2006/main" prst="rect">
            <ns3:avLst/>
          </ns3:prstGeom>
        </ns0:spPr>
        <ns0:txBody>
          <ns4:bodyPr xmlns:ns4="http://schemas.openxmlformats.org/drawingml/2006/main" wrap="square" rtlCol="0" anchor="t" lIns="0" tIns="0" rIns="0" bIns="0">
            <ns4:noAutofit/>
          </ns4:bodyPr>
          <ns5:lstStyle xmlns:ns5="http://schemas.openxmlformats.org/drawingml/2006/main">
            <ns5:lvl1pPr marL="0" indent="0" algn="l">
              <ns5:buNone/>
              <ns5:defRPr sz="11500" b="1">
                <ns5:solidFill>
                  <ns5:srgbClr val="5CD6FF"/>
                </ns5:solidFill>
                <ns5:latin typeface="Aptos Display"/>
              </ns5:defRPr>
            </ns5:lvl1pPr>
          </ns5:lstStyle>
          <ns6:p xmlns:ns6="http://schemas.openxmlformats.org/drawingml/2006/main">
            <ns6:r>
              <ns6:rPr lang="en-US"/>
              <ns6:t>Sovereign Clouds</ns6:t>
            </ns6:r>
            <ns6:endParaRPr lang="en-US"/>
          </ns6:p>
        </ns0:txBody>
      </ns0:sp>
      <ns0:sp xmlns:ns0="http://schemas.openxmlformats.org/presentationml/2006/main">
        <ns0:nvSpPr>
          <ns0:cNvPr id="12" name="Hero Subtitle"/>
          <ns0:cNvSpPr>
            <ns1:spLocks xmlns:ns1="http://schemas.openxmlformats.org/drawingml/2006/main" noGrp="1"/>
          </ns0:cNvSpPr>
          <ns0:nvPr>
            <ns0:ph type="body" idx="3"/>
          </ns0:nvPr>
        </ns0:nvSpPr>
        <ns0:spPr>
          <ns2:xfrm xmlns:ns2="http://schemas.openxmlformats.org/drawingml/2006/main">
            <ns2:off x="914400" y="5334000"/>
            <ns2:ext cx="16192500" cy="857250"/>
          </ns2:xfrm>
          <ns3:prstGeom xmlns:ns3="http://schemas.openxmlformats.org/drawingml/2006/main" prst="rect">
            <ns3:avLst/>
          </ns3:prstGeom>
        </ns0:spPr>
        <ns0:txBody>
          <ns4:bodyPr xmlns:ns4="http://schemas.openxmlformats.org/drawingml/2006/main" wrap="square" rtlCol="0" anchor="t" lIns="0" tIns="0" rIns="0" bIns="0">
            <ns4:noAutofit/>
          </ns4:bodyPr>
          <ns5:lstStyle xmlns:ns5="http://schemas.openxmlformats.org/drawingml/2006/main">
            <ns5:lvl1pPr marL="0" indent="0" algn="l">
              <ns5:lnSpc>
                <ns5:spcPct val="114999"/>
              </ns5:lnSpc>
              <ns5:buNone/>
              <ns5:defRPr sz="3000">
                <ns5:solidFill>
                  <ns5:srgbClr val="5CD6FF"/>
                </ns5:solidFill>
                <ns5:latin typeface="Aptos"/>
              </ns5:defRPr>
            </ns5:lvl1pPr>
          </ns5:lstStyle>
          <ns6:p xmlns:ns6="http://schemas.openxmlformats.org/drawingml/2006/main">
            <ns6:r>
              <ns6:rPr lang="en-US"/>
              <ns6:t>Subtitle — one sentence describing the deck.</ns6:t>
            </ns6:r>
            <ns6:endParaRPr lang="en-US"/>
          </ns6:p>
        </ns0:txBody>
      </ns0:sp>
      <ns0:sp xmlns:ns0="http://schemas.openxmlformats.org/presentationml/2006/main">
        <ns0:nvSpPr>
          <ns0:cNvPr id="13" name="Hero Org Line"/>
          <ns0:cNvSpPr>
            <ns1:spLocks xmlns:ns1="http://schemas.openxmlformats.org/drawingml/2006/main" noGrp="1"/>
          </ns0:cNvSpPr>
          <ns0:nvPr>
            <ns0:ph type="body" idx="4"/>
          </ns0:nvPr>
        </ns0:nvSpPr>
        <ns0:spPr>
          <ns2:xfrm xmlns:ns2="http://schemas.openxmlformats.org/drawingml/2006/main">
            <ns2:off x="914400" y="6572250"/>
            <ns2:ext cx="16192500" cy="571500"/>
          </ns2:xfrm>
          <ns3:prstGeom xmlns:ns3="http://schemas.openxmlformats.org/drawingml/2006/main" prst="rect">
            <ns3:avLst/>
          </ns3:prstGeom>
        </ns0:spPr>
        <ns0:txBody>
          <ns4:bodyPr xmlns:ns4="http://schemas.openxmlformats.org/drawingml/2006/main" wrap="square" rtlCol="0" anchor="t" lIns="0" tIns="0" rIns="0" bIns="0">
            <ns4:noAutofit/>
          </ns4:bodyPr>
          <ns5:lstStyle xmlns:ns5="http://schemas.openxmlformats.org/drawingml/2006/main">
            <ns5:lvl1pPr marL="0" indent="0" algn="l">
              <ns5:buNone/>
              <ns5:defRPr sz="2400">
                <ns5:solidFill>
                  <ns5:srgbClr val="FFFFFF"/>
                </ns5:solidFill>
                <ns5:latin typeface="Aptos"/>
              </ns5:defRPr>
            </ns5:lvl1pPr>
          </ns5:lstStyle>
          <ns6:p xmlns:ns6="http://schemas.openxmlformats.org/drawingml/2006/main">
            <ns6:r>
              <ns6:rPr lang="en-US"/>
              <ns6:t>Open Component Model — open source, NeoNephos Foundation.</ns6:t>
            </ns6:r>
            <ns6:endParaRPr lang="en-US"/>
          </ns6:p>
        </ns0:txBody>
      </ns0: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userDrawn="1">
  <p:cSld name="CTA">
    <p:bg>
      <p:bgPr>
        <a:solidFill>
          <a:srgbClr val="0A1530"/>
        </a:solidFill>
        <a:effectLst/>
      </p:bgPr>
    </p:bg>
    <p:spTree>
      <p:nvGrpSpPr>
        <p:cNvPr id="1" name=""/>
        <p:cNvGrpSpPr/>
        <p:nvPr/>
      </p:nvGrpSpPr>
      <p:grpSpPr>
        <a:xfrm>
          <a:off x="0" y="0"/>
          <a:ext cx="0" cy="0"/>
          <a:chOff x="0" y="0"/>
          <a:chExt cx="0" cy="0"/>
        </a:xfrm>
      </p:grpSpPr>
      <ns0:sp xmlns:ns0="http://schemas.openxmlformats.org/presentationml/2006/main">
        <ns0:nvSpPr>
          <ns0:cNvPr id="10" name="CTA Title"/>
          <ns0:cNvSpPr>
            <ns1:spLocks xmlns:ns1="http://schemas.openxmlformats.org/drawingml/2006/main" noGrp="1"/>
          </ns0:cNvSpPr>
          <ns0:nvPr>
            <ns0:ph type="title" idx="1"/>
          </ns0:nvPr>
        </ns0:nvSpPr>
        <ns0:spPr>
          <ns2:xfrm xmlns:ns2="http://schemas.openxmlformats.org/drawingml/2006/main">
            <ns2:off x="914400" y="3048000"/>
            <ns2:ext cx="16192500" cy="9525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5600" b="1">
                <ns5:solidFill>
                  <ns5:srgbClr val="FFFFFF"/>
                </ns5:solidFill>
                <ns5:latin typeface="Aptos Display"/>
              </ns5:defRPr>
            </ns5:lvl1pPr>
          </ns5:lstStyle>
          <ns6:p xmlns:ns6="http://schemas.openxmlformats.org/drawingml/2006/main">
            <ns6:r>
              <ns6:rPr lang="en-US"/>
              <ns6:t>Call to action</ns6:t>
            </ns6:r>
            <ns6:endParaRPr lang="en-US"/>
          </ns6:p>
        </ns0:txBody>
      </ns0:sp>
      <ns0:sp xmlns:ns0="http://schemas.openxmlformats.org/presentationml/2006/main">
        <ns0:nvSpPr>
          <ns0:cNvPr id="11" name="CTA Body"/>
          <ns0:cNvSpPr>
            <ns1:spLocks xmlns:ns1="http://schemas.openxmlformats.org/drawingml/2006/main" noGrp="1"/>
          </ns0:cNvSpPr>
          <ns0:nvPr>
            <ns0:ph type="body" idx="2"/>
          </ns0:nvPr>
        </ns0:nvSpPr>
        <ns0:spPr>
          <ns2:xfrm xmlns:ns2="http://schemas.openxmlformats.org/drawingml/2006/main">
            <ns2:off x="914400" y="4381500"/>
            <ns2:ext cx="16192500" cy="38100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2200">
                <ns5:solidFill>
                  <ns5:srgbClr val="FFFFFF"/>
                </ns5:solidFill>
                <ns5:latin typeface="Aptos"/>
              </ns5:defRPr>
            </ns5:lvl1pPr>
          </ns5:lstStyle>
          <ns6:p xmlns:ns6="http://schemas.openxmlformats.org/drawingml/2006/main">
            <ns6:r>
              <ns6:rPr lang="en-US"/>
              <ns6:t>Three-line CTA bullets go here.</ns6:t>
            </ns6:r>
            <ns6:endParaRPr lang="en-US"/>
          </ns6:p>
        </ns0:txBody>
      </ns0: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userDrawn="1">
  <p:cSld name="Content / 3-Column">
    <p:bg>
      <p:bgPr>
        <a:solidFill>
          <a:srgbClr val="FFFFFF"/>
        </a:solidFill>
        <a:effectLst/>
      </p:bgPr>
    </p:bg>
    <p:spTree>
      <p:nvGrpSpPr>
        <p:cNvPr id="1" name=""/>
        <p:cNvGrpSpPr/>
        <p:nvPr/>
      </p:nvGrpSpPr>
      <p:grpSpPr>
        <a:xfrm>
          <a:off x="0" y="0"/>
          <a:ext cx="0" cy="0"/>
          <a:chOff x="0" y="0"/>
          <a:chExt cx="0" cy="0"/>
        </a:xfrm>
      </p:grpSpPr>
      <ns0:sp xmlns:ns0="http://schemas.openxmlformats.org/presentationml/2006/main">
        <ns0:nvSpPr>
          <ns0:cNvPr id="10" name="Eyebrow"/>
          <ns0:cNvSpPr>
            <ns1:spLocks xmlns:ns1="http://schemas.openxmlformats.org/drawingml/2006/main" noGrp="1"/>
          </ns0:cNvSpPr>
          <ns0:nvPr>
            <ns0:ph type="body" idx="1"/>
          </ns0:nvPr>
        </ns0:nvSpPr>
        <ns0:spPr>
          <ns2:xfrm xmlns:ns2="http://schemas.openxmlformats.org/drawingml/2006/main">
            <ns2:off x="1143000" y="2428875"/>
            <ns2:ext cx="16002000" cy="4572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2800" b="1" cap="all" spc="140">
                <ns5:solidFill>
                  <ns5:srgbClr val="0F6BFF"/>
                </ns5:solidFill>
                <ns5:latin typeface="Aptos"/>
              </ns5:defRPr>
            </ns5:lvl1pPr>
          </ns5:lstStyle>
          <ns6:p xmlns:ns6="http://schemas.openxmlformats.org/drawingml/2006/main">
            <ns6:r>
              <ns6:rPr lang="en-US"/>
              <ns6:t>EYEBROW</ns6:t>
            </ns6:r>
            <ns6:endParaRPr lang="en-US"/>
          </ns6:p>
        </ns0:txBody>
      </ns0:sp>
      <ns0:sp xmlns:ns0="http://schemas.openxmlformats.org/presentationml/2006/main">
        <ns0:nvSpPr>
          <ns0:cNvPr id="11" name="Title"/>
          <ns0:cNvSpPr>
            <ns1:spLocks xmlns:ns1="http://schemas.openxmlformats.org/drawingml/2006/main" noGrp="1"/>
          </ns0:cNvSpPr>
          <ns0:nvPr>
            <ns0:ph type="title" idx="2"/>
          </ns0:nvPr>
        </ns0:nvSpPr>
        <ns0:spPr>
          <ns2:xfrm xmlns:ns2="http://schemas.openxmlformats.org/drawingml/2006/main">
            <ns2:off x="1143000" y="2933700"/>
            <ns2:ext cx="16002000" cy="19050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lnSpc>
                <ns5:spcPct val="90000"/>
              </ns5:lnSpc>
              <ns5:buNone/>
              <ns5:defRPr sz="6400" b="1">
                <ns5:solidFill>
                  <ns5:srgbClr val="000000"/>
                </ns5:solidFill>
                <ns5:latin typeface="Aptos Display"/>
              </ns5:defRPr>
            </ns5:lvl1pPr>
          </ns5:lstStyle>
          <ns6:p xmlns:ns6="http://schemas.openxmlformats.org/drawingml/2006/main">
            <ns6:r>
              <ns6:rPr lang="en-US"/>
              <ns6:t>Section title goes here.</ns6:t>
            </ns6:r>
            <ns6:endParaRPr lang="en-US"/>
          </ns6:p>
        </ns0:txBody>
      </ns0:sp>
      <ns0:sp xmlns:ns0="http://schemas.openxmlformats.org/presentationml/2006/main">
        <ns0:nvSpPr>
          <ns0:cNvPr id="12" name="Col1 Rule"/>
          <ns0:cNvSpPr/>
          <ns0:nvPr/>
        </ns0:nvSpPr>
        <ns0:spPr>
          <ns1:xfrm xmlns:ns1="http://schemas.openxmlformats.org/drawingml/2006/main">
            <ns1:off x="1143000" y="4953000"/>
            <ns1:ext cx="4972050" cy="38100"/>
          </ns1:xfrm>
          <ns2:prstGeom xmlns:ns2="http://schemas.openxmlformats.org/drawingml/2006/main" prst="rect">
            <ns2:avLst/>
          </ns2:prstGeom>
          <ns3:solidFill xmlns:ns3="http://schemas.openxmlformats.org/drawingml/2006/main">
            <ns3:srgbClr val="0F6BFF"/>
          </ns3:solidFill>
          <ns4:ln xmlns:ns4="http://schemas.openxmlformats.org/drawingml/2006/main">
            <ns4:noFill/>
          </ns4:ln>
        </ns0:spPr>
        <ns0:txBody>
          <ns5:bodyPr xmlns:ns5="http://schemas.openxmlformats.org/drawingml/2006/main" rtlCol="0" anchor="ctr"/>
          <ns6:lstStyle xmlns:ns6="http://schemas.openxmlformats.org/drawingml/2006/main"/>
          <ns7:p xmlns:ns7="http://schemas.openxmlformats.org/drawingml/2006/main">
            <ns7:endParaRPr lang="en-US"/>
          </ns7:p>
        </ns0:txBody>
      </ns0:sp>
      <ns0:sp xmlns:ns0="http://schemas.openxmlformats.org/presentationml/2006/main">
        <ns0:nvSpPr>
          <ns0:cNvPr id="13" name="Col1 Header"/>
          <ns0:cNvSpPr>
            <ns1:spLocks xmlns:ns1="http://schemas.openxmlformats.org/drawingml/2006/main" noGrp="1"/>
          </ns0:cNvSpPr>
          <ns0:nvPr>
            <ns0:ph type="body" idx="10"/>
          </ns0:nvPr>
        </ns0:nvSpPr>
        <ns0:spPr>
          <ns2:xfrm xmlns:ns2="http://schemas.openxmlformats.org/drawingml/2006/main">
            <ns2:off x="1143000" y="5105400"/>
            <ns2:ext cx="4972050" cy="533400"/>
          </ns2:xfrm>
          <ns3:prstGeom xmlns:ns3="http://schemas.openxmlformats.org/drawingml/2006/main" prst="rect">
            <ns3:avLst/>
          </ns3:prstGeom>
        </ns0:spPr>
        <ns0:txBody>
          <ns4:bodyPr xmlns:ns4="http://schemas.openxmlformats.org/drawingml/2006/main" wrap="square" rtlCol="0" anchor="t" lIns="0" tIns="0" rIns="0" bIns="0">
            <ns4:noAutofit/>
          </ns4:bodyPr>
          <ns5:lstStyle xmlns:ns5="http://schemas.openxmlformats.org/drawingml/2006/main">
            <ns5:lvl1pPr marL="0" indent="0" algn="l">
              <ns5:buNone/>
              <ns5:defRPr sz="2000" b="1" cap="all" spc="130">
                <ns5:solidFill>
                  <ns5:srgbClr val="0F6BFF"/>
                </ns5:solidFill>
                <ns5:latin typeface="Aptos"/>
              </ns5:defRPr>
            </ns5:lvl1pPr>
          </ns5:lstStyle>
          <ns6:p xmlns:ns6="http://schemas.openxmlformats.org/drawingml/2006/main">
            <ns6:r>
              <ns6:rPr lang="en-US"/>
              <ns6:t>COLUMN 1 HEADER</ns6:t>
            </ns6:r>
            <ns6:endParaRPr lang="en-US"/>
          </ns6:p>
        </ns0:txBody>
      </ns0:sp>
      <ns0:sp xmlns:ns0="http://schemas.openxmlformats.org/presentationml/2006/main">
        <ns0:nvSpPr>
          <ns0:cNvPr id="14" name="Col1 Body"/>
          <ns0:cNvSpPr>
            <ns1:spLocks xmlns:ns1="http://schemas.openxmlformats.org/drawingml/2006/main" noGrp="1"/>
          </ns0:cNvSpPr>
          <ns0:nvPr>
            <ns0:ph type="body" idx="11"/>
          </ns0:nvPr>
        </ns0:nvSpPr>
        <ns0:spPr>
          <ns2:xfrm xmlns:ns2="http://schemas.openxmlformats.org/drawingml/2006/main">
            <ns2:off x="1143000" y="5753100"/>
            <ns2:ext cx="4972050" cy="43815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2200">
                <ns5:solidFill>
                  <ns5:srgbClr val="000000"/>
                </ns5:solidFill>
                <ns5:latin typeface="Aptos"/>
              </ns5:defRPr>
            </ns5:lvl1pPr>
          </ns5:lstStyle>
          <ns6:p xmlns:ns6="http://schemas.openxmlformats.org/drawingml/2006/main">
            <ns6:r>
              <ns6:rPr lang="en-US"/>
              <ns6:t>Column 1 body. Replace with one or two short sentences.</ns6:t>
            </ns6:r>
            <ns6:endParaRPr lang="en-US"/>
          </ns6:p>
        </ns0:txBody>
      </ns0:sp>
      <ns0:sp xmlns:ns0="http://schemas.openxmlformats.org/presentationml/2006/main">
        <ns0:nvSpPr>
          <ns0:cNvPr id="15" name="Col2 Rule"/>
          <ns0:cNvSpPr/>
          <ns0:nvPr/>
        </ns0:nvSpPr>
        <ns0:spPr>
          <ns1:xfrm xmlns:ns1="http://schemas.openxmlformats.org/drawingml/2006/main">
            <ns1:off x="6648450" y="4953000"/>
            <ns1:ext cx="4972050" cy="38100"/>
          </ns1:xfrm>
          <ns2:prstGeom xmlns:ns2="http://schemas.openxmlformats.org/drawingml/2006/main" prst="rect">
            <ns2:avLst/>
          </ns2:prstGeom>
          <ns3:solidFill xmlns:ns3="http://schemas.openxmlformats.org/drawingml/2006/main">
            <ns3:srgbClr val="0F6BFF"/>
          </ns3:solidFill>
          <ns4:ln xmlns:ns4="http://schemas.openxmlformats.org/drawingml/2006/main">
            <ns4:noFill/>
          </ns4:ln>
        </ns0:spPr>
        <ns0:txBody>
          <ns5:bodyPr xmlns:ns5="http://schemas.openxmlformats.org/drawingml/2006/main" rtlCol="0" anchor="ctr"/>
          <ns6:lstStyle xmlns:ns6="http://schemas.openxmlformats.org/drawingml/2006/main"/>
          <ns7:p xmlns:ns7="http://schemas.openxmlformats.org/drawingml/2006/main">
            <ns7:endParaRPr lang="en-US"/>
          </ns7:p>
        </ns0:txBody>
      </ns0:sp>
      <ns0:sp xmlns:ns0="http://schemas.openxmlformats.org/presentationml/2006/main">
        <ns0:nvSpPr>
          <ns0:cNvPr id="16" name="Col2 Header"/>
          <ns0:cNvSpPr>
            <ns1:spLocks xmlns:ns1="http://schemas.openxmlformats.org/drawingml/2006/main" noGrp="1"/>
          </ns0:cNvSpPr>
          <ns0:nvPr>
            <ns0:ph type="body" idx="12"/>
          </ns0:nvPr>
        </ns0:nvSpPr>
        <ns0:spPr>
          <ns2:xfrm xmlns:ns2="http://schemas.openxmlformats.org/drawingml/2006/main">
            <ns2:off x="6648450" y="5105400"/>
            <ns2:ext cx="4972050" cy="533400"/>
          </ns2:xfrm>
          <ns3:prstGeom xmlns:ns3="http://schemas.openxmlformats.org/drawingml/2006/main" prst="rect">
            <ns3:avLst/>
          </ns3:prstGeom>
        </ns0:spPr>
        <ns0:txBody>
          <ns4:bodyPr xmlns:ns4="http://schemas.openxmlformats.org/drawingml/2006/main" wrap="square" rtlCol="0" anchor="t" lIns="0" tIns="0" rIns="0" bIns="0">
            <ns4:noAutofit/>
          </ns4:bodyPr>
          <ns5:lstStyle xmlns:ns5="http://schemas.openxmlformats.org/drawingml/2006/main">
            <ns5:lvl1pPr marL="0" indent="0" algn="l">
              <ns5:buNone/>
              <ns5:defRPr sz="2000" b="1" cap="all" spc="130">
                <ns5:solidFill>
                  <ns5:srgbClr val="0F6BFF"/>
                </ns5:solidFill>
                <ns5:latin typeface="Aptos"/>
              </ns5:defRPr>
            </ns5:lvl1pPr>
          </ns5:lstStyle>
          <ns6:p xmlns:ns6="http://schemas.openxmlformats.org/drawingml/2006/main">
            <ns6:r>
              <ns6:rPr lang="en-US"/>
              <ns6:t>COLUMN 2 HEADER</ns6:t>
            </ns6:r>
            <ns6:endParaRPr lang="en-US"/>
          </ns6:p>
        </ns0:txBody>
      </ns0:sp>
      <ns0:sp xmlns:ns0="http://schemas.openxmlformats.org/presentationml/2006/main">
        <ns0:nvSpPr>
          <ns0:cNvPr id="17" name="Col2 Body"/>
          <ns0:cNvSpPr>
            <ns1:spLocks xmlns:ns1="http://schemas.openxmlformats.org/drawingml/2006/main" noGrp="1"/>
          </ns0:cNvSpPr>
          <ns0:nvPr>
            <ns0:ph type="body" idx="13"/>
          </ns0:nvPr>
        </ns0:nvSpPr>
        <ns0:spPr>
          <ns2:xfrm xmlns:ns2="http://schemas.openxmlformats.org/drawingml/2006/main">
            <ns2:off x="6648450" y="5753100"/>
            <ns2:ext cx="4972050" cy="43815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2200">
                <ns5:solidFill>
                  <ns5:srgbClr val="000000"/>
                </ns5:solidFill>
                <ns5:latin typeface="Aptos"/>
              </ns5:defRPr>
            </ns5:lvl1pPr>
          </ns5:lstStyle>
          <ns6:p xmlns:ns6="http://schemas.openxmlformats.org/drawingml/2006/main">
            <ns6:r>
              <ns6:rPr lang="en-US"/>
              <ns6:t>Column 2 body. Replace with one or two short sentences.</ns6:t>
            </ns6:r>
            <ns6:endParaRPr lang="en-US"/>
          </ns6:p>
        </ns0:txBody>
      </ns0:sp>
      <ns0:sp xmlns:ns0="http://schemas.openxmlformats.org/presentationml/2006/main">
        <ns0:nvSpPr>
          <ns0:cNvPr id="18" name="Col3 Rule"/>
          <ns0:cNvSpPr/>
          <ns0:nvPr/>
        </ns0:nvSpPr>
        <ns0:spPr>
          <ns1:xfrm xmlns:ns1="http://schemas.openxmlformats.org/drawingml/2006/main">
            <ns1:off x="12153900" y="4953000"/>
            <ns1:ext cx="4972050" cy="38100"/>
          </ns1:xfrm>
          <ns2:prstGeom xmlns:ns2="http://schemas.openxmlformats.org/drawingml/2006/main" prst="rect">
            <ns2:avLst/>
          </ns2:prstGeom>
          <ns3:solidFill xmlns:ns3="http://schemas.openxmlformats.org/drawingml/2006/main">
            <ns3:srgbClr val="0F6BFF"/>
          </ns3:solidFill>
          <ns4:ln xmlns:ns4="http://schemas.openxmlformats.org/drawingml/2006/main">
            <ns4:noFill/>
          </ns4:ln>
        </ns0:spPr>
        <ns0:txBody>
          <ns5:bodyPr xmlns:ns5="http://schemas.openxmlformats.org/drawingml/2006/main" rtlCol="0" anchor="ctr"/>
          <ns6:lstStyle xmlns:ns6="http://schemas.openxmlformats.org/drawingml/2006/main"/>
          <ns7:p xmlns:ns7="http://schemas.openxmlformats.org/drawingml/2006/main">
            <ns7:endParaRPr lang="en-US"/>
          </ns7:p>
        </ns0:txBody>
      </ns0:sp>
      <ns0:sp xmlns:ns0="http://schemas.openxmlformats.org/presentationml/2006/main">
        <ns0:nvSpPr>
          <ns0:cNvPr id="19" name="Col3 Header"/>
          <ns0:cNvSpPr>
            <ns1:spLocks xmlns:ns1="http://schemas.openxmlformats.org/drawingml/2006/main" noGrp="1"/>
          </ns0:cNvSpPr>
          <ns0:nvPr>
            <ns0:ph type="body" idx="14"/>
          </ns0:nvPr>
        </ns0:nvSpPr>
        <ns0:spPr>
          <ns2:xfrm xmlns:ns2="http://schemas.openxmlformats.org/drawingml/2006/main">
            <ns2:off x="12153900" y="5105400"/>
            <ns2:ext cx="4972050" cy="533400"/>
          </ns2:xfrm>
          <ns3:prstGeom xmlns:ns3="http://schemas.openxmlformats.org/drawingml/2006/main" prst="rect">
            <ns3:avLst/>
          </ns3:prstGeom>
        </ns0:spPr>
        <ns0:txBody>
          <ns4:bodyPr xmlns:ns4="http://schemas.openxmlformats.org/drawingml/2006/main" wrap="square" rtlCol="0" anchor="t" lIns="0" tIns="0" rIns="0" bIns="0">
            <ns4:noAutofit/>
          </ns4:bodyPr>
          <ns5:lstStyle xmlns:ns5="http://schemas.openxmlformats.org/drawingml/2006/main">
            <ns5:lvl1pPr marL="0" indent="0" algn="l">
              <ns5:buNone/>
              <ns5:defRPr sz="2000" b="1" cap="all" spc="130">
                <ns5:solidFill>
                  <ns5:srgbClr val="0F6BFF"/>
                </ns5:solidFill>
                <ns5:latin typeface="Aptos"/>
              </ns5:defRPr>
            </ns5:lvl1pPr>
          </ns5:lstStyle>
          <ns6:p xmlns:ns6="http://schemas.openxmlformats.org/drawingml/2006/main">
            <ns6:r>
              <ns6:rPr lang="en-US"/>
              <ns6:t>COLUMN 3 HEADER</ns6:t>
            </ns6:r>
            <ns6:endParaRPr lang="en-US"/>
          </ns6:p>
        </ns0:txBody>
      </ns0:sp>
      <ns0:sp xmlns:ns0="http://schemas.openxmlformats.org/presentationml/2006/main">
        <ns0:nvSpPr>
          <ns0:cNvPr id="20" name="Col3 Body"/>
          <ns0:cNvSpPr>
            <ns1:spLocks xmlns:ns1="http://schemas.openxmlformats.org/drawingml/2006/main" noGrp="1"/>
          </ns0:cNvSpPr>
          <ns0:nvPr>
            <ns0:ph type="body" idx="15"/>
          </ns0:nvPr>
        </ns0:nvSpPr>
        <ns0:spPr>
          <ns2:xfrm xmlns:ns2="http://schemas.openxmlformats.org/drawingml/2006/main">
            <ns2:off x="12153900" y="5753100"/>
            <ns2:ext cx="4972050" cy="43815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2200">
                <ns5:solidFill>
                  <ns5:srgbClr val="000000"/>
                </ns5:solidFill>
                <ns5:latin typeface="Aptos"/>
              </ns5:defRPr>
            </ns5:lvl1pPr>
          </ns5:lstStyle>
          <ns6:p xmlns:ns6="http://schemas.openxmlformats.org/drawingml/2006/main">
            <ns6:r>
              <ns6:rPr lang="en-US"/>
              <ns6:t>Column 3 body. Replace with one or two short sentences.</ns6:t>
            </ns6:r>
            <ns6:endParaRPr lang="en-US"/>
          </ns6:p>
        </ns0:txBody>
      </ns0:sp>
      <ns0:sp xmlns:ns0="http://schemas.openxmlformats.org/presentationml/2006/main">
        <ns0:nvSpPr>
          <ns0:cNvPr id="21" name="Footer"/>
          <ns0:cNvSpPr>
            <ns1:spLocks xmlns:ns1="http://schemas.openxmlformats.org/drawingml/2006/main" noGrp="1"/>
          </ns0:cNvSpPr>
          <ns0:nvPr/>
        </ns0:nvSpPr>
        <ns0:spPr>
          <ns2:xfrm xmlns:ns2="http://schemas.openxmlformats.org/drawingml/2006/main">
            <ns2:off x="1143000" y="9982200"/>
            <ns2:ext cx="16002000" cy="2286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900" cap="all" spc="50">
                <ns5:solidFill>
                  <ns5:srgbClr val="6B7280"/>
                </ns5:solidFill>
                <ns5:latin typeface="Aptos"/>
              </ns5:defRPr>
            </ns5:lvl1pPr>
          </ns5:lstStyle>
          <ns6:p xmlns:ns6="http://schemas.openxmlformats.org/drawingml/2006/main">
            <ns6:r>
              <ns6:rPr lang="en-US"/>
              <ns6:t>OPEN COMPONENT MODEL · OCM.SOFTWARE</ns6:t>
            </ns6:r>
            <ns6:endParaRPr lang="en-US"/>
          </ns6:p>
        </ns0:txBody>
      </ns0: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userDrawn="1">
  <p:cSld name="Content / Diagram">
    <p:bg>
      <p:bgPr>
        <a:solidFill>
          <a:srgbClr val="FFFFFF"/>
        </a:solidFill>
        <a:effectLst/>
      </p:bgPr>
    </p:bg>
    <p:spTree>
      <p:nvGrpSpPr>
        <p:cNvPr id="1" name=""/>
        <p:cNvGrpSpPr/>
        <p:nvPr/>
      </p:nvGrpSpPr>
      <p:grpSpPr>
        <a:xfrm>
          <a:off x="0" y="0"/>
          <a:ext cx="0" cy="0"/>
          <a:chOff x="0" y="0"/>
          <a:chExt cx="0" cy="0"/>
        </a:xfrm>
      </p:grpSpPr>
      <ns0:sp xmlns:ns0="http://schemas.openxmlformats.org/presentationml/2006/main">
        <ns0:nvSpPr>
          <ns0:cNvPr id="10" name="Eyebrow"/>
          <ns0:cNvSpPr>
            <ns1:spLocks xmlns:ns1="http://schemas.openxmlformats.org/drawingml/2006/main" noGrp="1"/>
          </ns0:cNvSpPr>
          <ns0:nvPr>
            <ns0:ph type="body" idx="1"/>
          </ns0:nvPr>
        </ns0:nvSpPr>
        <ns0:spPr>
          <ns2:xfrm xmlns:ns2="http://schemas.openxmlformats.org/drawingml/2006/main">
            <ns2:off x="1143000" y="2428875"/>
            <ns2:ext cx="16002000" cy="4572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2800" b="1" cap="all" spc="140">
                <ns5:solidFill>
                  <ns5:srgbClr val="0F6BFF"/>
                </ns5:solidFill>
                <ns5:latin typeface="Aptos"/>
              </ns5:defRPr>
            </ns5:lvl1pPr>
          </ns5:lstStyle>
          <ns6:p xmlns:ns6="http://schemas.openxmlformats.org/drawingml/2006/main">
            <ns6:r>
              <ns6:rPr lang="en-US"/>
              <ns6:t>EYEBROW</ns6:t>
            </ns6:r>
            <ns6:endParaRPr lang="en-US"/>
          </ns6:p>
        </ns0:txBody>
      </ns0:sp>
      <ns0:sp xmlns:ns0="http://schemas.openxmlformats.org/presentationml/2006/main">
        <ns0:nvSpPr>
          <ns0:cNvPr id="11" name="Title"/>
          <ns0:cNvSpPr>
            <ns1:spLocks xmlns:ns1="http://schemas.openxmlformats.org/drawingml/2006/main" noGrp="1"/>
          </ns0:cNvSpPr>
          <ns0:nvPr>
            <ns0:ph type="title" idx="2"/>
          </ns0:nvPr>
        </ns0:nvSpPr>
        <ns0:spPr>
          <ns2:xfrm xmlns:ns2="http://schemas.openxmlformats.org/drawingml/2006/main">
            <ns2:off x="1143000" y="2933700"/>
            <ns2:ext cx="16002000" cy="11430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lnSpc>
                <ns5:spcPct val="90000"/>
              </ns5:lnSpc>
              <ns5:buNone/>
              <ns5:defRPr sz="6400" b="1">
                <ns5:solidFill>
                  <ns5:srgbClr val="000000"/>
                </ns5:solidFill>
                <ns5:latin typeface="Aptos Display"/>
              </ns5:defRPr>
            </ns5:lvl1pPr>
          </ns5:lstStyle>
          <ns6:p xmlns:ns6="http://schemas.openxmlformats.org/drawingml/2006/main">
            <ns6:r>
              <ns6:rPr lang="en-US"/>
              <ns6:t>Section title goes here.</ns6:t>
            </ns6:r>
            <ns6:endParaRPr lang="en-US"/>
          </ns6:p>
        </ns0:txBody>
      </ns0:sp>
      <ns0:sp xmlns:ns0="http://schemas.openxmlformats.org/presentationml/2006/main">
        <ns0:nvSpPr>
          <ns0:cNvPr id="12" name="Diagram"/>
          <ns0:cNvSpPr>
            <ns1:spLocks xmlns:ns1="http://schemas.openxmlformats.org/drawingml/2006/main" noGrp="1"/>
          </ns0:cNvSpPr>
          <ns0:nvPr>
            <ns0:ph type="pic" idx="10"/>
          </ns0:nvPr>
        </ns0:nvSpPr>
        <ns0:spPr>
          <ns2:xfrm xmlns:ns2="http://schemas.openxmlformats.org/drawingml/2006/main">
            <ns2:off x="571500" y="4381500"/>
            <ns2:ext cx="17145000" cy="5715000"/>
          </ns2:xfrm>
          <ns3:prstGeom xmlns:ns3="http://schemas.openxmlformats.org/drawingml/2006/main" prst="rect">
            <ns3:avLst/>
          </ns3:prstGeom>
        </ns0:spPr>
        <ns0:txBody>
          <ns4:bodyPr xmlns:ns4="http://schemas.openxmlformats.org/drawingml/2006/main" rtlCol="0" anchor="ctr"/>
          <ns5:lstStyle xmlns:ns5="http://schemas.openxmlformats.org/drawingml/2006/main"/>
          <ns6:p xmlns:ns6="http://schemas.openxmlformats.org/drawingml/2006/main">
            <ns6:endParaRPr lang="en-US"/>
          </ns6:p>
        </ns0:txBody>
      </ns0:sp>
      <ns0:sp xmlns:ns0="http://schemas.openxmlformats.org/presentationml/2006/main">
        <ns0:nvSpPr>
          <ns0:cNvPr id="13" name="Footer"/>
          <ns0:cNvSpPr>
            <ns1:spLocks xmlns:ns1="http://schemas.openxmlformats.org/drawingml/2006/main" noGrp="1"/>
          </ns0:cNvSpPr>
          <ns0:nvPr/>
        </ns0:nvSpPr>
        <ns0:spPr>
          <ns2:xfrm xmlns:ns2="http://schemas.openxmlformats.org/drawingml/2006/main">
            <ns2:off x="1143000" y="9982200"/>
            <ns2:ext cx="16002000" cy="2286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900" cap="all" spc="50">
                <ns5:solidFill>
                  <ns5:srgbClr val="6B7280"/>
                </ns5:solidFill>
                <ns5:latin typeface="Aptos"/>
              </ns5:defRPr>
            </ns5:lvl1pPr>
          </ns5:lstStyle>
          <ns6:p xmlns:ns6="http://schemas.openxmlformats.org/drawingml/2006/main">
            <ns6:r>
              <ns6:rPr lang="en-US"/>
              <ns6:t>OPEN COMPONENT MODEL · OCM.SOFTWARE</ns6:t>
            </ns6:r>
            <ns6:endParaRPr lang="en-US"/>
          </ns6:p>
        </ns0:txBody>
      </ns0: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userDrawn="1">
  <p:cSld name="Content / Tiles">
    <p:bg>
      <p:bgPr>
        <a:solidFill>
          <a:srgbClr val="FFFFFF"/>
        </a:solidFill>
        <a:effectLst/>
      </p:bgPr>
    </p:bg>
    <p:spTree>
      <p:nvGrpSpPr>
        <p:cNvPr id="1" name=""/>
        <p:cNvGrpSpPr/>
        <p:nvPr/>
      </p:nvGrpSpPr>
      <p:grpSpPr>
        <a:xfrm>
          <a:off x="0" y="0"/>
          <a:ext cx="0" cy="0"/>
          <a:chOff x="0" y="0"/>
          <a:chExt cx="0" cy="0"/>
        </a:xfrm>
      </p:grpSpPr>
      <ns0:sp xmlns:ns0="http://schemas.openxmlformats.org/presentationml/2006/main">
        <ns0:nvSpPr>
          <ns0:cNvPr id="10" name="Eyebrow"/>
          <ns0:cNvSpPr>
            <ns1:spLocks xmlns:ns1="http://schemas.openxmlformats.org/drawingml/2006/main" noGrp="1"/>
          </ns0:cNvSpPr>
          <ns0:nvPr>
            <ns0:ph type="body" idx="1"/>
          </ns0:nvPr>
        </ns0:nvSpPr>
        <ns0:spPr>
          <ns2:xfrm xmlns:ns2="http://schemas.openxmlformats.org/drawingml/2006/main">
            <ns2:off x="1143000" y="2428875"/>
            <ns2:ext cx="16002000" cy="4572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2800" b="1" cap="all" spc="140">
                <ns5:solidFill>
                  <ns5:srgbClr val="0F6BFF"/>
                </ns5:solidFill>
                <ns5:latin typeface="Aptos"/>
              </ns5:defRPr>
            </ns5:lvl1pPr>
          </ns5:lstStyle>
          <ns6:p xmlns:ns6="http://schemas.openxmlformats.org/drawingml/2006/main">
            <ns6:r>
              <ns6:rPr lang="en-US"/>
              <ns6:t>EYEBROW</ns6:t>
            </ns6:r>
            <ns6:endParaRPr lang="en-US"/>
          </ns6:p>
        </ns0:txBody>
      </ns0:sp>
      <ns0:sp xmlns:ns0="http://schemas.openxmlformats.org/presentationml/2006/main">
        <ns0:nvSpPr>
          <ns0:cNvPr id="11" name="Title"/>
          <ns0:cNvSpPr>
            <ns1:spLocks xmlns:ns1="http://schemas.openxmlformats.org/drawingml/2006/main" noGrp="1"/>
          </ns0:cNvSpPr>
          <ns0:nvPr>
            <ns0:ph type="title" idx="2"/>
          </ns0:nvPr>
        </ns0:nvSpPr>
        <ns0:spPr>
          <ns2:xfrm xmlns:ns2="http://schemas.openxmlformats.org/drawingml/2006/main">
            <ns2:off x="1143000" y="2933700"/>
            <ns2:ext cx="16002000" cy="19050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lnSpc>
                <ns5:spcPct val="90000"/>
              </ns5:lnSpc>
              <ns5:buNone/>
              <ns5:defRPr sz="6400" b="1">
                <ns5:solidFill>
                  <ns5:srgbClr val="000000"/>
                </ns5:solidFill>
                <ns5:latin typeface="Aptos Display"/>
              </ns5:defRPr>
            </ns5:lvl1pPr>
          </ns5:lstStyle>
          <ns6:p xmlns:ns6="http://schemas.openxmlformats.org/drawingml/2006/main">
            <ns6:r>
              <ns6:rPr lang="en-US"/>
              <ns6:t>Section title goes here.</ns6:t>
            </ns6:r>
            <ns6:endParaRPr lang="en-US"/>
          </ns6:p>
        </ns0:txBody>
      </ns0:sp>
      <ns0:sp xmlns:ns0="http://schemas.openxmlformats.org/presentationml/2006/main">
        <ns0:nvSpPr>
          <ns0:cNvPr id="12" name="Tile1 Bg"/>
          <ns0:cNvSpPr/>
          <ns0:nvPr/>
        </ns0:nvSpPr>
        <ns0:spPr>
          <ns1:xfrm xmlns:ns1="http://schemas.openxmlformats.org/drawingml/2006/main">
            <ns1:off x="1143000" y="4953000"/>
            <ns1:ext cx="5181600" cy="2190750"/>
          </ns1:xfrm>
          <ns2:prstGeom xmlns:ns2="http://schemas.openxmlformats.org/drawingml/2006/main" prst="rect">
            <ns2:avLst/>
          </ns2:prstGeom>
          <ns3:solidFill xmlns:ns3="http://schemas.openxmlformats.org/drawingml/2006/main">
            <ns3:srgbClr val="F3F4F6"/>
          </ns3:solidFill>
          <ns4:ln xmlns:ns4="http://schemas.openxmlformats.org/drawingml/2006/main">
            <ns4:noFill/>
          </ns4:ln>
        </ns0:spPr>
        <ns0:txBody>
          <ns5:bodyPr xmlns:ns5="http://schemas.openxmlformats.org/drawingml/2006/main" rtlCol="0" anchor="ctr"/>
          <ns6:lstStyle xmlns:ns6="http://schemas.openxmlformats.org/drawingml/2006/main"/>
          <ns7:p xmlns:ns7="http://schemas.openxmlformats.org/drawingml/2006/main">
            <ns7:endParaRPr lang="en-US"/>
          </ns7:p>
        </ns0:txBody>
      </ns0:sp>
      <ns0:sp xmlns:ns0="http://schemas.openxmlformats.org/presentationml/2006/main">
        <ns0:nvSpPr>
          <ns0:cNvPr id="13" name="Tile1 Rule"/>
          <ns0:cNvSpPr/>
          <ns0:nvPr/>
        </ns0:nvSpPr>
        <ns0:spPr>
          <ns1:xfrm xmlns:ns1="http://schemas.openxmlformats.org/drawingml/2006/main">
            <ns1:off x="1143000" y="4953000"/>
            <ns1:ext cx="5181600" cy="28575"/>
          </ns1:xfrm>
          <ns2:prstGeom xmlns:ns2="http://schemas.openxmlformats.org/drawingml/2006/main" prst="rect">
            <ns2:avLst/>
          </ns2:prstGeom>
          <ns3:solidFill xmlns:ns3="http://schemas.openxmlformats.org/drawingml/2006/main">
            <ns3:srgbClr val="0F6BFF"/>
          </ns3:solidFill>
          <ns4:ln xmlns:ns4="http://schemas.openxmlformats.org/drawingml/2006/main">
            <ns4:noFill/>
          </ns4:ln>
        </ns0:spPr>
        <ns0:txBody>
          <ns5:bodyPr xmlns:ns5="http://schemas.openxmlformats.org/drawingml/2006/main" rtlCol="0" anchor="ctr"/>
          <ns6:lstStyle xmlns:ns6="http://schemas.openxmlformats.org/drawingml/2006/main"/>
          <ns7:p xmlns:ns7="http://schemas.openxmlformats.org/drawingml/2006/main">
            <ns7:endParaRPr lang="en-US"/>
          </ns7:p>
        </ns0:txBody>
      </ns0:sp>
      <ns0:sp xmlns:ns0="http://schemas.openxmlformats.org/presentationml/2006/main">
        <ns0:nvSpPr>
          <ns0:cNvPr id="14" name="Tile1 Label"/>
          <ns0:cNvSpPr>
            <ns1:spLocks xmlns:ns1="http://schemas.openxmlformats.org/drawingml/2006/main" noGrp="1"/>
          </ns0:cNvSpPr>
          <ns0:nvPr>
            <ns0:ph type="body" idx="20"/>
          </ns0:nvPr>
        </ns0:nvSpPr>
        <ns0:spPr>
          <ns2:xfrm xmlns:ns2="http://schemas.openxmlformats.org/drawingml/2006/main">
            <ns2:off x="1981200" y="5181600"/>
            <ns2:ext cx="4114800" cy="457200"/>
          </ns2:xfrm>
          <ns3:prstGeom xmlns:ns3="http://schemas.openxmlformats.org/drawingml/2006/main" prst="rect">
            <ns3:avLst/>
          </ns3:prstGeom>
        </ns0:spPr>
        <ns0:txBody>
          <ns4:bodyPr xmlns:ns4="http://schemas.openxmlformats.org/drawingml/2006/main" wrap="square" rtlCol="0" anchor="ctr" lIns="0" tIns="0" rIns="0" bIns="0"/>
          <ns5:lstStyle xmlns:ns5="http://schemas.openxmlformats.org/drawingml/2006/main">
            <ns5:lvl1pPr marL="0" indent="0" algn="l">
              <ns5:buNone/>
              <ns5:defRPr sz="1800" b="1">
                <ns5:solidFill>
                  <ns5:srgbClr val="0F6BFF"/>
                </ns5:solidFill>
                <ns5:latin typeface="Aptos"/>
              </ns5:defRPr>
            </ns5:lvl1pPr>
          </ns5:lstStyle>
          <ns6:p xmlns:ns6="http://schemas.openxmlformats.org/drawingml/2006/main">
            <ns6:r>
              <ns6:rPr lang="en-US"/>
              <ns6:t>Tile 1 label</ns6:t>
            </ns6:r>
            <ns6:endParaRPr lang="en-US"/>
          </ns6:p>
        </ns0:txBody>
      </ns0:sp>
      <ns0:sp xmlns:ns0="http://schemas.openxmlformats.org/presentationml/2006/main">
        <ns0:nvSpPr>
          <ns0:cNvPr id="15" name="Tile1 Body"/>
          <ns0:cNvSpPr>
            <ns1:spLocks xmlns:ns1="http://schemas.openxmlformats.org/drawingml/2006/main" noGrp="1"/>
          </ns0:cNvSpPr>
          <ns0:nvPr>
            <ns0:ph type="body" idx="21"/>
          </ns0:nvPr>
        </ns0:nvSpPr>
        <ns0:spPr>
          <ns2:xfrm xmlns:ns2="http://schemas.openxmlformats.org/drawingml/2006/main">
            <ns2:off x="1371600" y="5867400"/>
            <ns2:ext cx="4724400" cy="108585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1800">
                <ns5:solidFill>
                  <ns5:srgbClr val="000000"/>
                </ns5:solidFill>
                <ns5:latin typeface="Aptos"/>
              </ns5:defRPr>
            </ns5:lvl1pPr>
          </ns5:lstStyle>
          <ns6:p xmlns:ns6="http://schemas.openxmlformats.org/drawingml/2006/main">
            <ns6:r>
              <ns6:rPr lang="en-US"/>
              <ns6:t>One short sentence describing this tile.</ns6:t>
            </ns6:r>
            <ns6:endParaRPr lang="en-US"/>
          </ns6:p>
        </ns0:txBody>
      </ns0:sp>
      <ns0:sp xmlns:ns0="http://schemas.openxmlformats.org/presentationml/2006/main">
        <ns0:nvSpPr>
          <ns0:cNvPr id="16" name="Tile2 Bg"/>
          <ns0:cNvSpPr/>
          <ns0:nvPr/>
        </ns0:nvSpPr>
        <ns0:spPr>
          <ns1:xfrm xmlns:ns1="http://schemas.openxmlformats.org/drawingml/2006/main">
            <ns1:off x="6553200" y="4953000"/>
            <ns1:ext cx="5181600" cy="2190750"/>
          </ns1:xfrm>
          <ns2:prstGeom xmlns:ns2="http://schemas.openxmlformats.org/drawingml/2006/main" prst="rect">
            <ns2:avLst/>
          </ns2:prstGeom>
          <ns3:solidFill xmlns:ns3="http://schemas.openxmlformats.org/drawingml/2006/main">
            <ns3:srgbClr val="F3F4F6"/>
          </ns3:solidFill>
          <ns4:ln xmlns:ns4="http://schemas.openxmlformats.org/drawingml/2006/main">
            <ns4:noFill/>
          </ns4:ln>
        </ns0:spPr>
        <ns0:txBody>
          <ns5:bodyPr xmlns:ns5="http://schemas.openxmlformats.org/drawingml/2006/main" rtlCol="0" anchor="ctr"/>
          <ns6:lstStyle xmlns:ns6="http://schemas.openxmlformats.org/drawingml/2006/main"/>
          <ns7:p xmlns:ns7="http://schemas.openxmlformats.org/drawingml/2006/main">
            <ns7:endParaRPr lang="en-US"/>
          </ns7:p>
        </ns0:txBody>
      </ns0:sp>
      <ns0:sp xmlns:ns0="http://schemas.openxmlformats.org/presentationml/2006/main">
        <ns0:nvSpPr>
          <ns0:cNvPr id="17" name="Tile2 Rule"/>
          <ns0:cNvSpPr/>
          <ns0:nvPr/>
        </ns0:nvSpPr>
        <ns0:spPr>
          <ns1:xfrm xmlns:ns1="http://schemas.openxmlformats.org/drawingml/2006/main">
            <ns1:off x="6553200" y="4953000"/>
            <ns1:ext cx="5181600" cy="28575"/>
          </ns1:xfrm>
          <ns2:prstGeom xmlns:ns2="http://schemas.openxmlformats.org/drawingml/2006/main" prst="rect">
            <ns2:avLst/>
          </ns2:prstGeom>
          <ns3:solidFill xmlns:ns3="http://schemas.openxmlformats.org/drawingml/2006/main">
            <ns3:srgbClr val="0F6BFF"/>
          </ns3:solidFill>
          <ns4:ln xmlns:ns4="http://schemas.openxmlformats.org/drawingml/2006/main">
            <ns4:noFill/>
          </ns4:ln>
        </ns0:spPr>
        <ns0:txBody>
          <ns5:bodyPr xmlns:ns5="http://schemas.openxmlformats.org/drawingml/2006/main" rtlCol="0" anchor="ctr"/>
          <ns6:lstStyle xmlns:ns6="http://schemas.openxmlformats.org/drawingml/2006/main"/>
          <ns7:p xmlns:ns7="http://schemas.openxmlformats.org/drawingml/2006/main">
            <ns7:endParaRPr lang="en-US"/>
          </ns7:p>
        </ns0:txBody>
      </ns0:sp>
      <ns0:sp xmlns:ns0="http://schemas.openxmlformats.org/presentationml/2006/main">
        <ns0:nvSpPr>
          <ns0:cNvPr id="18" name="Tile2 Label"/>
          <ns0:cNvSpPr>
            <ns1:spLocks xmlns:ns1="http://schemas.openxmlformats.org/drawingml/2006/main" noGrp="1"/>
          </ns0:cNvSpPr>
          <ns0:nvPr>
            <ns0:ph type="body" idx="22"/>
          </ns0:nvPr>
        </ns0:nvSpPr>
        <ns0:spPr>
          <ns2:xfrm xmlns:ns2="http://schemas.openxmlformats.org/drawingml/2006/main">
            <ns2:off x="7391400" y="5181600"/>
            <ns2:ext cx="4114800" cy="457200"/>
          </ns2:xfrm>
          <ns3:prstGeom xmlns:ns3="http://schemas.openxmlformats.org/drawingml/2006/main" prst="rect">
            <ns3:avLst/>
          </ns3:prstGeom>
        </ns0:spPr>
        <ns0:txBody>
          <ns4:bodyPr xmlns:ns4="http://schemas.openxmlformats.org/drawingml/2006/main" wrap="square" rtlCol="0" anchor="ctr" lIns="0" tIns="0" rIns="0" bIns="0"/>
          <ns5:lstStyle xmlns:ns5="http://schemas.openxmlformats.org/drawingml/2006/main">
            <ns5:lvl1pPr marL="0" indent="0" algn="l">
              <ns5:buNone/>
              <ns5:defRPr sz="1800" b="1">
                <ns5:solidFill>
                  <ns5:srgbClr val="0F6BFF"/>
                </ns5:solidFill>
                <ns5:latin typeface="Aptos"/>
              </ns5:defRPr>
            </ns5:lvl1pPr>
          </ns5:lstStyle>
          <ns6:p xmlns:ns6="http://schemas.openxmlformats.org/drawingml/2006/main">
            <ns6:r>
              <ns6:rPr lang="en-US"/>
              <ns6:t>Tile 2 label</ns6:t>
            </ns6:r>
            <ns6:endParaRPr lang="en-US"/>
          </ns6:p>
        </ns0:txBody>
      </ns0:sp>
      <ns0:sp xmlns:ns0="http://schemas.openxmlformats.org/presentationml/2006/main">
        <ns0:nvSpPr>
          <ns0:cNvPr id="19" name="Tile2 Body"/>
          <ns0:cNvSpPr>
            <ns1:spLocks xmlns:ns1="http://schemas.openxmlformats.org/drawingml/2006/main" noGrp="1"/>
          </ns0:cNvSpPr>
          <ns0:nvPr>
            <ns0:ph type="body" idx="23"/>
          </ns0:nvPr>
        </ns0:nvSpPr>
        <ns0:spPr>
          <ns2:xfrm xmlns:ns2="http://schemas.openxmlformats.org/drawingml/2006/main">
            <ns2:off x="6781800" y="5867400"/>
            <ns2:ext cx="4724400" cy="108585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1800">
                <ns5:solidFill>
                  <ns5:srgbClr val="000000"/>
                </ns5:solidFill>
                <ns5:latin typeface="Aptos"/>
              </ns5:defRPr>
            </ns5:lvl1pPr>
          </ns5:lstStyle>
          <ns6:p xmlns:ns6="http://schemas.openxmlformats.org/drawingml/2006/main">
            <ns6:r>
              <ns6:rPr lang="en-US"/>
              <ns6:t>One short sentence describing this tile.</ns6:t>
            </ns6:r>
            <ns6:endParaRPr lang="en-US"/>
          </ns6:p>
        </ns0:txBody>
      </ns0:sp>
      <ns0:sp xmlns:ns0="http://schemas.openxmlformats.org/presentationml/2006/main">
        <ns0:nvSpPr>
          <ns0:cNvPr id="20" name="Tile3 Bg"/>
          <ns0:cNvSpPr/>
          <ns0:nvPr/>
        </ns0:nvSpPr>
        <ns0:spPr>
          <ns1:xfrm xmlns:ns1="http://schemas.openxmlformats.org/drawingml/2006/main">
            <ns1:off x="11963400" y="4953000"/>
            <ns1:ext cx="5181600" cy="2190750"/>
          </ns1:xfrm>
          <ns2:prstGeom xmlns:ns2="http://schemas.openxmlformats.org/drawingml/2006/main" prst="rect">
            <ns2:avLst/>
          </ns2:prstGeom>
          <ns3:solidFill xmlns:ns3="http://schemas.openxmlformats.org/drawingml/2006/main">
            <ns3:srgbClr val="F3F4F6"/>
          </ns3:solidFill>
          <ns4:ln xmlns:ns4="http://schemas.openxmlformats.org/drawingml/2006/main">
            <ns4:noFill/>
          </ns4:ln>
        </ns0:spPr>
        <ns0:txBody>
          <ns5:bodyPr xmlns:ns5="http://schemas.openxmlformats.org/drawingml/2006/main" rtlCol="0" anchor="ctr"/>
          <ns6:lstStyle xmlns:ns6="http://schemas.openxmlformats.org/drawingml/2006/main"/>
          <ns7:p xmlns:ns7="http://schemas.openxmlformats.org/drawingml/2006/main">
            <ns7:endParaRPr lang="en-US"/>
          </ns7:p>
        </ns0:txBody>
      </ns0:sp>
      <ns0:sp xmlns:ns0="http://schemas.openxmlformats.org/presentationml/2006/main">
        <ns0:nvSpPr>
          <ns0:cNvPr id="21" name="Tile3 Rule"/>
          <ns0:cNvSpPr/>
          <ns0:nvPr/>
        </ns0:nvSpPr>
        <ns0:spPr>
          <ns1:xfrm xmlns:ns1="http://schemas.openxmlformats.org/drawingml/2006/main">
            <ns1:off x="11963400" y="4953000"/>
            <ns1:ext cx="5181600" cy="28575"/>
          </ns1:xfrm>
          <ns2:prstGeom xmlns:ns2="http://schemas.openxmlformats.org/drawingml/2006/main" prst="rect">
            <ns2:avLst/>
          </ns2:prstGeom>
          <ns3:solidFill xmlns:ns3="http://schemas.openxmlformats.org/drawingml/2006/main">
            <ns3:srgbClr val="0F6BFF"/>
          </ns3:solidFill>
          <ns4:ln xmlns:ns4="http://schemas.openxmlformats.org/drawingml/2006/main">
            <ns4:noFill/>
          </ns4:ln>
        </ns0:spPr>
        <ns0:txBody>
          <ns5:bodyPr xmlns:ns5="http://schemas.openxmlformats.org/drawingml/2006/main" rtlCol="0" anchor="ctr"/>
          <ns6:lstStyle xmlns:ns6="http://schemas.openxmlformats.org/drawingml/2006/main"/>
          <ns7:p xmlns:ns7="http://schemas.openxmlformats.org/drawingml/2006/main">
            <ns7:endParaRPr lang="en-US"/>
          </ns7:p>
        </ns0:txBody>
      </ns0:sp>
      <ns0:sp xmlns:ns0="http://schemas.openxmlformats.org/presentationml/2006/main">
        <ns0:nvSpPr>
          <ns0:cNvPr id="22" name="Tile3 Label"/>
          <ns0:cNvSpPr>
            <ns1:spLocks xmlns:ns1="http://schemas.openxmlformats.org/drawingml/2006/main" noGrp="1"/>
          </ns0:cNvSpPr>
          <ns0:nvPr>
            <ns0:ph type="body" idx="24"/>
          </ns0:nvPr>
        </ns0:nvSpPr>
        <ns0:spPr>
          <ns2:xfrm xmlns:ns2="http://schemas.openxmlformats.org/drawingml/2006/main">
            <ns2:off x="12801600" y="5181600"/>
            <ns2:ext cx="4114800" cy="457200"/>
          </ns2:xfrm>
          <ns3:prstGeom xmlns:ns3="http://schemas.openxmlformats.org/drawingml/2006/main" prst="rect">
            <ns3:avLst/>
          </ns3:prstGeom>
        </ns0:spPr>
        <ns0:txBody>
          <ns4:bodyPr xmlns:ns4="http://schemas.openxmlformats.org/drawingml/2006/main" wrap="square" rtlCol="0" anchor="ctr" lIns="0" tIns="0" rIns="0" bIns="0"/>
          <ns5:lstStyle xmlns:ns5="http://schemas.openxmlformats.org/drawingml/2006/main">
            <ns5:lvl1pPr marL="0" indent="0" algn="l">
              <ns5:buNone/>
              <ns5:defRPr sz="1800" b="1">
                <ns5:solidFill>
                  <ns5:srgbClr val="0F6BFF"/>
                </ns5:solidFill>
                <ns5:latin typeface="Aptos"/>
              </ns5:defRPr>
            </ns5:lvl1pPr>
          </ns5:lstStyle>
          <ns6:p xmlns:ns6="http://schemas.openxmlformats.org/drawingml/2006/main">
            <ns6:r>
              <ns6:rPr lang="en-US"/>
              <ns6:t>Tile 3 label</ns6:t>
            </ns6:r>
            <ns6:endParaRPr lang="en-US"/>
          </ns6:p>
        </ns0:txBody>
      </ns0:sp>
      <ns0:sp xmlns:ns0="http://schemas.openxmlformats.org/presentationml/2006/main">
        <ns0:nvSpPr>
          <ns0:cNvPr id="23" name="Tile3 Body"/>
          <ns0:cNvSpPr>
            <ns1:spLocks xmlns:ns1="http://schemas.openxmlformats.org/drawingml/2006/main" noGrp="1"/>
          </ns0:cNvSpPr>
          <ns0:nvPr>
            <ns0:ph type="body" idx="25"/>
          </ns0:nvPr>
        </ns0:nvSpPr>
        <ns0:spPr>
          <ns2:xfrm xmlns:ns2="http://schemas.openxmlformats.org/drawingml/2006/main">
            <ns2:off x="12192000" y="5867400"/>
            <ns2:ext cx="4724400" cy="108585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1800">
                <ns5:solidFill>
                  <ns5:srgbClr val="000000"/>
                </ns5:solidFill>
                <ns5:latin typeface="Aptos"/>
              </ns5:defRPr>
            </ns5:lvl1pPr>
          </ns5:lstStyle>
          <ns6:p xmlns:ns6="http://schemas.openxmlformats.org/drawingml/2006/main">
            <ns6:r>
              <ns6:rPr lang="en-US"/>
              <ns6:t>One short sentence describing this tile.</ns6:t>
            </ns6:r>
            <ns6:endParaRPr lang="en-US"/>
          </ns6:p>
        </ns0:txBody>
      </ns0:sp>
      <ns0:sp xmlns:ns0="http://schemas.openxmlformats.org/presentationml/2006/main">
        <ns0:nvSpPr>
          <ns0:cNvPr id="24" name="Tile4 Bg"/>
          <ns0:cNvSpPr/>
          <ns0:nvPr/>
        </ns0:nvSpPr>
        <ns0:spPr>
          <ns1:xfrm xmlns:ns1="http://schemas.openxmlformats.org/drawingml/2006/main">
            <ns1:off x="1143000" y="7372350"/>
            <ns1:ext cx="5181600" cy="2190750"/>
          </ns1:xfrm>
          <ns2:prstGeom xmlns:ns2="http://schemas.openxmlformats.org/drawingml/2006/main" prst="rect">
            <ns2:avLst/>
          </ns2:prstGeom>
          <ns3:solidFill xmlns:ns3="http://schemas.openxmlformats.org/drawingml/2006/main">
            <ns3:srgbClr val="F3F4F6"/>
          </ns3:solidFill>
          <ns4:ln xmlns:ns4="http://schemas.openxmlformats.org/drawingml/2006/main">
            <ns4:noFill/>
          </ns4:ln>
        </ns0:spPr>
        <ns0:txBody>
          <ns5:bodyPr xmlns:ns5="http://schemas.openxmlformats.org/drawingml/2006/main" rtlCol="0" anchor="ctr"/>
          <ns6:lstStyle xmlns:ns6="http://schemas.openxmlformats.org/drawingml/2006/main"/>
          <ns7:p xmlns:ns7="http://schemas.openxmlformats.org/drawingml/2006/main">
            <ns7:endParaRPr lang="en-US"/>
          </ns7:p>
        </ns0:txBody>
      </ns0:sp>
      <ns0:sp xmlns:ns0="http://schemas.openxmlformats.org/presentationml/2006/main">
        <ns0:nvSpPr>
          <ns0:cNvPr id="25" name="Tile4 Rule"/>
          <ns0:cNvSpPr/>
          <ns0:nvPr/>
        </ns0:nvSpPr>
        <ns0:spPr>
          <ns1:xfrm xmlns:ns1="http://schemas.openxmlformats.org/drawingml/2006/main">
            <ns1:off x="1143000" y="7372350"/>
            <ns1:ext cx="5181600" cy="28575"/>
          </ns1:xfrm>
          <ns2:prstGeom xmlns:ns2="http://schemas.openxmlformats.org/drawingml/2006/main" prst="rect">
            <ns2:avLst/>
          </ns2:prstGeom>
          <ns3:solidFill xmlns:ns3="http://schemas.openxmlformats.org/drawingml/2006/main">
            <ns3:srgbClr val="0F6BFF"/>
          </ns3:solidFill>
          <ns4:ln xmlns:ns4="http://schemas.openxmlformats.org/drawingml/2006/main">
            <ns4:noFill/>
          </ns4:ln>
        </ns0:spPr>
        <ns0:txBody>
          <ns5:bodyPr xmlns:ns5="http://schemas.openxmlformats.org/drawingml/2006/main" rtlCol="0" anchor="ctr"/>
          <ns6:lstStyle xmlns:ns6="http://schemas.openxmlformats.org/drawingml/2006/main"/>
          <ns7:p xmlns:ns7="http://schemas.openxmlformats.org/drawingml/2006/main">
            <ns7:endParaRPr lang="en-US"/>
          </ns7:p>
        </ns0:txBody>
      </ns0:sp>
      <ns0:sp xmlns:ns0="http://schemas.openxmlformats.org/presentationml/2006/main">
        <ns0:nvSpPr>
          <ns0:cNvPr id="26" name="Tile4 Label"/>
          <ns0:cNvSpPr>
            <ns1:spLocks xmlns:ns1="http://schemas.openxmlformats.org/drawingml/2006/main" noGrp="1"/>
          </ns0:cNvSpPr>
          <ns0:nvPr>
            <ns0:ph type="body" idx="26"/>
          </ns0:nvPr>
        </ns0:nvSpPr>
        <ns0:spPr>
          <ns2:xfrm xmlns:ns2="http://schemas.openxmlformats.org/drawingml/2006/main">
            <ns2:off x="1981200" y="7600950"/>
            <ns2:ext cx="4114800" cy="457200"/>
          </ns2:xfrm>
          <ns3:prstGeom xmlns:ns3="http://schemas.openxmlformats.org/drawingml/2006/main" prst="rect">
            <ns3:avLst/>
          </ns3:prstGeom>
        </ns0:spPr>
        <ns0:txBody>
          <ns4:bodyPr xmlns:ns4="http://schemas.openxmlformats.org/drawingml/2006/main" wrap="square" rtlCol="0" anchor="ctr" lIns="0" tIns="0" rIns="0" bIns="0"/>
          <ns5:lstStyle xmlns:ns5="http://schemas.openxmlformats.org/drawingml/2006/main">
            <ns5:lvl1pPr marL="0" indent="0" algn="l">
              <ns5:buNone/>
              <ns5:defRPr sz="1800" b="1">
                <ns5:solidFill>
                  <ns5:srgbClr val="0F6BFF"/>
                </ns5:solidFill>
                <ns5:latin typeface="Aptos"/>
              </ns5:defRPr>
            </ns5:lvl1pPr>
          </ns5:lstStyle>
          <ns6:p xmlns:ns6="http://schemas.openxmlformats.org/drawingml/2006/main">
            <ns6:r>
              <ns6:rPr lang="en-US"/>
              <ns6:t>Tile 4 label</ns6:t>
            </ns6:r>
            <ns6:endParaRPr lang="en-US"/>
          </ns6:p>
        </ns0:txBody>
      </ns0:sp>
      <ns0:sp xmlns:ns0="http://schemas.openxmlformats.org/presentationml/2006/main">
        <ns0:nvSpPr>
          <ns0:cNvPr id="27" name="Tile4 Body"/>
          <ns0:cNvSpPr>
            <ns1:spLocks xmlns:ns1="http://schemas.openxmlformats.org/drawingml/2006/main" noGrp="1"/>
          </ns0:cNvSpPr>
          <ns0:nvPr>
            <ns0:ph type="body" idx="27"/>
          </ns0:nvPr>
        </ns0:nvSpPr>
        <ns0:spPr>
          <ns2:xfrm xmlns:ns2="http://schemas.openxmlformats.org/drawingml/2006/main">
            <ns2:off x="1371600" y="8286750"/>
            <ns2:ext cx="4724400" cy="108585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1800">
                <ns5:solidFill>
                  <ns5:srgbClr val="000000"/>
                </ns5:solidFill>
                <ns5:latin typeface="Aptos"/>
              </ns5:defRPr>
            </ns5:lvl1pPr>
          </ns5:lstStyle>
          <ns6:p xmlns:ns6="http://schemas.openxmlformats.org/drawingml/2006/main">
            <ns6:r>
              <ns6:rPr lang="en-US"/>
              <ns6:t>One short sentence describing this tile.</ns6:t>
            </ns6:r>
            <ns6:endParaRPr lang="en-US"/>
          </ns6:p>
        </ns0:txBody>
      </ns0:sp>
      <ns0:sp xmlns:ns0="http://schemas.openxmlformats.org/presentationml/2006/main">
        <ns0:nvSpPr>
          <ns0:cNvPr id="28" name="Tile5 Bg"/>
          <ns0:cNvSpPr/>
          <ns0:nvPr/>
        </ns0:nvSpPr>
        <ns0:spPr>
          <ns1:xfrm xmlns:ns1="http://schemas.openxmlformats.org/drawingml/2006/main">
            <ns1:off x="6553200" y="7372350"/>
            <ns1:ext cx="5181600" cy="2190750"/>
          </ns1:xfrm>
          <ns2:prstGeom xmlns:ns2="http://schemas.openxmlformats.org/drawingml/2006/main" prst="rect">
            <ns2:avLst/>
          </ns2:prstGeom>
          <ns3:solidFill xmlns:ns3="http://schemas.openxmlformats.org/drawingml/2006/main">
            <ns3:srgbClr val="F3F4F6"/>
          </ns3:solidFill>
          <ns4:ln xmlns:ns4="http://schemas.openxmlformats.org/drawingml/2006/main">
            <ns4:noFill/>
          </ns4:ln>
        </ns0:spPr>
        <ns0:txBody>
          <ns5:bodyPr xmlns:ns5="http://schemas.openxmlformats.org/drawingml/2006/main" rtlCol="0" anchor="ctr"/>
          <ns6:lstStyle xmlns:ns6="http://schemas.openxmlformats.org/drawingml/2006/main"/>
          <ns7:p xmlns:ns7="http://schemas.openxmlformats.org/drawingml/2006/main">
            <ns7:endParaRPr lang="en-US"/>
          </ns7:p>
        </ns0:txBody>
      </ns0:sp>
      <ns0:sp xmlns:ns0="http://schemas.openxmlformats.org/presentationml/2006/main">
        <ns0:nvSpPr>
          <ns0:cNvPr id="29" name="Tile5 Rule"/>
          <ns0:cNvSpPr/>
          <ns0:nvPr/>
        </ns0:nvSpPr>
        <ns0:spPr>
          <ns1:xfrm xmlns:ns1="http://schemas.openxmlformats.org/drawingml/2006/main">
            <ns1:off x="6553200" y="7372350"/>
            <ns1:ext cx="5181600" cy="28575"/>
          </ns1:xfrm>
          <ns2:prstGeom xmlns:ns2="http://schemas.openxmlformats.org/drawingml/2006/main" prst="rect">
            <ns2:avLst/>
          </ns2:prstGeom>
          <ns3:solidFill xmlns:ns3="http://schemas.openxmlformats.org/drawingml/2006/main">
            <ns3:srgbClr val="0F6BFF"/>
          </ns3:solidFill>
          <ns4:ln xmlns:ns4="http://schemas.openxmlformats.org/drawingml/2006/main">
            <ns4:noFill/>
          </ns4:ln>
        </ns0:spPr>
        <ns0:txBody>
          <ns5:bodyPr xmlns:ns5="http://schemas.openxmlformats.org/drawingml/2006/main" rtlCol="0" anchor="ctr"/>
          <ns6:lstStyle xmlns:ns6="http://schemas.openxmlformats.org/drawingml/2006/main"/>
          <ns7:p xmlns:ns7="http://schemas.openxmlformats.org/drawingml/2006/main">
            <ns7:endParaRPr lang="en-US"/>
          </ns7:p>
        </ns0:txBody>
      </ns0:sp>
      <ns0:sp xmlns:ns0="http://schemas.openxmlformats.org/presentationml/2006/main">
        <ns0:nvSpPr>
          <ns0:cNvPr id="30" name="Tile5 Label"/>
          <ns0:cNvSpPr>
            <ns1:spLocks xmlns:ns1="http://schemas.openxmlformats.org/drawingml/2006/main" noGrp="1"/>
          </ns0:cNvSpPr>
          <ns0:nvPr>
            <ns0:ph type="body" idx="28"/>
          </ns0:nvPr>
        </ns0:nvSpPr>
        <ns0:spPr>
          <ns2:xfrm xmlns:ns2="http://schemas.openxmlformats.org/drawingml/2006/main">
            <ns2:off x="7391400" y="7600950"/>
            <ns2:ext cx="4114800" cy="457200"/>
          </ns2:xfrm>
          <ns3:prstGeom xmlns:ns3="http://schemas.openxmlformats.org/drawingml/2006/main" prst="rect">
            <ns3:avLst/>
          </ns3:prstGeom>
        </ns0:spPr>
        <ns0:txBody>
          <ns4:bodyPr xmlns:ns4="http://schemas.openxmlformats.org/drawingml/2006/main" wrap="square" rtlCol="0" anchor="ctr" lIns="0" tIns="0" rIns="0" bIns="0"/>
          <ns5:lstStyle xmlns:ns5="http://schemas.openxmlformats.org/drawingml/2006/main">
            <ns5:lvl1pPr marL="0" indent="0" algn="l">
              <ns5:buNone/>
              <ns5:defRPr sz="1800" b="1">
                <ns5:solidFill>
                  <ns5:srgbClr val="0F6BFF"/>
                </ns5:solidFill>
                <ns5:latin typeface="Aptos"/>
              </ns5:defRPr>
            </ns5:lvl1pPr>
          </ns5:lstStyle>
          <ns6:p xmlns:ns6="http://schemas.openxmlformats.org/drawingml/2006/main">
            <ns6:r>
              <ns6:rPr lang="en-US"/>
              <ns6:t>Tile 5 label</ns6:t>
            </ns6:r>
            <ns6:endParaRPr lang="en-US"/>
          </ns6:p>
        </ns0:txBody>
      </ns0:sp>
      <ns0:sp xmlns:ns0="http://schemas.openxmlformats.org/presentationml/2006/main">
        <ns0:nvSpPr>
          <ns0:cNvPr id="31" name="Tile5 Body"/>
          <ns0:cNvSpPr>
            <ns1:spLocks xmlns:ns1="http://schemas.openxmlformats.org/drawingml/2006/main" noGrp="1"/>
          </ns0:cNvSpPr>
          <ns0:nvPr>
            <ns0:ph type="body" idx="29"/>
          </ns0:nvPr>
        </ns0:nvSpPr>
        <ns0:spPr>
          <ns2:xfrm xmlns:ns2="http://schemas.openxmlformats.org/drawingml/2006/main">
            <ns2:off x="6781800" y="8286750"/>
            <ns2:ext cx="4724400" cy="108585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1800">
                <ns5:solidFill>
                  <ns5:srgbClr val="000000"/>
                </ns5:solidFill>
                <ns5:latin typeface="Aptos"/>
              </ns5:defRPr>
            </ns5:lvl1pPr>
          </ns5:lstStyle>
          <ns6:p xmlns:ns6="http://schemas.openxmlformats.org/drawingml/2006/main">
            <ns6:r>
              <ns6:rPr lang="en-US"/>
              <ns6:t>One short sentence describing this tile.</ns6:t>
            </ns6:r>
            <ns6:endParaRPr lang="en-US"/>
          </ns6:p>
        </ns0:txBody>
      </ns0:sp>
      <ns0:sp xmlns:ns0="http://schemas.openxmlformats.org/presentationml/2006/main">
        <ns0:nvSpPr>
          <ns0:cNvPr id="32" name="Tile6 Bg"/>
          <ns0:cNvSpPr/>
          <ns0:nvPr/>
        </ns0:nvSpPr>
        <ns0:spPr>
          <ns1:xfrm xmlns:ns1="http://schemas.openxmlformats.org/drawingml/2006/main">
            <ns1:off x="11963400" y="7372350"/>
            <ns1:ext cx="5181600" cy="2190750"/>
          </ns1:xfrm>
          <ns2:prstGeom xmlns:ns2="http://schemas.openxmlformats.org/drawingml/2006/main" prst="rect">
            <ns2:avLst/>
          </ns2:prstGeom>
          <ns3:solidFill xmlns:ns3="http://schemas.openxmlformats.org/drawingml/2006/main">
            <ns3:srgbClr val="F3F4F6"/>
          </ns3:solidFill>
          <ns4:ln xmlns:ns4="http://schemas.openxmlformats.org/drawingml/2006/main">
            <ns4:noFill/>
          </ns4:ln>
        </ns0:spPr>
        <ns0:txBody>
          <ns5:bodyPr xmlns:ns5="http://schemas.openxmlformats.org/drawingml/2006/main" rtlCol="0" anchor="ctr"/>
          <ns6:lstStyle xmlns:ns6="http://schemas.openxmlformats.org/drawingml/2006/main"/>
          <ns7:p xmlns:ns7="http://schemas.openxmlformats.org/drawingml/2006/main">
            <ns7:endParaRPr lang="en-US"/>
          </ns7:p>
        </ns0:txBody>
      </ns0:sp>
      <ns0:sp xmlns:ns0="http://schemas.openxmlformats.org/presentationml/2006/main">
        <ns0:nvSpPr>
          <ns0:cNvPr id="33" name="Tile6 Rule"/>
          <ns0:cNvSpPr/>
          <ns0:nvPr/>
        </ns0:nvSpPr>
        <ns0:spPr>
          <ns1:xfrm xmlns:ns1="http://schemas.openxmlformats.org/drawingml/2006/main">
            <ns1:off x="11963400" y="7372350"/>
            <ns1:ext cx="5181600" cy="28575"/>
          </ns1:xfrm>
          <ns2:prstGeom xmlns:ns2="http://schemas.openxmlformats.org/drawingml/2006/main" prst="rect">
            <ns2:avLst/>
          </ns2:prstGeom>
          <ns3:solidFill xmlns:ns3="http://schemas.openxmlformats.org/drawingml/2006/main">
            <ns3:srgbClr val="0F6BFF"/>
          </ns3:solidFill>
          <ns4:ln xmlns:ns4="http://schemas.openxmlformats.org/drawingml/2006/main">
            <ns4:noFill/>
          </ns4:ln>
        </ns0:spPr>
        <ns0:txBody>
          <ns5:bodyPr xmlns:ns5="http://schemas.openxmlformats.org/drawingml/2006/main" rtlCol="0" anchor="ctr"/>
          <ns6:lstStyle xmlns:ns6="http://schemas.openxmlformats.org/drawingml/2006/main"/>
          <ns7:p xmlns:ns7="http://schemas.openxmlformats.org/drawingml/2006/main">
            <ns7:endParaRPr lang="en-US"/>
          </ns7:p>
        </ns0:txBody>
      </ns0:sp>
      <ns0:sp xmlns:ns0="http://schemas.openxmlformats.org/presentationml/2006/main">
        <ns0:nvSpPr>
          <ns0:cNvPr id="34" name="Tile6 Label"/>
          <ns0:cNvSpPr>
            <ns1:spLocks xmlns:ns1="http://schemas.openxmlformats.org/drawingml/2006/main" noGrp="1"/>
          </ns0:cNvSpPr>
          <ns0:nvPr>
            <ns0:ph type="body" idx="30"/>
          </ns0:nvPr>
        </ns0:nvSpPr>
        <ns0:spPr>
          <ns2:xfrm xmlns:ns2="http://schemas.openxmlformats.org/drawingml/2006/main">
            <ns2:off x="12801600" y="7600950"/>
            <ns2:ext cx="4114800" cy="457200"/>
          </ns2:xfrm>
          <ns3:prstGeom xmlns:ns3="http://schemas.openxmlformats.org/drawingml/2006/main" prst="rect">
            <ns3:avLst/>
          </ns3:prstGeom>
        </ns0:spPr>
        <ns0:txBody>
          <ns4:bodyPr xmlns:ns4="http://schemas.openxmlformats.org/drawingml/2006/main" wrap="square" rtlCol="0" anchor="ctr" lIns="0" tIns="0" rIns="0" bIns="0"/>
          <ns5:lstStyle xmlns:ns5="http://schemas.openxmlformats.org/drawingml/2006/main">
            <ns5:lvl1pPr marL="0" indent="0" algn="l">
              <ns5:buNone/>
              <ns5:defRPr sz="1800" b="1">
                <ns5:solidFill>
                  <ns5:srgbClr val="0F6BFF"/>
                </ns5:solidFill>
                <ns5:latin typeface="Aptos"/>
              </ns5:defRPr>
            </ns5:lvl1pPr>
          </ns5:lstStyle>
          <ns6:p xmlns:ns6="http://schemas.openxmlformats.org/drawingml/2006/main">
            <ns6:r>
              <ns6:rPr lang="en-US"/>
              <ns6:t>Tile 6 label</ns6:t>
            </ns6:r>
            <ns6:endParaRPr lang="en-US"/>
          </ns6:p>
        </ns0:txBody>
      </ns0:sp>
      <ns0:sp xmlns:ns0="http://schemas.openxmlformats.org/presentationml/2006/main">
        <ns0:nvSpPr>
          <ns0:cNvPr id="35" name="Tile6 Body"/>
          <ns0:cNvSpPr>
            <ns1:spLocks xmlns:ns1="http://schemas.openxmlformats.org/drawingml/2006/main" noGrp="1"/>
          </ns0:cNvSpPr>
          <ns0:nvPr>
            <ns0:ph type="body" idx="31"/>
          </ns0:nvPr>
        </ns0:nvSpPr>
        <ns0:spPr>
          <ns2:xfrm xmlns:ns2="http://schemas.openxmlformats.org/drawingml/2006/main">
            <ns2:off x="12192000" y="8286750"/>
            <ns2:ext cx="4724400" cy="108585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1800">
                <ns5:solidFill>
                  <ns5:srgbClr val="000000"/>
                </ns5:solidFill>
                <ns5:latin typeface="Aptos"/>
              </ns5:defRPr>
            </ns5:lvl1pPr>
          </ns5:lstStyle>
          <ns6:p xmlns:ns6="http://schemas.openxmlformats.org/drawingml/2006/main">
            <ns6:r>
              <ns6:rPr lang="en-US"/>
              <ns6:t>One short sentence describing this tile.</ns6:t>
            </ns6:r>
            <ns6:endParaRPr lang="en-US"/>
          </ns6:p>
        </ns0:txBody>
      </ns0:sp>
      <ns0:sp xmlns:ns0="http://schemas.openxmlformats.org/presentationml/2006/main">
        <ns0:nvSpPr>
          <ns0:cNvPr id="36" name="Footer"/>
          <ns0:cNvSpPr>
            <ns1:spLocks xmlns:ns1="http://schemas.openxmlformats.org/drawingml/2006/main" noGrp="1"/>
          </ns0:cNvSpPr>
          <ns0:nvPr/>
        </ns0:nvSpPr>
        <ns0:spPr>
          <ns2:xfrm xmlns:ns2="http://schemas.openxmlformats.org/drawingml/2006/main">
            <ns2:off x="1143000" y="9982200"/>
            <ns2:ext cx="16002000" cy="2286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900" cap="all" spc="50">
                <ns5:solidFill>
                  <ns5:srgbClr val="6B7280"/>
                </ns5:solidFill>
                <ns5:latin typeface="Aptos"/>
              </ns5:defRPr>
            </ns5:lvl1pPr>
          </ns5:lstStyle>
          <ns6:p xmlns:ns6="http://schemas.openxmlformats.org/drawingml/2006/main">
            <ns6:r>
              <ns6:rPr lang="en-US"/>
              <ns6:t>OPEN COMPONENT MODEL · OCM.SOFTWARE</ns6:t>
            </ns6:r>
            <ns6:endParaRPr lang="en-US"/>
          </ns6:p>
        </ns0:txBody>
      </ns0: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userDrawn="1">
  <p:cSld name="Content / 2-Column">
    <p:bg>
      <p:bgPr>
        <a:solidFill>
          <a:srgbClr val="FFFFFF"/>
        </a:solidFill>
        <a:effectLst/>
      </p:bgPr>
    </p:bg>
    <p:spTree>
      <p:nvGrpSpPr>
        <p:cNvPr id="1" name=""/>
        <p:cNvGrpSpPr/>
        <p:nvPr/>
      </p:nvGrpSpPr>
      <p:grpSpPr>
        <a:xfrm>
          <a:off x="0" y="0"/>
          <a:ext cx="0" cy="0"/>
          <a:chOff x="0" y="0"/>
          <a:chExt cx="0" cy="0"/>
        </a:xfrm>
      </p:grpSpPr>
      <ns0:sp xmlns:ns0="http://schemas.openxmlformats.org/presentationml/2006/main">
        <ns0:nvSpPr>
          <ns0:cNvPr id="10" name="Eyebrow"/>
          <ns0:cNvSpPr>
            <ns1:spLocks xmlns:ns1="http://schemas.openxmlformats.org/drawingml/2006/main" noGrp="1"/>
          </ns0:cNvSpPr>
          <ns0:nvPr>
            <ns0:ph type="body" idx="1"/>
          </ns0:nvPr>
        </ns0:nvSpPr>
        <ns0:spPr>
          <ns2:xfrm xmlns:ns2="http://schemas.openxmlformats.org/drawingml/2006/main">
            <ns2:off x="1143000" y="2428875"/>
            <ns2:ext cx="16002000" cy="4572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2800" b="1" cap="all" spc="140">
                <ns5:solidFill>
                  <ns5:srgbClr val="0F6BFF"/>
                </ns5:solidFill>
                <ns5:latin typeface="Aptos"/>
              </ns5:defRPr>
            </ns5:lvl1pPr>
          </ns5:lstStyle>
          <ns6:p xmlns:ns6="http://schemas.openxmlformats.org/drawingml/2006/main">
            <ns6:r>
              <ns6:rPr lang="en-US"/>
              <ns6:t>EYEBROW</ns6:t>
            </ns6:r>
            <ns6:endParaRPr lang="en-US"/>
          </ns6:p>
        </ns0:txBody>
      </ns0:sp>
      <ns0:sp xmlns:ns0="http://schemas.openxmlformats.org/presentationml/2006/main">
        <ns0:nvSpPr>
          <ns0:cNvPr id="11" name="Title"/>
          <ns0:cNvSpPr>
            <ns1:spLocks xmlns:ns1="http://schemas.openxmlformats.org/drawingml/2006/main" noGrp="1"/>
          </ns0:cNvSpPr>
          <ns0:nvPr>
            <ns0:ph type="title" idx="2"/>
          </ns0:nvPr>
        </ns0:nvSpPr>
        <ns0:spPr>
          <ns2:xfrm xmlns:ns2="http://schemas.openxmlformats.org/drawingml/2006/main">
            <ns2:off x="1143000" y="2933700"/>
            <ns2:ext cx="16002000" cy="19050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lnSpc>
                <ns5:spcPct val="90000"/>
              </ns5:lnSpc>
              <ns5:buNone/>
              <ns5:defRPr sz="6400" b="1">
                <ns5:solidFill>
                  <ns5:srgbClr val="000000"/>
                </ns5:solidFill>
                <ns5:latin typeface="Aptos Display"/>
              </ns5:defRPr>
            </ns5:lvl1pPr>
          </ns5:lstStyle>
          <ns6:p xmlns:ns6="http://schemas.openxmlformats.org/drawingml/2006/main">
            <ns6:r>
              <ns6:rPr lang="en-US"/>
              <ns6:t>Section title goes here.</ns6:t>
            </ns6:r>
            <ns6:endParaRPr lang="en-US"/>
          </ns6:p>
        </ns0:txBody>
      </ns0:sp>
      <ns0:sp xmlns:ns0="http://schemas.openxmlformats.org/presentationml/2006/main">
        <ns0:nvSpPr>
          <ns0:cNvPr id="12" name="Left Body"/>
          <ns0:cNvSpPr>
            <ns1:spLocks xmlns:ns1="http://schemas.openxmlformats.org/drawingml/2006/main" noGrp="1"/>
          </ns0:cNvSpPr>
          <ns0:nvPr>
            <ns0:ph type="body" idx="10"/>
          </ns0:nvPr>
        </ns0:nvSpPr>
        <ns0:spPr>
          <ns2:xfrm xmlns:ns2="http://schemas.openxmlformats.org/drawingml/2006/main">
            <ns2:off x="1143000" y="4953000"/>
            <ns2:ext cx="7810500" cy="43815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2200">
                <ns5:solidFill>
                  <ns5:srgbClr val="000000"/>
                </ns5:solidFill>
                <ns5:latin typeface="Aptos"/>
              </ns5:defRPr>
            </ns5:lvl1pPr>
          </ns5:lstStyle>
          <ns6:p xmlns:ns6="http://schemas.openxmlformats.org/drawingml/2006/main">
            <ns6:r>
              <ns6:rPr lang="en-US"/>
              <ns6:t>Left column body.</ns6:t>
            </ns6:r>
            <ns6:endParaRPr lang="en-US"/>
          </ns6:p>
        </ns0:txBody>
      </ns0:sp>
      <ns0:sp xmlns:ns0="http://schemas.openxmlformats.org/presentationml/2006/main">
        <ns0:nvSpPr>
          <ns0:cNvPr id="13" name="Right Body"/>
          <ns0:cNvSpPr>
            <ns1:spLocks xmlns:ns1="http://schemas.openxmlformats.org/drawingml/2006/main" noGrp="1"/>
          </ns0:cNvSpPr>
          <ns0:nvPr>
            <ns0:ph type="body" idx="11"/>
          </ns0:nvPr>
        </ns0:nvSpPr>
        <ns0:spPr>
          <ns2:xfrm xmlns:ns2="http://schemas.openxmlformats.org/drawingml/2006/main">
            <ns2:off x="9334500" y="4953000"/>
            <ns2:ext cx="7810500" cy="43815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2200">
                <ns5:solidFill>
                  <ns5:srgbClr val="000000"/>
                </ns5:solidFill>
                <ns5:latin typeface="Aptos"/>
              </ns5:defRPr>
            </ns5:lvl1pPr>
          </ns5:lstStyle>
          <ns6:p xmlns:ns6="http://schemas.openxmlformats.org/drawingml/2006/main">
            <ns6:r>
              <ns6:rPr lang="en-US"/>
              <ns6:t>Right column body.</ns6:t>
            </ns6:r>
            <ns6:endParaRPr lang="en-US"/>
          </ns6:p>
        </ns0:txBody>
      </ns0:sp>
      <ns0:sp xmlns:ns0="http://schemas.openxmlformats.org/presentationml/2006/main">
        <ns0:nvSpPr>
          <ns0:cNvPr id="14" name="Footer"/>
          <ns0:cNvSpPr>
            <ns1:spLocks xmlns:ns1="http://schemas.openxmlformats.org/drawingml/2006/main" noGrp="1"/>
          </ns0:cNvSpPr>
          <ns0:nvPr/>
        </ns0:nvSpPr>
        <ns0:spPr>
          <ns2:xfrm xmlns:ns2="http://schemas.openxmlformats.org/drawingml/2006/main">
            <ns2:off x="1143000" y="9982200"/>
            <ns2:ext cx="16002000" cy="2286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900" cap="all" spc="50">
                <ns5:solidFill>
                  <ns5:srgbClr val="6B7280"/>
                </ns5:solidFill>
                <ns5:latin typeface="Aptos"/>
              </ns5:defRPr>
            </ns5:lvl1pPr>
          </ns5:lstStyle>
          <ns6:p xmlns:ns6="http://schemas.openxmlformats.org/drawingml/2006/main">
            <ns6:r>
              <ns6:rPr lang="en-US"/>
              <ns6:t>OPEN COMPONENT MODEL · OCM.SOFTWARE</ns6:t>
            </ns6:r>
            <ns6:endParaRPr lang="en-US"/>
          </ns6:p>
        </ns0:txBody>
      </ns0: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userDrawn="1">
  <p:cSld name="Section Divider">
    <p:bg>
      <p:bgPr>
        <a:solidFill>
          <a:srgbClr val="0F6BFF"/>
        </a:solidFill>
        <a:effectLst/>
      </p:bgPr>
    </p:bg>
    <p:spTree>
      <p:nvGrpSpPr>
        <p:cNvPr id="1" name=""/>
        <p:cNvGrpSpPr/>
        <p:nvPr/>
      </p:nvGrpSpPr>
      <p:grpSpPr>
        <a:xfrm>
          <a:off x="0" y="0"/>
          <a:ext cx="0" cy="0"/>
          <a:chOff x="0" y="0"/>
          <a:chExt cx="0" cy="0"/>
        </a:xfrm>
      </p:grpSpPr>
      <ns0:sp xmlns:ns0="http://schemas.openxmlformats.org/presentationml/2006/main">
        <ns0:nvSpPr>
          <ns0:cNvPr id="10" name="Section Title"/>
          <ns0:cNvSpPr>
            <ns1:spLocks xmlns:ns1="http://schemas.openxmlformats.org/drawingml/2006/main" noGrp="1"/>
          </ns0:cNvSpPr>
          <ns0:nvPr>
            <ns0:ph type="title" idx="1"/>
          </ns0:nvPr>
        </ns0:nvSpPr>
        <ns0:spPr>
          <ns2:xfrm xmlns:ns2="http://schemas.openxmlformats.org/drawingml/2006/main">
            <ns2:off x="762000" y="4381500"/>
            <ns2:ext cx="16764000" cy="1905000"/>
          </ns2:xfrm>
          <ns3:prstGeom xmlns:ns3="http://schemas.openxmlformats.org/drawingml/2006/main" prst="rect">
            <ns3:avLst/>
          </ns3:prstGeom>
        </ns0:spPr>
        <ns0:txBody>
          <ns4:bodyPr xmlns:ns4="http://schemas.openxmlformats.org/drawingml/2006/main" wrap="square" rtlCol="0" anchor="ctr" lIns="0" tIns="0" rIns="0" bIns="0"/>
          <ns5:lstStyle xmlns:ns5="http://schemas.openxmlformats.org/drawingml/2006/main">
            <ns5:lvl1pPr marL="0" indent="0" algn="ctr">
              <ns5:buNone/>
              <ns5:defRPr sz="7200" b="1">
                <ns5:solidFill>
                  <ns5:srgbClr val="FFFFFF"/>
                </ns5:solidFill>
                <ns5:latin typeface="Aptos Display"/>
              </ns5:defRPr>
            </ns5:lvl1pPr>
          </ns5:lstStyle>
          <ns6:p xmlns:ns6="http://schemas.openxmlformats.org/drawingml/2006/main">
            <ns6:r>
              <ns6:rPr lang="en-US"/>
              <ns6:t>Section</ns6:t>
            </ns6:r>
            <ns6:endParaRPr lang="en-US"/>
          </ns6:p>
        </ns0:txBody>
      </ns0: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userDrawn="1">
  <p:cSld name="Plain">
    <p:bg>
      <p:bgPr>
        <a:solidFill>
          <a:srgbClr val="FFFFFF"/>
        </a:solidFill>
        <a:effectLst/>
      </p:bgPr>
    </p:bg>
    <p:spTree>
      <p:nvGrpSpPr>
        <p:cNvPr id="1" name=""/>
        <p:cNvGrpSpPr/>
        <p:nvPr/>
      </p:nvGrpSpPr>
      <p:grpSpPr>
        <a:xfrm>
          <a:off x="0" y="0"/>
          <a:ext cx="0" cy="0"/>
          <a:chOff x="0" y="0"/>
          <a:chExt cx="0" cy="0"/>
        </a:xfrm>
      </p:grpSpPr>
      <ns0:sp xmlns:ns0="http://schemas.openxmlformats.org/presentationml/2006/main">
        <ns0:nvSpPr>
          <ns0:cNvPr id="10" name="Eyebrow"/>
          <ns0:cNvSpPr>
            <ns1:spLocks xmlns:ns1="http://schemas.openxmlformats.org/drawingml/2006/main" noGrp="1"/>
          </ns0:cNvSpPr>
          <ns0:nvPr>
            <ns0:ph type="body" idx="1"/>
          </ns0:nvPr>
        </ns0:nvSpPr>
        <ns0:spPr>
          <ns2:xfrm xmlns:ns2="http://schemas.openxmlformats.org/drawingml/2006/main">
            <ns2:off x="1143000" y="2428875"/>
            <ns2:ext cx="16002000" cy="4572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2800" b="1" cap="all" spc="140">
                <ns5:solidFill>
                  <ns5:srgbClr val="0F6BFF"/>
                </ns5:solidFill>
                <ns5:latin typeface="Aptos"/>
              </ns5:defRPr>
            </ns5:lvl1pPr>
          </ns5:lstStyle>
          <ns6:p xmlns:ns6="http://schemas.openxmlformats.org/drawingml/2006/main">
            <ns6:r>
              <ns6:rPr lang="en-US"/>
              <ns6:t>EYEBROW</ns6:t>
            </ns6:r>
            <ns6:endParaRPr lang="en-US"/>
          </ns6:p>
        </ns0:txBody>
      </ns0:sp>
      <ns0:sp xmlns:ns0="http://schemas.openxmlformats.org/presentationml/2006/main">
        <ns0:nvSpPr>
          <ns0:cNvPr id="11" name="Title"/>
          <ns0:cNvSpPr>
            <ns1:spLocks xmlns:ns1="http://schemas.openxmlformats.org/drawingml/2006/main" noGrp="1"/>
          </ns0:cNvSpPr>
          <ns0:nvPr>
            <ns0:ph type="title" idx="2"/>
          </ns0:nvPr>
        </ns0:nvSpPr>
        <ns0:spPr>
          <ns2:xfrm xmlns:ns2="http://schemas.openxmlformats.org/drawingml/2006/main">
            <ns2:off x="1143000" y="2933700"/>
            <ns2:ext cx="16002000" cy="19050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lnSpc>
                <ns5:spcPct val="90000"/>
              </ns5:lnSpc>
              <ns5:buNone/>
              <ns5:defRPr sz="6400" b="1">
                <ns5:solidFill>
                  <ns5:srgbClr val="000000"/>
                </ns5:solidFill>
                <ns5:latin typeface="Aptos Display"/>
              </ns5:defRPr>
            </ns5:lvl1pPr>
          </ns5:lstStyle>
          <ns6:p xmlns:ns6="http://schemas.openxmlformats.org/drawingml/2006/main">
            <ns6:r>
              <ns6:rPr lang="en-US"/>
              <ns6:t>Section title goes here.</ns6:t>
            </ns6:r>
            <ns6:endParaRPr lang="en-US"/>
          </ns6:p>
        </ns0:txBody>
      </ns0:sp>
      <ns0:sp xmlns:ns0="http://schemas.openxmlformats.org/presentationml/2006/main">
        <ns0:nvSpPr>
          <ns0:cNvPr id="12" name="Body"/>
          <ns0:cNvSpPr>
            <ns1:spLocks xmlns:ns1="http://schemas.openxmlformats.org/drawingml/2006/main" noGrp="1"/>
          </ns0:cNvSpPr>
          <ns0:nvPr>
            <ns0:ph type="body" idx="10"/>
          </ns0:nvPr>
        </ns0:nvSpPr>
        <ns0:spPr>
          <ns2:xfrm xmlns:ns2="http://schemas.openxmlformats.org/drawingml/2006/main">
            <ns2:off x="1143000" y="5524500"/>
            <ns2:ext cx="16002000" cy="38100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2200">
                <ns5:solidFill>
                  <ns5:srgbClr val="000000"/>
                </ns5:solidFill>
                <ns5:latin typeface="Aptos"/>
              </ns5:defRPr>
            </ns5:lvl1pPr>
          </ns5:lstStyle>
          <ns6:p xmlns:ns6="http://schemas.openxmlformats.org/drawingml/2006/main">
            <ns6:r>
              <ns6:rPr lang="en-US"/>
              <ns6:t>Body text.</ns6:t>
            </ns6:r>
            <ns6:endParaRPr lang="en-US"/>
          </ns6:p>
        </ns0:txBody>
      </ns0:sp>
      <ns0:sp xmlns:ns0="http://schemas.openxmlformats.org/presentationml/2006/main">
        <ns0:nvSpPr>
          <ns0:cNvPr id="13" name="Footer"/>
          <ns0:cNvSpPr>
            <ns1:spLocks xmlns:ns1="http://schemas.openxmlformats.org/drawingml/2006/main" noGrp="1"/>
          </ns0:cNvSpPr>
          <ns0:nvPr/>
        </ns0:nvSpPr>
        <ns0:spPr>
          <ns2:xfrm xmlns:ns2="http://schemas.openxmlformats.org/drawingml/2006/main">
            <ns2:off x="1143000" y="9982200"/>
            <ns2:ext cx="16002000" cy="2286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900" cap="all" spc="50">
                <ns5:solidFill>
                  <ns5:srgbClr val="6B7280"/>
                </ns5:solidFill>
                <ns5:latin typeface="Aptos"/>
              </ns5:defRPr>
            </ns5:lvl1pPr>
          </ns5:lstStyle>
          <ns6:p xmlns:ns6="http://schemas.openxmlformats.org/drawingml/2006/main">
            <ns6:r>
              <ns6:rPr lang="en-US"/>
              <ns6:t>OPEN COMPONENT MODEL · OCM.SOFTWARE</ns6:t>
            </ns6:r>
            <ns6:endParaRPr lang="en-US"/>
          </ns6:p>
        </ns0:txBody>
      </ns0: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userDrawn="1">
  <p:cSld name="Plain / Compact">
    <p:bg>
      <p:bgPr>
        <a:solidFill>
          <a:srgbClr val="FFFFFF"/>
        </a:solidFill>
        <a:effectLst/>
      </p:bgPr>
    </p:bg>
    <p:spTree>
      <p:nvGrpSpPr>
        <p:cNvPr id="1" name=""/>
        <p:cNvGrpSpPr/>
        <p:nvPr/>
      </p:nvGrpSpPr>
      <p:grpSpPr>
        <a:xfrm>
          <a:off x="0" y="0"/>
          <a:ext cx="0" cy="0"/>
          <a:chOff x="0" y="0"/>
          <a:chExt cx="0" cy="0"/>
        </a:xfrm>
      </p:grpSpPr>
      <ns0:sp xmlns:ns0="http://schemas.openxmlformats.org/presentationml/2006/main">
        <ns0:nvSpPr>
          <ns0:cNvPr id="10" name="Eyebrow"/>
          <ns0:cNvSpPr>
            <ns1:spLocks xmlns:ns1="http://schemas.openxmlformats.org/drawingml/2006/main" noGrp="1"/>
          </ns0:cNvSpPr>
          <ns0:nvPr>
            <ns0:ph type="body" idx="1"/>
          </ns0:nvPr>
        </ns0:nvSpPr>
        <ns0:spPr>
          <ns2:xfrm xmlns:ns2="http://schemas.openxmlformats.org/drawingml/2006/main">
            <ns2:off x="1143000" y="2428875"/>
            <ns2:ext cx="16002000" cy="4572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2800" b="1" cap="all" spc="140">
                <ns5:solidFill>
                  <ns5:srgbClr val="0F6BFF"/>
                </ns5:solidFill>
                <ns5:latin typeface="Aptos"/>
              </ns5:defRPr>
            </ns5:lvl1pPr>
          </ns5:lstStyle>
          <ns6:p xmlns:ns6="http://schemas.openxmlformats.org/drawingml/2006/main">
            <ns6:r>
              <ns6:rPr lang="en-US"/>
              <ns6:t>EYEBROW</ns6:t>
            </ns6:r>
            <ns6:endParaRPr lang="en-US"/>
          </ns6:p>
        </ns0:txBody>
      </ns0:sp>
      <ns0:sp xmlns:ns0="http://schemas.openxmlformats.org/presentationml/2006/main">
        <ns0:nvSpPr>
          <ns0:cNvPr id="11" name="Title"/>
          <ns0:cNvSpPr>
            <ns1:spLocks xmlns:ns1="http://schemas.openxmlformats.org/drawingml/2006/main" noGrp="1"/>
          </ns0:cNvSpPr>
          <ns0:nvPr>
            <ns0:ph type="title" idx="2"/>
          </ns0:nvPr>
        </ns0:nvSpPr>
        <ns0:spPr>
          <ns2:xfrm xmlns:ns2="http://schemas.openxmlformats.org/drawingml/2006/main">
            <ns2:off x="1143000" y="2933700"/>
            <ns2:ext cx="16002000" cy="19050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lnSpc>
                <ns5:spcPct val="90000"/>
              </ns5:lnSpc>
              <ns5:buNone/>
              <ns5:defRPr sz="6400" b="1">
                <ns5:solidFill>
                  <ns5:srgbClr val="000000"/>
                </ns5:solidFill>
                <ns5:latin typeface="Aptos Display"/>
              </ns5:defRPr>
            </ns5:lvl1pPr>
          </ns5:lstStyle>
          <ns6:p xmlns:ns6="http://schemas.openxmlformats.org/drawingml/2006/main">
            <ns6:r>
              <ns6:rPr lang="en-US"/>
              <ns6:t>Section title goes here.</ns6:t>
            </ns6:r>
            <ns6:endParaRPr lang="en-US"/>
          </ns6:p>
        </ns0:txBody>
      </ns0:sp>
      <ns0:sp xmlns:ns0="http://schemas.openxmlformats.org/presentationml/2006/main">
        <ns0:nvSpPr>
          <ns0:cNvPr id="12" name="Body"/>
          <ns0:cNvSpPr>
            <ns1:spLocks xmlns:ns1="http://schemas.openxmlformats.org/drawingml/2006/main" noGrp="1"/>
          </ns0:cNvSpPr>
          <ns0:nvPr>
            <ns0:ph type="body" idx="10"/>
          </ns0:nvPr>
        </ns0:nvSpPr>
        <ns0:spPr>
          <ns2:xfrm xmlns:ns2="http://schemas.openxmlformats.org/drawingml/2006/main">
            <ns2:off x="1143000" y="4953000"/>
            <ns2:ext cx="16002000" cy="43815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2200">
                <ns5:solidFill>
                  <ns5:srgbClr val="000000"/>
                </ns5:solidFill>
                <ns5:latin typeface="Aptos"/>
              </ns5:defRPr>
            </ns5:lvl1pPr>
          </ns5:lstStyle>
          <ns6:p xmlns:ns6="http://schemas.openxmlformats.org/drawingml/2006/main">
            <ns6:r>
              <ns6:rPr lang="en-US"/>
              <ns6:t>Body text.</ns6:t>
            </ns6:r>
            <ns6:endParaRPr lang="en-US"/>
          </ns6:p>
        </ns0:txBody>
      </ns0:sp>
      <ns0:sp xmlns:ns0="http://schemas.openxmlformats.org/presentationml/2006/main">
        <ns0:nvSpPr>
          <ns0:cNvPr id="13" name="Footer"/>
          <ns0:cNvSpPr>
            <ns1:spLocks xmlns:ns1="http://schemas.openxmlformats.org/drawingml/2006/main" noGrp="1"/>
          </ns0:cNvSpPr>
          <ns0:nvPr/>
        </ns0:nvSpPr>
        <ns0:spPr>
          <ns2:xfrm xmlns:ns2="http://schemas.openxmlformats.org/drawingml/2006/main">
            <ns2:off x="1143000" y="9982200"/>
            <ns2:ext cx="16002000" cy="228600"/>
          </ns2:xfrm>
          <ns3:prstGeom xmlns:ns3="http://schemas.openxmlformats.org/drawingml/2006/main" prst="rect">
            <ns3:avLst/>
          </ns3:prstGeom>
        </ns0:spPr>
        <ns0:txBody>
          <ns4:bodyPr xmlns:ns4="http://schemas.openxmlformats.org/drawingml/2006/main" wrap="square" rtlCol="0" anchor="t" lIns="0" tIns="0" rIns="0" bIns="0"/>
          <ns5:lstStyle xmlns:ns5="http://schemas.openxmlformats.org/drawingml/2006/main">
            <ns5:lvl1pPr marL="0" indent="0" algn="l">
              <ns5:buNone/>
              <ns5:defRPr sz="900" cap="all" spc="50">
                <ns5:solidFill>
                  <ns5:srgbClr val="6B7280"/>
                </ns5:solidFill>
                <ns5:latin typeface="Aptos"/>
              </ns5:defRPr>
            </ns5:lvl1pPr>
          </ns5:lstStyle>
          <ns6:p xmlns:ns6="http://schemas.openxmlformats.org/drawingml/2006/main">
            <ns6:r>
              <ns6:rPr lang="en-US"/>
              <ns6:t>OPEN COMPONENT MODEL · OCM.SOFTWARE</ns6:t>
            </ns6:r>
            <ns6:endParaRPr lang="en-US"/>
          </ns6:p>
        </ns0:txBody>
      </ns0: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4.png"/><Relationship Id="rId3" Type="http://schemas.openxmlformats.org/officeDocument/2006/relationships/hyperlink" Target="https://gardener.cloud" TargetMode="External"/><Relationship Id="rId4" Type="http://schemas.openxmlformats.org/officeDocument/2006/relationships/image" Target="../media/image15.png"/><Relationship Id="rId5" Type="http://schemas.openxmlformats.org/officeDocument/2006/relationships/hyperlink" Target="https://kyma-project.io" TargetMode="External"/><Relationship Id="rId6" Type="http://schemas.openxmlformats.org/officeDocument/2006/relationships/image" Target="../media/image16.png"/><Relationship Id="rId7" Type="http://schemas.openxmlformats.org/officeDocument/2006/relationships/hyperlink" Target="https://open-control-plane.io" TargetMode="External"/><Relationship Id="rId8" Type="http://schemas.openxmlformats.org/officeDocument/2006/relationships/image" Target="../media/image17.png"/><Relationship Id="rId9" Type="http://schemas.openxmlformats.org/officeDocument/2006/relationships/hyperlink" Target="https://konfidence.cloud" TargetMode="External"/><Relationship Id="rId10" Type="http://schemas.openxmlformats.org/officeDocument/2006/relationships/image" Target="../media/image18.png"/><Relationship Id="rId11" Type="http://schemas.openxmlformats.org/officeDocument/2006/relationships/hyperlink" Target="https://neonephos.or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OCM-Banner.png"/>
          <p:cNvPicPr>
            <a:picLocks noChangeAspect="1"/>
          </p:cNvPicPr>
          <p:nvPr/>
        </p:nvPicPr>
        <p:blipFill>
          <a:blip r:embed="rId2"/>
          <a:stretch>
            <a:fillRect/>
          </a:stretch>
        </p:blipFill>
        <p:spPr>
          <a:xfrm>
            <a:off x="0" y="0"/>
            <a:ext cx="18288000" cy="10287000"/>
          </a:xfrm>
          <a:prstGeom prst="rect">
            <a:avLst/>
          </a:prstGeom>
        </p:spPr>
      </p:pic>
      <p:sp>
        <p:nvSpPr>
          <p:cNvPr id="2" name="Title 1"/>
          <p:cNvSpPr>
            <a:spLocks noGrp="1"/>
          </p:cNvSpPr>
          <p:nvPr>
            <p:ph type="title" idx="1"/>
          </p:nvPr>
        </p:nvSpPr>
        <p:spPr/>
        <p:txBody>
          <a:bodyPr/>
          <a:lstStyle/>
          <a:p>
            <a:r>
              <a:rPr>
                <a:solidFill>
                  <a:srgbClr val="FFFFFF"/>
                </a:solidFill>
              </a:rPr>
              <a:t>Every LoB rebuilds</a:t>
            </a:r>
          </a:p>
        </p:txBody>
      </p:sp>
      <p:sp>
        <p:nvSpPr>
          <p:cNvPr id="3" name="Text Placeholder 2"/>
          <p:cNvSpPr>
            <a:spLocks noGrp="1"/>
          </p:cNvSpPr>
          <p:nvPr>
            <p:ph type="body" idx="2"/>
          </p:nvPr>
        </p:nvSpPr>
        <p:spPr/>
        <p:txBody>
          <a:bodyPr/>
          <a:lstStyle/>
          <a:p>
            <a:pPr algn="l"/>
            <a:r>
              <a:rPr>
                <a:solidFill>
                  <a:srgbClr val="FFFFFF"/>
                </a:solidFill>
              </a:rPr>
              <a:t/>
            </a:r>
            <a:r>
              <a:rPr>
                <a:gradFill flip="none" rotWithShape="1">
                  <a:gsLst>
                    <a:gs pos="0">
                      <a:srgbClr val="FFFFFF"/>
                    </a:gs>
                    <a:gs pos="35000">
                      <a:srgbClr val="5CD6FF"/>
                    </a:gs>
                    <a:gs pos="75000">
                      <a:srgbClr val="0F6BFF"/>
                    </a:gs>
                  </a:gsLst>
                  <a:lin ang="0" scaled="1"/>
                </a:gradFill>
              </a:rPr>
              <a:t>the same delivery stack.</a:t>
            </a:r>
          </a:p>
        </p:txBody>
      </p:sp>
      <p:sp>
        <p:nvSpPr>
          <p:cNvPr id="4" name="Text Placeholder 3"/>
          <p:cNvSpPr>
            <a:spLocks noGrp="1"/>
          </p:cNvSpPr>
          <p:nvPr>
            <p:ph type="body" idx="3"/>
          </p:nvPr>
        </p:nvSpPr>
        <p:spPr/>
        <p:txBody>
          <a:bodyPr/>
          <a:lstStyle/>
          <a:p>
            <a:r>
              <a:rPr>
                <a:solidFill>
                  <a:srgbClr val="5CD6FF"/>
                </a:solidFill>
              </a:rPr>
              <a:t>OCM is the shared standard. Each LoB still ships — but on the same model.</a:t>
            </a:r>
          </a:p>
        </p:txBody>
      </p:sp>
      <p:sp>
        <p:nvSpPr>
          <p:cNvPr id="5" name="Text Placeholder 4"/>
          <p:cNvSpPr>
            <a:spLocks noGrp="1"/>
          </p:cNvSpPr>
          <p:nvPr>
            <p:ph type="body" idx="4"/>
          </p:nvPr>
        </p:nvSpPr>
        <p:spPr/>
        <p:txBody>
          <a:bodyPr/>
          <a:lstStyle/>
          <a:p>
            <a:r>
              <a:rPr>
                <a:solidFill>
                  <a:srgbClr val="FFFFFF"/>
                </a:solidFill>
              </a:rPr>
              <a:t>Open Component Model — open source, NeoNephos Foundation. Stewarded by SAP.</a:t>
            </a:r>
          </a:p>
        </p:txBody>
      </p:sp>
      <p:pic>
        <p:nvPicPr>
          <p:cNvPr id="7" name="Picture 6" descr="ocm-horizontal-white_400.png"/>
          <p:cNvPicPr>
            <a:picLocks noChangeAspect="1"/>
          </p:cNvPicPr>
          <p:nvPr/>
        </p:nvPicPr>
        <p:blipFill>
          <a:blip r:embed="rId3"/>
          <a:stretch>
            <a:fillRect/>
          </a:stretch>
        </p:blipFill>
        <p:spPr>
          <a:xfrm>
            <a:off x="914400" y="9029700"/>
            <a:ext cx="1905000" cy="723900"/>
          </a:xfrm>
          <a:prstGeom prst="rect">
            <a:avLst/>
          </a:prstGeom>
        </p:spPr>
      </p:pic>
      <p:pic>
        <p:nvPicPr>
          <p:cNvPr id="8" name="Picture 7" descr="neonephos-foundation-horizontal-white_400.png"/>
          <p:cNvPicPr>
            <a:picLocks noChangeAspect="1"/>
          </p:cNvPicPr>
          <p:nvPr/>
        </p:nvPicPr>
        <p:blipFill>
          <a:blip r:embed="rId4"/>
          <a:stretch>
            <a:fillRect/>
          </a:stretch>
        </p:blipFill>
        <p:spPr>
          <a:xfrm>
            <a:off x="14833600" y="9258300"/>
            <a:ext cx="2540000" cy="4953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WHY NOW</a:t>
            </a:r>
          </a:p>
        </p:txBody>
      </p:sp>
      <p:sp>
        <p:nvSpPr>
          <p:cNvPr id="3" name="Title 2"/>
          <p:cNvSpPr>
            <a:spLocks noGrp="1"/>
          </p:cNvSpPr>
          <p:nvPr>
            <p:ph type="title" idx="2"/>
          </p:nvPr>
        </p:nvSpPr>
        <p:spPr/>
        <p:txBody>
          <a:bodyPr/>
          <a:lstStyle/>
          <a:p>
            <a:r>
              <a:t>Compliance and sovereignty are given.</a:t>
            </a:r>
          </a:p>
          <a:p>
            <a:r>
              <a:t>Our strategic position is a choice.</a:t>
            </a:r>
          </a:p>
        </p:txBody>
      </p:sp>
      <p:sp>
        <p:nvSpPr>
          <p:cNvPr id="4" name="Text Placeholder 3"/>
          <p:cNvSpPr>
            <a:spLocks noGrp="1"/>
          </p:cNvSpPr>
          <p:nvPr>
            <p:ph type="body" idx="10"/>
          </p:nvPr>
        </p:nvSpPr>
        <p:spPr/>
        <p:txBody>
          <a:bodyPr/>
          <a:lstStyle/>
          <a:p>
            <a:r>
              <a:t>ECOSYSTEM VELOCITY IS REAL</a:t>
            </a:r>
          </a:p>
        </p:txBody>
      </p:sp>
      <p:sp>
        <p:nvSpPr>
          <p:cNvPr id="5" name="Text Placeholder 4"/>
          <p:cNvSpPr>
            <a:spLocks noGrp="1"/>
          </p:cNvSpPr>
          <p:nvPr>
            <p:ph type="body" idx="11"/>
          </p:nvPr>
        </p:nvSpPr>
        <p:spPr/>
        <p:txBody>
          <a:bodyPr/>
          <a:lstStyle/>
          <a:p>
            <a:r>
              <a:t>OCM-shaped abstractions are landing in adjacent OSS projects. NeoNephos is operationalizing. The peer ecosystem (Gardener, Kyma, OpenControlPlane, Konfidence, Hyperspace, RBSC, CSI) shares the primitive.</a:t>
            </a:r>
          </a:p>
        </p:txBody>
      </p:sp>
      <p:sp>
        <p:nvSpPr>
          <p:cNvPr id="6" name="Text Placeholder 5"/>
          <p:cNvSpPr>
            <a:spLocks noGrp="1"/>
          </p:cNvSpPr>
          <p:nvPr>
            <p:ph type="body" idx="12"/>
          </p:nvPr>
        </p:nvSpPr>
        <p:spPr/>
        <p:txBody>
          <a:bodyPr/>
          <a:lstStyle/>
          <a:p>
            <a:r>
              <a:t>THE WINDOW IS CLOSING</a:t>
            </a:r>
          </a:p>
        </p:txBody>
      </p:sp>
      <p:sp>
        <p:nvSpPr>
          <p:cNvPr id="7" name="Text Placeholder 6"/>
          <p:cNvSpPr>
            <a:spLocks noGrp="1"/>
          </p:cNvSpPr>
          <p:nvPr>
            <p:ph type="body" idx="13"/>
          </p:nvPr>
        </p:nvSpPr>
        <p:spPr/>
        <p:txBody>
          <a:bodyPr/>
          <a:lstStyle/>
          <a:p>
            <a:r>
              <a:t>Adoption is consolidating. NeoNephos governance, CRA enforcement, sovereign-cloud market formation — the rails are being laid now. Late entrants pay migration cost; early stewards keep optionality.</a:t>
            </a:r>
          </a:p>
        </p:txBody>
      </p:sp>
      <p:sp>
        <p:nvSpPr>
          <p:cNvPr id="8" name="Text Placeholder 7"/>
          <p:cNvSpPr>
            <a:spLocks noGrp="1"/>
          </p:cNvSpPr>
          <p:nvPr>
            <p:ph type="body" idx="14"/>
          </p:nvPr>
        </p:nvSpPr>
        <p:spPr/>
        <p:txBody>
          <a:bodyPr/>
          <a:lstStyle/>
          <a:p>
            <a:r>
              <a:t>DISINVESTMENT HAS A COST</a:t>
            </a:r>
          </a:p>
        </p:txBody>
      </p:sp>
      <p:sp>
        <p:nvSpPr>
          <p:cNvPr id="9" name="Text Placeholder 8"/>
          <p:cNvSpPr>
            <a:spLocks noGrp="1"/>
          </p:cNvSpPr>
          <p:nvPr>
            <p:ph type="body" idx="15"/>
          </p:nvPr>
        </p:nvSpPr>
        <p:spPr/>
        <p:txBody>
          <a:bodyPr/>
          <a:lstStyle/>
          <a:p>
            <a:r>
              <a:t>Walking away costs more than staying. Each LoB that builds its own retrofit pays the cost OCM was supposed to amortize. Competitors who keep investing get the standard built around their preferences. SAP doesn't.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THE ANSWER</a:t>
            </a:r>
          </a:p>
        </p:txBody>
      </p:sp>
      <p:sp>
        <p:nvSpPr>
          <p:cNvPr id="3" name="Title 2"/>
          <p:cNvSpPr>
            <a:spLocks noGrp="1"/>
          </p:cNvSpPr>
          <p:nvPr>
            <p:ph type="title" idx="2"/>
          </p:nvPr>
        </p:nvSpPr>
        <p:spPr/>
        <p:txBody>
          <a:bodyPr/>
          <a:lstStyle/>
          <a:p>
            <a:r>
              <a:t>Meet OCM. One identity, every boundary.</a:t>
            </a:r>
          </a:p>
        </p:txBody>
      </p:sp>
      <p:pic>
        <p:nvPicPr>
          <p:cNvPr id="4" name="Picture 3" descr="03-meet-ocm-hub-and-spoke_1890.png"/>
          <p:cNvPicPr>
            <a:picLocks noChangeAspect="1"/>
          </p:cNvPicPr>
          <p:nvPr/>
        </p:nvPicPr>
        <p:blipFill>
          <a:blip r:embed="rId2"/>
          <a:stretch>
            <a:fillRect/>
          </a:stretch>
        </p:blipFill>
        <p:spPr>
          <a:xfrm>
            <a:off x="-866775" y="4191000"/>
            <a:ext cx="18002250" cy="573405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THE SHIFT</a:t>
            </a:r>
          </a:p>
        </p:txBody>
      </p:sp>
      <p:sp>
        <p:nvSpPr>
          <p:cNvPr id="3" name="Title 2"/>
          <p:cNvSpPr>
            <a:spLocks noGrp="1"/>
          </p:cNvSpPr>
          <p:nvPr>
            <p:ph type="title" idx="2"/>
          </p:nvPr>
        </p:nvSpPr>
        <p:spPr/>
        <p:txBody>
          <a:bodyPr/>
          <a:lstStyle/>
          <a:p>
            <a:r>
              <a:t>SBOM lists. SBOD delivers.</a:t>
            </a:r>
          </a:p>
        </p:txBody>
      </p:sp>
      <p:sp>
        <p:nvSpPr>
          <p:cNvPr id="4" name="Text Placeholder 3"/>
          <p:cNvSpPr>
            <a:spLocks noGrp="1"/>
          </p:cNvSpPr>
          <p:nvPr>
            <p:ph type="body" idx="10"/>
          </p:nvPr>
        </p:nvSpPr>
        <p:spPr/>
        <p:txBody>
          <a:bodyPr/>
          <a:lstStyle/>
          <a:p>
            <a:pPr>
              <a:spcBef>
                <a:spcPts val="800"/>
              </a:spcBef>
              <a:spcAft>
                <a:spcPts val="800"/>
              </a:spcAft>
            </a:pPr>
            <a:r>
              <a:rPr b="1">
                <a:solidFill>
                  <a:srgbClr val="0F6BFF"/>
                </a:solidFill>
              </a:rPr>
              <a:t>▪  </a:t>
            </a:r>
            <a:r>
              <a:rPr>
                <a:solidFill>
                  <a:srgbClr val="000000"/>
                </a:solidFill>
              </a:rPr>
              <a:t>An SBOM tells you what's in your software. It was built for inventory.</a:t>
            </a:r>
          </a:p>
          <a:p>
            <a:pPr>
              <a:spcBef>
                <a:spcPts val="800"/>
              </a:spcBef>
              <a:spcAft>
                <a:spcPts val="800"/>
              </a:spcAft>
            </a:pPr>
            <a:r>
              <a:rPr b="1">
                <a:solidFill>
                  <a:srgbClr val="0F6BFF"/>
                </a:solidFill>
              </a:rPr>
              <a:t>▪  </a:t>
            </a:r>
            <a:r>
              <a:rPr>
                <a:solidFill>
                  <a:srgbClr val="000000"/>
                </a:solidFill>
              </a:rPr>
              <a:t>A Software Bill of Delivery (SBOD) tells you what you delivered, how to verify, transport, and operate it. It was built for delivery.</a:t>
            </a:r>
          </a:p>
          <a:p>
            <a:pPr>
              <a:spcBef>
                <a:spcPts val="800"/>
              </a:spcBef>
              <a:spcAft>
                <a:spcPts val="800"/>
              </a:spcAft>
            </a:pPr>
            <a:r>
              <a:rPr b="1">
                <a:solidFill>
                  <a:srgbClr val="0F6BFF"/>
                </a:solidFill>
              </a:rPr>
              <a:t>▪  </a:t>
            </a:r>
            <a:r>
              <a:rPr>
                <a:solidFill>
                  <a:srgbClr val="000000"/>
                </a:solidFill>
              </a:rPr>
              <a:t>The SBOD contains the SBOM. OCM doesn't replace your SBOM tooling — it gives the SBOM an envelope that's compliance-native, signed once, and travels intact across any boundary.</a:t>
            </a:r>
          </a:p>
          <a:p>
            <a:pPr>
              <a:spcBef>
                <a:spcPts val="800"/>
              </a:spcBef>
              <a:spcAft>
                <a:spcPts val="800"/>
              </a:spcAft>
            </a:pPr>
            <a:r>
              <a:rPr b="1">
                <a:solidFill>
                  <a:srgbClr val="0F6BFF"/>
                </a:solidFill>
              </a:rPr>
              <a:t>▪  </a:t>
            </a:r>
            <a:r>
              <a:rPr>
                <a:solidFill>
                  <a:srgbClr val="000000"/>
                </a:solidFill>
              </a:rPr>
              <a:t>SBOD is the category SAP led the definition of — now standardised through NeoNephos governance.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THE SHIFT — SBOM INSIDE SBOD</a:t>
            </a:r>
          </a:p>
        </p:txBody>
      </p:sp>
      <p:sp>
        <p:nvSpPr>
          <p:cNvPr id="3" name="Title 2"/>
          <p:cNvSpPr>
            <a:spLocks noGrp="1"/>
          </p:cNvSpPr>
          <p:nvPr>
            <p:ph type="title" idx="2"/>
          </p:nvPr>
        </p:nvSpPr>
        <p:spPr/>
        <p:txBody>
          <a:bodyPr/>
          <a:lstStyle/>
          <a:p>
            <a:r>
              <a:t>An envelope, not a list.</a:t>
            </a:r>
          </a:p>
        </p:txBody>
      </p:sp>
      <p:pic>
        <p:nvPicPr>
          <p:cNvPr id="4" name="Picture 3" descr="04-sbom-inside-sbod_1478.png"/>
          <p:cNvPicPr>
            <a:picLocks noChangeAspect="1"/>
          </p:cNvPicPr>
          <p:nvPr/>
        </p:nvPicPr>
        <p:blipFill>
          <a:blip r:embed="rId2"/>
          <a:stretch>
            <a:fillRect/>
          </a:stretch>
        </p:blipFill>
        <p:spPr>
          <a:xfrm>
            <a:off x="1867944" y="3952875"/>
            <a:ext cx="14056811" cy="633412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HOW OCM COMPOSES</a:t>
            </a:r>
          </a:p>
        </p:txBody>
      </p:sp>
      <p:sp>
        <p:nvSpPr>
          <p:cNvPr id="3" name="Title 2"/>
          <p:cNvSpPr>
            <a:spLocks noGrp="1"/>
          </p:cNvSpPr>
          <p:nvPr>
            <p:ph type="title" idx="2"/>
          </p:nvPr>
        </p:nvSpPr>
        <p:spPr/>
        <p:txBody>
          <a:bodyPr/>
          <a:lstStyle/>
          <a:p>
            <a:r>
              <a:t>OCM doesn't replace your tools. It gives them an envelope to compose around.</a:t>
            </a:r>
          </a:p>
        </p:txBody>
      </p:sp>
      <p:sp>
        <p:nvSpPr>
          <p:cNvPr id="4" name="Text Placeholder 3"/>
          <p:cNvSpPr>
            <a:spLocks noGrp="1"/>
          </p:cNvSpPr>
          <p:nvPr>
            <p:ph type="body" idx="10"/>
          </p:nvPr>
        </p:nvSpPr>
        <p:spPr/>
        <p:txBody>
          <a:bodyPr/>
          <a:lstStyle/>
          <a:p>
            <a:r>
              <a:t>SIGNING</a:t>
            </a:r>
          </a:p>
        </p:txBody>
      </p:sp>
      <p:sp>
        <p:nvSpPr>
          <p:cNvPr id="5" name="Text Placeholder 4"/>
          <p:cNvSpPr>
            <a:spLocks noGrp="1"/>
          </p:cNvSpPr>
          <p:nvPr>
            <p:ph type="body" idx="11"/>
          </p:nvPr>
        </p:nvSpPr>
        <p:spPr/>
        <p:txBody>
          <a:bodyPr/>
          <a:lstStyle/>
          <a:p>
            <a:r>
              <a:t>Keyless (Sigstore) or key-based (your PKI) signs one artifact at a time. OCM gives them the complete SBOD to sign — one signature covers every artifact in the delivery, by digest.</a:t>
            </a:r>
          </a:p>
        </p:txBody>
      </p:sp>
      <p:sp>
        <p:nvSpPr>
          <p:cNvPr id="6" name="Text Placeholder 5"/>
          <p:cNvSpPr>
            <a:spLocks noGrp="1"/>
          </p:cNvSpPr>
          <p:nvPr>
            <p:ph type="body" idx="12"/>
          </p:nvPr>
        </p:nvSpPr>
        <p:spPr/>
        <p:txBody>
          <a:bodyPr/>
          <a:lstStyle/>
          <a:p>
            <a:r>
              <a:t>TRANSPORT</a:t>
            </a:r>
          </a:p>
        </p:txBody>
      </p:sp>
      <p:sp>
        <p:nvSpPr>
          <p:cNvPr id="7" name="Text Placeholder 6"/>
          <p:cNvSpPr>
            <a:spLocks noGrp="1"/>
          </p:cNvSpPr>
          <p:nvPr>
            <p:ph type="body" idx="13"/>
          </p:nvPr>
        </p:nvSpPr>
        <p:spPr/>
        <p:txBody>
          <a:bodyPr/>
          <a:lstStyle/>
          <a:p>
            <a:r>
              <a:t>S3, OCI and Helm registries — each stores artifacts differently. OCM transports a signed envelope of artifacts across any boundary: registry to registry, registry to air-gapped archive. The signature travels intact.</a:t>
            </a:r>
          </a:p>
        </p:txBody>
      </p:sp>
      <p:sp>
        <p:nvSpPr>
          <p:cNvPr id="8" name="Text Placeholder 7"/>
          <p:cNvSpPr>
            <a:spLocks noGrp="1"/>
          </p:cNvSpPr>
          <p:nvPr>
            <p:ph type="body" idx="14"/>
          </p:nvPr>
        </p:nvSpPr>
        <p:spPr/>
        <p:txBody>
          <a:bodyPr/>
          <a:lstStyle/>
          <a:p>
            <a:r>
              <a:t>COMPLIANCE</a:t>
            </a:r>
          </a:p>
        </p:txBody>
      </p:sp>
      <p:sp>
        <p:nvSpPr>
          <p:cNvPr id="9" name="Text Placeholder 8"/>
          <p:cNvSpPr>
            <a:spLocks noGrp="1"/>
          </p:cNvSpPr>
          <p:nvPr>
            <p:ph type="body" idx="15"/>
          </p:nvPr>
        </p:nvSpPr>
        <p:spPr/>
        <p:txBody>
          <a:bodyPr/>
          <a:lstStyle/>
          <a:p>
            <a:r>
              <a:t>Trivy, Grype, your SBOM tools — each scans in isolation. OCM (via Open Delivery Gear) correlates every finding by component identity. Compliance is a system output, not a quarterly project.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OCM IN ONE PICTURE</a:t>
            </a:r>
          </a:p>
        </p:txBody>
      </p:sp>
      <p:sp>
        <p:nvSpPr>
          <p:cNvPr id="3" name="Title 2"/>
          <p:cNvSpPr>
            <a:spLocks noGrp="1"/>
          </p:cNvSpPr>
          <p:nvPr>
            <p:ph type="title" idx="2"/>
          </p:nvPr>
        </p:nvSpPr>
        <p:spPr/>
        <p:txBody>
          <a:bodyPr/>
          <a:lstStyle/>
          <a:p>
            <a:r>
              <a:t>Pack · Sign · Transport · Deploy</a:t>
            </a:r>
          </a:p>
        </p:txBody>
      </p:sp>
      <p:pic>
        <p:nvPicPr>
          <p:cNvPr id="4" name="Picture 3" descr="05-pack-sign-transport-deploy-v2_1680.png"/>
          <p:cNvPicPr>
            <a:picLocks noChangeAspect="1"/>
          </p:cNvPicPr>
          <p:nvPr/>
        </p:nvPicPr>
        <p:blipFill>
          <a:blip r:embed="rId2"/>
          <a:stretch>
            <a:fillRect/>
          </a:stretch>
        </p:blipFill>
        <p:spPr>
          <a:xfrm>
            <a:off x="1143000" y="4953000"/>
            <a:ext cx="16002000" cy="450532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SOVEREIGN-READY</a:t>
            </a:r>
          </a:p>
        </p:txBody>
      </p:sp>
      <p:sp>
        <p:nvSpPr>
          <p:cNvPr id="3" name="Title 2"/>
          <p:cNvSpPr>
            <a:spLocks noGrp="1"/>
          </p:cNvSpPr>
          <p:nvPr>
            <p:ph type="title" idx="2"/>
          </p:nvPr>
        </p:nvSpPr>
        <p:spPr/>
        <p:txBody>
          <a:bodyPr/>
          <a:lstStyle/>
          <a:p>
            <a:r>
              <a:t>Trust, but verify.</a:t>
            </a:r>
          </a:p>
        </p:txBody>
      </p:sp>
      <p:sp>
        <p:nvSpPr>
          <p:cNvPr id="4" name="Text Placeholder 3"/>
          <p:cNvSpPr>
            <a:spLocks noGrp="1"/>
          </p:cNvSpPr>
          <p:nvPr>
            <p:ph type="body" idx="10"/>
          </p:nvPr>
        </p:nvSpPr>
        <p:spPr/>
        <p:txBody>
          <a:bodyPr/>
          <a:lstStyle/>
          <a:p>
            <a:pPr>
              <a:spcBef>
                <a:spcPts val="800"/>
              </a:spcBef>
              <a:spcAft>
                <a:spcPts val="800"/>
              </a:spcAft>
            </a:pPr>
            <a:r>
              <a:rPr b="1">
                <a:solidFill>
                  <a:srgbClr val="0F6BFF"/>
                </a:solidFill>
              </a:rPr>
              <a:t>▪  </a:t>
            </a:r>
            <a:r>
              <a:rPr>
                <a:solidFill>
                  <a:srgbClr val="000000"/>
                </a:solidFill>
              </a:rPr>
              <a:t>Identity is location-independent. A component carries its name regardless where it lives.</a:t>
            </a:r>
          </a:p>
          <a:p>
            <a:pPr>
              <a:spcBef>
                <a:spcPts val="800"/>
              </a:spcBef>
              <a:spcAft>
                <a:spcPts val="800"/>
              </a:spcAft>
            </a:pPr>
            <a:r>
              <a:rPr b="1">
                <a:solidFill>
                  <a:srgbClr val="0F6BFF"/>
                </a:solidFill>
              </a:rPr>
              <a:t>▪  </a:t>
            </a:r>
            <a:r>
              <a:rPr>
                <a:solidFill>
                  <a:srgbClr val="000000"/>
                </a:solidFill>
              </a:rPr>
              <a:t>Signatures are location-independent. Sign once at source, verify at all hops up to the destination. No callback upstream.</a:t>
            </a:r>
          </a:p>
          <a:p>
            <a:pPr>
              <a:spcBef>
                <a:spcPts val="800"/>
              </a:spcBef>
              <a:spcAft>
                <a:spcPts val="800"/>
              </a:spcAft>
            </a:pPr>
            <a:r>
              <a:rPr b="1">
                <a:solidFill>
                  <a:srgbClr val="0F6BFF"/>
                </a:solidFill>
              </a:rPr>
              <a:t>▪  </a:t>
            </a:r>
            <a:r>
              <a:rPr>
                <a:solidFill>
                  <a:srgbClr val="000000"/>
                </a:solidFill>
              </a:rPr>
              <a:t>Day-2 ops happen inside the boundary. Subscribe to a component and pull upgrades when needed. Again, no callback upstream.</a:t>
            </a:r>
          </a:p>
          <a:p>
            <a:pPr>
              <a:spcBef>
                <a:spcPts val="800"/>
              </a:spcBef>
              <a:spcAft>
                <a:spcPts val="800"/>
              </a:spcAft>
            </a:pPr>
            <a:r>
              <a:rPr b="1">
                <a:solidFill>
                  <a:srgbClr val="0F6BFF"/>
                </a:solidFill>
              </a:rPr>
              <a:t>▪  </a:t>
            </a:r>
            <a:r>
              <a:rPr>
                <a:solidFill>
                  <a:srgbClr val="000000"/>
                </a:solidFill>
              </a:rPr>
              <a:t>On transfer into a sovereign environment, a component can carry every artifact it needs along with it. Completely self-contained.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SOVEREIGN-READY — AIR-GAP</a:t>
            </a:r>
          </a:p>
        </p:txBody>
      </p:sp>
      <p:sp>
        <p:nvSpPr>
          <p:cNvPr id="3" name="Title 2"/>
          <p:cNvSpPr>
            <a:spLocks noGrp="1"/>
          </p:cNvSpPr>
          <p:nvPr>
            <p:ph type="title" idx="2"/>
          </p:nvPr>
        </p:nvSpPr>
        <p:spPr/>
        <p:txBody>
          <a:bodyPr/>
          <a:lstStyle/>
          <a:p>
            <a:r>
              <a:t>Trust travels with the component.</a:t>
            </a:r>
          </a:p>
        </p:txBody>
      </p:sp>
      <p:pic>
        <p:nvPicPr>
          <p:cNvPr id="4" name="Picture 3" descr="06-sovereign-airgap_1519.png"/>
          <p:cNvPicPr>
            <a:picLocks noChangeAspect="1"/>
          </p:cNvPicPr>
          <p:nvPr/>
        </p:nvPicPr>
        <p:blipFill>
          <a:blip r:embed="rId2"/>
          <a:stretch>
            <a:fillRect/>
          </a:stretch>
        </p:blipFill>
        <p:spPr>
          <a:xfrm>
            <a:off x="1914149" y="3686175"/>
            <a:ext cx="13326226" cy="6334125"/>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SCAN — COMPLIANCE-NATIVE WITH OPEN DELIVERY GEAR</a:t>
            </a:r>
          </a:p>
        </p:txBody>
      </p:sp>
      <p:sp>
        <p:nvSpPr>
          <p:cNvPr id="3" name="Title 2"/>
          <p:cNvSpPr>
            <a:spLocks noGrp="1"/>
          </p:cNvSpPr>
          <p:nvPr>
            <p:ph type="title" idx="2"/>
          </p:nvPr>
        </p:nvSpPr>
        <p:spPr/>
        <p:txBody>
          <a:bodyPr/>
          <a:lstStyle/>
          <a:p>
            <a:r>
              <a:t>Compliance as a system property —</a:t>
            </a:r>
          </a:p>
          <a:p>
            <a:r>
              <a:t>not a quarterly retrofit.</a:t>
            </a:r>
          </a:p>
        </p:txBody>
      </p:sp>
      <p:sp>
        <p:nvSpPr>
          <p:cNvPr id="4" name="Text Placeholder 3"/>
          <p:cNvSpPr>
            <a:spLocks noGrp="1"/>
          </p:cNvSpPr>
          <p:nvPr>
            <p:ph type="body" idx="10"/>
          </p:nvPr>
        </p:nvSpPr>
        <p:spPr/>
        <p:txBody>
          <a:bodyPr/>
          <a:lstStyle/>
          <a:p>
            <a:pPr>
              <a:spcBef>
                <a:spcPts val="800"/>
              </a:spcBef>
              <a:spcAft>
                <a:spcPts val="800"/>
              </a:spcAft>
            </a:pPr>
            <a:r>
              <a:rPr b="1">
                <a:solidFill>
                  <a:srgbClr val="0F6BFF"/>
                </a:solidFill>
              </a:rPr>
              <a:t>▪  </a:t>
            </a:r>
            <a:r>
              <a:rPr>
                <a:solidFill>
                  <a:srgbClr val="000000"/>
                </a:solidFill>
              </a:rPr>
              <a:t>Open Delivery Gear (ODG) is the OCM compliance automation engine.</a:t>
            </a:r>
          </a:p>
          <a:p>
            <a:pPr>
              <a:spcBef>
                <a:spcPts val="800"/>
              </a:spcBef>
              <a:spcAft>
                <a:spcPts val="800"/>
              </a:spcAft>
            </a:pPr>
            <a:r>
              <a:rPr b="1">
                <a:solidFill>
                  <a:srgbClr val="0F6BFF"/>
                </a:solidFill>
              </a:rPr>
              <a:t>▪  </a:t>
            </a:r>
            <a:r>
              <a:rPr>
                <a:solidFill>
                  <a:srgbClr val="000000"/>
                </a:solidFill>
              </a:rPr>
              <a:t>The Compliance Dashboard is your entry point: every component, every finding in one view.</a:t>
            </a:r>
          </a:p>
          <a:p>
            <a:pPr>
              <a:spcBef>
                <a:spcPts val="800"/>
              </a:spcBef>
              <a:spcAft>
                <a:spcPts val="800"/>
              </a:spcAft>
            </a:pPr>
            <a:r>
              <a:rPr b="1">
                <a:solidFill>
                  <a:srgbClr val="0F6BFF"/>
                </a:solidFill>
              </a:rPr>
              <a:t>▪  </a:t>
            </a:r>
            <a:r>
              <a:rPr>
                <a:solidFill>
                  <a:srgbClr val="000000"/>
                </a:solidFill>
              </a:rPr>
              <a:t>Continuous scans run asynchronously — even after release.</a:t>
            </a:r>
          </a:p>
          <a:p>
            <a:pPr>
              <a:spcBef>
                <a:spcPts val="800"/>
              </a:spcBef>
              <a:spcAft>
                <a:spcPts val="800"/>
              </a:spcAft>
            </a:pPr>
            <a:r>
              <a:rPr b="1">
                <a:solidFill>
                  <a:srgbClr val="0F6BFF"/>
                </a:solidFill>
              </a:rPr>
              <a:t>▪  </a:t>
            </a:r>
            <a:r>
              <a:rPr>
                <a:solidFill>
                  <a:srgbClr val="000000"/>
                </a:solidFill>
              </a:rPr>
              <a:t>Findings get rescored against contextual risk. Your team only patches what actually matters.</a:t>
            </a:r>
          </a:p>
          <a:p>
            <a:pPr>
              <a:spcBef>
                <a:spcPts val="800"/>
              </a:spcBef>
              <a:spcAft>
                <a:spcPts val="800"/>
              </a:spcAft>
            </a:pPr>
            <a:r>
              <a:rPr b="1">
                <a:solidFill>
                  <a:srgbClr val="0F6BFF"/>
                </a:solidFill>
              </a:rPr>
              <a:t>▪  </a:t>
            </a:r>
            <a:r>
              <a:rPr>
                <a:solidFill>
                  <a:srgbClr val="000000"/>
                </a:solidFill>
              </a:rPr>
              <a:t>Every compliance signal correlates by component identity. Auditors get evidence, not spreadsheets.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WHAT OCM UNLOCKS FOR SAP</a:t>
            </a:r>
          </a:p>
        </p:txBody>
      </p:sp>
      <p:sp>
        <p:nvSpPr>
          <p:cNvPr id="3" name="Title 2"/>
          <p:cNvSpPr>
            <a:spLocks noGrp="1"/>
          </p:cNvSpPr>
          <p:nvPr>
            <p:ph type="title" idx="2"/>
          </p:nvPr>
        </p:nvSpPr>
        <p:spPr/>
        <p:txBody>
          <a:bodyPr/>
          <a:lstStyle/>
          <a:p>
            <a:r>
              <a:t>Six outcomes from one shared primitive.</a:t>
            </a:r>
          </a:p>
        </p:txBody>
      </p:sp>
      <p:sp>
        <p:nvSpPr>
          <p:cNvPr id="4" name="Text Placeholder 3"/>
          <p:cNvSpPr>
            <a:spLocks noGrp="1"/>
          </p:cNvSpPr>
          <p:nvPr>
            <p:ph type="body" idx="20"/>
          </p:nvPr>
        </p:nvSpPr>
        <p:spPr/>
        <p:txBody>
          <a:bodyPr/>
          <a:lstStyle/>
          <a:p>
            <a:r>
              <a:t>Faster sovereign delivery</a:t>
            </a:r>
          </a:p>
        </p:txBody>
      </p:sp>
      <p:sp>
        <p:nvSpPr>
          <p:cNvPr id="5" name="Text Placeholder 4"/>
          <p:cNvSpPr>
            <a:spLocks noGrp="1"/>
          </p:cNvSpPr>
          <p:nvPr>
            <p:ph type="body" idx="21"/>
          </p:nvPr>
        </p:nvSpPr>
        <p:spPr/>
        <p:txBody>
          <a:bodyPr/>
          <a:lstStyle/>
          <a:p>
            <a:r>
              <a:t>Pack once, ship everywhere.</a:t>
            </a:r>
          </a:p>
          <a:p>
            <a:r>
              <a:t>Sovereign Cloud for all products.</a:t>
            </a:r>
          </a:p>
        </p:txBody>
      </p:sp>
      <p:sp>
        <p:nvSpPr>
          <p:cNvPr id="6" name="Text Placeholder 5"/>
          <p:cNvSpPr>
            <a:spLocks noGrp="1"/>
          </p:cNvSpPr>
          <p:nvPr>
            <p:ph type="body" idx="22"/>
          </p:nvPr>
        </p:nvSpPr>
        <p:spPr/>
        <p:txBody>
          <a:bodyPr/>
          <a:lstStyle/>
          <a:p>
            <a:r>
              <a:t>Compliance leverage across LoBs</a:t>
            </a:r>
          </a:p>
        </p:txBody>
      </p:sp>
      <p:sp>
        <p:nvSpPr>
          <p:cNvPr id="7" name="Text Placeholder 6"/>
          <p:cNvSpPr>
            <a:spLocks noGrp="1"/>
          </p:cNvSpPr>
          <p:nvPr>
            <p:ph type="body" idx="23"/>
          </p:nvPr>
        </p:nvSpPr>
        <p:spPr/>
        <p:txBody>
          <a:bodyPr/>
          <a:lstStyle/>
          <a:p>
            <a:r>
              <a:t>Report from one shared primitive —</a:t>
            </a:r>
          </a:p>
          <a:p>
            <a:r>
              <a:t>ODG correlates all findings.</a:t>
            </a:r>
          </a:p>
        </p:txBody>
      </p:sp>
      <p:sp>
        <p:nvSpPr>
          <p:cNvPr id="8" name="Text Placeholder 7"/>
          <p:cNvSpPr>
            <a:spLocks noGrp="1"/>
          </p:cNvSpPr>
          <p:nvPr>
            <p:ph type="body" idx="24"/>
          </p:nvPr>
        </p:nvSpPr>
        <p:spPr/>
        <p:txBody>
          <a:bodyPr/>
          <a:lstStyle/>
          <a:p>
            <a:r>
              <a:t>Integration after acquisition</a:t>
            </a:r>
          </a:p>
        </p:txBody>
      </p:sp>
      <p:sp>
        <p:nvSpPr>
          <p:cNvPr id="9" name="Text Placeholder 8"/>
          <p:cNvSpPr>
            <a:spLocks noGrp="1"/>
          </p:cNvSpPr>
          <p:nvPr>
            <p:ph type="body" idx="25"/>
          </p:nvPr>
        </p:nvSpPr>
        <p:spPr/>
        <p:txBody>
          <a:bodyPr/>
          <a:lstStyle/>
          <a:p>
            <a:r>
              <a:t>Let's be efficient:</a:t>
            </a:r>
          </a:p>
          <a:p>
            <a:r>
              <a:t>Delivery schemes converge on one mechanism.</a:t>
            </a:r>
          </a:p>
        </p:txBody>
      </p:sp>
      <p:sp>
        <p:nvSpPr>
          <p:cNvPr id="10" name="Text Placeholder 9"/>
          <p:cNvSpPr>
            <a:spLocks noGrp="1"/>
          </p:cNvSpPr>
          <p:nvPr>
            <p:ph type="body" idx="26"/>
          </p:nvPr>
        </p:nvSpPr>
        <p:spPr/>
        <p:txBody>
          <a:bodyPr/>
          <a:lstStyle/>
          <a:p>
            <a:r>
              <a:t>Cross-LoB security correlation</a:t>
            </a:r>
          </a:p>
        </p:txBody>
      </p:sp>
      <p:sp>
        <p:nvSpPr>
          <p:cNvPr id="11" name="Text Placeholder 10"/>
          <p:cNvSpPr>
            <a:spLocks noGrp="1"/>
          </p:cNvSpPr>
          <p:nvPr>
            <p:ph type="body" idx="27"/>
          </p:nvPr>
        </p:nvSpPr>
        <p:spPr/>
        <p:txBody>
          <a:bodyPr/>
          <a:lstStyle/>
          <a:p>
            <a:r>
              <a:t>Blast radius is one query —</a:t>
            </a:r>
          </a:p>
          <a:p>
            <a:r>
              <a:t>answered via the OCM coordinate system.</a:t>
            </a:r>
          </a:p>
        </p:txBody>
      </p:sp>
      <p:sp>
        <p:nvSpPr>
          <p:cNvPr id="12" name="Text Placeholder 11"/>
          <p:cNvSpPr>
            <a:spLocks noGrp="1"/>
          </p:cNvSpPr>
          <p:nvPr>
            <p:ph type="body" idx="28"/>
          </p:nvPr>
        </p:nvSpPr>
        <p:spPr/>
        <p:txBody>
          <a:bodyPr/>
          <a:lstStyle/>
          <a:p>
            <a:r>
              <a:t>One source of truth</a:t>
            </a:r>
          </a:p>
        </p:txBody>
      </p:sp>
      <p:sp>
        <p:nvSpPr>
          <p:cNvPr id="13" name="Text Placeholder 12"/>
          <p:cNvSpPr>
            <a:spLocks noGrp="1"/>
          </p:cNvSpPr>
          <p:nvPr>
            <p:ph type="body" idx="29"/>
          </p:nvPr>
        </p:nvSpPr>
        <p:spPr/>
        <p:txBody>
          <a:bodyPr/>
          <a:lstStyle/>
          <a:p>
            <a:r>
              <a:t>One signed descriptor per delivery.</a:t>
            </a:r>
          </a:p>
          <a:p>
            <a:r>
              <a:t>Rebuild any landscape easily.</a:t>
            </a:r>
          </a:p>
        </p:txBody>
      </p:sp>
      <p:sp>
        <p:nvSpPr>
          <p:cNvPr id="14" name="Text Placeholder 13"/>
          <p:cNvSpPr>
            <a:spLocks noGrp="1"/>
          </p:cNvSpPr>
          <p:nvPr>
            <p:ph type="body" idx="30"/>
          </p:nvPr>
        </p:nvSpPr>
        <p:spPr/>
        <p:txBody>
          <a:bodyPr/>
          <a:lstStyle/>
          <a:p>
            <a:r>
              <a:t>Ecosystem stewardship</a:t>
            </a:r>
          </a:p>
        </p:txBody>
      </p:sp>
      <p:sp>
        <p:nvSpPr>
          <p:cNvPr id="15" name="Text Placeholder 14"/>
          <p:cNvSpPr>
            <a:spLocks noGrp="1"/>
          </p:cNvSpPr>
          <p:nvPr>
            <p:ph type="body" idx="31"/>
          </p:nvPr>
        </p:nvSpPr>
        <p:spPr/>
        <p:txBody>
          <a:bodyPr/>
          <a:lstStyle/>
          <a:p>
            <a:r>
              <a:t>SAP investment compounds with</a:t>
            </a:r>
          </a:p>
          <a:p>
            <a:r>
              <a:t>the open-peer ecosystem.</a:t>
            </a:r>
          </a:p>
        </p:txBody>
      </p:sp>
      <p:pic>
        <p:nvPicPr>
          <p:cNvPr id="16" name="Picture 15" descr="package-export_96_0F6BFF.png"/>
          <p:cNvPicPr>
            <a:picLocks noChangeAspect="1"/>
          </p:cNvPicPr>
          <p:nvPr/>
        </p:nvPicPr>
        <p:blipFill>
          <a:blip r:embed="rId2"/>
          <a:stretch>
            <a:fillRect/>
          </a:stretch>
        </p:blipFill>
        <p:spPr>
          <a:xfrm>
            <a:off x="1371600" y="5181600"/>
            <a:ext cx="457200" cy="457200"/>
          </a:xfrm>
          <a:prstGeom prst="rect">
            <a:avLst/>
          </a:prstGeom>
        </p:spPr>
      </p:pic>
      <p:pic>
        <p:nvPicPr>
          <p:cNvPr id="17" name="Picture 16" descr="report-analytics_96_0F6BFF.png"/>
          <p:cNvPicPr>
            <a:picLocks noChangeAspect="1"/>
          </p:cNvPicPr>
          <p:nvPr/>
        </p:nvPicPr>
        <p:blipFill>
          <a:blip r:embed="rId3"/>
          <a:stretch>
            <a:fillRect/>
          </a:stretch>
        </p:blipFill>
        <p:spPr>
          <a:xfrm>
            <a:off x="6781800" y="5181600"/>
            <a:ext cx="457200" cy="457200"/>
          </a:xfrm>
          <a:prstGeom prst="rect">
            <a:avLst/>
          </a:prstGeom>
        </p:spPr>
      </p:pic>
      <p:pic>
        <p:nvPicPr>
          <p:cNvPr id="18" name="Picture 17" descr="git-merge_96_0F6BFF.png"/>
          <p:cNvPicPr>
            <a:picLocks noChangeAspect="1"/>
          </p:cNvPicPr>
          <p:nvPr/>
        </p:nvPicPr>
        <p:blipFill>
          <a:blip r:embed="rId4"/>
          <a:stretch>
            <a:fillRect/>
          </a:stretch>
        </p:blipFill>
        <p:spPr>
          <a:xfrm>
            <a:off x="12192000" y="5181600"/>
            <a:ext cx="457200" cy="457200"/>
          </a:xfrm>
          <a:prstGeom prst="rect">
            <a:avLst/>
          </a:prstGeom>
        </p:spPr>
      </p:pic>
      <p:pic>
        <p:nvPicPr>
          <p:cNvPr id="19" name="Picture 18" descr="radar_96_0F6BFF.png"/>
          <p:cNvPicPr>
            <a:picLocks noChangeAspect="1"/>
          </p:cNvPicPr>
          <p:nvPr/>
        </p:nvPicPr>
        <p:blipFill>
          <a:blip r:embed="rId5"/>
          <a:stretch>
            <a:fillRect/>
          </a:stretch>
        </p:blipFill>
        <p:spPr>
          <a:xfrm>
            <a:off x="1371600" y="7600950"/>
            <a:ext cx="457200" cy="457200"/>
          </a:xfrm>
          <a:prstGeom prst="rect">
            <a:avLst/>
          </a:prstGeom>
        </p:spPr>
      </p:pic>
      <p:pic>
        <p:nvPicPr>
          <p:cNvPr id="20" name="Picture 19" descr="source-of-truth_96_0F6BFF.png"/>
          <p:cNvPicPr>
            <a:picLocks noChangeAspect="1"/>
          </p:cNvPicPr>
          <p:nvPr/>
        </p:nvPicPr>
        <p:blipFill>
          <a:blip r:embed="rId6"/>
          <a:stretch>
            <a:fillRect/>
          </a:stretch>
        </p:blipFill>
        <p:spPr>
          <a:xfrm>
            <a:off x="6781800" y="7600950"/>
            <a:ext cx="457200" cy="457200"/>
          </a:xfrm>
          <a:prstGeom prst="rect">
            <a:avLst/>
          </a:prstGeom>
        </p:spPr>
      </p:pic>
      <p:pic>
        <p:nvPicPr>
          <p:cNvPr id="21" name="Picture 20" descr="heart-handshake_96_0F6BFF.png"/>
          <p:cNvPicPr>
            <a:picLocks noChangeAspect="1"/>
          </p:cNvPicPr>
          <p:nvPr/>
        </p:nvPicPr>
        <p:blipFill>
          <a:blip r:embed="rId7"/>
          <a:stretch>
            <a:fillRect/>
          </a:stretch>
        </p:blipFill>
        <p:spPr>
          <a:xfrm>
            <a:off x="12192000" y="7600950"/>
            <a:ext cx="457200" cy="4572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WHERE OCM IS SHIPPING — OPEN ECOSYSTEM</a:t>
            </a:r>
          </a:p>
        </p:txBody>
      </p:sp>
      <p:sp>
        <p:nvSpPr>
          <p:cNvPr id="3" name="Title 2"/>
          <p:cNvSpPr>
            <a:spLocks noGrp="1"/>
          </p:cNvSpPr>
          <p:nvPr>
            <p:ph type="title" idx="2"/>
          </p:nvPr>
        </p:nvSpPr>
        <p:spPr/>
        <p:txBody>
          <a:bodyPr/>
          <a:lstStyle/>
          <a:p>
            <a:r>
              <a:t>Peer in the open ecosystem.</a:t>
            </a:r>
          </a:p>
        </p:txBody>
      </p:sp>
      <p:pic>
        <p:nvPicPr>
          <p:cNvPr id="4" name="Picture 3" descr="gardener-horizontal-color_720.png">
            <a:hlinkClick r:id="rId3"/>
          </p:cNvPr>
          <p:cNvPicPr>
            <a:picLocks noChangeAspect="1"/>
          </p:cNvPicPr>
          <p:nvPr/>
        </p:nvPicPr>
        <p:blipFill>
          <a:blip r:embed="rId2"/>
          <a:stretch>
            <a:fillRect/>
          </a:stretch>
        </p:blipFill>
        <p:spPr>
          <a:xfrm>
            <a:off x="1714500" y="5414962"/>
            <a:ext cx="3429000" cy="981075"/>
          </a:xfrm>
          <a:prstGeom prst="rect">
            <a:avLst/>
          </a:prstGeom>
        </p:spPr>
      </p:pic>
      <p:sp>
        <p:nvSpPr>
          <p:cNvPr id="5" name="TextBox 4"/>
          <p:cNvSpPr txBox="1"/>
          <p:nvPr/>
        </p:nvSpPr>
        <p:spPr>
          <a:xfrm>
            <a:off x="1524000" y="6534150"/>
            <a:ext cx="3810000" cy="266700"/>
          </a:xfrm>
          <a:prstGeom prst="rect">
            <a:avLst/>
          </a:prstGeom>
          <a:noFill/>
        </p:spPr>
        <p:txBody>
          <a:bodyPr wrap="none" lIns="0" rIns="0" tIns="0" bIns="0">
            <a:spAutoFit/>
          </a:bodyPr>
          <a:lstStyle/>
          <a:p>
            <a:pPr algn="ctr"/>
            <a:r>
              <a:rPr sz="2000">
                <a:solidFill>
                  <a:srgbClr val="6B7280"/>
                </a:solidFill>
                <a:latin typeface="Aptos"/>
                <a:hlinkClick r:id="rId3"/>
              </a:rPr>
              <a:t>Gardener</a:t>
            </a:r>
          </a:p>
        </p:txBody>
      </p:sp>
      <p:pic>
        <p:nvPicPr>
          <p:cNvPr id="6" name="Picture 5" descr="kyma-icon-color_720.png">
            <a:hlinkClick r:id="rId5"/>
          </p:cNvPr>
          <p:cNvPicPr>
            <a:picLocks noChangeAspect="1"/>
          </p:cNvPicPr>
          <p:nvPr/>
        </p:nvPicPr>
        <p:blipFill>
          <a:blip r:embed="rId4"/>
          <a:stretch>
            <a:fillRect/>
          </a:stretch>
        </p:blipFill>
        <p:spPr>
          <a:xfrm>
            <a:off x="6649487" y="5334000"/>
            <a:ext cx="1179025" cy="1143000"/>
          </a:xfrm>
          <a:prstGeom prst="rect">
            <a:avLst/>
          </a:prstGeom>
        </p:spPr>
      </p:pic>
      <p:sp>
        <p:nvSpPr>
          <p:cNvPr id="7" name="TextBox 6"/>
          <p:cNvSpPr txBox="1"/>
          <p:nvPr/>
        </p:nvSpPr>
        <p:spPr>
          <a:xfrm>
            <a:off x="5334000" y="6534150"/>
            <a:ext cx="3810000" cy="266700"/>
          </a:xfrm>
          <a:prstGeom prst="rect">
            <a:avLst/>
          </a:prstGeom>
          <a:noFill/>
        </p:spPr>
        <p:txBody>
          <a:bodyPr wrap="none" lIns="0" rIns="0" tIns="0" bIns="0">
            <a:spAutoFit/>
          </a:bodyPr>
          <a:lstStyle/>
          <a:p>
            <a:pPr algn="ctr"/>
            <a:r>
              <a:rPr sz="2000">
                <a:solidFill>
                  <a:srgbClr val="6B7280"/>
                </a:solidFill>
                <a:latin typeface="Aptos"/>
                <a:hlinkClick r:id="rId5"/>
              </a:rPr>
              <a:t>Kyma</a:t>
            </a:r>
          </a:p>
        </p:txBody>
      </p:sp>
      <p:pic>
        <p:nvPicPr>
          <p:cNvPr id="8" name="Picture 7" descr="opencontrolplane-icon-color_720.png">
            <a:hlinkClick r:id="rId7"/>
          </p:cNvPr>
          <p:cNvPicPr>
            <a:picLocks noChangeAspect="1"/>
          </p:cNvPicPr>
          <p:nvPr/>
        </p:nvPicPr>
        <p:blipFill>
          <a:blip r:embed="rId6"/>
          <a:stretch>
            <a:fillRect/>
          </a:stretch>
        </p:blipFill>
        <p:spPr>
          <a:xfrm>
            <a:off x="10557387" y="5334000"/>
            <a:ext cx="983225" cy="1143000"/>
          </a:xfrm>
          <a:prstGeom prst="rect">
            <a:avLst/>
          </a:prstGeom>
        </p:spPr>
      </p:pic>
      <p:sp>
        <p:nvSpPr>
          <p:cNvPr id="9" name="TextBox 8"/>
          <p:cNvSpPr txBox="1"/>
          <p:nvPr/>
        </p:nvSpPr>
        <p:spPr>
          <a:xfrm>
            <a:off x="9144000" y="6534150"/>
            <a:ext cx="3810000" cy="266700"/>
          </a:xfrm>
          <a:prstGeom prst="rect">
            <a:avLst/>
          </a:prstGeom>
          <a:noFill/>
        </p:spPr>
        <p:txBody>
          <a:bodyPr wrap="none" lIns="0" rIns="0" tIns="0" bIns="0">
            <a:spAutoFit/>
          </a:bodyPr>
          <a:lstStyle/>
          <a:p>
            <a:pPr algn="ctr"/>
            <a:r>
              <a:rPr sz="2000">
                <a:solidFill>
                  <a:srgbClr val="6B7280"/>
                </a:solidFill>
                <a:latin typeface="Aptos"/>
                <a:hlinkClick r:id="rId7"/>
              </a:rPr>
              <a:t>OpenControlPlane</a:t>
            </a:r>
          </a:p>
        </p:txBody>
      </p:sp>
      <p:pic>
        <p:nvPicPr>
          <p:cNvPr id="10" name="Picture 9" descr="konfidence-horizontal-light_720.png">
            <a:hlinkClick r:id="rId9"/>
          </p:cNvPr>
          <p:cNvPicPr>
            <a:picLocks noChangeAspect="1"/>
          </p:cNvPicPr>
          <p:nvPr/>
        </p:nvPicPr>
        <p:blipFill>
          <a:blip r:embed="rId8"/>
          <a:stretch>
            <a:fillRect/>
          </a:stretch>
        </p:blipFill>
        <p:spPr>
          <a:xfrm>
            <a:off x="13144500" y="5705475"/>
            <a:ext cx="3429000" cy="400050"/>
          </a:xfrm>
          <a:prstGeom prst="rect">
            <a:avLst/>
          </a:prstGeom>
        </p:spPr>
      </p:pic>
      <p:sp>
        <p:nvSpPr>
          <p:cNvPr id="11" name="TextBox 10"/>
          <p:cNvSpPr txBox="1"/>
          <p:nvPr/>
        </p:nvSpPr>
        <p:spPr>
          <a:xfrm>
            <a:off x="12954000" y="6534150"/>
            <a:ext cx="3810000" cy="266700"/>
          </a:xfrm>
          <a:prstGeom prst="rect">
            <a:avLst/>
          </a:prstGeom>
          <a:noFill/>
        </p:spPr>
        <p:txBody>
          <a:bodyPr wrap="none" lIns="0" rIns="0" tIns="0" bIns="0">
            <a:spAutoFit/>
          </a:bodyPr>
          <a:lstStyle/>
          <a:p>
            <a:pPr algn="ctr"/>
            <a:r>
              <a:rPr sz="2000">
                <a:solidFill>
                  <a:srgbClr val="6B7280"/>
                </a:solidFill>
                <a:latin typeface="Aptos"/>
                <a:hlinkClick r:id="rId9"/>
              </a:rPr>
              <a:t>Konfidence</a:t>
            </a:r>
          </a:p>
        </p:txBody>
      </p:sp>
      <p:pic>
        <p:nvPicPr>
          <p:cNvPr id="12" name="Picture 11" descr="neonephos-foundation-horizontal-color_600.png">
            <a:hlinkClick r:id="rId11"/>
          </p:cNvPr>
          <p:cNvPicPr>
            <a:picLocks noChangeAspect="1"/>
          </p:cNvPicPr>
          <p:nvPr/>
        </p:nvPicPr>
        <p:blipFill>
          <a:blip r:embed="rId10"/>
          <a:stretch>
            <a:fillRect/>
          </a:stretch>
        </p:blipFill>
        <p:spPr>
          <a:xfrm>
            <a:off x="8848114" y="7829550"/>
            <a:ext cx="1953846" cy="381000"/>
          </a:xfrm>
          <a:prstGeom prst="rect">
            <a:avLst/>
          </a:prstGeom>
        </p:spPr>
      </p:pic>
      <p:sp>
        <p:nvSpPr>
          <p:cNvPr id="13" name="TextBox 12"/>
          <p:cNvSpPr txBox="1"/>
          <p:nvPr/>
        </p:nvSpPr>
        <p:spPr>
          <a:xfrm>
            <a:off x="7257439" y="7810500"/>
            <a:ext cx="1438275" cy="476250"/>
          </a:xfrm>
          <a:prstGeom prst="rect">
            <a:avLst/>
          </a:prstGeom>
          <a:noFill/>
        </p:spPr>
        <p:txBody>
          <a:bodyPr wrap="none" lIns="0" rIns="0" tIns="0" bIns="0">
            <a:spAutoFit/>
          </a:bodyPr>
          <a:lstStyle/>
          <a:p>
            <a:pPr algn="r"/>
            <a:r>
              <a:rPr sz="2000" i="0">
                <a:solidFill>
                  <a:srgbClr val="0A3A99"/>
                </a:solidFill>
                <a:latin typeface="Aptos"/>
              </a:rPr>
              <a:t>Aligned with </a:t>
            </a:r>
          </a:p>
        </p:txBody>
      </p:sp>
      <p:sp>
        <p:nvSpPr>
          <p:cNvPr id="14" name="TextBox 13"/>
          <p:cNvSpPr txBox="1"/>
          <p:nvPr/>
        </p:nvSpPr>
        <p:spPr>
          <a:xfrm>
            <a:off x="7258050" y="8267700"/>
            <a:ext cx="3771900" cy="266700"/>
          </a:xfrm>
          <a:prstGeom prst="rect">
            <a:avLst/>
          </a:prstGeom>
          <a:noFill/>
        </p:spPr>
        <p:txBody>
          <a:bodyPr wrap="none" lIns="0" rIns="0" tIns="0" bIns="0">
            <a:spAutoFit/>
          </a:bodyPr>
          <a:lstStyle/>
          <a:p>
            <a:pPr algn="ctr"/>
            <a:r>
              <a:rPr sz="2000">
                <a:solidFill>
                  <a:srgbClr val="6B7280"/>
                </a:solidFill>
                <a:latin typeface="Aptos"/>
                <a:hlinkClick r:id="rId11"/>
              </a:rPr>
              <a:t>NeoNephos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WHERE OCM IS SHIPPING — SAP</a:t>
            </a:r>
          </a:p>
        </p:txBody>
      </p:sp>
      <p:sp>
        <p:nvSpPr>
          <p:cNvPr id="3" name="Title 2"/>
          <p:cNvSpPr>
            <a:spLocks noGrp="1"/>
          </p:cNvSpPr>
          <p:nvPr>
            <p:ph type="title" idx="2"/>
          </p:nvPr>
        </p:nvSpPr>
        <p:spPr/>
        <p:txBody>
          <a:bodyPr/>
          <a:lstStyle/>
          <a:p>
            <a:r>
              <a:t>Backbone of internal SAP delivery.</a:t>
            </a:r>
          </a:p>
        </p:txBody>
      </p:sp>
      <p:sp>
        <p:nvSpPr>
          <p:cNvPr id="4" name="Text Placeholder 3"/>
          <p:cNvSpPr>
            <a:spLocks noGrp="1"/>
          </p:cNvSpPr>
          <p:nvPr>
            <p:ph type="body" idx="10"/>
          </p:nvPr>
        </p:nvSpPr>
        <p:spPr/>
        <p:txBody>
          <a:bodyPr/>
          <a:lstStyle/>
          <a:p>
            <a:pPr>
              <a:spcBef>
                <a:spcPts val="800"/>
              </a:spcBef>
              <a:spcAft>
                <a:spcPts val="800"/>
              </a:spcAft>
            </a:pPr>
            <a:r>
              <a:rPr b="1">
                <a:solidFill>
                  <a:srgbClr val="0F6BFF"/>
                </a:solidFill>
              </a:rPr>
              <a:t>▪  </a:t>
            </a:r>
            <a:r>
              <a:rPr>
                <a:solidFill>
                  <a:srgbClr val="000000"/>
                </a:solidFill>
              </a:rPr>
              <a:t>Hyperspace — hosts the internal Dev Portal, lifecycle processes, and delivery of SAP products.</a:t>
            </a:r>
          </a:p>
          <a:p>
            <a:pPr>
              <a:spcBef>
                <a:spcPts val="800"/>
              </a:spcBef>
              <a:spcAft>
                <a:spcPts val="800"/>
              </a:spcAft>
            </a:pPr>
            <a:r>
              <a:rPr b="1">
                <a:solidFill>
                  <a:srgbClr val="0F6BFF"/>
                </a:solidFill>
              </a:rPr>
              <a:t>▪  </a:t>
            </a:r>
            <a:r>
              <a:rPr>
                <a:solidFill>
                  <a:srgbClr val="000000"/>
                </a:solidFill>
              </a:rPr>
              <a:t>Release-Based Shipment Channel (RBSC) — SAP delivery infrastructure for customer shipments.</a:t>
            </a:r>
          </a:p>
          <a:p>
            <a:pPr>
              <a:spcBef>
                <a:spcPts val="800"/>
              </a:spcBef>
              <a:spcAft>
                <a:spcPts val="800"/>
              </a:spcAft>
            </a:pPr>
            <a:r>
              <a:rPr b="1">
                <a:solidFill>
                  <a:srgbClr val="0F6BFF"/>
                </a:solidFill>
              </a:rPr>
              <a:t>▪  </a:t>
            </a:r>
            <a:r>
              <a:rPr>
                <a:solidFill>
                  <a:srgbClr val="000000"/>
                </a:solidFill>
              </a:rPr>
              <a:t>Common Service Infrastructure (CSI) — the largest internal-services footprint shared across SAP.</a:t>
            </a:r>
          </a:p>
          <a:p>
            <a:pPr>
              <a:spcBef>
                <a:spcPts val="800"/>
              </a:spcBef>
              <a:spcAft>
                <a:spcPts val="800"/>
              </a:spcAft>
            </a:pPr>
            <a:r>
              <a:rPr b="1">
                <a:solidFill>
                  <a:srgbClr val="0F6BFF"/>
                </a:solidFill>
              </a:rPr>
              <a:t>▪  </a:t>
            </a:r>
            <a:r>
              <a:rPr>
                <a:solidFill>
                  <a:srgbClr val="000000"/>
                </a:solidFill>
              </a:rPr>
              <a:t>Steampunk — SAP BTP PaaS for ABAP Development. </a:t>
            </a:r>
          </a:p>
          <a:p>
            <a:pPr>
              <a:spcBef>
                <a:spcPts val="800"/>
              </a:spcBef>
              <a:spcAft>
                <a:spcPts val="800"/>
              </a:spcAft>
            </a:pPr>
            <a:r>
              <a:rPr b="1">
                <a:solidFill>
                  <a:srgbClr val="0F6BFF"/>
                </a:solidFill>
              </a:rPr>
              <a:t>▪  </a:t>
            </a:r>
            <a:r>
              <a:rPr>
                <a:solidFill>
                  <a:srgbClr val="000000"/>
                </a:solidFill>
              </a:rPr>
              <a:t>Greenhouse — Cloud operations platform designed to streamline the management of distributed infrastructure.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a:lstStyle/>
          <a:p>
            <a:r>
              <a:rPr>
                <a:solidFill>
                  <a:srgbClr val="FFFFFF"/>
                </a:solidFill>
              </a:rPr>
              <a:t>Sponsor. Scale. Standardize.</a:t>
            </a:r>
          </a:p>
        </p:txBody>
      </p:sp>
      <p:sp>
        <p:nvSpPr>
          <p:cNvPr id="3" name="Text Placeholder 2"/>
          <p:cNvSpPr>
            <a:spLocks noGrp="1"/>
          </p:cNvSpPr>
          <p:nvPr>
            <p:ph type="body" idx="2"/>
          </p:nvPr>
        </p:nvSpPr>
        <p:spPr/>
        <p:txBody>
          <a:bodyPr/>
          <a:lstStyle/>
          <a:p>
            <a:r>
              <a:rPr b="1">
                <a:solidFill>
                  <a:srgbClr val="5CD6FF"/>
                </a:solidFill>
              </a:rPr>
              <a:t>Sponsor</a:t>
            </a:r>
            <a:r>
              <a:rPr>
                <a:solidFill>
                  <a:srgbClr val="FFFFFF"/>
                </a:solidFill>
              </a:rPr>
              <a:t> — Allocate engineering capacity to OCM stewardship in your LoB.</a:t>
            </a:r>
          </a:p>
          <a:p>
            <a:r>
              <a:rPr b="1">
                <a:solidFill>
                  <a:srgbClr val="5CD6FF"/>
                </a:solidFill>
              </a:rPr>
              <a:t>Scale</a:t>
            </a:r>
            <a:r>
              <a:rPr>
                <a:solidFill>
                  <a:srgbClr val="FFFFFF"/>
                </a:solidFill>
              </a:rPr>
              <a:t> — Pack one regulated component delivery as an OCM component this quarter.</a:t>
            </a:r>
          </a:p>
          <a:p>
            <a:r>
              <a:rPr b="1">
                <a:solidFill>
                  <a:srgbClr val="5CD6FF"/>
                </a:solidFill>
              </a:rPr>
              <a:t>Standardize</a:t>
            </a:r>
            <a:r>
              <a:rPr>
                <a:solidFill>
                  <a:srgbClr val="FFFFFF"/>
                </a:solidFill>
              </a:rPr>
              <a:t> — Bring your LoB into the OCM steering conversation — SAP Slack #sap-tech-ocm.</a:t>
            </a:r>
          </a:p>
        </p:txBody>
      </p:sp>
      <p:pic>
        <p:nvPicPr>
          <p:cNvPr id="4" name="Picture 3" descr="ocm-horizontal-white_400.png"/>
          <p:cNvPicPr>
            <a:picLocks noChangeAspect="1"/>
          </p:cNvPicPr>
          <p:nvPr/>
        </p:nvPicPr>
        <p:blipFill>
          <a:blip r:embed="rId2"/>
          <a:stretch>
            <a:fillRect/>
          </a:stretch>
        </p:blipFill>
        <p:spPr>
          <a:xfrm>
            <a:off x="914400" y="9029700"/>
            <a:ext cx="1905000" cy="723900"/>
          </a:xfrm>
          <a:prstGeom prst="rect">
            <a:avLst/>
          </a:prstGeom>
        </p:spPr>
      </p:pic>
      <p:pic>
        <p:nvPicPr>
          <p:cNvPr id="5" name="Picture 4" descr="neonephos-foundation-horizontal-white_400.png"/>
          <p:cNvPicPr>
            <a:picLocks noChangeAspect="1"/>
          </p:cNvPicPr>
          <p:nvPr/>
        </p:nvPicPr>
        <p:blipFill>
          <a:blip r:embed="rId3"/>
          <a:stretch>
            <a:fillRect/>
          </a:stretch>
        </p:blipFill>
        <p:spPr>
          <a:xfrm>
            <a:off x="14833600" y="9258300"/>
            <a:ext cx="2540000" cy="4953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APPENDIX — ABBREVIATIONS</a:t>
            </a:r>
          </a:p>
        </p:txBody>
      </p:sp>
      <p:sp>
        <p:nvSpPr>
          <p:cNvPr id="3" name="Title 2"/>
          <p:cNvSpPr>
            <a:spLocks noGrp="1"/>
          </p:cNvSpPr>
          <p:nvPr>
            <p:ph type="title" idx="2"/>
          </p:nvPr>
        </p:nvSpPr>
        <p:spPr/>
        <p:txBody>
          <a:bodyPr/>
          <a:lstStyle/>
          <a:p>
            <a:r>
              <a:t>Quick reference for the acronyms used in this deck.</a:t>
            </a:r>
          </a:p>
        </p:txBody>
      </p:sp>
      <p:sp>
        <p:nvSpPr>
          <p:cNvPr id="4" name="TextBox 3"/>
          <p:cNvSpPr txBox="1"/>
          <p:nvPr/>
        </p:nvSpPr>
        <p:spPr>
          <a:xfrm>
            <a:off x="1143000" y="4953000"/>
            <a:ext cx="7715250" cy="4572000"/>
          </a:xfrm>
          <a:prstGeom prst="rect">
            <a:avLst/>
          </a:prstGeom>
          <a:noFill/>
        </p:spPr>
        <p:txBody>
          <a:bodyPr wrap="square" lIns="0" rIns="0" tIns="0" bIns="0">
            <a:spAutoFit/>
          </a:bodyPr>
          <a:lstStyle/>
          <a:p>
            <a:pPr>
              <a:spcBef>
                <a:spcPts val="200"/>
              </a:spcBef>
              <a:spcAft>
                <a:spcPts val="600"/>
              </a:spcAft>
            </a:pPr>
            <a:r>
              <a:rPr sz="1400" b="1">
                <a:solidFill>
                  <a:srgbClr val="0F6BFF"/>
                </a:solidFill>
                <a:latin typeface="Aptos"/>
              </a:rPr>
              <a:t>BSI C5</a:t>
            </a:r>
            <a:r>
              <a:rPr sz="1300">
                <a:solidFill>
                  <a:srgbClr val="000000"/>
                </a:solidFill>
                <a:latin typeface="Aptos"/>
              </a:rPr>
              <a:t>  —  Bundesamt für Sicherheit in der Informationstechnik — Cloud Computing Compliance Criteria Catalogue.</a:t>
            </a:r>
          </a:p>
          <a:p>
            <a:pPr>
              <a:spcBef>
                <a:spcPts val="200"/>
              </a:spcBef>
              <a:spcAft>
                <a:spcPts val="600"/>
              </a:spcAft>
            </a:pPr>
            <a:r>
              <a:rPr sz="1400" b="1">
                <a:solidFill>
                  <a:srgbClr val="0F6BFF"/>
                </a:solidFill>
                <a:latin typeface="Aptos"/>
              </a:rPr>
              <a:t>BTP</a:t>
            </a:r>
            <a:r>
              <a:rPr sz="1300">
                <a:solidFill>
                  <a:srgbClr val="000000"/>
                </a:solidFill>
                <a:latin typeface="Aptos"/>
              </a:rPr>
              <a:t>  —  SAP Business Technology Platform.</a:t>
            </a:r>
          </a:p>
          <a:p>
            <a:pPr>
              <a:spcBef>
                <a:spcPts val="200"/>
              </a:spcBef>
              <a:spcAft>
                <a:spcPts val="600"/>
              </a:spcAft>
            </a:pPr>
            <a:r>
              <a:rPr sz="1400" b="1">
                <a:solidFill>
                  <a:srgbClr val="0F6BFF"/>
                </a:solidFill>
                <a:latin typeface="Aptos"/>
              </a:rPr>
              <a:t>CRA</a:t>
            </a:r>
            <a:r>
              <a:rPr sz="1300">
                <a:solidFill>
                  <a:srgbClr val="000000"/>
                </a:solidFill>
                <a:latin typeface="Aptos"/>
              </a:rPr>
              <a:t>  —  Cyber Resilience Act — EU regulation on cybersecurity for products with digital elements.</a:t>
            </a:r>
          </a:p>
          <a:p>
            <a:pPr>
              <a:spcBef>
                <a:spcPts val="200"/>
              </a:spcBef>
              <a:spcAft>
                <a:spcPts val="600"/>
              </a:spcAft>
            </a:pPr>
            <a:r>
              <a:rPr sz="1400" b="1">
                <a:solidFill>
                  <a:srgbClr val="0F6BFF"/>
                </a:solidFill>
                <a:latin typeface="Aptos"/>
              </a:rPr>
              <a:t>DORA</a:t>
            </a:r>
            <a:r>
              <a:rPr sz="1300">
                <a:solidFill>
                  <a:srgbClr val="000000"/>
                </a:solidFill>
                <a:latin typeface="Aptos"/>
              </a:rPr>
              <a:t>  —  Digital Operational Resilience Act — EU regulation for ICT risk in financial services.</a:t>
            </a:r>
          </a:p>
          <a:p>
            <a:pPr>
              <a:spcBef>
                <a:spcPts val="200"/>
              </a:spcBef>
              <a:spcAft>
                <a:spcPts val="600"/>
              </a:spcAft>
            </a:pPr>
            <a:r>
              <a:rPr sz="1400" b="1">
                <a:solidFill>
                  <a:srgbClr val="0F6BFF"/>
                </a:solidFill>
                <a:latin typeface="Aptos"/>
              </a:rPr>
              <a:t>FedRAMP</a:t>
            </a:r>
            <a:r>
              <a:rPr sz="1300">
                <a:solidFill>
                  <a:srgbClr val="000000"/>
                </a:solidFill>
                <a:latin typeface="Aptos"/>
              </a:rPr>
              <a:t>  —  Federal Risk and Authorization Management Program — US standardised cloud security assessment.</a:t>
            </a:r>
          </a:p>
          <a:p>
            <a:pPr>
              <a:spcBef>
                <a:spcPts val="200"/>
              </a:spcBef>
              <a:spcAft>
                <a:spcPts val="600"/>
              </a:spcAft>
            </a:pPr>
            <a:r>
              <a:rPr sz="1400" b="1">
                <a:solidFill>
                  <a:srgbClr val="0F6BFF"/>
                </a:solidFill>
                <a:latin typeface="Aptos"/>
              </a:rPr>
              <a:t>FISMA</a:t>
            </a:r>
            <a:r>
              <a:rPr sz="1300">
                <a:solidFill>
                  <a:srgbClr val="000000"/>
                </a:solidFill>
                <a:latin typeface="Aptos"/>
              </a:rPr>
              <a:t>  —  Federal Information Security Modernization Act — US federal information security mandate.</a:t>
            </a:r>
          </a:p>
          <a:p>
            <a:pPr>
              <a:spcBef>
                <a:spcPts val="200"/>
              </a:spcBef>
              <a:spcAft>
                <a:spcPts val="600"/>
              </a:spcAft>
            </a:pPr>
            <a:r>
              <a:rPr sz="1400" b="1">
                <a:solidFill>
                  <a:srgbClr val="0F6BFF"/>
                </a:solidFill>
                <a:latin typeface="Aptos"/>
              </a:rPr>
              <a:t>Grype</a:t>
            </a:r>
            <a:r>
              <a:rPr sz="1300">
                <a:solidFill>
                  <a:srgbClr val="000000"/>
                </a:solidFill>
                <a:latin typeface="Aptos"/>
              </a:rPr>
              <a:t>  —  Open-source vulnerability scanner for container images and filesystems (Anchore).</a:t>
            </a:r>
          </a:p>
          <a:p>
            <a:pPr>
              <a:spcBef>
                <a:spcPts val="200"/>
              </a:spcBef>
              <a:spcAft>
                <a:spcPts val="600"/>
              </a:spcAft>
            </a:pPr>
            <a:r>
              <a:rPr sz="1400" b="1">
                <a:solidFill>
                  <a:srgbClr val="0F6BFF"/>
                </a:solidFill>
                <a:latin typeface="Aptos"/>
              </a:rPr>
              <a:t>Helm</a:t>
            </a:r>
            <a:r>
              <a:rPr sz="1300">
                <a:solidFill>
                  <a:srgbClr val="000000"/>
                </a:solidFill>
                <a:latin typeface="Aptos"/>
              </a:rPr>
              <a:t>  —  Package manager for Kubernetes; reference artifact type for OCM.</a:t>
            </a:r>
          </a:p>
          <a:p>
            <a:pPr>
              <a:spcBef>
                <a:spcPts val="200"/>
              </a:spcBef>
              <a:spcAft>
                <a:spcPts val="600"/>
              </a:spcAft>
            </a:pPr>
            <a:r>
              <a:rPr sz="1400" b="1">
                <a:solidFill>
                  <a:srgbClr val="0F6BFF"/>
                </a:solidFill>
                <a:latin typeface="Aptos"/>
              </a:rPr>
              <a:t>LoB</a:t>
            </a:r>
            <a:r>
              <a:rPr sz="1300">
                <a:solidFill>
                  <a:srgbClr val="000000"/>
                </a:solidFill>
                <a:latin typeface="Aptos"/>
              </a:rPr>
              <a:t>  —  Line of Business — SAP organisational unit owning a product portfolio.</a:t>
            </a:r>
          </a:p>
          <a:p>
            <a:pPr>
              <a:spcBef>
                <a:spcPts val="200"/>
              </a:spcBef>
              <a:spcAft>
                <a:spcPts val="600"/>
              </a:spcAft>
            </a:pPr>
            <a:r>
              <a:rPr sz="1400" b="1">
                <a:solidFill>
                  <a:srgbClr val="0F6BFF"/>
                </a:solidFill>
                <a:latin typeface="Aptos"/>
              </a:rPr>
              <a:t>NeoNephos</a:t>
            </a:r>
            <a:r>
              <a:rPr sz="1300">
                <a:solidFill>
                  <a:srgbClr val="000000"/>
                </a:solidFill>
                <a:latin typeface="Aptos"/>
              </a:rPr>
              <a:t>  —  European foundation for sovereign cloud open-source projects, hosted under the Linux Foundation.</a:t>
            </a:r>
          </a:p>
          <a:p>
            <a:pPr>
              <a:spcBef>
                <a:spcPts val="200"/>
              </a:spcBef>
              <a:spcAft>
                <a:spcPts val="600"/>
              </a:spcAft>
            </a:pPr>
            <a:r>
              <a:rPr sz="1400" b="1">
                <a:solidFill>
                  <a:srgbClr val="0F6BFF"/>
                </a:solidFill>
                <a:latin typeface="Aptos"/>
              </a:rPr>
              <a:t>NIS2</a:t>
            </a:r>
            <a:r>
              <a:rPr sz="1300">
                <a:solidFill>
                  <a:srgbClr val="000000"/>
                </a:solidFill>
                <a:latin typeface="Aptos"/>
              </a:rPr>
              <a:t>  —  Network and Information Security Directive 2 — EU baseline for cybersecurity of essential entities.</a:t>
            </a:r>
          </a:p>
          <a:p>
            <a:pPr>
              <a:spcBef>
                <a:spcPts val="200"/>
              </a:spcBef>
              <a:spcAft>
                <a:spcPts val="600"/>
              </a:spcAft>
            </a:pPr>
            <a:r>
              <a:rPr sz="1400" b="1">
                <a:solidFill>
                  <a:srgbClr val="0F6BFF"/>
                </a:solidFill>
                <a:latin typeface="Aptos"/>
              </a:rPr>
              <a:t>OCI</a:t>
            </a:r>
            <a:r>
              <a:rPr sz="1300">
                <a:solidFill>
                  <a:srgbClr val="000000"/>
                </a:solidFill>
                <a:latin typeface="Aptos"/>
              </a:rPr>
              <a:t>  —  Open Container Initiative — open standards for container image format and distribution.</a:t>
            </a:r>
          </a:p>
        </p:txBody>
      </p:sp>
      <p:sp>
        <p:nvSpPr>
          <p:cNvPr id="5" name="TextBox 4"/>
          <p:cNvSpPr txBox="1"/>
          <p:nvPr/>
        </p:nvSpPr>
        <p:spPr>
          <a:xfrm>
            <a:off x="9429750" y="4953000"/>
            <a:ext cx="7715250" cy="4572000"/>
          </a:xfrm>
          <a:prstGeom prst="rect">
            <a:avLst/>
          </a:prstGeom>
          <a:noFill/>
        </p:spPr>
        <p:txBody>
          <a:bodyPr wrap="square" lIns="0" rIns="0" tIns="0" bIns="0">
            <a:spAutoFit/>
          </a:bodyPr>
          <a:lstStyle/>
          <a:p>
            <a:pPr>
              <a:spcBef>
                <a:spcPts val="200"/>
              </a:spcBef>
              <a:spcAft>
                <a:spcPts val="600"/>
              </a:spcAft>
            </a:pPr>
            <a:r>
              <a:rPr sz="1400" b="1">
                <a:solidFill>
                  <a:srgbClr val="0F6BFF"/>
                </a:solidFill>
                <a:latin typeface="Aptos"/>
              </a:rPr>
              <a:t>OCM</a:t>
            </a:r>
            <a:r>
              <a:rPr sz="1300">
                <a:solidFill>
                  <a:srgbClr val="000000"/>
                </a:solidFill>
                <a:latin typeface="Aptos"/>
              </a:rPr>
              <a:t>  —  Open Component Model — vendor-neutral specification for signed, transportable software components.</a:t>
            </a:r>
          </a:p>
          <a:p>
            <a:pPr>
              <a:spcBef>
                <a:spcPts val="200"/>
              </a:spcBef>
              <a:spcAft>
                <a:spcPts val="600"/>
              </a:spcAft>
            </a:pPr>
            <a:r>
              <a:rPr sz="1400" b="1">
                <a:solidFill>
                  <a:srgbClr val="0F6BFF"/>
                </a:solidFill>
                <a:latin typeface="Aptos"/>
              </a:rPr>
              <a:t>ODG</a:t>
            </a:r>
            <a:r>
              <a:rPr sz="1300">
                <a:solidFill>
                  <a:srgbClr val="000000"/>
                </a:solidFill>
                <a:latin typeface="Aptos"/>
              </a:rPr>
              <a:t>  —  Open Delivery Gear — OCM-native compliance automation engine and dashboard.</a:t>
            </a:r>
          </a:p>
          <a:p>
            <a:pPr>
              <a:spcBef>
                <a:spcPts val="200"/>
              </a:spcBef>
              <a:spcAft>
                <a:spcPts val="600"/>
              </a:spcAft>
            </a:pPr>
            <a:r>
              <a:rPr sz="1400" b="1">
                <a:solidFill>
                  <a:srgbClr val="0F6BFF"/>
                </a:solidFill>
                <a:latin typeface="Aptos"/>
              </a:rPr>
              <a:t>OSS</a:t>
            </a:r>
            <a:r>
              <a:rPr sz="1300">
                <a:solidFill>
                  <a:srgbClr val="000000"/>
                </a:solidFill>
                <a:latin typeface="Aptos"/>
              </a:rPr>
              <a:t>  —  Open Source Software.</a:t>
            </a:r>
          </a:p>
          <a:p>
            <a:pPr>
              <a:spcBef>
                <a:spcPts val="200"/>
              </a:spcBef>
              <a:spcAft>
                <a:spcPts val="600"/>
              </a:spcAft>
            </a:pPr>
            <a:r>
              <a:rPr sz="1400" b="1">
                <a:solidFill>
                  <a:srgbClr val="0F6BFF"/>
                </a:solidFill>
                <a:latin typeface="Aptos"/>
              </a:rPr>
              <a:t>PKI</a:t>
            </a:r>
            <a:r>
              <a:rPr sz="1300">
                <a:solidFill>
                  <a:srgbClr val="000000"/>
                </a:solidFill>
                <a:latin typeface="Aptos"/>
              </a:rPr>
              <a:t>  —  Public Key Infrastructure — framework for managing certificates and signing keys.</a:t>
            </a:r>
          </a:p>
          <a:p>
            <a:pPr>
              <a:spcBef>
                <a:spcPts val="200"/>
              </a:spcBef>
              <a:spcAft>
                <a:spcPts val="600"/>
              </a:spcAft>
            </a:pPr>
            <a:r>
              <a:rPr sz="1400" b="1">
                <a:solidFill>
                  <a:srgbClr val="0F6BFF"/>
                </a:solidFill>
                <a:latin typeface="Aptos"/>
              </a:rPr>
              <a:t>SBOD</a:t>
            </a:r>
            <a:r>
              <a:rPr sz="1300">
                <a:solidFill>
                  <a:srgbClr val="000000"/>
                </a:solidFill>
                <a:latin typeface="Aptos"/>
              </a:rPr>
              <a:t>  —  Software Bill of Delivery — the OCM component descriptor, signed and traceable. Containing all artifacts and metadata for delivery and deployment.</a:t>
            </a:r>
          </a:p>
          <a:p>
            <a:pPr>
              <a:spcBef>
                <a:spcPts val="200"/>
              </a:spcBef>
              <a:spcAft>
                <a:spcPts val="600"/>
              </a:spcAft>
            </a:pPr>
            <a:r>
              <a:rPr sz="1400" b="1">
                <a:solidFill>
                  <a:srgbClr val="0F6BFF"/>
                </a:solidFill>
                <a:latin typeface="Aptos"/>
              </a:rPr>
              <a:t>SBOM</a:t>
            </a:r>
            <a:r>
              <a:rPr sz="1300">
                <a:solidFill>
                  <a:srgbClr val="000000"/>
                </a:solidFill>
                <a:latin typeface="Aptos"/>
              </a:rPr>
              <a:t>  —  Software Bill of Materials — inventory of components and dependencies inside a software artifact.</a:t>
            </a:r>
          </a:p>
          <a:p>
            <a:pPr>
              <a:spcBef>
                <a:spcPts val="200"/>
              </a:spcBef>
              <a:spcAft>
                <a:spcPts val="600"/>
              </a:spcAft>
            </a:pPr>
            <a:r>
              <a:rPr sz="1400" b="1">
                <a:solidFill>
                  <a:srgbClr val="0F6BFF"/>
                </a:solidFill>
                <a:latin typeface="Aptos"/>
              </a:rPr>
              <a:t>SecNumCloud</a:t>
            </a:r>
            <a:r>
              <a:rPr sz="1300">
                <a:solidFill>
                  <a:srgbClr val="000000"/>
                </a:solidFill>
                <a:latin typeface="Aptos"/>
              </a:rPr>
              <a:t>  —  French cloud security qualification scheme operated by ANSSI.</a:t>
            </a:r>
          </a:p>
          <a:p>
            <a:pPr>
              <a:spcBef>
                <a:spcPts val="200"/>
              </a:spcBef>
              <a:spcAft>
                <a:spcPts val="600"/>
              </a:spcAft>
            </a:pPr>
            <a:r>
              <a:rPr sz="1400" b="1">
                <a:solidFill>
                  <a:srgbClr val="0F6BFF"/>
                </a:solidFill>
                <a:latin typeface="Aptos"/>
              </a:rPr>
              <a:t>Sigstore</a:t>
            </a:r>
            <a:r>
              <a:rPr sz="1300">
                <a:solidFill>
                  <a:srgbClr val="000000"/>
                </a:solidFill>
                <a:latin typeface="Aptos"/>
              </a:rPr>
              <a:t>  —  Open-source project for keyless software signing using OIDC identities.</a:t>
            </a:r>
          </a:p>
          <a:p>
            <a:pPr>
              <a:spcBef>
                <a:spcPts val="200"/>
              </a:spcBef>
              <a:spcAft>
                <a:spcPts val="600"/>
              </a:spcAft>
            </a:pPr>
            <a:r>
              <a:rPr sz="1400" b="1">
                <a:solidFill>
                  <a:srgbClr val="0F6BFF"/>
                </a:solidFill>
                <a:latin typeface="Aptos"/>
              </a:rPr>
              <a:t>SPDX</a:t>
            </a:r>
            <a:r>
              <a:rPr sz="1300">
                <a:solidFill>
                  <a:srgbClr val="000000"/>
                </a:solidFill>
                <a:latin typeface="Aptos"/>
              </a:rPr>
              <a:t>  —  Software Package Data Exchange — ISO/IEC 5962 standard format for SBOM data.</a:t>
            </a:r>
          </a:p>
          <a:p>
            <a:pPr>
              <a:spcBef>
                <a:spcPts val="200"/>
              </a:spcBef>
              <a:spcAft>
                <a:spcPts val="600"/>
              </a:spcAft>
            </a:pPr>
            <a:r>
              <a:rPr sz="1400" b="1">
                <a:solidFill>
                  <a:srgbClr val="0F6BFF"/>
                </a:solidFill>
                <a:latin typeface="Aptos"/>
              </a:rPr>
              <a:t>SWID</a:t>
            </a:r>
            <a:r>
              <a:rPr sz="1300">
                <a:solidFill>
                  <a:srgbClr val="000000"/>
                </a:solidFill>
                <a:latin typeface="Aptos"/>
              </a:rPr>
              <a:t>  —  Software Identification Tags — ISO/IEC 19770-2 standard for software inventory.</a:t>
            </a:r>
          </a:p>
          <a:p>
            <a:pPr>
              <a:spcBef>
                <a:spcPts val="200"/>
              </a:spcBef>
              <a:spcAft>
                <a:spcPts val="600"/>
              </a:spcAft>
            </a:pPr>
            <a:r>
              <a:rPr sz="1400" b="1">
                <a:solidFill>
                  <a:srgbClr val="0F6BFF"/>
                </a:solidFill>
                <a:latin typeface="Aptos"/>
              </a:rPr>
              <a:t>Trivy</a:t>
            </a:r>
            <a:r>
              <a:rPr sz="1300">
                <a:solidFill>
                  <a:srgbClr val="000000"/>
                </a:solidFill>
                <a:latin typeface="Aptos"/>
              </a:rPr>
              <a:t>  —  Open-source security scanner for containers, IaC, and code (Aqua Security).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
          </p:nvPr>
        </p:nvSpPr>
        <p:spPr/>
        <p:txBody>
          <a:bodyPr/>
          <a:lstStyle/>
          <a:p>
            <a:r>
              <a:t>TRADEMARK &amp; LICENSE NOTICES (1/2)</a:t>
            </a:r>
          </a:p>
        </p:txBody>
      </p:sp>
      <p:sp>
        <p:nvSpPr>
          <p:cNvPr id="3" name="Title 2"/>
          <p:cNvSpPr>
            <a:spLocks noGrp="1"/>
          </p:cNvSpPr>
          <p:nvPr>
            <p:ph type="title" idx="2"/>
          </p:nvPr>
        </p:nvSpPr>
        <p:spPr/>
        <p:txBody>
          <a:bodyPr/>
          <a:lstStyle/>
          <a:p>
            <a:r>
              <a:t>Logos and trademarks belong to their respective owners.</a:t>
            </a:r>
          </a:p>
        </p:txBody>
      </p:sp>
      <p:sp>
        <p:nvSpPr>
          <p:cNvPr id="4" name="Text Placeholder 3"/>
          <p:cNvSpPr>
            <a:spLocks noGrp="1"/>
          </p:cNvSpPr>
          <p:nvPr>
            <p:ph type="body" idx="10"/>
          </p:nvPr>
        </p:nvSpPr>
        <p:spPr/>
        <p:txBody>
          <a:bodyPr/>
          <a:lstStyle/>
          <a:p>
            <a:pPr>
              <a:spcBef>
                <a:spcPts val="800"/>
              </a:spcBef>
              <a:spcAft>
                <a:spcPts val="800"/>
              </a:spcAft>
            </a:pPr>
            <a:r>
              <a:rPr b="1">
                <a:solidFill>
                  <a:srgbClr val="0F6BFF"/>
                </a:solidFill>
              </a:rPr>
              <a:t>▪  </a:t>
            </a:r>
            <a:r>
              <a:rPr>
                <a:solidFill>
                  <a:srgbClr val="000000"/>
                </a:solidFill>
              </a:rPr>
              <a:t>SAP, SAP NS2 — trademarks of SAP SE / SAP National Security Services. Editorial use only; no endorsement implied. sap.com · sapns2.com</a:t>
            </a:r>
          </a:p>
          <a:p>
            <a:pPr>
              <a:spcBef>
                <a:spcPts val="800"/>
              </a:spcBef>
              <a:spcAft>
                <a:spcPts val="800"/>
              </a:spcAft>
            </a:pPr>
            <a:r>
              <a:rPr b="1">
                <a:solidFill>
                  <a:srgbClr val="0F6BFF"/>
                </a:solidFill>
              </a:rPr>
              <a:t>▪  </a:t>
            </a:r>
            <a:r>
              <a:rPr>
                <a:solidFill>
                  <a:srgbClr val="000000"/>
                </a:solidFill>
              </a:rPr>
              <a:t>BWI — trademark of BWI GmbH (Bundeswehr-IT). Editorial use of the Wikimedia public-domain wordmark; verify against BWI press conditions before external publication. bwi.de</a:t>
            </a:r>
          </a:p>
          <a:p>
            <a:pPr>
              <a:spcBef>
                <a:spcPts val="800"/>
              </a:spcBef>
              <a:spcAft>
                <a:spcPts val="800"/>
              </a:spcAft>
            </a:pPr>
            <a:r>
              <a:rPr b="1">
                <a:solidFill>
                  <a:srgbClr val="0F6BFF"/>
                </a:solidFill>
              </a:rPr>
              <a:t>▪  </a:t>
            </a:r>
            <a:r>
              <a:rPr>
                <a:solidFill>
                  <a:srgbClr val="000000"/>
                </a:solidFill>
              </a:rPr>
              <a:t>Gardener, Platform Mesh, NeoNephos Foundation — Linux Foundation Europe artwork; usage governed by the Linux Foundation trademark usage guidelines (linuxfoundation.org/legal/trademark-usage). gardener.cloud · platform-mesh.io · neonephos.org</a:t>
            </a:r>
          </a:p>
          <a:p>
            <a:pPr>
              <a:spcBef>
                <a:spcPts val="800"/>
              </a:spcBef>
              <a:spcAft>
                <a:spcPts val="800"/>
              </a:spcAft>
            </a:pPr>
            <a:r>
              <a:rPr b="1">
                <a:solidFill>
                  <a:srgbClr val="0F6BFF"/>
                </a:solidFill>
              </a:rPr>
              <a:t>▪  </a:t>
            </a:r>
            <a:r>
              <a:rPr>
                <a:solidFill>
                  <a:srgbClr val="000000"/>
                </a:solidFill>
              </a:rPr>
              <a:t>Konfidence — SAP-supported open project; logo from konfidence.cloud. Editorial use only; verify with the Konfidence project before external publication. konfidence.cloud</a:t>
            </a:r>
          </a:p>
          <a:p>
            <a:pPr>
              <a:spcBef>
                <a:spcPts val="800"/>
              </a:spcBef>
              <a:spcAft>
                <a:spcPts val="800"/>
              </a:spcAft>
            </a:pPr>
            <a:r>
              <a:rPr b="1">
                <a:solidFill>
                  <a:srgbClr val="0F6BFF"/>
                </a:solidFill>
              </a:rPr>
              <a:t>▪  </a:t>
            </a:r>
            <a:r>
              <a:rPr>
                <a:solidFill>
                  <a:srgbClr val="000000"/>
                </a:solidFill>
              </a:rPr>
              <a:t>OpenControlPlane — open-source project at open-control-plane.io. Editorial use only; verify with the project before external publication. open-control-plane.io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
          </p:nvPr>
        </p:nvSpPr>
        <p:spPr/>
        <p:txBody>
          <a:bodyPr/>
          <a:lstStyle/>
          <a:p>
            <a:r>
              <a:t>TRADEMARK &amp; LICENSE NOTICES (2/2)</a:t>
            </a:r>
          </a:p>
        </p:txBody>
      </p:sp>
      <p:sp>
        <p:nvSpPr>
          <p:cNvPr id="3" name="Title 2"/>
          <p:cNvSpPr>
            <a:spLocks noGrp="1"/>
          </p:cNvSpPr>
          <p:nvPr>
            <p:ph type="title" idx="2"/>
          </p:nvPr>
        </p:nvSpPr>
        <p:spPr/>
        <p:txBody>
          <a:bodyPr/>
          <a:lstStyle/>
          <a:p>
            <a:r>
              <a:t>Third-party trademarks named for technical reference.</a:t>
            </a:r>
          </a:p>
        </p:txBody>
      </p:sp>
      <p:sp>
        <p:nvSpPr>
          <p:cNvPr id="4" name="Text Placeholder 3"/>
          <p:cNvSpPr>
            <a:spLocks noGrp="1"/>
          </p:cNvSpPr>
          <p:nvPr>
            <p:ph type="body" idx="10"/>
          </p:nvPr>
        </p:nvSpPr>
        <p:spPr/>
        <p:txBody>
          <a:bodyPr/>
          <a:lstStyle/>
          <a:p>
            <a:pPr>
              <a:spcBef>
                <a:spcPts val="800"/>
              </a:spcBef>
              <a:spcAft>
                <a:spcPts val="800"/>
              </a:spcAft>
            </a:pPr>
            <a:r>
              <a:rPr b="1">
                <a:solidFill>
                  <a:srgbClr val="0F6BFF"/>
                </a:solidFill>
              </a:rPr>
              <a:t>▪  </a:t>
            </a:r>
            <a:r>
              <a:rPr>
                <a:solidFill>
                  <a:srgbClr val="000000"/>
                </a:solidFill>
              </a:rPr>
              <a:t>Kyma — SAP-originated open-source project at kyma-project.io. Editorial use only. kyma-project.io</a:t>
            </a:r>
          </a:p>
          <a:p>
            <a:pPr>
              <a:spcBef>
                <a:spcPts val="800"/>
              </a:spcBef>
              <a:spcAft>
                <a:spcPts val="800"/>
              </a:spcAft>
            </a:pPr>
            <a:r>
              <a:rPr b="1">
                <a:solidFill>
                  <a:srgbClr val="0F6BFF"/>
                </a:solidFill>
              </a:rPr>
              <a:t>▪  </a:t>
            </a:r>
            <a:r>
              <a:rPr>
                <a:solidFill>
                  <a:srgbClr val="000000"/>
                </a:solidFill>
              </a:rPr>
              <a:t>Hyperspace, RBSC, CSI, Greenhouse, Steampunk — internal SAP delivery infrastructure named for context; not third-party marks.</a:t>
            </a:r>
          </a:p>
          <a:p>
            <a:pPr>
              <a:spcBef>
                <a:spcPts val="800"/>
              </a:spcBef>
              <a:spcAft>
                <a:spcPts val="800"/>
              </a:spcAft>
            </a:pPr>
            <a:r>
              <a:rPr b="1">
                <a:solidFill>
                  <a:srgbClr val="0F6BFF"/>
                </a:solidFill>
              </a:rPr>
              <a:t>▪  </a:t>
            </a:r>
            <a:r>
              <a:rPr>
                <a:solidFill>
                  <a:srgbClr val="000000"/>
                </a:solidFill>
              </a:rPr>
              <a:t>Trivy, Grype, Sigstore, Helm, OCI, Kubernetes, kro, Flux, Argo CD — third-party trademarks named for technical reference; ownership remains with their respective projects and organisations.</a:t>
            </a:r>
          </a:p>
        </p:txBody>
      </p:sp>
    </p:spTree>
  </p:cSld>
  <p:clrMapOvr>
    <a:masterClrMapping/>
  </p:clrMapOvr>
</p:sld>
</file>

<file path=ppt/theme/theme1.xml><?xml version="1.0" encoding="utf-8"?>
<a:theme xmlns:a="http://schemas.openxmlformats.org/drawingml/2006/main" name="OCM">
  <a:themeElements>
    <a:clrScheme name="OCM">
      <a:dk1>
        <a:srgbClr val="000000"/>
      </a:dk1>
      <a:lt1>
        <a:srgbClr val="FFFFFF"/>
      </a:lt1>
      <a:dk2>
        <a:srgbClr val="0A3A99"/>
      </a:dk2>
      <a:lt2>
        <a:srgbClr val="F3F4F6"/>
      </a:lt2>
      <a:accent1>
        <a:srgbClr val="0F6BFF"/>
      </a:accent1>
      <a:accent2>
        <a:srgbClr val="0A3A99"/>
      </a:accent2>
      <a:accent3>
        <a:srgbClr val="5CD6FF"/>
      </a:accent3>
      <a:accent4>
        <a:srgbClr val="6B7280"/>
      </a:accent4>
      <a:accent5>
        <a:srgbClr val="0A1530"/>
      </a:accent5>
      <a:accent6>
        <a:srgbClr val="F3F4F6"/>
      </a:accent6>
      <a:hlink>
        <a:srgbClr val="0F6BFF"/>
      </a:hlink>
      <a:folHlink>
        <a:srgbClr val="0A3A99"/>
      </a:folHlink>
    </a:clrScheme>
    <a:fontScheme name="OCM">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40000" dist="20000" dir="5400000" rotWithShape="0">
              <a:srgbClr val="000000">
                <a:alpha val="38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50000">
              <a:schemeClr val="phClr">
                <a:tint val="98000"/>
                <a:satMod val="130000"/>
                <a:shade val="9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